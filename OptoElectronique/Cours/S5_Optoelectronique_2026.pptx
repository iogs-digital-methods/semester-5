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7"/>
  </p:notesMasterIdLst>
  <p:sldIdLst>
    <p:sldId id="256" r:id="rId2"/>
    <p:sldId id="355" r:id="rId3"/>
    <p:sldId id="336" r:id="rId4"/>
    <p:sldId id="330" r:id="rId5"/>
    <p:sldId id="319" r:id="rId6"/>
    <p:sldId id="337" r:id="rId7"/>
    <p:sldId id="327" r:id="rId8"/>
    <p:sldId id="353" r:id="rId9"/>
    <p:sldId id="354" r:id="rId10"/>
    <p:sldId id="335" r:id="rId11"/>
    <p:sldId id="334" r:id="rId12"/>
    <p:sldId id="339" r:id="rId13"/>
    <p:sldId id="357" r:id="rId14"/>
    <p:sldId id="356" r:id="rId15"/>
    <p:sldId id="33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7030A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799" autoAdjust="0"/>
  </p:normalViewPr>
  <p:slideViewPr>
    <p:cSldViewPr snapToGrid="0">
      <p:cViewPr varScale="1">
        <p:scale>
          <a:sx n="100" d="100"/>
          <a:sy n="100" d="100"/>
        </p:scale>
        <p:origin x="95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C724E-499D-43AC-8699-CF969D2466FC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C53D4-8BF5-4FDD-81EC-7AC957B0D2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625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66443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5246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1142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4368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064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DF51E-350D-A995-ADD0-5453780C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A99F1A-F3BF-DBED-20AF-89F922240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01877D-47F0-646A-D2F1-BA034928B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DE6A62-53A9-30F7-E7EE-5F3475EC9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084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13C57-C433-5060-FB8F-4610505FE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8D0A38-71C2-6863-762E-333FD45A4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C135C28-2617-3DAE-6387-1EE59A0EF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914DC6-A284-BD78-67D4-0F8B1176E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1175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89069-C0BA-8566-8C8A-F40FB866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0C5EF0-2335-0F23-7058-17EB7F91A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1A68777-FA55-C976-46D1-79C22A44D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425EF1-01AC-62AE-DD0B-5FBF0B24D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298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DC53D4-8BF5-4FDD-81EC-7AC957B0D210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600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83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0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9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7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4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55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7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5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6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9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8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18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2F330-992B-B125-739B-F8303ED3A0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669" r="-1" b="42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F8D1EB8-F6E7-EB54-1CC8-28472070B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br>
              <a:rPr lang="fr-FR" sz="4800" dirty="0">
                <a:latin typeface="Bahnschrift SemiBold" panose="020B0502040204020203" pitchFamily="34" charset="0"/>
              </a:rPr>
            </a:br>
            <a:r>
              <a:rPr lang="fr-FR" sz="4400" dirty="0">
                <a:latin typeface="Bahnschrift SemiBold" panose="020B0502040204020203" pitchFamily="34" charset="0"/>
              </a:rPr>
              <a:t>UE </a:t>
            </a:r>
            <a:r>
              <a:rPr lang="fr-FR" sz="4400" dirty="0" err="1">
                <a:latin typeface="Bahnschrift SemiBold" panose="020B0502040204020203" pitchFamily="34" charset="0"/>
              </a:rPr>
              <a:t>Opto</a:t>
            </a:r>
            <a:br>
              <a:rPr lang="fr-FR" sz="4400" dirty="0">
                <a:latin typeface="Bahnschrift SemiBold" panose="020B0502040204020203" pitchFamily="34" charset="0"/>
              </a:rPr>
            </a:br>
            <a:r>
              <a:rPr lang="fr-FR" sz="4400" dirty="0">
                <a:latin typeface="Bahnschrift SemiBold" panose="020B0502040204020203" pitchFamily="34" charset="0"/>
              </a:rPr>
              <a:t>électronique</a:t>
            </a:r>
            <a:br>
              <a:rPr lang="fr-FR" sz="4400" dirty="0">
                <a:latin typeface="Bahnschrift SemiBold" panose="020B0502040204020203" pitchFamily="34" charset="0"/>
              </a:rPr>
            </a:br>
            <a:r>
              <a:rPr lang="fr-FR" sz="4400" dirty="0">
                <a:latin typeface="Bahnschrift SemiBold" panose="020B0502040204020203" pitchFamily="34" charset="0"/>
              </a:rPr>
              <a:t>		</a:t>
            </a:r>
            <a:r>
              <a:rPr lang="fr-FR" sz="3200" dirty="0">
                <a:latin typeface="Bahnschrift SemiBold" panose="020B0502040204020203" pitchFamily="34" charset="0"/>
              </a:rPr>
              <a:t>TD et TP</a:t>
            </a:r>
            <a:endParaRPr lang="fr-FR" sz="4800" dirty="0">
              <a:latin typeface="Bahnschrift SemiBold" panose="020B0502040204020203" pitchFamily="34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DFEFAEF-AB6A-BE8F-01E7-845FB609F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8600" y="4872922"/>
            <a:ext cx="4023360" cy="1208141"/>
          </a:xfrm>
        </p:spPr>
        <p:txBody>
          <a:bodyPr>
            <a:normAutofit/>
          </a:bodyPr>
          <a:lstStyle/>
          <a:p>
            <a:r>
              <a:rPr lang="fr-FR" sz="2000" dirty="0" err="1">
                <a:latin typeface="Bahnschrift Light" panose="020B0502040204020203" pitchFamily="34" charset="0"/>
              </a:rPr>
              <a:t>OpE</a:t>
            </a:r>
            <a:r>
              <a:rPr lang="fr-FR" sz="2000" dirty="0">
                <a:latin typeface="Bahnschrift Light" panose="020B0502040204020203" pitchFamily="34" charset="0"/>
              </a:rPr>
              <a:t> / Semestre 5 </a:t>
            </a:r>
            <a:br>
              <a:rPr lang="fr-FR" sz="2000" dirty="0">
                <a:latin typeface="Bahnschrift Light" panose="020B0502040204020203" pitchFamily="34" charset="0"/>
              </a:rPr>
            </a:br>
            <a:r>
              <a:rPr lang="fr-FR" sz="2000" dirty="0">
                <a:latin typeface="Bahnschrift Light" panose="020B0502040204020203" pitchFamily="34" charset="0"/>
              </a:rPr>
              <a:t>Institut d’Optique</a:t>
            </a:r>
          </a:p>
        </p:txBody>
      </p:sp>
      <p:sp>
        <p:nvSpPr>
          <p:cNvPr id="32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1" y="145408"/>
            <a:ext cx="2694463" cy="11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42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B0F14-0653-6A28-4989-044A70E2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38FB89-F1D0-A172-997B-1BE2268C2CB7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7767202-436F-EA58-7F0A-79EFBE6F98D2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Ressources en ligne</a:t>
            </a:r>
          </a:p>
          <a:p>
            <a:endParaRPr lang="fr-FR" sz="4000" dirty="0"/>
          </a:p>
          <a:p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E34310-FA7B-919C-D4B8-3AC1BE91B6E1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BC44D69-C402-A629-BF34-FD0F714DAC0A}"/>
              </a:ext>
            </a:extLst>
          </p:cNvPr>
          <p:cNvSpPr txBox="1"/>
          <p:nvPr/>
        </p:nvSpPr>
        <p:spPr>
          <a:xfrm>
            <a:off x="669906" y="1516202"/>
            <a:ext cx="5417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Bahnschrift SemiBold" panose="020B0502040204020203" pitchFamily="34" charset="0"/>
              </a:rPr>
              <a:t>https://lense.institutoptique.fr/</a:t>
            </a:r>
            <a:endParaRPr lang="fr-FR" sz="28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AAF2D60-0BDA-9CE7-0F29-CB9B468CD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2212962"/>
            <a:ext cx="7640826" cy="448444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69AD05F-CDFC-D987-A65C-02CF12E23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80" y="3098841"/>
            <a:ext cx="3241580" cy="359856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5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D289D4E5-09E8-AD42-73C0-C8471D6E7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167" y="4831912"/>
            <a:ext cx="1381556" cy="109606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80B1FE2-421C-C3F3-8759-5747F26B6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432" y="4685531"/>
            <a:ext cx="1562434" cy="13888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EEE2CD-304C-7206-E015-F52A5695E8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F71108-8121-4CC2-3ED6-50ABC11E79C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ACAFF-7D28-E79D-9EB4-4FEEF5BB961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831B6A5-6289-648D-2669-16CD74D6055A}"/>
              </a:ext>
            </a:extLst>
          </p:cNvPr>
          <p:cNvSpPr/>
          <p:nvPr/>
        </p:nvSpPr>
        <p:spPr>
          <a:xfrm>
            <a:off x="743267" y="2743228"/>
            <a:ext cx="6680759" cy="195346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 : pentagone 8">
            <a:extLst>
              <a:ext uri="{FF2B5EF4-FFF2-40B4-BE49-F238E27FC236}">
                <a16:creationId xmlns:a16="http://schemas.microsoft.com/office/drawing/2014/main" id="{28ADF0A4-E77B-DA03-EB3A-CFBDCE0AC872}"/>
              </a:ext>
            </a:extLst>
          </p:cNvPr>
          <p:cNvSpPr/>
          <p:nvPr/>
        </p:nvSpPr>
        <p:spPr>
          <a:xfrm>
            <a:off x="907226" y="3763157"/>
            <a:ext cx="1956121" cy="694481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Photodétecteur</a:t>
            </a:r>
          </a:p>
        </p:txBody>
      </p:sp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ACF27571-268A-478D-3B8F-50DB98195AE4}"/>
              </a:ext>
            </a:extLst>
          </p:cNvPr>
          <p:cNvSpPr/>
          <p:nvPr/>
        </p:nvSpPr>
        <p:spPr>
          <a:xfrm>
            <a:off x="907225" y="2911454"/>
            <a:ext cx="1956121" cy="694481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Source / LED</a:t>
            </a:r>
          </a:p>
        </p:txBody>
      </p:sp>
      <p:sp>
        <p:nvSpPr>
          <p:cNvPr id="11" name="Flèche : chevron 10">
            <a:extLst>
              <a:ext uri="{FF2B5EF4-FFF2-40B4-BE49-F238E27FC236}">
                <a16:creationId xmlns:a16="http://schemas.microsoft.com/office/drawing/2014/main" id="{AA4B21F1-4161-655B-5767-E5C2B69D21BD}"/>
              </a:ext>
            </a:extLst>
          </p:cNvPr>
          <p:cNvSpPr/>
          <p:nvPr/>
        </p:nvSpPr>
        <p:spPr>
          <a:xfrm>
            <a:off x="2863346" y="2911453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Emetteur</a:t>
            </a:r>
          </a:p>
        </p:txBody>
      </p:sp>
      <p:sp>
        <p:nvSpPr>
          <p:cNvPr id="12" name="Flèche : chevron 11">
            <a:extLst>
              <a:ext uri="{FF2B5EF4-FFF2-40B4-BE49-F238E27FC236}">
                <a16:creationId xmlns:a16="http://schemas.microsoft.com/office/drawing/2014/main" id="{2B851135-06CF-594A-7450-17DA7231C110}"/>
              </a:ext>
            </a:extLst>
          </p:cNvPr>
          <p:cNvSpPr/>
          <p:nvPr/>
        </p:nvSpPr>
        <p:spPr>
          <a:xfrm>
            <a:off x="2863346" y="3763157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Récepteur</a:t>
            </a:r>
          </a:p>
        </p:txBody>
      </p:sp>
      <p:sp>
        <p:nvSpPr>
          <p:cNvPr id="13" name="Flèche : chevron 12">
            <a:extLst>
              <a:ext uri="{FF2B5EF4-FFF2-40B4-BE49-F238E27FC236}">
                <a16:creationId xmlns:a16="http://schemas.microsoft.com/office/drawing/2014/main" id="{DC1BC409-5367-BFD5-A3BF-E35BF1856B9D}"/>
              </a:ext>
            </a:extLst>
          </p:cNvPr>
          <p:cNvSpPr/>
          <p:nvPr/>
        </p:nvSpPr>
        <p:spPr>
          <a:xfrm>
            <a:off x="4877341" y="3763156"/>
            <a:ext cx="2013995" cy="694481"/>
          </a:xfrm>
          <a:prstGeom prst="chevron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Optimisation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9864482-9753-290A-3835-55F6858709FA}"/>
              </a:ext>
            </a:extLst>
          </p:cNvPr>
          <p:cNvSpPr txBox="1"/>
          <p:nvPr/>
        </p:nvSpPr>
        <p:spPr>
          <a:xfrm>
            <a:off x="907225" y="1611430"/>
            <a:ext cx="12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 séances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BCFB3284-2C30-3921-B88B-1AF38A707C71}"/>
              </a:ext>
            </a:extLst>
          </p:cNvPr>
          <p:cNvSpPr txBox="1"/>
          <p:nvPr/>
        </p:nvSpPr>
        <p:spPr>
          <a:xfrm>
            <a:off x="1105420" y="3343753"/>
            <a:ext cx="1201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Carac Statique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37368C82-75E3-A542-2D81-1A0BF6062A6C}"/>
              </a:ext>
            </a:extLst>
          </p:cNvPr>
          <p:cNvSpPr txBox="1"/>
          <p:nvPr/>
        </p:nvSpPr>
        <p:spPr>
          <a:xfrm>
            <a:off x="1105420" y="4163189"/>
            <a:ext cx="1201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Carac Statique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49486859-C02B-5896-180E-13B456B499CB}"/>
              </a:ext>
            </a:extLst>
          </p:cNvPr>
          <p:cNvSpPr txBox="1"/>
          <p:nvPr/>
        </p:nvSpPr>
        <p:spPr>
          <a:xfrm>
            <a:off x="3234071" y="4178883"/>
            <a:ext cx="1165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Réponse freq.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427008F-58E6-4057-4D4E-F9D3B8AE3B8A}"/>
              </a:ext>
            </a:extLst>
          </p:cNvPr>
          <p:cNvSpPr txBox="1"/>
          <p:nvPr/>
        </p:nvSpPr>
        <p:spPr>
          <a:xfrm>
            <a:off x="5239229" y="4194314"/>
            <a:ext cx="510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AOP</a:t>
            </a:r>
          </a:p>
        </p:txBody>
      </p:sp>
      <p:cxnSp>
        <p:nvCxnSpPr>
          <p:cNvPr id="16" name="Connecteur : en arc 15">
            <a:extLst>
              <a:ext uri="{FF2B5EF4-FFF2-40B4-BE49-F238E27FC236}">
                <a16:creationId xmlns:a16="http://schemas.microsoft.com/office/drawing/2014/main" id="{1B56CF65-8D49-354F-2607-F55BD67DA5DC}"/>
              </a:ext>
            </a:extLst>
          </p:cNvPr>
          <p:cNvCxnSpPr>
            <a:cxnSpLocks/>
          </p:cNvCxnSpPr>
          <p:nvPr/>
        </p:nvCxnSpPr>
        <p:spPr>
          <a:xfrm flipV="1">
            <a:off x="3480532" y="5222022"/>
            <a:ext cx="1349785" cy="320040"/>
          </a:xfrm>
          <a:prstGeom prst="curvedConnector3">
            <a:avLst>
              <a:gd name="adj1" fmla="val 50000"/>
            </a:avLst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362C3312-9CD4-773B-546E-C01121CB6607}"/>
              </a:ext>
            </a:extLst>
          </p:cNvPr>
          <p:cNvSpPr txBox="1"/>
          <p:nvPr/>
        </p:nvSpPr>
        <p:spPr>
          <a:xfrm>
            <a:off x="375547" y="6550223"/>
            <a:ext cx="464973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/>
            <a:r>
              <a:rPr lang="fr-FR" sz="700" dirty="0">
                <a:solidFill>
                  <a:prstClr val="black"/>
                </a:solidFill>
                <a:latin typeface="Liberation Sans" panose="020B0604020202020204" pitchFamily="34" charset="0"/>
              </a:rPr>
              <a:t>Images : </a:t>
            </a:r>
            <a:r>
              <a:rPr lang="fr-FR" sz="700" dirty="0" err="1">
                <a:solidFill>
                  <a:prstClr val="black"/>
                </a:solidFill>
                <a:latin typeface="Liberation Sans" panose="020B0604020202020204" pitchFamily="34" charset="0"/>
              </a:rPr>
              <a:t>Radiospares</a:t>
            </a:r>
            <a:r>
              <a:rPr lang="fr-FR" sz="700" dirty="0">
                <a:solidFill>
                  <a:prstClr val="black"/>
                </a:solidFill>
                <a:latin typeface="Liberation Sans" panose="020B0604020202020204" pitchFamily="34" charset="0"/>
              </a:rPr>
              <a:t> / rs-online.com</a:t>
            </a:r>
            <a:endParaRPr lang="fr-FR" sz="1000" b="0" i="0" u="none" strike="noStrike" dirty="0">
              <a:solidFill>
                <a:prstClr val="black"/>
              </a:solidFill>
              <a:latin typeface="FreeSan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B8C80BD-BCA5-0BB5-3E7A-9F146103F612}"/>
              </a:ext>
            </a:extLst>
          </p:cNvPr>
          <p:cNvSpPr txBox="1"/>
          <p:nvPr/>
        </p:nvSpPr>
        <p:spPr>
          <a:xfrm>
            <a:off x="10416516" y="1608582"/>
            <a:ext cx="12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séances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1E8FF1F-0D52-122D-E5E6-DAD7AD83E1F7}"/>
              </a:ext>
            </a:extLst>
          </p:cNvPr>
          <p:cNvSpPr/>
          <p:nvPr/>
        </p:nvSpPr>
        <p:spPr>
          <a:xfrm>
            <a:off x="8054542" y="1977914"/>
            <a:ext cx="3646462" cy="1953464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Comment </a:t>
            </a:r>
            <a:r>
              <a:rPr lang="fr-FR" b="1" dirty="0"/>
              <a:t>acquérir une image </a:t>
            </a:r>
            <a:r>
              <a:rPr lang="fr-FR" dirty="0"/>
              <a:t>numérique exploitable ?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Comment </a:t>
            </a:r>
            <a:r>
              <a:rPr lang="fr-FR" b="1" dirty="0"/>
              <a:t>préparer une image </a:t>
            </a:r>
            <a:r>
              <a:rPr lang="fr-FR" dirty="0"/>
              <a:t>numérique pour un traitement ?</a:t>
            </a:r>
            <a:endParaRPr lang="fr-FR" sz="24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B3DD7E3-4EDD-3CF2-2FA3-5F9C5F7386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8402" y="4075327"/>
            <a:ext cx="1130633" cy="1130633"/>
          </a:xfrm>
          <a:prstGeom prst="rect">
            <a:avLst/>
          </a:prstGeom>
        </p:spPr>
      </p:pic>
      <p:pic>
        <p:nvPicPr>
          <p:cNvPr id="17" name="Image 16" descr="Une image contenant texte, capture d’écran, Post-it, Rectangle&#10;&#10;Le contenu généré par l’IA peut être incorrect.">
            <a:extLst>
              <a:ext uri="{FF2B5EF4-FFF2-40B4-BE49-F238E27FC236}">
                <a16:creationId xmlns:a16="http://schemas.microsoft.com/office/drawing/2014/main" id="{9CD72F96-59F2-CA27-62E3-8974ACEBBB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510" y="5205960"/>
            <a:ext cx="3322525" cy="1458510"/>
          </a:xfrm>
          <a:prstGeom prst="rect">
            <a:avLst/>
          </a:prstGeom>
        </p:spPr>
      </p:pic>
      <p:sp>
        <p:nvSpPr>
          <p:cNvPr id="25" name="Rectangle : coins arrondis 13">
            <a:extLst>
              <a:ext uri="{FF2B5EF4-FFF2-40B4-BE49-F238E27FC236}">
                <a16:creationId xmlns:a16="http://schemas.microsoft.com/office/drawing/2014/main" id="{81E8FF1F-0D52-122D-E5E6-DAD7AD83E1F7}"/>
              </a:ext>
            </a:extLst>
          </p:cNvPr>
          <p:cNvSpPr/>
          <p:nvPr/>
        </p:nvSpPr>
        <p:spPr>
          <a:xfrm>
            <a:off x="743266" y="1977914"/>
            <a:ext cx="6680760" cy="598770"/>
          </a:xfrm>
          <a:prstGeom prst="roundRect">
            <a:avLst>
              <a:gd name="adj" fmla="val 46546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Comment acquérir un signal lumineux ?</a:t>
            </a:r>
            <a:endParaRPr lang="fr-FR" sz="2400" dirty="0"/>
          </a:p>
        </p:txBody>
      </p:sp>
      <p:pic>
        <p:nvPicPr>
          <p:cNvPr id="27" name="Imag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5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EEE2CD-304C-7206-E015-F52A5695E8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F71108-8121-4CC2-3ED6-50ABC11E79C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ACAFF-7D28-E79D-9EB4-4FEEF5BB961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0D3C9DC1-6176-93E4-0236-C834BE8949CB}"/>
              </a:ext>
            </a:extLst>
          </p:cNvPr>
          <p:cNvSpPr txBox="1"/>
          <p:nvPr/>
        </p:nvSpPr>
        <p:spPr>
          <a:xfrm>
            <a:off x="5324954" y="3095011"/>
            <a:ext cx="5629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AOP</a:t>
            </a:r>
          </a:p>
        </p:txBody>
      </p:sp>
      <p:sp>
        <p:nvSpPr>
          <p:cNvPr id="8" name="Triangle isocèle 7">
            <a:extLst>
              <a:ext uri="{FF2B5EF4-FFF2-40B4-BE49-F238E27FC236}">
                <a16:creationId xmlns:a16="http://schemas.microsoft.com/office/drawing/2014/main" id="{ABA8BA54-B2C6-AF33-9B9D-2B2E3C4CDF4D}"/>
              </a:ext>
            </a:extLst>
          </p:cNvPr>
          <p:cNvSpPr/>
          <p:nvPr/>
        </p:nvSpPr>
        <p:spPr>
          <a:xfrm rot="5400000">
            <a:off x="1070940" y="1664580"/>
            <a:ext cx="238982" cy="20235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B5A13C3-E4AA-292F-E183-6A505B516243}"/>
              </a:ext>
            </a:extLst>
          </p:cNvPr>
          <p:cNvSpPr txBox="1"/>
          <p:nvPr/>
        </p:nvSpPr>
        <p:spPr>
          <a:xfrm>
            <a:off x="1370266" y="1594943"/>
            <a:ext cx="64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A l’issue de cette UE, les </a:t>
            </a:r>
            <a:r>
              <a:rPr lang="fr-FR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étudiant</a:t>
            </a:r>
            <a:r>
              <a:rPr lang="fr-FR" i="0" dirty="0" err="1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·es</a:t>
            </a:r>
            <a:r>
              <a:rPr lang="fr-FR" i="0" dirty="0">
                <a:solidFill>
                  <a:srgbClr val="2021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seront capable de :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Flèche : pentagone 11">
            <a:extLst>
              <a:ext uri="{FF2B5EF4-FFF2-40B4-BE49-F238E27FC236}">
                <a16:creationId xmlns:a16="http://schemas.microsoft.com/office/drawing/2014/main" id="{4BFD9744-0876-5047-18DF-17BB5AA72CFD}"/>
              </a:ext>
            </a:extLst>
          </p:cNvPr>
          <p:cNvSpPr/>
          <p:nvPr/>
        </p:nvSpPr>
        <p:spPr>
          <a:xfrm>
            <a:off x="9008724" y="2691044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TD</a:t>
            </a:r>
          </a:p>
        </p:txBody>
      </p:sp>
      <p:sp>
        <p:nvSpPr>
          <p:cNvPr id="14" name="Flèche : pentagone 13">
            <a:extLst>
              <a:ext uri="{FF2B5EF4-FFF2-40B4-BE49-F238E27FC236}">
                <a16:creationId xmlns:a16="http://schemas.microsoft.com/office/drawing/2014/main" id="{862561DF-5E53-4B2F-2083-D2A26DEB7A9C}"/>
              </a:ext>
            </a:extLst>
          </p:cNvPr>
          <p:cNvSpPr/>
          <p:nvPr/>
        </p:nvSpPr>
        <p:spPr>
          <a:xfrm>
            <a:off x="9008724" y="1940503"/>
            <a:ext cx="2561364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TP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C9D3F52-E1BA-B42F-CF7D-2C54A262BFB9}"/>
              </a:ext>
            </a:extLst>
          </p:cNvPr>
          <p:cNvSpPr txBox="1"/>
          <p:nvPr/>
        </p:nvSpPr>
        <p:spPr>
          <a:xfrm>
            <a:off x="9320309" y="2316780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4h30 / en binôme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BDFE3A8-516A-719B-9836-7966508F83B9}"/>
              </a:ext>
            </a:extLst>
          </p:cNvPr>
          <p:cNvSpPr txBox="1"/>
          <p:nvPr/>
        </p:nvSpPr>
        <p:spPr>
          <a:xfrm>
            <a:off x="9320308" y="3103256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4347B33-9E6D-CA2C-C405-1F1F49326184}"/>
              </a:ext>
            </a:extLst>
          </p:cNvPr>
          <p:cNvSpPr txBox="1"/>
          <p:nvPr/>
        </p:nvSpPr>
        <p:spPr>
          <a:xfrm>
            <a:off x="1793072" y="2264690"/>
            <a:ext cx="6064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caractériser un dipôle </a:t>
            </a:r>
            <a:r>
              <a:rPr lang="fr-FR" sz="2000" dirty="0"/>
              <a:t>(linéaire ou non-linéaire) </a:t>
            </a:r>
            <a:r>
              <a:rPr lang="fr-FR" sz="2000" b="1" dirty="0"/>
              <a:t>statiquement</a:t>
            </a:r>
            <a:r>
              <a:rPr lang="fr-FR" sz="2000" dirty="0"/>
              <a:t> et en </a:t>
            </a:r>
            <a:r>
              <a:rPr lang="fr-FR" sz="2000" b="1" dirty="0"/>
              <a:t>déduire ses zones de fonctionnement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25D4FA-47CC-696E-1C6A-AD6B24FCD8F8}"/>
              </a:ext>
            </a:extLst>
          </p:cNvPr>
          <p:cNvSpPr/>
          <p:nvPr/>
        </p:nvSpPr>
        <p:spPr>
          <a:xfrm>
            <a:off x="1104900" y="2308674"/>
            <a:ext cx="501003" cy="92173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sz="1600" b="1" dirty="0"/>
              <a:t>BLOC 1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23462BA-E8A0-D3C0-9722-1B7BCD561485}"/>
              </a:ext>
            </a:extLst>
          </p:cNvPr>
          <p:cNvSpPr txBox="1"/>
          <p:nvPr/>
        </p:nvSpPr>
        <p:spPr>
          <a:xfrm>
            <a:off x="1793072" y="3514692"/>
            <a:ext cx="6064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caractériser un système linéaire </a:t>
            </a:r>
            <a:r>
              <a:rPr lang="fr-FR" sz="2000" dirty="0"/>
              <a:t>dans les domaines temporel et fréquentiel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CA0C4C-24DC-C940-BCE0-4FBE38E80D4F}"/>
              </a:ext>
            </a:extLst>
          </p:cNvPr>
          <p:cNvSpPr txBox="1"/>
          <p:nvPr/>
        </p:nvSpPr>
        <p:spPr>
          <a:xfrm>
            <a:off x="1802596" y="4454202"/>
            <a:ext cx="6064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mettre en œuvre des montages de photodétection </a:t>
            </a:r>
            <a:r>
              <a:rPr lang="fr-FR" sz="2000" dirty="0"/>
              <a:t>et de </a:t>
            </a:r>
            <a:r>
              <a:rPr lang="fr-FR" sz="2000" b="1" dirty="0"/>
              <a:t>comparer leurs performances fréquentielles et temporelles</a:t>
            </a:r>
            <a:endParaRPr lang="fr-FR" sz="2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E0D320-27B1-2881-C88A-4FAF3A582B44}"/>
              </a:ext>
            </a:extLst>
          </p:cNvPr>
          <p:cNvSpPr txBox="1"/>
          <p:nvPr/>
        </p:nvSpPr>
        <p:spPr>
          <a:xfrm>
            <a:off x="1793072" y="5862178"/>
            <a:ext cx="6064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documenter un travail scientifique/technique </a:t>
            </a:r>
            <a:endParaRPr lang="fr-FR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CBEDD8-B7C6-A06C-9A4C-6CDC26EE0CA9}"/>
              </a:ext>
            </a:extLst>
          </p:cNvPr>
          <p:cNvSpPr/>
          <p:nvPr/>
        </p:nvSpPr>
        <p:spPr>
          <a:xfrm>
            <a:off x="1104899" y="3393061"/>
            <a:ext cx="501003" cy="9375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sz="1600" b="1" dirty="0"/>
              <a:t>BLOC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132CA9-7C9C-77BB-9BB0-003B765DA2D8}"/>
              </a:ext>
            </a:extLst>
          </p:cNvPr>
          <p:cNvSpPr/>
          <p:nvPr/>
        </p:nvSpPr>
        <p:spPr>
          <a:xfrm>
            <a:off x="1104899" y="4493260"/>
            <a:ext cx="501003" cy="9375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sz="1600" b="1" dirty="0"/>
              <a:t>BLOC 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6AAE56-B1FA-1500-D223-06F9119EF02E}"/>
              </a:ext>
            </a:extLst>
          </p:cNvPr>
          <p:cNvSpPr/>
          <p:nvPr/>
        </p:nvSpPr>
        <p:spPr>
          <a:xfrm>
            <a:off x="1104898" y="5593459"/>
            <a:ext cx="501003" cy="9375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sz="1600" b="1" dirty="0"/>
              <a:t>BLOC 4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F4D2A82-CA7C-D137-200C-91B9E50DB9C5}"/>
              </a:ext>
            </a:extLst>
          </p:cNvPr>
          <p:cNvSpPr txBox="1"/>
          <p:nvPr/>
        </p:nvSpPr>
        <p:spPr>
          <a:xfrm>
            <a:off x="9132923" y="1354539"/>
            <a:ext cx="2561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UE = Unité d’Enseignement</a:t>
            </a:r>
            <a:endParaRPr lang="fr-FR" sz="1400" dirty="0"/>
          </a:p>
        </p:txBody>
      </p:sp>
      <p:sp>
        <p:nvSpPr>
          <p:cNvPr id="6" name="Flèche : pentagone 5">
            <a:extLst>
              <a:ext uri="{FF2B5EF4-FFF2-40B4-BE49-F238E27FC236}">
                <a16:creationId xmlns:a16="http://schemas.microsoft.com/office/drawing/2014/main" id="{F1F31EA0-5A9F-854B-0EC1-704BF008075E}"/>
              </a:ext>
            </a:extLst>
          </p:cNvPr>
          <p:cNvSpPr/>
          <p:nvPr/>
        </p:nvSpPr>
        <p:spPr>
          <a:xfrm>
            <a:off x="9008724" y="3941959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2 séances de TD Machine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F620E63-2A6E-A82A-1371-5A6D9C56B9C3}"/>
              </a:ext>
            </a:extLst>
          </p:cNvPr>
          <p:cNvSpPr txBox="1"/>
          <p:nvPr/>
        </p:nvSpPr>
        <p:spPr>
          <a:xfrm>
            <a:off x="9458592" y="4552607"/>
            <a:ext cx="19381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/>
              <a:t>Découverte du langage C++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86F53F-C290-2366-6D07-BD0AD9140140}"/>
              </a:ext>
            </a:extLst>
          </p:cNvPr>
          <p:cNvSpPr/>
          <p:nvPr/>
        </p:nvSpPr>
        <p:spPr>
          <a:xfrm>
            <a:off x="9280277" y="4552607"/>
            <a:ext cx="149912" cy="2539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65BA28B-4862-56EB-AC6C-0BB81190BE7A}"/>
              </a:ext>
            </a:extLst>
          </p:cNvPr>
          <p:cNvSpPr txBox="1"/>
          <p:nvPr/>
        </p:nvSpPr>
        <p:spPr>
          <a:xfrm>
            <a:off x="9320308" y="4311291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7A7DF3E-2BB9-FB41-E59B-DF9B319E7F15}"/>
              </a:ext>
            </a:extLst>
          </p:cNvPr>
          <p:cNvSpPr/>
          <p:nvPr/>
        </p:nvSpPr>
        <p:spPr>
          <a:xfrm>
            <a:off x="9008722" y="5308661"/>
            <a:ext cx="2561364" cy="1144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Responsables</a:t>
            </a:r>
          </a:p>
          <a:p>
            <a:pPr algn="ctr"/>
            <a:endParaRPr lang="fr-FR" sz="1200" b="1" dirty="0"/>
          </a:p>
          <a:p>
            <a:pPr algn="ctr"/>
            <a:r>
              <a:rPr lang="fr-FR" sz="1600" dirty="0"/>
              <a:t>Fabienne BERNARD</a:t>
            </a:r>
          </a:p>
          <a:p>
            <a:pPr algn="ctr"/>
            <a:r>
              <a:rPr lang="fr-FR" sz="1600" dirty="0"/>
              <a:t>Julien VILLEMEJANE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4FB737-FF0C-1D7C-C309-5862F24AB4B4}"/>
              </a:ext>
            </a:extLst>
          </p:cNvPr>
          <p:cNvSpPr/>
          <p:nvPr/>
        </p:nvSpPr>
        <p:spPr>
          <a:xfrm>
            <a:off x="1104899" y="4493258"/>
            <a:ext cx="6762138" cy="937549"/>
          </a:xfrm>
          <a:prstGeom prst="rect">
            <a:avLst/>
          </a:prstGeom>
          <a:noFill/>
          <a:ln w="57150">
            <a:solidFill>
              <a:srgbClr val="00B0F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fr-FR" sz="1600" b="1" dirty="0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96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EEE2CD-304C-7206-E015-F52A5695E8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F71108-8121-4CC2-3ED6-50ABC11E79C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ACAFF-7D28-E79D-9EB4-4FEEF5BB961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pentagone 11">
            <a:extLst>
              <a:ext uri="{FF2B5EF4-FFF2-40B4-BE49-F238E27FC236}">
                <a16:creationId xmlns:a16="http://schemas.microsoft.com/office/drawing/2014/main" id="{4BFD9744-0876-5047-18DF-17BB5AA72CFD}"/>
              </a:ext>
            </a:extLst>
          </p:cNvPr>
          <p:cNvSpPr/>
          <p:nvPr/>
        </p:nvSpPr>
        <p:spPr>
          <a:xfrm>
            <a:off x="9008724" y="2691044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TD</a:t>
            </a:r>
          </a:p>
        </p:txBody>
      </p:sp>
      <p:sp>
        <p:nvSpPr>
          <p:cNvPr id="13" name="Flèche : pentagone 12">
            <a:extLst>
              <a:ext uri="{FF2B5EF4-FFF2-40B4-BE49-F238E27FC236}">
                <a16:creationId xmlns:a16="http://schemas.microsoft.com/office/drawing/2014/main" id="{2F01100B-DA0A-03DB-8881-9744D6158B2F}"/>
              </a:ext>
            </a:extLst>
          </p:cNvPr>
          <p:cNvSpPr/>
          <p:nvPr/>
        </p:nvSpPr>
        <p:spPr>
          <a:xfrm>
            <a:off x="9008724" y="3941959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2 séances de TD Machine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E614CFB-345A-A05F-31A8-899F09B08114}"/>
              </a:ext>
            </a:extLst>
          </p:cNvPr>
          <p:cNvSpPr txBox="1"/>
          <p:nvPr/>
        </p:nvSpPr>
        <p:spPr>
          <a:xfrm>
            <a:off x="9458592" y="4552607"/>
            <a:ext cx="19381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/>
              <a:t>Découverte du langage C++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4A82AA-5EA4-6EB3-63EC-257B2C083A72}"/>
              </a:ext>
            </a:extLst>
          </p:cNvPr>
          <p:cNvSpPr/>
          <p:nvPr/>
        </p:nvSpPr>
        <p:spPr>
          <a:xfrm>
            <a:off x="9280277" y="4552607"/>
            <a:ext cx="149912" cy="2539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Flèche : pentagone 13">
            <a:extLst>
              <a:ext uri="{FF2B5EF4-FFF2-40B4-BE49-F238E27FC236}">
                <a16:creationId xmlns:a16="http://schemas.microsoft.com/office/drawing/2014/main" id="{862561DF-5E53-4B2F-2083-D2A26DEB7A9C}"/>
              </a:ext>
            </a:extLst>
          </p:cNvPr>
          <p:cNvSpPr/>
          <p:nvPr/>
        </p:nvSpPr>
        <p:spPr>
          <a:xfrm>
            <a:off x="9008724" y="1940503"/>
            <a:ext cx="2561364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TP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C9D3F52-E1BA-B42F-CF7D-2C54A262BFB9}"/>
              </a:ext>
            </a:extLst>
          </p:cNvPr>
          <p:cNvSpPr txBox="1"/>
          <p:nvPr/>
        </p:nvSpPr>
        <p:spPr>
          <a:xfrm>
            <a:off x="9320309" y="2316780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4h30 / en binôme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BDFE3A8-516A-719B-9836-7966508F83B9}"/>
              </a:ext>
            </a:extLst>
          </p:cNvPr>
          <p:cNvSpPr txBox="1"/>
          <p:nvPr/>
        </p:nvSpPr>
        <p:spPr>
          <a:xfrm>
            <a:off x="9320308" y="3103256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3913704-F055-41D9-4440-C55B75D5144C}"/>
              </a:ext>
            </a:extLst>
          </p:cNvPr>
          <p:cNvSpPr txBox="1"/>
          <p:nvPr/>
        </p:nvSpPr>
        <p:spPr>
          <a:xfrm>
            <a:off x="9320308" y="4311291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F4D2A82-CA7C-D137-200C-91B9E50DB9C5}"/>
              </a:ext>
            </a:extLst>
          </p:cNvPr>
          <p:cNvSpPr txBox="1"/>
          <p:nvPr/>
        </p:nvSpPr>
        <p:spPr>
          <a:xfrm>
            <a:off x="9132923" y="1354539"/>
            <a:ext cx="2561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UE = Unité d’Enseignement</a:t>
            </a:r>
            <a:endParaRPr lang="fr-FR" sz="14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628BA60-A8EC-4AA1-00CA-85A39DAE9194}"/>
              </a:ext>
            </a:extLst>
          </p:cNvPr>
          <p:cNvSpPr txBox="1"/>
          <p:nvPr/>
        </p:nvSpPr>
        <p:spPr>
          <a:xfrm>
            <a:off x="907225" y="3132056"/>
            <a:ext cx="688346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Module d’enseignement s’inscrivant dans le </a:t>
            </a:r>
            <a:br>
              <a:rPr lang="fr-FR" dirty="0"/>
            </a:br>
            <a:r>
              <a:rPr lang="fr-FR" sz="2400" b="1" dirty="0">
                <a:solidFill>
                  <a:srgbClr val="002060"/>
                </a:solidFill>
              </a:rPr>
              <a:t>déploiement de l’approche par compétences </a:t>
            </a:r>
            <a:endParaRPr lang="fr-FR" dirty="0">
              <a:solidFill>
                <a:srgbClr val="002060"/>
              </a:solidFill>
            </a:endParaRP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1400" dirty="0"/>
              <a:t>Vous serez </a:t>
            </a:r>
            <a:r>
              <a:rPr lang="fr-FR" sz="1400" dirty="0" err="1"/>
              <a:t>encouragé·e</a:t>
            </a:r>
            <a:r>
              <a:rPr lang="fr-FR" sz="1400" dirty="0"/>
              <a:t> à </a:t>
            </a:r>
            <a:br>
              <a:rPr lang="fr-FR" sz="1600" dirty="0"/>
            </a:br>
            <a:r>
              <a:rPr lang="fr-FR" b="1" dirty="0"/>
              <a:t>analyser votre progression personnelle</a:t>
            </a:r>
            <a:r>
              <a:rPr lang="fr-FR" dirty="0"/>
              <a:t> </a:t>
            </a:r>
            <a:br>
              <a:rPr lang="fr-FR" sz="1600" dirty="0"/>
            </a:br>
            <a:r>
              <a:rPr lang="fr-FR" sz="1400" dirty="0"/>
              <a:t>dans l’acquisition de savoirs et savoir-faire</a:t>
            </a:r>
            <a:endParaRPr lang="fr-FR" sz="1600" dirty="0"/>
          </a:p>
          <a:p>
            <a:endParaRPr lang="fr-FR" sz="1600" dirty="0"/>
          </a:p>
          <a:p>
            <a:r>
              <a:rPr lang="fr-FR" sz="1400" dirty="0"/>
              <a:t>Vous serez </a:t>
            </a:r>
            <a:r>
              <a:rPr lang="fr-FR" sz="1400" dirty="0" err="1"/>
              <a:t>amené·e</a:t>
            </a:r>
            <a:r>
              <a:rPr lang="fr-FR" sz="1400" dirty="0"/>
              <a:t> en particulier à </a:t>
            </a:r>
            <a:br>
              <a:rPr lang="fr-FR" sz="1400" dirty="0"/>
            </a:br>
            <a:r>
              <a:rPr lang="fr-FR" b="1" dirty="0"/>
              <a:t>repérer de façon explicite les erreurs </a:t>
            </a:r>
            <a:br>
              <a:rPr lang="fr-FR" sz="1600" dirty="0"/>
            </a:br>
            <a:r>
              <a:rPr lang="fr-FR" sz="1400" dirty="0"/>
              <a:t>et les maladresses commises</a:t>
            </a:r>
            <a:endParaRPr lang="fr-FR" sz="16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7201329-58DA-613B-87D6-838BFF5FC419}"/>
              </a:ext>
            </a:extLst>
          </p:cNvPr>
          <p:cNvSpPr txBox="1"/>
          <p:nvPr/>
        </p:nvSpPr>
        <p:spPr>
          <a:xfrm>
            <a:off x="933498" y="1765148"/>
            <a:ext cx="4781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dirty="0"/>
              <a:t>Volume horaire de 42h </a:t>
            </a:r>
            <a:r>
              <a:rPr lang="fr-FR" dirty="0"/>
              <a:t>pour </a:t>
            </a:r>
            <a:r>
              <a:rPr lang="fr-FR" b="1" dirty="0"/>
              <a:t>4 ECTS</a:t>
            </a:r>
            <a:r>
              <a:rPr lang="fr-FR" dirty="0"/>
              <a:t> </a:t>
            </a:r>
            <a:br>
              <a:rPr lang="fr-FR" dirty="0"/>
            </a:br>
            <a:r>
              <a:rPr lang="fr-FR" sz="1400" dirty="0"/>
              <a:t>(</a:t>
            </a:r>
            <a:r>
              <a:rPr lang="fr-FR" sz="1400" i="1" dirty="0" err="1"/>
              <a:t>European</a:t>
            </a:r>
            <a:r>
              <a:rPr lang="fr-FR" sz="1400" i="1" dirty="0"/>
              <a:t> </a:t>
            </a:r>
            <a:r>
              <a:rPr lang="fr-FR" sz="1400" i="1" dirty="0" err="1"/>
              <a:t>Credit</a:t>
            </a:r>
            <a:r>
              <a:rPr lang="fr-FR" sz="1400" i="1" dirty="0"/>
              <a:t> Transfer and Accumulation System</a:t>
            </a:r>
            <a:r>
              <a:rPr lang="fr-FR" sz="1400" dirty="0"/>
              <a:t>) </a:t>
            </a:r>
            <a:endParaRPr lang="fr-FR" dirty="0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86DAA1EA-4AC5-8DDB-3DF5-D340B4C083DA}"/>
              </a:ext>
            </a:extLst>
          </p:cNvPr>
          <p:cNvSpPr/>
          <p:nvPr/>
        </p:nvSpPr>
        <p:spPr>
          <a:xfrm>
            <a:off x="5715000" y="1832187"/>
            <a:ext cx="1481328" cy="36933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13 % du S5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237980B8-414A-9B48-1996-2D348DCB3EDC}"/>
              </a:ext>
            </a:extLst>
          </p:cNvPr>
          <p:cNvSpPr/>
          <p:nvPr/>
        </p:nvSpPr>
        <p:spPr>
          <a:xfrm>
            <a:off x="9008722" y="5308661"/>
            <a:ext cx="2561364" cy="1144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Responsables</a:t>
            </a:r>
          </a:p>
          <a:p>
            <a:pPr algn="ctr"/>
            <a:endParaRPr lang="fr-FR" sz="1200" b="1" dirty="0"/>
          </a:p>
          <a:p>
            <a:pPr algn="ctr"/>
            <a:r>
              <a:rPr lang="fr-FR" sz="1600" dirty="0"/>
              <a:t>Fabienne BERNARD</a:t>
            </a:r>
          </a:p>
          <a:p>
            <a:pPr algn="ctr"/>
            <a:r>
              <a:rPr lang="fr-FR" sz="1600" dirty="0"/>
              <a:t>Julien VILLEMEJANE</a:t>
            </a: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0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EEE2CD-304C-7206-E015-F52A5695E8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F71108-8121-4CC2-3ED6-50ABC11E79C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/ </a:t>
            </a:r>
            <a:r>
              <a:rPr lang="fr-FR" sz="2400" dirty="0"/>
              <a:t>VALIDATION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ACAFF-7D28-E79D-9EB4-4FEEF5BB961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B0084DD-0E9F-3E25-482C-125B4CE7AB69}"/>
              </a:ext>
            </a:extLst>
          </p:cNvPr>
          <p:cNvSpPr txBox="1"/>
          <p:nvPr/>
        </p:nvSpPr>
        <p:spPr>
          <a:xfrm>
            <a:off x="933498" y="1765148"/>
            <a:ext cx="4781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1" dirty="0"/>
              <a:t>Volume horaire de 42h </a:t>
            </a:r>
            <a:r>
              <a:rPr lang="fr-FR" dirty="0"/>
              <a:t>pour </a:t>
            </a:r>
            <a:r>
              <a:rPr lang="fr-FR" b="1" dirty="0"/>
              <a:t>4 ECTS</a:t>
            </a:r>
            <a:r>
              <a:rPr lang="fr-FR" dirty="0"/>
              <a:t> </a:t>
            </a:r>
            <a:br>
              <a:rPr lang="fr-FR" dirty="0"/>
            </a:br>
            <a:r>
              <a:rPr lang="fr-FR" sz="1400" dirty="0"/>
              <a:t>(</a:t>
            </a:r>
            <a:r>
              <a:rPr lang="fr-FR" sz="1400" i="1" dirty="0" err="1"/>
              <a:t>European</a:t>
            </a:r>
            <a:r>
              <a:rPr lang="fr-FR" sz="1400" i="1" dirty="0"/>
              <a:t> </a:t>
            </a:r>
            <a:r>
              <a:rPr lang="fr-FR" sz="1400" i="1" dirty="0" err="1"/>
              <a:t>Credit</a:t>
            </a:r>
            <a:r>
              <a:rPr lang="fr-FR" sz="1400" i="1" dirty="0"/>
              <a:t> Transfer and Accumulation System</a:t>
            </a:r>
            <a:r>
              <a:rPr lang="fr-FR" sz="1400" dirty="0"/>
              <a:t>) </a:t>
            </a:r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DE81DDE-24A9-D88A-A7EA-DB337A94584C}"/>
              </a:ext>
            </a:extLst>
          </p:cNvPr>
          <p:cNvSpPr/>
          <p:nvPr/>
        </p:nvSpPr>
        <p:spPr>
          <a:xfrm>
            <a:off x="5715000" y="1832187"/>
            <a:ext cx="1481328" cy="369332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13 % du S5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5BE7BB5-A273-6E3F-74CD-FFB27B5B3BE9}"/>
              </a:ext>
            </a:extLst>
          </p:cNvPr>
          <p:cNvSpPr txBox="1"/>
          <p:nvPr/>
        </p:nvSpPr>
        <p:spPr>
          <a:xfrm>
            <a:off x="1198712" y="3941959"/>
            <a:ext cx="72686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fr-FR" sz="2000" dirty="0"/>
              <a:t>Être </a:t>
            </a:r>
            <a:r>
              <a:rPr lang="fr-FR" sz="2000" b="1" dirty="0" err="1"/>
              <a:t>présent·es</a:t>
            </a:r>
            <a:r>
              <a:rPr lang="fr-FR" sz="2000" b="1" dirty="0"/>
              <a:t> et </a:t>
            </a:r>
            <a:r>
              <a:rPr lang="fr-FR" sz="2000" b="1" dirty="0" err="1"/>
              <a:t>actif·ves</a:t>
            </a:r>
            <a:r>
              <a:rPr lang="fr-FR" sz="2000" b="1" dirty="0"/>
              <a:t> </a:t>
            </a:r>
            <a:br>
              <a:rPr lang="fr-FR" sz="2000" dirty="0"/>
            </a:br>
            <a:r>
              <a:rPr lang="fr-FR" sz="2000" dirty="0"/>
              <a:t>à toutes les séances de TD et de TP</a:t>
            </a:r>
          </a:p>
          <a:p>
            <a:pPr marL="342900" indent="-342900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endParaRPr lang="fr-FR" sz="2000" dirty="0"/>
          </a:p>
          <a:p>
            <a:pPr marL="342900" indent="-342900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fr-FR" sz="2000" dirty="0"/>
              <a:t>Réaliser l’ensemble des </a:t>
            </a:r>
            <a:r>
              <a:rPr lang="fr-FR" sz="2000" b="1" dirty="0"/>
              <a:t>activités proposées </a:t>
            </a:r>
            <a:r>
              <a:rPr lang="fr-FR" sz="2000" dirty="0"/>
              <a:t>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fr-FR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Test individuel (</a:t>
            </a:r>
            <a:r>
              <a:rPr lang="fr-FR" sz="2000" dirty="0" err="1"/>
              <a:t>auto-évalution</a:t>
            </a:r>
            <a:r>
              <a:rPr lang="fr-FR" sz="2000" dirty="0"/>
              <a:t>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Activité en équipe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fr-FR" sz="2000" dirty="0"/>
              <a:t>Activité de synthèse écrite</a:t>
            </a:r>
          </a:p>
          <a:p>
            <a:pPr marL="342900" indent="-342900">
              <a:buFontTx/>
              <a:buChar char="-"/>
            </a:pPr>
            <a:endParaRPr lang="fr-FR" sz="2000" b="1" dirty="0"/>
          </a:p>
        </p:txBody>
      </p:sp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C19848C6-C969-E05F-5D40-D056A4F482FC}"/>
              </a:ext>
            </a:extLst>
          </p:cNvPr>
          <p:cNvSpPr/>
          <p:nvPr/>
        </p:nvSpPr>
        <p:spPr>
          <a:xfrm>
            <a:off x="9008724" y="2691044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TD</a:t>
            </a:r>
          </a:p>
        </p:txBody>
      </p:sp>
      <p:sp>
        <p:nvSpPr>
          <p:cNvPr id="11" name="Flèche : pentagone 10">
            <a:extLst>
              <a:ext uri="{FF2B5EF4-FFF2-40B4-BE49-F238E27FC236}">
                <a16:creationId xmlns:a16="http://schemas.microsoft.com/office/drawing/2014/main" id="{70DC025C-5ED9-2AE0-646B-A5032CE49BCF}"/>
              </a:ext>
            </a:extLst>
          </p:cNvPr>
          <p:cNvSpPr/>
          <p:nvPr/>
        </p:nvSpPr>
        <p:spPr>
          <a:xfrm>
            <a:off x="9008724" y="3941959"/>
            <a:ext cx="2561364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2 séances de TD Machine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9E39D13-989D-B083-2FB1-5BB3CA785B9B}"/>
              </a:ext>
            </a:extLst>
          </p:cNvPr>
          <p:cNvSpPr txBox="1"/>
          <p:nvPr/>
        </p:nvSpPr>
        <p:spPr>
          <a:xfrm>
            <a:off x="9458592" y="4552607"/>
            <a:ext cx="19381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50" dirty="0"/>
              <a:t>Découverte du langage C++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FD91D9-82CA-EBDC-026E-94A6013A17FA}"/>
              </a:ext>
            </a:extLst>
          </p:cNvPr>
          <p:cNvSpPr/>
          <p:nvPr/>
        </p:nvSpPr>
        <p:spPr>
          <a:xfrm>
            <a:off x="9280277" y="4552607"/>
            <a:ext cx="149912" cy="2539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Flèche : pentagone 13">
            <a:extLst>
              <a:ext uri="{FF2B5EF4-FFF2-40B4-BE49-F238E27FC236}">
                <a16:creationId xmlns:a16="http://schemas.microsoft.com/office/drawing/2014/main" id="{85A07578-2D17-E7B9-8E84-ED05BC9F843F}"/>
              </a:ext>
            </a:extLst>
          </p:cNvPr>
          <p:cNvSpPr/>
          <p:nvPr/>
        </p:nvSpPr>
        <p:spPr>
          <a:xfrm>
            <a:off x="9008724" y="1940503"/>
            <a:ext cx="2561364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6 séances de TP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E80BE83-0138-2A10-A508-9F18D1B547DE}"/>
              </a:ext>
            </a:extLst>
          </p:cNvPr>
          <p:cNvSpPr txBox="1"/>
          <p:nvPr/>
        </p:nvSpPr>
        <p:spPr>
          <a:xfrm>
            <a:off x="9320309" y="2316780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4h30 / en binôme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2DA784C-1E35-FC8D-F99C-EF8C80499DFF}"/>
              </a:ext>
            </a:extLst>
          </p:cNvPr>
          <p:cNvSpPr txBox="1"/>
          <p:nvPr/>
        </p:nvSpPr>
        <p:spPr>
          <a:xfrm>
            <a:off x="9320308" y="3103256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47A91A0-7216-4DF6-BFFA-3CE367D18EAD}"/>
              </a:ext>
            </a:extLst>
          </p:cNvPr>
          <p:cNvSpPr txBox="1"/>
          <p:nvPr/>
        </p:nvSpPr>
        <p:spPr>
          <a:xfrm>
            <a:off x="9320308" y="4311291"/>
            <a:ext cx="19381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1h30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39D2C7A-0340-7B70-2A27-4CC6DB38FB72}"/>
              </a:ext>
            </a:extLst>
          </p:cNvPr>
          <p:cNvSpPr/>
          <p:nvPr/>
        </p:nvSpPr>
        <p:spPr>
          <a:xfrm>
            <a:off x="9008722" y="5308661"/>
            <a:ext cx="2561364" cy="11442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/>
              <a:t>Responsables</a:t>
            </a:r>
          </a:p>
          <a:p>
            <a:pPr algn="ctr"/>
            <a:endParaRPr lang="fr-FR" sz="1200" b="1" dirty="0"/>
          </a:p>
          <a:p>
            <a:pPr algn="ctr"/>
            <a:r>
              <a:rPr lang="fr-FR" sz="1600" dirty="0"/>
              <a:t>Fabienne BERNARD</a:t>
            </a:r>
          </a:p>
          <a:p>
            <a:pPr algn="ctr"/>
            <a:r>
              <a:rPr lang="fr-FR" sz="1600" dirty="0"/>
              <a:t>Julien VILLEMEJANE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C6F5C6D-3B89-8528-62A8-4D48DFAC208F}"/>
              </a:ext>
            </a:extLst>
          </p:cNvPr>
          <p:cNvSpPr txBox="1"/>
          <p:nvPr/>
        </p:nvSpPr>
        <p:spPr>
          <a:xfrm>
            <a:off x="9132923" y="1354539"/>
            <a:ext cx="25613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UE = Unité d’Enseignement</a:t>
            </a:r>
            <a:endParaRPr lang="fr-FR" sz="14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A5F41AE-9B8B-8409-AE22-DED114797535}"/>
              </a:ext>
            </a:extLst>
          </p:cNvPr>
          <p:cNvSpPr txBox="1"/>
          <p:nvPr/>
        </p:nvSpPr>
        <p:spPr>
          <a:xfrm>
            <a:off x="907225" y="2714628"/>
            <a:ext cx="4807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</a:rPr>
              <a:t>Validation du module</a:t>
            </a:r>
            <a:endParaRPr lang="fr-FR" dirty="0"/>
          </a:p>
        </p:txBody>
      </p:sp>
      <p:pic>
        <p:nvPicPr>
          <p:cNvPr id="20" name="Imag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79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4">
            <a:extLst>
              <a:ext uri="{FF2B5EF4-FFF2-40B4-BE49-F238E27FC236}">
                <a16:creationId xmlns:a16="http://schemas.microsoft.com/office/drawing/2014/main" id="{70DEBF2F-962B-2118-00D0-C2E2D0D22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25" y="2905451"/>
            <a:ext cx="817592" cy="72674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EEE2CD-304C-7206-E015-F52A5695E8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F71108-8121-4CC2-3ED6-50ABC11E79C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/ </a:t>
            </a:r>
            <a:r>
              <a:rPr lang="fr-FR" sz="2400" dirty="0"/>
              <a:t>TESTS DE TP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ACAFF-7D28-E79D-9EB4-4FEEF5BB961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9864482-9753-290A-3835-55F6858709FA}"/>
              </a:ext>
            </a:extLst>
          </p:cNvPr>
          <p:cNvSpPr txBox="1"/>
          <p:nvPr/>
        </p:nvSpPr>
        <p:spPr>
          <a:xfrm>
            <a:off x="907225" y="1611430"/>
            <a:ext cx="12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 séances</a:t>
            </a:r>
          </a:p>
        </p:txBody>
      </p:sp>
      <p:sp>
        <p:nvSpPr>
          <p:cNvPr id="20" name="Flèche : pentagone 19">
            <a:extLst>
              <a:ext uri="{FF2B5EF4-FFF2-40B4-BE49-F238E27FC236}">
                <a16:creationId xmlns:a16="http://schemas.microsoft.com/office/drawing/2014/main" id="{2B48A41D-8BAF-BE4F-4E2F-096FB1C909EE}"/>
              </a:ext>
            </a:extLst>
          </p:cNvPr>
          <p:cNvSpPr/>
          <p:nvPr/>
        </p:nvSpPr>
        <p:spPr>
          <a:xfrm>
            <a:off x="540846" y="4121589"/>
            <a:ext cx="2893250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2 séances en individuel</a:t>
            </a:r>
          </a:p>
        </p:txBody>
      </p:sp>
      <p:sp>
        <p:nvSpPr>
          <p:cNvPr id="21" name="Flèche : pentagone 20">
            <a:extLst>
              <a:ext uri="{FF2B5EF4-FFF2-40B4-BE49-F238E27FC236}">
                <a16:creationId xmlns:a16="http://schemas.microsoft.com/office/drawing/2014/main" id="{A0ABED0A-FA80-4E0A-C1FA-C49F0624BC34}"/>
              </a:ext>
            </a:extLst>
          </p:cNvPr>
          <p:cNvSpPr/>
          <p:nvPr/>
        </p:nvSpPr>
        <p:spPr>
          <a:xfrm>
            <a:off x="540846" y="5349496"/>
            <a:ext cx="2893250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2 séances en binôme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B66A6B-EF1E-45FB-249E-1355DF2BAEAF}"/>
              </a:ext>
            </a:extLst>
          </p:cNvPr>
          <p:cNvSpPr/>
          <p:nvPr/>
        </p:nvSpPr>
        <p:spPr>
          <a:xfrm>
            <a:off x="4358026" y="4102302"/>
            <a:ext cx="1356298" cy="46814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Caractéristique statique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6FC09C-6EF4-6C72-E95C-6B01C9C7E30F}"/>
              </a:ext>
            </a:extLst>
          </p:cNvPr>
          <p:cNvSpPr/>
          <p:nvPr/>
        </p:nvSpPr>
        <p:spPr>
          <a:xfrm>
            <a:off x="5819775" y="5251811"/>
            <a:ext cx="1356298" cy="101025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Feuille de résultats</a:t>
            </a:r>
            <a:br>
              <a:rPr lang="fr-FR" sz="1050" dirty="0">
                <a:solidFill>
                  <a:schemeClr val="bg1"/>
                </a:solidFill>
              </a:rPr>
            </a:br>
            <a:br>
              <a:rPr lang="fr-FR" sz="1050" dirty="0">
                <a:solidFill>
                  <a:schemeClr val="bg1"/>
                </a:solidFill>
              </a:rPr>
            </a:br>
            <a:r>
              <a:rPr lang="fr-FR" sz="1050" dirty="0">
                <a:solidFill>
                  <a:schemeClr val="bg1"/>
                </a:solidFill>
              </a:rPr>
              <a:t>Rédaction protocole 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</a:rPr>
              <a:t>Analyse comparative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AD7EEC-F41E-8C48-A14A-851D9C53CA3E}"/>
              </a:ext>
            </a:extLst>
          </p:cNvPr>
          <p:cNvSpPr/>
          <p:nvPr/>
        </p:nvSpPr>
        <p:spPr>
          <a:xfrm>
            <a:off x="4358027" y="5251812"/>
            <a:ext cx="1356298" cy="101025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Comparaison des caractéristiques dynamiques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40810789-B56D-7665-0F6C-E310414DAB4F}"/>
              </a:ext>
            </a:extLst>
          </p:cNvPr>
          <p:cNvSpPr/>
          <p:nvPr/>
        </p:nvSpPr>
        <p:spPr>
          <a:xfrm>
            <a:off x="8054542" y="1977914"/>
            <a:ext cx="3646462" cy="145108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Vision industrielle</a:t>
            </a:r>
            <a:br>
              <a:rPr lang="fr-FR" dirty="0"/>
            </a:br>
            <a:r>
              <a:rPr lang="fr-FR" dirty="0"/>
              <a:t>Traitement d’image</a:t>
            </a:r>
            <a:endParaRPr lang="fr-FR" sz="2400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80BCB17D-4C08-1457-200D-745BB5C86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8786" y="3520600"/>
            <a:ext cx="733784" cy="733784"/>
          </a:xfrm>
          <a:prstGeom prst="rect">
            <a:avLst/>
          </a:prstGeom>
        </p:spPr>
      </p:pic>
      <p:sp>
        <p:nvSpPr>
          <p:cNvPr id="40" name="Organigramme : Connecteur page suivante 39">
            <a:extLst>
              <a:ext uri="{FF2B5EF4-FFF2-40B4-BE49-F238E27FC236}">
                <a16:creationId xmlns:a16="http://schemas.microsoft.com/office/drawing/2014/main" id="{30AE272D-DE58-2557-D637-82A8E7EEFD33}"/>
              </a:ext>
            </a:extLst>
          </p:cNvPr>
          <p:cNvSpPr/>
          <p:nvPr/>
        </p:nvSpPr>
        <p:spPr>
          <a:xfrm>
            <a:off x="9682489" y="3304245"/>
            <a:ext cx="1356297" cy="950140"/>
          </a:xfrm>
          <a:prstGeom prst="flowChartOffpageConnector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Production de </a:t>
            </a:r>
            <a:r>
              <a:rPr lang="fr-FR" sz="1200" b="1" dirty="0">
                <a:solidFill>
                  <a:schemeClr val="bg1"/>
                </a:solidFill>
              </a:rPr>
              <a:t>livrables</a:t>
            </a:r>
          </a:p>
        </p:txBody>
      </p:sp>
      <p:sp>
        <p:nvSpPr>
          <p:cNvPr id="41" name="Organigramme : Connecteur page suivante 40">
            <a:extLst>
              <a:ext uri="{FF2B5EF4-FFF2-40B4-BE49-F238E27FC236}">
                <a16:creationId xmlns:a16="http://schemas.microsoft.com/office/drawing/2014/main" id="{E61CDC6D-D588-2909-210E-06EF8222EADB}"/>
              </a:ext>
            </a:extLst>
          </p:cNvPr>
          <p:cNvSpPr/>
          <p:nvPr/>
        </p:nvSpPr>
        <p:spPr>
          <a:xfrm>
            <a:off x="8198990" y="3310597"/>
            <a:ext cx="1356297" cy="931083"/>
          </a:xfrm>
          <a:prstGeom prst="flowChartOffpageConnector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Mise en œuvre de </a:t>
            </a:r>
            <a:r>
              <a:rPr lang="fr-FR" sz="1200" b="1" dirty="0">
                <a:solidFill>
                  <a:schemeClr val="bg1"/>
                </a:solidFill>
              </a:rPr>
              <a:t>protocoles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Réalisation de </a:t>
            </a:r>
            <a:r>
              <a:rPr lang="fr-FR" sz="1200" b="1" dirty="0">
                <a:solidFill>
                  <a:schemeClr val="bg1"/>
                </a:solidFill>
              </a:rPr>
              <a:t>mesures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AE7004-78F0-2949-7707-0414FEDBC65C}"/>
              </a:ext>
            </a:extLst>
          </p:cNvPr>
          <p:cNvSpPr/>
          <p:nvPr/>
        </p:nvSpPr>
        <p:spPr>
          <a:xfrm>
            <a:off x="8198988" y="4460110"/>
            <a:ext cx="1356298" cy="64528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Prise en main caméra industrielle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529F8C9F-B255-DCE9-D2AC-4AFDF1E64CBA}"/>
              </a:ext>
            </a:extLst>
          </p:cNvPr>
          <p:cNvSpPr txBox="1"/>
          <p:nvPr/>
        </p:nvSpPr>
        <p:spPr>
          <a:xfrm>
            <a:off x="10416516" y="1608582"/>
            <a:ext cx="1217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séances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90232F-199F-F3D2-52F8-D218DA81F29D}"/>
              </a:ext>
            </a:extLst>
          </p:cNvPr>
          <p:cNvSpPr/>
          <p:nvPr/>
        </p:nvSpPr>
        <p:spPr>
          <a:xfrm>
            <a:off x="5819775" y="4102302"/>
            <a:ext cx="1356298" cy="46814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Feuille de résultats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85121DB-E620-A657-FAEC-C010A901015E}"/>
              </a:ext>
            </a:extLst>
          </p:cNvPr>
          <p:cNvSpPr/>
          <p:nvPr/>
        </p:nvSpPr>
        <p:spPr>
          <a:xfrm>
            <a:off x="5819775" y="4669541"/>
            <a:ext cx="1356298" cy="46814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Auto-évaluation compétences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DB142BE-B09A-F1F5-44BC-E9EFA5D1D863}"/>
              </a:ext>
            </a:extLst>
          </p:cNvPr>
          <p:cNvSpPr/>
          <p:nvPr/>
        </p:nvSpPr>
        <p:spPr>
          <a:xfrm>
            <a:off x="4358026" y="4674934"/>
            <a:ext cx="1356298" cy="46275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Etude dynamique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D63247D-B4AD-B18D-8F20-57C812B8B6AC}"/>
              </a:ext>
            </a:extLst>
          </p:cNvPr>
          <p:cNvSpPr txBox="1"/>
          <p:nvPr/>
        </p:nvSpPr>
        <p:spPr>
          <a:xfrm>
            <a:off x="540846" y="4510440"/>
            <a:ext cx="36899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1"/>
                </a:solidFill>
              </a:rPr>
              <a:t>Caractérisation statique d’un dipôle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Caractérisation fréquentielle d’un système linéaire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F71C34D5-FC0E-E7E9-ABC4-17ADECBE5A2D}"/>
              </a:ext>
            </a:extLst>
          </p:cNvPr>
          <p:cNvSpPr txBox="1"/>
          <p:nvPr/>
        </p:nvSpPr>
        <p:spPr>
          <a:xfrm>
            <a:off x="540846" y="5726985"/>
            <a:ext cx="36899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Comparaison de circuits de photodétection (étude dynamique)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F52A36B-B31F-53E2-9113-F63348C11A11}"/>
              </a:ext>
            </a:extLst>
          </p:cNvPr>
          <p:cNvSpPr/>
          <p:nvPr/>
        </p:nvSpPr>
        <p:spPr>
          <a:xfrm>
            <a:off x="8198988" y="5214617"/>
            <a:ext cx="1356298" cy="46814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Détection d’objets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71D99C7-1D25-1E99-315C-2F04A7D8DF8D}"/>
              </a:ext>
            </a:extLst>
          </p:cNvPr>
          <p:cNvSpPr/>
          <p:nvPr/>
        </p:nvSpPr>
        <p:spPr>
          <a:xfrm>
            <a:off x="8198988" y="5791979"/>
            <a:ext cx="1356298" cy="46814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Détection de couleurs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EC2F9DF-A3AE-36AB-D785-BEB02958A382}"/>
              </a:ext>
            </a:extLst>
          </p:cNvPr>
          <p:cNvSpPr/>
          <p:nvPr/>
        </p:nvSpPr>
        <p:spPr>
          <a:xfrm>
            <a:off x="9682488" y="4460110"/>
            <a:ext cx="1356298" cy="46814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Feuille de résultats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1183452-3CB8-77E9-DC59-7EC3F8CB673E}"/>
              </a:ext>
            </a:extLst>
          </p:cNvPr>
          <p:cNvSpPr/>
          <p:nvPr/>
        </p:nvSpPr>
        <p:spPr>
          <a:xfrm>
            <a:off x="9682488" y="5214617"/>
            <a:ext cx="1356298" cy="104550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Analyse comparative</a:t>
            </a:r>
          </a:p>
        </p:txBody>
      </p:sp>
      <p:sp>
        <p:nvSpPr>
          <p:cNvPr id="37" name="Rectangle : coins arrondis 13">
            <a:extLst>
              <a:ext uri="{FF2B5EF4-FFF2-40B4-BE49-F238E27FC236}">
                <a16:creationId xmlns:a16="http://schemas.microsoft.com/office/drawing/2014/main" id="{81E8FF1F-0D52-122D-E5E6-DAD7AD83E1F7}"/>
              </a:ext>
            </a:extLst>
          </p:cNvPr>
          <p:cNvSpPr/>
          <p:nvPr/>
        </p:nvSpPr>
        <p:spPr>
          <a:xfrm>
            <a:off x="743266" y="1977914"/>
            <a:ext cx="6680760" cy="938694"/>
          </a:xfrm>
          <a:prstGeom prst="roundRect">
            <a:avLst>
              <a:gd name="adj" fmla="val 2642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Photodétection</a:t>
            </a:r>
            <a:endParaRPr lang="fr-FR" sz="2400" dirty="0"/>
          </a:p>
        </p:txBody>
      </p:sp>
      <p:sp>
        <p:nvSpPr>
          <p:cNvPr id="16" name="Organigramme : Connecteur page suivante 15">
            <a:extLst>
              <a:ext uri="{FF2B5EF4-FFF2-40B4-BE49-F238E27FC236}">
                <a16:creationId xmlns:a16="http://schemas.microsoft.com/office/drawing/2014/main" id="{C325DA8E-D07A-6124-5C61-F5BE79E1EB47}"/>
              </a:ext>
            </a:extLst>
          </p:cNvPr>
          <p:cNvSpPr/>
          <p:nvPr/>
        </p:nvSpPr>
        <p:spPr>
          <a:xfrm>
            <a:off x="4358027" y="2853401"/>
            <a:ext cx="1356297" cy="943786"/>
          </a:xfrm>
          <a:prstGeom prst="flowChartOffpageConnector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Mise en œuvre de </a:t>
            </a:r>
            <a:r>
              <a:rPr lang="fr-FR" sz="1200" b="1" dirty="0">
                <a:solidFill>
                  <a:schemeClr val="bg1"/>
                </a:solidFill>
              </a:rPr>
              <a:t>protocoles</a:t>
            </a:r>
            <a:br>
              <a:rPr lang="fr-FR" sz="1200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Réalisation de </a:t>
            </a:r>
            <a:r>
              <a:rPr lang="fr-FR" sz="1200" b="1" dirty="0">
                <a:solidFill>
                  <a:schemeClr val="bg1"/>
                </a:solidFill>
              </a:rPr>
              <a:t>mesures</a:t>
            </a:r>
          </a:p>
        </p:txBody>
      </p:sp>
      <p:sp>
        <p:nvSpPr>
          <p:cNvPr id="19" name="Organigramme : Connecteur page suivante 18">
            <a:extLst>
              <a:ext uri="{FF2B5EF4-FFF2-40B4-BE49-F238E27FC236}">
                <a16:creationId xmlns:a16="http://schemas.microsoft.com/office/drawing/2014/main" id="{9F505F6D-F56E-43BC-3BED-F00C3D880133}"/>
              </a:ext>
            </a:extLst>
          </p:cNvPr>
          <p:cNvSpPr/>
          <p:nvPr/>
        </p:nvSpPr>
        <p:spPr>
          <a:xfrm>
            <a:off x="5819775" y="2840696"/>
            <a:ext cx="1356297" cy="943786"/>
          </a:xfrm>
          <a:prstGeom prst="flowChartOffpageConnector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Production de </a:t>
            </a:r>
            <a:r>
              <a:rPr lang="fr-FR" sz="1200" b="1" dirty="0">
                <a:solidFill>
                  <a:schemeClr val="bg1"/>
                </a:solidFill>
              </a:rPr>
              <a:t>livrables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2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12078-5DED-8BCB-E677-A1A2D9923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FECD18D-6BE8-0B8D-D414-AA59B99BF60C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6A8437-0399-979D-B01C-545767EF065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D2883B5-1155-D3A2-65BB-C9C9D21E4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45" y="1933900"/>
            <a:ext cx="7490544" cy="4518987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163763C6-F06F-FD7D-CFCA-0515800C17A3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/ </a:t>
            </a:r>
            <a:r>
              <a:rPr lang="fr-FR" sz="2400" dirty="0"/>
              <a:t>COMPETENCES</a:t>
            </a:r>
            <a:endParaRPr lang="fr-FR" sz="4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7E5D26-46F9-9493-593F-FEAF55B60669}"/>
              </a:ext>
            </a:extLst>
          </p:cNvPr>
          <p:cNvSpPr/>
          <p:nvPr/>
        </p:nvSpPr>
        <p:spPr>
          <a:xfrm>
            <a:off x="6656832" y="3357356"/>
            <a:ext cx="2505456" cy="1479819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5CCB61-45B6-AD8E-4A2A-F2ECAC198F2F}"/>
              </a:ext>
            </a:extLst>
          </p:cNvPr>
          <p:cNvSpPr/>
          <p:nvPr/>
        </p:nvSpPr>
        <p:spPr>
          <a:xfrm>
            <a:off x="9161844" y="1876027"/>
            <a:ext cx="2505456" cy="1479819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0259CD-6F95-C931-B7E2-D0A9DC8D6755}"/>
              </a:ext>
            </a:extLst>
          </p:cNvPr>
          <p:cNvSpPr/>
          <p:nvPr/>
        </p:nvSpPr>
        <p:spPr>
          <a:xfrm>
            <a:off x="4139771" y="3355846"/>
            <a:ext cx="2505456" cy="1479819"/>
          </a:xfrm>
          <a:prstGeom prst="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23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0DF46-4FC3-0D47-0D9C-BA583BEE7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180C1205-7F59-6239-0DD2-E790A3844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91" y="5041859"/>
            <a:ext cx="495369" cy="47631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3FBF9FD7-DD51-1144-6015-7ACB4A390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56" y="3497759"/>
            <a:ext cx="533474" cy="5715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1377B34-EB54-D425-65F3-E0A05CA747BE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784E42-AEE6-D0F0-6BEE-26212FD0EB4F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5F1B080F-03E3-E859-E9CC-2AB1D6B8257A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/ </a:t>
            </a:r>
            <a:r>
              <a:rPr lang="fr-FR" sz="2400" dirty="0"/>
              <a:t>COMPETENCES</a:t>
            </a:r>
            <a:endParaRPr lang="fr-FR" sz="40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D07B1C5-2F81-D69A-47E2-7D144ED91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96" y="1629139"/>
            <a:ext cx="562053" cy="56205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13F2FF1-FA36-D7CC-6929-62551D33FA24}"/>
              </a:ext>
            </a:extLst>
          </p:cNvPr>
          <p:cNvSpPr txBox="1"/>
          <p:nvPr/>
        </p:nvSpPr>
        <p:spPr>
          <a:xfrm>
            <a:off x="1637624" y="1556222"/>
            <a:ext cx="9134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02060"/>
                </a:solidFill>
              </a:rPr>
              <a:t>C3 - </a:t>
            </a:r>
            <a:r>
              <a:rPr lang="fr-FR" b="1" dirty="0">
                <a:solidFill>
                  <a:srgbClr val="002060"/>
                </a:solidFill>
              </a:rPr>
              <a:t>Réaliser et développer une solution technologique </a:t>
            </a:r>
          </a:p>
          <a:p>
            <a:r>
              <a:rPr lang="fr-FR" b="1" dirty="0">
                <a:solidFill>
                  <a:srgbClr val="002060"/>
                </a:solidFill>
              </a:rPr>
              <a:t>intégrant des fonctionnalités optiques/photoniques</a:t>
            </a:r>
            <a:r>
              <a:rPr lang="fr-FR" sz="20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A055A0C-2565-C1E7-F8E9-6027E5A5F995}"/>
              </a:ext>
            </a:extLst>
          </p:cNvPr>
          <p:cNvSpPr txBox="1"/>
          <p:nvPr/>
        </p:nvSpPr>
        <p:spPr>
          <a:xfrm>
            <a:off x="1621195" y="3392231"/>
            <a:ext cx="913400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02060"/>
                </a:solidFill>
              </a:rPr>
              <a:t>C4 - </a:t>
            </a:r>
            <a:r>
              <a:rPr lang="fr-FR" b="1" dirty="0">
                <a:solidFill>
                  <a:srgbClr val="002060"/>
                </a:solidFill>
              </a:rPr>
              <a:t>Valider une solution technologique intégrant des</a:t>
            </a:r>
          </a:p>
          <a:p>
            <a:r>
              <a:rPr lang="fr-FR" b="1" dirty="0">
                <a:solidFill>
                  <a:srgbClr val="002060"/>
                </a:solidFill>
              </a:rPr>
              <a:t>fonctionnalités optiques/photoniques</a:t>
            </a:r>
            <a:endParaRPr lang="fr-FR" sz="2000" b="1" dirty="0">
              <a:solidFill>
                <a:srgbClr val="00206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4E5374F-057F-7A8F-E767-34BE45B55F93}"/>
              </a:ext>
            </a:extLst>
          </p:cNvPr>
          <p:cNvSpPr txBox="1"/>
          <p:nvPr/>
        </p:nvSpPr>
        <p:spPr>
          <a:xfrm>
            <a:off x="1621195" y="4883205"/>
            <a:ext cx="81872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002060"/>
                </a:solidFill>
              </a:rPr>
              <a:t>C5 - </a:t>
            </a:r>
            <a:r>
              <a:rPr lang="fr-FR" b="1" dirty="0">
                <a:solidFill>
                  <a:srgbClr val="002060"/>
                </a:solidFill>
              </a:rPr>
              <a:t>Extraire et Interpréter des informations et des données permettant de comprendre une situation ou un phénomène, et d’accompagner la prise de décision</a:t>
            </a:r>
            <a:endParaRPr lang="fr-FR" sz="2000" b="1" dirty="0">
              <a:solidFill>
                <a:srgbClr val="002060"/>
              </a:solidFill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D14013F-BCDE-EA45-16FF-B14F6F3F88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2743" y="4770043"/>
            <a:ext cx="1464920" cy="1953464"/>
          </a:xfrm>
          <a:prstGeom prst="rect">
            <a:avLst/>
          </a:prstGeom>
        </p:spPr>
      </p:pic>
      <p:sp>
        <p:nvSpPr>
          <p:cNvPr id="22" name="Triangle isocèle 21">
            <a:extLst>
              <a:ext uri="{FF2B5EF4-FFF2-40B4-BE49-F238E27FC236}">
                <a16:creationId xmlns:a16="http://schemas.microsoft.com/office/drawing/2014/main" id="{5AE9CB08-FD24-E49D-32BC-1A0B62E93BF8}"/>
              </a:ext>
            </a:extLst>
          </p:cNvPr>
          <p:cNvSpPr/>
          <p:nvPr/>
        </p:nvSpPr>
        <p:spPr>
          <a:xfrm rot="5400000">
            <a:off x="2780868" y="2331502"/>
            <a:ext cx="238982" cy="20235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A83B390-E476-BE30-3242-6B7894BDFB9F}"/>
              </a:ext>
            </a:extLst>
          </p:cNvPr>
          <p:cNvSpPr txBox="1"/>
          <p:nvPr/>
        </p:nvSpPr>
        <p:spPr>
          <a:xfrm>
            <a:off x="3180778" y="2248014"/>
            <a:ext cx="64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Validation des montages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Triangle isocèle 23">
            <a:extLst>
              <a:ext uri="{FF2B5EF4-FFF2-40B4-BE49-F238E27FC236}">
                <a16:creationId xmlns:a16="http://schemas.microsoft.com/office/drawing/2014/main" id="{98D73ACC-6CAE-19B3-134A-FC1820634592}"/>
              </a:ext>
            </a:extLst>
          </p:cNvPr>
          <p:cNvSpPr/>
          <p:nvPr/>
        </p:nvSpPr>
        <p:spPr>
          <a:xfrm rot="5400000">
            <a:off x="2777571" y="4139038"/>
            <a:ext cx="238982" cy="20235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1C0E6AD-0966-ACD0-65A5-65E3C5F9F887}"/>
              </a:ext>
            </a:extLst>
          </p:cNvPr>
          <p:cNvSpPr txBox="1"/>
          <p:nvPr/>
        </p:nvSpPr>
        <p:spPr>
          <a:xfrm>
            <a:off x="3177481" y="4055550"/>
            <a:ext cx="64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Validation des mesures vis-à-vis d’un cahier des charges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Triangle isocèle 25">
            <a:extLst>
              <a:ext uri="{FF2B5EF4-FFF2-40B4-BE49-F238E27FC236}">
                <a16:creationId xmlns:a16="http://schemas.microsoft.com/office/drawing/2014/main" id="{8B64F929-199E-57D5-9B8E-A18EACFC0358}"/>
              </a:ext>
            </a:extLst>
          </p:cNvPr>
          <p:cNvSpPr/>
          <p:nvPr/>
        </p:nvSpPr>
        <p:spPr>
          <a:xfrm rot="5400000">
            <a:off x="2780868" y="2692717"/>
            <a:ext cx="238982" cy="20235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0AA5F36-14BA-9117-167F-BEF55AC8009B}"/>
              </a:ext>
            </a:extLst>
          </p:cNvPr>
          <p:cNvSpPr txBox="1"/>
          <p:nvPr/>
        </p:nvSpPr>
        <p:spPr>
          <a:xfrm>
            <a:off x="3180778" y="2609229"/>
            <a:ext cx="64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Justification du choix des instruments de mesure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Triangle isocèle 27">
            <a:extLst>
              <a:ext uri="{FF2B5EF4-FFF2-40B4-BE49-F238E27FC236}">
                <a16:creationId xmlns:a16="http://schemas.microsoft.com/office/drawing/2014/main" id="{8107F4E8-C50E-AC39-FFE2-749381FCF63A}"/>
              </a:ext>
            </a:extLst>
          </p:cNvPr>
          <p:cNvSpPr/>
          <p:nvPr/>
        </p:nvSpPr>
        <p:spPr>
          <a:xfrm rot="5400000">
            <a:off x="2777571" y="4519630"/>
            <a:ext cx="238982" cy="20235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1128D25-5446-36A6-3794-68FFC371DD4C}"/>
              </a:ext>
            </a:extLst>
          </p:cNvPr>
          <p:cNvSpPr txBox="1"/>
          <p:nvPr/>
        </p:nvSpPr>
        <p:spPr>
          <a:xfrm>
            <a:off x="3177481" y="4436142"/>
            <a:ext cx="64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Justification des protocoles et du choix des composants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Triangle isocèle 29">
            <a:extLst>
              <a:ext uri="{FF2B5EF4-FFF2-40B4-BE49-F238E27FC236}">
                <a16:creationId xmlns:a16="http://schemas.microsoft.com/office/drawing/2014/main" id="{CFD5B5E1-C5C8-45A4-B153-DC45F4BBB716}"/>
              </a:ext>
            </a:extLst>
          </p:cNvPr>
          <p:cNvSpPr/>
          <p:nvPr/>
        </p:nvSpPr>
        <p:spPr>
          <a:xfrm rot="5400000">
            <a:off x="2780868" y="3076260"/>
            <a:ext cx="238982" cy="20235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CFFE438-3F78-00A9-0307-4DB4F4BB7719}"/>
              </a:ext>
            </a:extLst>
          </p:cNvPr>
          <p:cNvSpPr txBox="1"/>
          <p:nvPr/>
        </p:nvSpPr>
        <p:spPr>
          <a:xfrm>
            <a:off x="3180778" y="2992772"/>
            <a:ext cx="64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Analyse des résultats / Confrontation à la théorie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Triangle isocèle 31">
            <a:extLst>
              <a:ext uri="{FF2B5EF4-FFF2-40B4-BE49-F238E27FC236}">
                <a16:creationId xmlns:a16="http://schemas.microsoft.com/office/drawing/2014/main" id="{AAD69692-3F26-AFAE-37EB-88674E538AAB}"/>
              </a:ext>
            </a:extLst>
          </p:cNvPr>
          <p:cNvSpPr/>
          <p:nvPr/>
        </p:nvSpPr>
        <p:spPr>
          <a:xfrm rot="5400000">
            <a:off x="2796422" y="5920800"/>
            <a:ext cx="238982" cy="20235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DEA68FAD-3AB8-4A5E-3306-650C266ABAF4}"/>
              </a:ext>
            </a:extLst>
          </p:cNvPr>
          <p:cNvSpPr txBox="1"/>
          <p:nvPr/>
        </p:nvSpPr>
        <p:spPr>
          <a:xfrm>
            <a:off x="3196332" y="5837312"/>
            <a:ext cx="64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Synthèse de résultats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4" name="Triangle isocèle 33">
            <a:extLst>
              <a:ext uri="{FF2B5EF4-FFF2-40B4-BE49-F238E27FC236}">
                <a16:creationId xmlns:a16="http://schemas.microsoft.com/office/drawing/2014/main" id="{7CD5ADF4-FD7B-3D90-6C72-359D400F2DC2}"/>
              </a:ext>
            </a:extLst>
          </p:cNvPr>
          <p:cNvSpPr/>
          <p:nvPr/>
        </p:nvSpPr>
        <p:spPr>
          <a:xfrm rot="5400000">
            <a:off x="2796422" y="6351072"/>
            <a:ext cx="238982" cy="202356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20AB68F-96A5-A82E-953D-1BCEBC4AC73E}"/>
              </a:ext>
            </a:extLst>
          </p:cNvPr>
          <p:cNvSpPr txBox="1"/>
          <p:nvPr/>
        </p:nvSpPr>
        <p:spPr>
          <a:xfrm>
            <a:off x="3196332" y="6267584"/>
            <a:ext cx="6411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Choix d’une représentation adaptée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AC5D44-2093-72A7-8D3F-D3B1CA88D8F8}"/>
              </a:ext>
            </a:extLst>
          </p:cNvPr>
          <p:cNvSpPr/>
          <p:nvPr/>
        </p:nvSpPr>
        <p:spPr>
          <a:xfrm>
            <a:off x="2294901" y="2313189"/>
            <a:ext cx="365760" cy="23898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/>
              <a:t>TP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AE7D52-4978-4822-1E84-9DF66E25A18B}"/>
              </a:ext>
            </a:extLst>
          </p:cNvPr>
          <p:cNvSpPr/>
          <p:nvPr/>
        </p:nvSpPr>
        <p:spPr>
          <a:xfrm>
            <a:off x="2294901" y="2677085"/>
            <a:ext cx="365760" cy="23898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/>
              <a:t>CR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08BFFD-4E44-D7D0-430F-7C3E298EEB4E}"/>
              </a:ext>
            </a:extLst>
          </p:cNvPr>
          <p:cNvSpPr/>
          <p:nvPr/>
        </p:nvSpPr>
        <p:spPr>
          <a:xfrm>
            <a:off x="1851963" y="2674404"/>
            <a:ext cx="365760" cy="23898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/>
              <a:t>TP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DE8BC3-9423-571A-AA94-02C39F838F9D}"/>
              </a:ext>
            </a:extLst>
          </p:cNvPr>
          <p:cNvSpPr/>
          <p:nvPr/>
        </p:nvSpPr>
        <p:spPr>
          <a:xfrm>
            <a:off x="2294901" y="3064120"/>
            <a:ext cx="365760" cy="23898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/>
              <a:t>CR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9ACDD60-1796-0DB0-793C-B1CF920970C0}"/>
              </a:ext>
            </a:extLst>
          </p:cNvPr>
          <p:cNvSpPr/>
          <p:nvPr/>
        </p:nvSpPr>
        <p:spPr>
          <a:xfrm>
            <a:off x="1860864" y="3064120"/>
            <a:ext cx="365760" cy="23898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/>
              <a:t>TP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0F2500-C6C4-80B2-5E7A-9A0A52CBADC1}"/>
              </a:ext>
            </a:extLst>
          </p:cNvPr>
          <p:cNvSpPr/>
          <p:nvPr/>
        </p:nvSpPr>
        <p:spPr>
          <a:xfrm>
            <a:off x="10060653" y="1887026"/>
            <a:ext cx="365760" cy="238982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/>
              <a:t>TP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F107CA6-F431-1DED-5F85-F3B04808351E}"/>
              </a:ext>
            </a:extLst>
          </p:cNvPr>
          <p:cNvSpPr/>
          <p:nvPr/>
        </p:nvSpPr>
        <p:spPr>
          <a:xfrm>
            <a:off x="10060653" y="2201745"/>
            <a:ext cx="365760" cy="23898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/>
              <a:t>CR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B761BF80-548A-13B4-2B54-F390F7682DBD}"/>
              </a:ext>
            </a:extLst>
          </p:cNvPr>
          <p:cNvSpPr txBox="1"/>
          <p:nvPr/>
        </p:nvSpPr>
        <p:spPr>
          <a:xfrm>
            <a:off x="9808481" y="1568494"/>
            <a:ext cx="22499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Compétences évaluées</a:t>
            </a:r>
            <a:endParaRPr lang="fr-FR" sz="1200" b="1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B5BDF9B-F615-3067-3D98-8E96A90CF476}"/>
              </a:ext>
            </a:extLst>
          </p:cNvPr>
          <p:cNvSpPr/>
          <p:nvPr/>
        </p:nvSpPr>
        <p:spPr>
          <a:xfrm>
            <a:off x="2294901" y="4120725"/>
            <a:ext cx="365760" cy="23898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/>
              <a:t>CR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84B85C9-6AC1-B177-B27E-A3F684B71B4F}"/>
              </a:ext>
            </a:extLst>
          </p:cNvPr>
          <p:cNvSpPr/>
          <p:nvPr/>
        </p:nvSpPr>
        <p:spPr>
          <a:xfrm>
            <a:off x="2294901" y="4501317"/>
            <a:ext cx="365760" cy="23898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/>
              <a:t>CR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6688B69-9B56-1B2D-B90D-BD474301B48E}"/>
              </a:ext>
            </a:extLst>
          </p:cNvPr>
          <p:cNvSpPr/>
          <p:nvPr/>
        </p:nvSpPr>
        <p:spPr>
          <a:xfrm>
            <a:off x="2294901" y="6332759"/>
            <a:ext cx="365760" cy="23898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/>
              <a:t>CR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570E8C67-711C-6CD6-F594-FD46E71C318A}"/>
              </a:ext>
            </a:extLst>
          </p:cNvPr>
          <p:cNvSpPr txBox="1"/>
          <p:nvPr/>
        </p:nvSpPr>
        <p:spPr>
          <a:xfrm>
            <a:off x="10515040" y="1869528"/>
            <a:ext cx="1504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au cours des TP</a:t>
            </a:r>
            <a:endParaRPr lang="fr-FR" sz="1200" dirty="0"/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065BE62C-0888-2491-A66A-36DA83773463}"/>
              </a:ext>
            </a:extLst>
          </p:cNvPr>
          <p:cNvSpPr txBox="1"/>
          <p:nvPr/>
        </p:nvSpPr>
        <p:spPr>
          <a:xfrm>
            <a:off x="10515040" y="2191192"/>
            <a:ext cx="1504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à travers les livrables</a:t>
            </a:r>
            <a:endParaRPr lang="fr-FR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F13C98-D8D9-BB08-5DB5-54E3E0BF832B}"/>
              </a:ext>
            </a:extLst>
          </p:cNvPr>
          <p:cNvSpPr/>
          <p:nvPr/>
        </p:nvSpPr>
        <p:spPr>
          <a:xfrm>
            <a:off x="2294901" y="5902487"/>
            <a:ext cx="365760" cy="238982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b="1" dirty="0"/>
              <a:t>CR</a:t>
            </a:r>
          </a:p>
        </p:txBody>
      </p:sp>
      <p:pic>
        <p:nvPicPr>
          <p:cNvPr id="45" name="Image 4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01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EEE2CD-304C-7206-E015-F52A5695E8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F71108-8121-4CC2-3ED6-50ABC11E79C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/ </a:t>
            </a:r>
            <a:r>
              <a:rPr lang="fr-FR" sz="2400" dirty="0"/>
              <a:t>SUIVI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ACAFF-7D28-E79D-9EB4-4FEEF5BB961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6AE7ADF-BCF3-0A51-607F-E13D9F5B5966}"/>
              </a:ext>
            </a:extLst>
          </p:cNvPr>
          <p:cNvSpPr txBox="1"/>
          <p:nvPr/>
        </p:nvSpPr>
        <p:spPr>
          <a:xfrm>
            <a:off x="743267" y="2499982"/>
            <a:ext cx="5840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Sujet en ligne et disponible dans la salle de TP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Cahier de laboratoire en ligne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Validation des étapes par les </a:t>
            </a:r>
            <a:r>
              <a:rPr lang="fr-FR" dirty="0" err="1"/>
              <a:t>encadrant</a:t>
            </a:r>
            <a:r>
              <a:rPr lang="fr-FR" sz="1800" dirty="0" err="1"/>
              <a:t>·</a:t>
            </a:r>
            <a:r>
              <a:rPr lang="fr-FR" dirty="0" err="1"/>
              <a:t>es</a:t>
            </a:r>
            <a:endParaRPr lang="fr-FR" dirty="0"/>
          </a:p>
        </p:txBody>
      </p:sp>
      <p:sp>
        <p:nvSpPr>
          <p:cNvPr id="12" name="Flèche : pentagone 11">
            <a:extLst>
              <a:ext uri="{FF2B5EF4-FFF2-40B4-BE49-F238E27FC236}">
                <a16:creationId xmlns:a16="http://schemas.microsoft.com/office/drawing/2014/main" id="{9D4F1CE8-F77A-A9C9-44F7-CF13D70E16FF}"/>
              </a:ext>
            </a:extLst>
          </p:cNvPr>
          <p:cNvSpPr/>
          <p:nvPr/>
        </p:nvSpPr>
        <p:spPr>
          <a:xfrm>
            <a:off x="619125" y="1982129"/>
            <a:ext cx="1548003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En TP</a:t>
            </a:r>
          </a:p>
        </p:txBody>
      </p:sp>
      <p:sp>
        <p:nvSpPr>
          <p:cNvPr id="22" name="Flèche : pentagone 21">
            <a:extLst>
              <a:ext uri="{FF2B5EF4-FFF2-40B4-BE49-F238E27FC236}">
                <a16:creationId xmlns:a16="http://schemas.microsoft.com/office/drawing/2014/main" id="{EE22E71C-A3F5-1A39-6EC9-16C5219EBA57}"/>
              </a:ext>
            </a:extLst>
          </p:cNvPr>
          <p:cNvSpPr/>
          <p:nvPr/>
        </p:nvSpPr>
        <p:spPr>
          <a:xfrm>
            <a:off x="619124" y="3908387"/>
            <a:ext cx="1548003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En TD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87D0D49-63F8-70C4-7A2E-C4F9D946C7D2}"/>
              </a:ext>
            </a:extLst>
          </p:cNvPr>
          <p:cNvSpPr txBox="1"/>
          <p:nvPr/>
        </p:nvSpPr>
        <p:spPr>
          <a:xfrm>
            <a:off x="743267" y="4456184"/>
            <a:ext cx="48306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Travail en petits groupes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Corrections disponibles en ligne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Ressources disponibles en ligne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8255937-1FD6-AAA4-1C08-90FBCCA01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659" y="5816907"/>
            <a:ext cx="958882" cy="852339"/>
          </a:xfrm>
          <a:prstGeom prst="rect">
            <a:avLst/>
          </a:prstGeom>
        </p:spPr>
      </p:pic>
      <p:cxnSp>
        <p:nvCxnSpPr>
          <p:cNvPr id="8" name="Connecteur : en arc 7">
            <a:extLst>
              <a:ext uri="{FF2B5EF4-FFF2-40B4-BE49-F238E27FC236}">
                <a16:creationId xmlns:a16="http://schemas.microsoft.com/office/drawing/2014/main" id="{2BA8ADE7-C9A3-63B2-EF1C-DC5830CB5AE2}"/>
              </a:ext>
            </a:extLst>
          </p:cNvPr>
          <p:cNvCxnSpPr>
            <a:cxnSpLocks/>
          </p:cNvCxnSpPr>
          <p:nvPr/>
        </p:nvCxnSpPr>
        <p:spPr>
          <a:xfrm flipV="1">
            <a:off x="2241823" y="6246466"/>
            <a:ext cx="916476" cy="162116"/>
          </a:xfrm>
          <a:prstGeom prst="curvedConnector3">
            <a:avLst>
              <a:gd name="adj1" fmla="val 50000"/>
            </a:avLst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AB75600F-021B-41F9-B289-085EC3C21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321" y="5927649"/>
            <a:ext cx="960142" cy="761736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13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EEE2CD-304C-7206-E015-F52A5695E8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F71108-8121-4CC2-3ED6-50ABC11E79C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/ </a:t>
            </a:r>
            <a:r>
              <a:rPr lang="fr-FR" sz="2400" dirty="0"/>
              <a:t>SUIVI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ACAFF-7D28-E79D-9EB4-4FEEF5BB961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6AE7ADF-BCF3-0A51-607F-E13D9F5B5966}"/>
              </a:ext>
            </a:extLst>
          </p:cNvPr>
          <p:cNvSpPr txBox="1"/>
          <p:nvPr/>
        </p:nvSpPr>
        <p:spPr>
          <a:xfrm>
            <a:off x="743267" y="2499982"/>
            <a:ext cx="5352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Sujet en ligne et disponible dans la salle de TP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Cahier de laboratoire en ligne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Validation des étapes par les </a:t>
            </a:r>
            <a:r>
              <a:rPr lang="fr-FR" dirty="0" err="1"/>
              <a:t>encadrant</a:t>
            </a:r>
            <a:r>
              <a:rPr lang="fr-FR" sz="1800" dirty="0" err="1"/>
              <a:t>·</a:t>
            </a:r>
            <a:r>
              <a:rPr lang="fr-FR" dirty="0" err="1"/>
              <a:t>es</a:t>
            </a:r>
            <a:endParaRPr lang="fr-FR" dirty="0"/>
          </a:p>
        </p:txBody>
      </p:sp>
      <p:sp>
        <p:nvSpPr>
          <p:cNvPr id="12" name="Flèche : pentagone 11">
            <a:extLst>
              <a:ext uri="{FF2B5EF4-FFF2-40B4-BE49-F238E27FC236}">
                <a16:creationId xmlns:a16="http://schemas.microsoft.com/office/drawing/2014/main" id="{9D4F1CE8-F77A-A9C9-44F7-CF13D70E16FF}"/>
              </a:ext>
            </a:extLst>
          </p:cNvPr>
          <p:cNvSpPr/>
          <p:nvPr/>
        </p:nvSpPr>
        <p:spPr>
          <a:xfrm>
            <a:off x="619125" y="1982129"/>
            <a:ext cx="1548003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En TP</a:t>
            </a:r>
          </a:p>
        </p:txBody>
      </p:sp>
      <p:sp>
        <p:nvSpPr>
          <p:cNvPr id="17" name="Organigramme : Extraire 16">
            <a:extLst>
              <a:ext uri="{FF2B5EF4-FFF2-40B4-BE49-F238E27FC236}">
                <a16:creationId xmlns:a16="http://schemas.microsoft.com/office/drawing/2014/main" id="{57883FA6-2040-0CD6-D4A9-356AF7B9EFB8}"/>
              </a:ext>
            </a:extLst>
          </p:cNvPr>
          <p:cNvSpPr/>
          <p:nvPr/>
        </p:nvSpPr>
        <p:spPr>
          <a:xfrm>
            <a:off x="692727" y="3923707"/>
            <a:ext cx="722376" cy="595369"/>
          </a:xfrm>
          <a:prstGeom prst="flowChartExtra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9F6F3ED-E123-F54B-AFC0-E546F64C4F02}"/>
              </a:ext>
            </a:extLst>
          </p:cNvPr>
          <p:cNvSpPr txBox="1"/>
          <p:nvPr/>
        </p:nvSpPr>
        <p:spPr>
          <a:xfrm>
            <a:off x="1712214" y="3906350"/>
            <a:ext cx="4139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Certaines missions doivent être validées par </a:t>
            </a:r>
            <a:r>
              <a:rPr lang="fr-FR" sz="1600" b="1" dirty="0" err="1"/>
              <a:t>un·e</a:t>
            </a:r>
            <a:r>
              <a:rPr lang="fr-FR" sz="1600" b="1" dirty="0"/>
              <a:t> encadrant ·e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A3C8A58-2595-80A6-C331-4FE6E7E55221}"/>
              </a:ext>
            </a:extLst>
          </p:cNvPr>
          <p:cNvSpPr txBox="1"/>
          <p:nvPr/>
        </p:nvSpPr>
        <p:spPr>
          <a:xfrm>
            <a:off x="737997" y="519484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Tenir un </a:t>
            </a:r>
            <a:r>
              <a:rPr lang="fr-FR" b="1" dirty="0"/>
              <a:t>cahier de labo numérique partagé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Répondre aux problématiques posées (livrables)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E8784F5-19B6-6880-8A25-5A17A5AF409F}"/>
              </a:ext>
            </a:extLst>
          </p:cNvPr>
          <p:cNvSpPr/>
          <p:nvPr/>
        </p:nvSpPr>
        <p:spPr>
          <a:xfrm>
            <a:off x="7805734" y="1536484"/>
            <a:ext cx="3693539" cy="2456925"/>
          </a:xfrm>
          <a:prstGeom prst="roundRect">
            <a:avLst>
              <a:gd name="adj" fmla="val 5540"/>
            </a:avLst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b="1" dirty="0"/>
              <a:t>Déroulement d’une séance</a:t>
            </a:r>
            <a:endParaRPr lang="fr-FR" sz="1600" b="1" dirty="0">
              <a:solidFill>
                <a:srgbClr val="FFC000"/>
              </a:solidFill>
            </a:endParaRPr>
          </a:p>
          <a:p>
            <a:pPr algn="ctr"/>
            <a:r>
              <a:rPr lang="fr-FR" sz="1600" b="1" dirty="0">
                <a:solidFill>
                  <a:srgbClr val="00B0F0"/>
                </a:solidFill>
              </a:rPr>
              <a:t>--------</a:t>
            </a:r>
            <a:endParaRPr lang="fr-FR" sz="1600" b="1" dirty="0"/>
          </a:p>
          <a:p>
            <a:pPr algn="ctr"/>
            <a:r>
              <a:rPr lang="fr-FR" sz="1600" b="1" dirty="0"/>
              <a:t>Durée</a:t>
            </a:r>
            <a:r>
              <a:rPr lang="fr-FR" sz="1600" dirty="0"/>
              <a:t> : </a:t>
            </a:r>
            <a:r>
              <a:rPr lang="fr-FR" sz="1600" b="1" dirty="0"/>
              <a:t>4h30</a:t>
            </a:r>
          </a:p>
          <a:p>
            <a:pPr algn="ctr"/>
            <a:r>
              <a:rPr lang="fr-FR" sz="1600" b="1" dirty="0">
                <a:solidFill>
                  <a:srgbClr val="FFC000"/>
                </a:solidFill>
              </a:rPr>
              <a:t>Début à 8h30</a:t>
            </a:r>
          </a:p>
          <a:p>
            <a:pPr algn="ctr"/>
            <a:r>
              <a:rPr lang="fr-FR" sz="1600" b="1" dirty="0">
                <a:solidFill>
                  <a:srgbClr val="00B0F0"/>
                </a:solidFill>
              </a:rPr>
              <a:t>--------</a:t>
            </a:r>
          </a:p>
          <a:p>
            <a:pPr algn="ctr"/>
            <a:r>
              <a:rPr lang="fr-FR" sz="1600" b="1" dirty="0"/>
              <a:t>Réalisation de missions</a:t>
            </a:r>
          </a:p>
          <a:p>
            <a:pPr algn="ctr"/>
            <a:r>
              <a:rPr lang="fr-FR" sz="1600" dirty="0"/>
              <a:t>Objectifs / Matériels</a:t>
            </a:r>
          </a:p>
          <a:p>
            <a:pPr algn="ctr"/>
            <a:r>
              <a:rPr lang="fr-FR" sz="1600" dirty="0"/>
              <a:t>Prise de notes numériques</a:t>
            </a:r>
          </a:p>
          <a:p>
            <a:pPr algn="ctr"/>
            <a:r>
              <a:rPr lang="fr-FR" sz="1600" dirty="0"/>
              <a:t>Ressources / Livrables</a:t>
            </a:r>
            <a:endParaRPr lang="fr-FR" sz="1600" b="1" dirty="0">
              <a:solidFill>
                <a:srgbClr val="00B0F0"/>
              </a:solidFill>
            </a:endParaRPr>
          </a:p>
          <a:p>
            <a:pPr algn="ctr"/>
            <a:endParaRPr lang="fr-FR" sz="1600" dirty="0"/>
          </a:p>
          <a:p>
            <a:pPr algn="ctr"/>
            <a:endParaRPr lang="fr-FR" sz="1600" b="1" dirty="0">
              <a:solidFill>
                <a:srgbClr val="00B0F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D480A1-741A-9526-A736-1F96BAA2A09D}"/>
              </a:ext>
            </a:extLst>
          </p:cNvPr>
          <p:cNvSpPr txBox="1"/>
          <p:nvPr/>
        </p:nvSpPr>
        <p:spPr>
          <a:xfrm>
            <a:off x="7760464" y="4764853"/>
            <a:ext cx="36935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600" b="1" i="1" dirty="0"/>
              <a:t>toute arrivée tardive</a:t>
            </a:r>
            <a:r>
              <a:rPr lang="fr-FR" sz="1600" i="1" dirty="0"/>
              <a:t>, </a:t>
            </a:r>
            <a:r>
              <a:rPr lang="fr-FR" sz="1600" b="1" i="1" dirty="0"/>
              <a:t>départ anticipé </a:t>
            </a:r>
            <a:r>
              <a:rPr lang="fr-FR" sz="1600" i="1" dirty="0"/>
              <a:t>ou </a:t>
            </a:r>
            <a:r>
              <a:rPr lang="fr-FR" sz="1600" b="1" i="1" dirty="0"/>
              <a:t>absence non justifiée </a:t>
            </a:r>
            <a:r>
              <a:rPr lang="fr-FR" sz="1600" i="1" dirty="0"/>
              <a:t>bloque l’accès à la deuxième chance, </a:t>
            </a:r>
            <a:br>
              <a:rPr lang="fr-FR" sz="1600" i="1" dirty="0"/>
            </a:br>
            <a:r>
              <a:rPr lang="fr-FR" sz="1600" i="1" dirty="0"/>
              <a:t>et même en cas de validation, une alerte est notifiée au jury</a:t>
            </a: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01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B8D6B-6930-21E0-9885-A410A071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8E1835D-1337-EE65-DC44-6DB174786ED2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F2F49C-86DC-A66F-4B98-9EB7E87DDD8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/ </a:t>
            </a:r>
            <a:r>
              <a:rPr lang="fr-FR" sz="2400" dirty="0"/>
              <a:t>DEROULEMENT 2026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F5CC5-8CBC-8E4D-84BD-CFD88C3FD729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53F98B-D52E-912B-27F5-B0115A0D071C}"/>
              </a:ext>
            </a:extLst>
          </p:cNvPr>
          <p:cNvSpPr/>
          <p:nvPr/>
        </p:nvSpPr>
        <p:spPr>
          <a:xfrm>
            <a:off x="939373" y="1589115"/>
            <a:ext cx="882333" cy="246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TD1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B4F5F2-68DB-624E-B0CD-2F1103DE4893}"/>
              </a:ext>
            </a:extLst>
          </p:cNvPr>
          <p:cNvSpPr/>
          <p:nvPr/>
        </p:nvSpPr>
        <p:spPr>
          <a:xfrm>
            <a:off x="1935053" y="1589115"/>
            <a:ext cx="882333" cy="246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TD2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DADEFD-5010-AA0F-D0C3-272D06D03465}"/>
              </a:ext>
            </a:extLst>
          </p:cNvPr>
          <p:cNvSpPr/>
          <p:nvPr/>
        </p:nvSpPr>
        <p:spPr>
          <a:xfrm>
            <a:off x="2930733" y="1589115"/>
            <a:ext cx="882333" cy="246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TD3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03555E-E2C0-4FF4-C086-24748FBD662C}"/>
              </a:ext>
            </a:extLst>
          </p:cNvPr>
          <p:cNvSpPr/>
          <p:nvPr/>
        </p:nvSpPr>
        <p:spPr>
          <a:xfrm>
            <a:off x="3926413" y="1589115"/>
            <a:ext cx="882333" cy="246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TD4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B6AE3E-0ED9-2EDC-2FBF-D9B67B9DBD8F}"/>
              </a:ext>
            </a:extLst>
          </p:cNvPr>
          <p:cNvSpPr/>
          <p:nvPr/>
        </p:nvSpPr>
        <p:spPr>
          <a:xfrm>
            <a:off x="4922093" y="1589115"/>
            <a:ext cx="882333" cy="246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TD5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D73805-79EC-BF93-2F01-8C4C0906F729}"/>
              </a:ext>
            </a:extLst>
          </p:cNvPr>
          <p:cNvSpPr/>
          <p:nvPr/>
        </p:nvSpPr>
        <p:spPr>
          <a:xfrm>
            <a:off x="5917773" y="1589115"/>
            <a:ext cx="882333" cy="246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TD6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8076F3-F71D-B410-56E5-E7B38AAE3F7A}"/>
              </a:ext>
            </a:extLst>
          </p:cNvPr>
          <p:cNvSpPr/>
          <p:nvPr/>
        </p:nvSpPr>
        <p:spPr>
          <a:xfrm>
            <a:off x="8255004" y="1589115"/>
            <a:ext cx="882333" cy="246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TDC1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DA3FE9-CFF4-F0C8-6B73-5D0D66AE4FE1}"/>
              </a:ext>
            </a:extLst>
          </p:cNvPr>
          <p:cNvSpPr/>
          <p:nvPr/>
        </p:nvSpPr>
        <p:spPr>
          <a:xfrm>
            <a:off x="9250684" y="1589115"/>
            <a:ext cx="882333" cy="2469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TDC2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31EABB-1494-D6D2-AB7F-8E444A53262D}"/>
              </a:ext>
            </a:extLst>
          </p:cNvPr>
          <p:cNvSpPr/>
          <p:nvPr/>
        </p:nvSpPr>
        <p:spPr>
          <a:xfrm>
            <a:off x="1300322" y="2428875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212508-71D6-4543-1D50-EE9F266F5A80}"/>
              </a:ext>
            </a:extLst>
          </p:cNvPr>
          <p:cNvSpPr/>
          <p:nvPr/>
        </p:nvSpPr>
        <p:spPr>
          <a:xfrm>
            <a:off x="3070542" y="2428875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C46B34-5724-0879-5F85-F8617C05FED2}"/>
              </a:ext>
            </a:extLst>
          </p:cNvPr>
          <p:cNvSpPr/>
          <p:nvPr/>
        </p:nvSpPr>
        <p:spPr>
          <a:xfrm>
            <a:off x="4840763" y="2428875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6636-BC5E-818C-DED6-58F3724295AC}"/>
              </a:ext>
            </a:extLst>
          </p:cNvPr>
          <p:cNvSpPr/>
          <p:nvPr/>
        </p:nvSpPr>
        <p:spPr>
          <a:xfrm>
            <a:off x="8381203" y="2428875"/>
            <a:ext cx="160480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 VI1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1A4BCA8-B066-1A7F-8D19-7E93EEE5A495}"/>
              </a:ext>
            </a:extLst>
          </p:cNvPr>
          <p:cNvSpPr/>
          <p:nvPr/>
        </p:nvSpPr>
        <p:spPr>
          <a:xfrm>
            <a:off x="10151423" y="2428875"/>
            <a:ext cx="160480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 VI2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2EC8C5-92A5-3996-D9AB-BB0751283CD7}"/>
              </a:ext>
            </a:extLst>
          </p:cNvPr>
          <p:cNvSpPr/>
          <p:nvPr/>
        </p:nvSpPr>
        <p:spPr>
          <a:xfrm>
            <a:off x="6600852" y="2428875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TP4</a:t>
            </a: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559A381F-C816-AAA9-FB91-3C84046017A9}"/>
              </a:ext>
            </a:extLst>
          </p:cNvPr>
          <p:cNvSpPr/>
          <p:nvPr/>
        </p:nvSpPr>
        <p:spPr>
          <a:xfrm>
            <a:off x="3134043" y="3897887"/>
            <a:ext cx="420846" cy="16059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dirty="0"/>
              <a:t>LED</a:t>
            </a:r>
          </a:p>
        </p:txBody>
      </p:sp>
      <p:sp>
        <p:nvSpPr>
          <p:cNvPr id="82" name="Rectangle : coins arrondis 81">
            <a:extLst>
              <a:ext uri="{FF2B5EF4-FFF2-40B4-BE49-F238E27FC236}">
                <a16:creationId xmlns:a16="http://schemas.microsoft.com/office/drawing/2014/main" id="{3F1D77E0-18BD-BDB7-C643-EA41D03E2C8E}"/>
              </a:ext>
            </a:extLst>
          </p:cNvPr>
          <p:cNvSpPr/>
          <p:nvPr/>
        </p:nvSpPr>
        <p:spPr>
          <a:xfrm>
            <a:off x="1360836" y="3894384"/>
            <a:ext cx="1065200" cy="16382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/>
              <a:t>PhotoDiode</a:t>
            </a:r>
          </a:p>
        </p:txBody>
      </p:sp>
      <p:sp>
        <p:nvSpPr>
          <p:cNvPr id="84" name="Rectangle : coins arrondis 83">
            <a:extLst>
              <a:ext uri="{FF2B5EF4-FFF2-40B4-BE49-F238E27FC236}">
                <a16:creationId xmlns:a16="http://schemas.microsoft.com/office/drawing/2014/main" id="{7133B409-F495-B402-5FA1-10D56533770B}"/>
              </a:ext>
            </a:extLst>
          </p:cNvPr>
          <p:cNvSpPr/>
          <p:nvPr/>
        </p:nvSpPr>
        <p:spPr>
          <a:xfrm>
            <a:off x="1360837" y="5047481"/>
            <a:ext cx="460869" cy="177861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/>
              <a:t>ALI</a:t>
            </a:r>
          </a:p>
        </p:txBody>
      </p:sp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278B2635-9C2B-8BB6-FABB-89BCD1E2BFA8}"/>
              </a:ext>
            </a:extLst>
          </p:cNvPr>
          <p:cNvSpPr/>
          <p:nvPr/>
        </p:nvSpPr>
        <p:spPr>
          <a:xfrm>
            <a:off x="1896027" y="5047481"/>
            <a:ext cx="1174515" cy="17786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/>
              <a:t>Ampli Inverseur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68E5376-3A4A-923F-568F-DD4C749A09B7}"/>
              </a:ext>
            </a:extLst>
          </p:cNvPr>
          <p:cNvSpPr/>
          <p:nvPr/>
        </p:nvSpPr>
        <p:spPr>
          <a:xfrm>
            <a:off x="1381158" y="4462422"/>
            <a:ext cx="1228365" cy="17786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/>
              <a:t>Détecteur Simple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950ADD-5E86-F50F-736B-9EDB70F02A29}"/>
              </a:ext>
            </a:extLst>
          </p:cNvPr>
          <p:cNvSpPr/>
          <p:nvPr/>
        </p:nvSpPr>
        <p:spPr>
          <a:xfrm>
            <a:off x="1303974" y="2902734"/>
            <a:ext cx="3366422" cy="1988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Fiche Résultats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9407C0D-735F-AD7C-F95B-EA1513C3BE97}"/>
              </a:ext>
            </a:extLst>
          </p:cNvPr>
          <p:cNvSpPr/>
          <p:nvPr/>
        </p:nvSpPr>
        <p:spPr>
          <a:xfrm>
            <a:off x="3134043" y="4462421"/>
            <a:ext cx="1228365" cy="17786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/>
              <a:t>Emetteur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8CC2AC60-DDFB-8436-AB60-E07F3026105B}"/>
              </a:ext>
            </a:extLst>
          </p:cNvPr>
          <p:cNvSpPr/>
          <p:nvPr/>
        </p:nvSpPr>
        <p:spPr>
          <a:xfrm>
            <a:off x="4989554" y="4108551"/>
            <a:ext cx="1228365" cy="17786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/>
              <a:t>Détecteur Suiveur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307CA6BC-ECDD-45AC-13F2-85ABD089F886}"/>
              </a:ext>
            </a:extLst>
          </p:cNvPr>
          <p:cNvSpPr/>
          <p:nvPr/>
        </p:nvSpPr>
        <p:spPr>
          <a:xfrm>
            <a:off x="6346149" y="3894277"/>
            <a:ext cx="1772598" cy="17786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/>
              <a:t>Détecteur Transimpédance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1BA424-BB71-C3F2-84E5-FB2507D8BB47}"/>
              </a:ext>
            </a:extLst>
          </p:cNvPr>
          <p:cNvSpPr/>
          <p:nvPr/>
        </p:nvSpPr>
        <p:spPr>
          <a:xfrm>
            <a:off x="3072833" y="3132880"/>
            <a:ext cx="1600330" cy="184086"/>
          </a:xfrm>
          <a:prstGeom prst="rect">
            <a:avLst/>
          </a:prstGeom>
          <a:solidFill>
            <a:srgbClr val="00B0F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Auto-Evaluation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297583-4FA7-8B4A-DBFE-8B877EE65D73}"/>
              </a:ext>
            </a:extLst>
          </p:cNvPr>
          <p:cNvSpPr/>
          <p:nvPr/>
        </p:nvSpPr>
        <p:spPr>
          <a:xfrm>
            <a:off x="1303974" y="3137387"/>
            <a:ext cx="1600330" cy="184086"/>
          </a:xfrm>
          <a:prstGeom prst="rect">
            <a:avLst/>
          </a:prstGeom>
          <a:solidFill>
            <a:srgbClr val="00B0F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Protocole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C000070-76D6-D30C-2828-0AB13300A086}"/>
              </a:ext>
            </a:extLst>
          </p:cNvPr>
          <p:cNvSpPr/>
          <p:nvPr/>
        </p:nvSpPr>
        <p:spPr>
          <a:xfrm>
            <a:off x="1303973" y="3638622"/>
            <a:ext cx="3366423" cy="1986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Caractéristique statique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EB3594A-7FB0-A77B-3A3F-76675C96D274}"/>
              </a:ext>
            </a:extLst>
          </p:cNvPr>
          <p:cNvSpPr/>
          <p:nvPr/>
        </p:nvSpPr>
        <p:spPr>
          <a:xfrm>
            <a:off x="4841527" y="3638622"/>
            <a:ext cx="3364893" cy="1986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Comparaison des caractéristiques dynamiques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8EE4C37-6488-FA9B-D44E-585DFDF0A8BA}"/>
              </a:ext>
            </a:extLst>
          </p:cNvPr>
          <p:cNvSpPr/>
          <p:nvPr/>
        </p:nvSpPr>
        <p:spPr>
          <a:xfrm>
            <a:off x="1294557" y="4763622"/>
            <a:ext cx="3366423" cy="1986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Etude dynamique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144956F-9FDE-EACB-057B-86D382E41DDC}"/>
              </a:ext>
            </a:extLst>
          </p:cNvPr>
          <p:cNvSpPr/>
          <p:nvPr/>
        </p:nvSpPr>
        <p:spPr>
          <a:xfrm>
            <a:off x="1294557" y="4191597"/>
            <a:ext cx="3366423" cy="1986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Montages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5C0B9A7-734F-FBD4-2DF8-FEA83357F676}"/>
              </a:ext>
            </a:extLst>
          </p:cNvPr>
          <p:cNvSpPr/>
          <p:nvPr/>
        </p:nvSpPr>
        <p:spPr>
          <a:xfrm>
            <a:off x="1294557" y="5327397"/>
            <a:ext cx="3366423" cy="1986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Protocoles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6824B58D-9215-2232-07CA-EEAF95DB3332}"/>
              </a:ext>
            </a:extLst>
          </p:cNvPr>
          <p:cNvSpPr txBox="1"/>
          <p:nvPr/>
        </p:nvSpPr>
        <p:spPr>
          <a:xfrm>
            <a:off x="1429302" y="6295461"/>
            <a:ext cx="1346844" cy="2308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fr-FR" sz="900" dirty="0"/>
              <a:t>Réponse fréquentielle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4565F202-FFC4-A672-886E-3A15134E5EC2}"/>
              </a:ext>
            </a:extLst>
          </p:cNvPr>
          <p:cNvSpPr txBox="1"/>
          <p:nvPr/>
        </p:nvSpPr>
        <p:spPr>
          <a:xfrm>
            <a:off x="3407681" y="6284466"/>
            <a:ext cx="1037463" cy="2308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900" dirty="0"/>
              <a:t>Balayage rapide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53D14C0A-D3A1-B2ED-A1EB-B0AB727CC10A}"/>
              </a:ext>
            </a:extLst>
          </p:cNvPr>
          <p:cNvSpPr txBox="1"/>
          <p:nvPr/>
        </p:nvSpPr>
        <p:spPr>
          <a:xfrm>
            <a:off x="3344466" y="6007648"/>
            <a:ext cx="1151277" cy="2308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900" dirty="0"/>
              <a:t>Réponse indicielle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C538B99B-4B70-46E0-02B2-7977C89046CB}"/>
              </a:ext>
            </a:extLst>
          </p:cNvPr>
          <p:cNvSpPr txBox="1"/>
          <p:nvPr/>
        </p:nvSpPr>
        <p:spPr>
          <a:xfrm>
            <a:off x="1605200" y="6024676"/>
            <a:ext cx="1031051" cy="2308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fr-FR" sz="900" dirty="0"/>
              <a:t>Bande-passante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6DC26B4-651F-8109-14EB-12EB64DBDF1B}"/>
              </a:ext>
            </a:extLst>
          </p:cNvPr>
          <p:cNvSpPr/>
          <p:nvPr/>
        </p:nvSpPr>
        <p:spPr>
          <a:xfrm>
            <a:off x="4840763" y="2902734"/>
            <a:ext cx="3366422" cy="198876"/>
          </a:xfrm>
          <a:prstGeom prst="rect">
            <a:avLst/>
          </a:prstGeom>
          <a:solidFill>
            <a:srgbClr val="00B0F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Fiche Résultats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02CA08B-1667-77A5-6338-6BAB4650B873}"/>
              </a:ext>
            </a:extLst>
          </p:cNvPr>
          <p:cNvSpPr/>
          <p:nvPr/>
        </p:nvSpPr>
        <p:spPr>
          <a:xfrm>
            <a:off x="6605326" y="3140500"/>
            <a:ext cx="1600330" cy="184086"/>
          </a:xfrm>
          <a:prstGeom prst="rect">
            <a:avLst/>
          </a:prstGeom>
          <a:solidFill>
            <a:srgbClr val="00B0F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Analyse comparative</a:t>
            </a:r>
          </a:p>
        </p:txBody>
      </p:sp>
      <p:sp>
        <p:nvSpPr>
          <p:cNvPr id="79" name="Rectangle : coins arrondis 78">
            <a:extLst>
              <a:ext uri="{FF2B5EF4-FFF2-40B4-BE49-F238E27FC236}">
                <a16:creationId xmlns:a16="http://schemas.microsoft.com/office/drawing/2014/main" id="{E4EAF5FF-36BF-ADAF-81F8-6BF09C4187FF}"/>
              </a:ext>
            </a:extLst>
          </p:cNvPr>
          <p:cNvSpPr/>
          <p:nvPr/>
        </p:nvSpPr>
        <p:spPr>
          <a:xfrm>
            <a:off x="4989553" y="3892224"/>
            <a:ext cx="1228365" cy="17786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/>
              <a:t>Détecteur Simple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A625D49-E458-99E5-740E-E11750DBACBA}"/>
              </a:ext>
            </a:extLst>
          </p:cNvPr>
          <p:cNvSpPr/>
          <p:nvPr/>
        </p:nvSpPr>
        <p:spPr>
          <a:xfrm>
            <a:off x="4840763" y="4463063"/>
            <a:ext cx="3364893" cy="1986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Modélisation des montages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5DDF0200-DA72-2CA9-29F6-1F0D053C41FF}"/>
              </a:ext>
            </a:extLst>
          </p:cNvPr>
          <p:cNvSpPr txBox="1"/>
          <p:nvPr/>
        </p:nvSpPr>
        <p:spPr>
          <a:xfrm>
            <a:off x="1384418" y="5628071"/>
            <a:ext cx="1436612" cy="2308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900" dirty="0"/>
              <a:t>Caractéristique statique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4A3310D-E56E-5A66-FB7C-783A5F599D54}"/>
              </a:ext>
            </a:extLst>
          </p:cNvPr>
          <p:cNvSpPr txBox="1"/>
          <p:nvPr/>
        </p:nvSpPr>
        <p:spPr>
          <a:xfrm>
            <a:off x="3584916" y="5628071"/>
            <a:ext cx="670376" cy="2308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900" dirty="0"/>
              <a:t>Mode XY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2D37D8C-D030-387E-2CC9-762EA85826F5}"/>
              </a:ext>
            </a:extLst>
          </p:cNvPr>
          <p:cNvSpPr/>
          <p:nvPr/>
        </p:nvSpPr>
        <p:spPr>
          <a:xfrm>
            <a:off x="8391334" y="3638621"/>
            <a:ext cx="1594673" cy="41958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Chaine d’acquisition d’images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7780055-F114-0C4B-31BB-A0DBA564340D}"/>
              </a:ext>
            </a:extLst>
          </p:cNvPr>
          <p:cNvSpPr/>
          <p:nvPr/>
        </p:nvSpPr>
        <p:spPr>
          <a:xfrm>
            <a:off x="10151048" y="3638620"/>
            <a:ext cx="1594673" cy="1986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Traitement d’images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51295E4-6379-04A7-A2EF-9EDC91529D4A}"/>
              </a:ext>
            </a:extLst>
          </p:cNvPr>
          <p:cNvSpPr/>
          <p:nvPr/>
        </p:nvSpPr>
        <p:spPr>
          <a:xfrm>
            <a:off x="8388505" y="2902734"/>
            <a:ext cx="1597502" cy="198619"/>
          </a:xfrm>
          <a:prstGeom prst="rect">
            <a:avLst/>
          </a:prstGeom>
          <a:solidFill>
            <a:srgbClr val="00B0F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Fiche Résultats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FFED827-96DA-7413-7B1B-5AC453E5FAC6}"/>
              </a:ext>
            </a:extLst>
          </p:cNvPr>
          <p:cNvSpPr/>
          <p:nvPr/>
        </p:nvSpPr>
        <p:spPr>
          <a:xfrm>
            <a:off x="8388505" y="3140893"/>
            <a:ext cx="1600330" cy="184086"/>
          </a:xfrm>
          <a:prstGeom prst="rect">
            <a:avLst/>
          </a:prstGeom>
          <a:solidFill>
            <a:srgbClr val="00B0F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Analyse comparative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9163194-3416-4442-A2F7-D57ADF1350E4}"/>
              </a:ext>
            </a:extLst>
          </p:cNvPr>
          <p:cNvSpPr/>
          <p:nvPr/>
        </p:nvSpPr>
        <p:spPr>
          <a:xfrm>
            <a:off x="10151048" y="3137387"/>
            <a:ext cx="1600330" cy="184086"/>
          </a:xfrm>
          <a:prstGeom prst="rect">
            <a:avLst/>
          </a:prstGeom>
          <a:solidFill>
            <a:srgbClr val="00B0F0"/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chemeClr val="bg1"/>
                </a:solidFill>
              </a:rPr>
              <a:t>Analyse comparative</a:t>
            </a:r>
          </a:p>
        </p:txBody>
      </p:sp>
      <p:sp>
        <p:nvSpPr>
          <p:cNvPr id="93" name="Rectangle : coins arrondis 92">
            <a:extLst>
              <a:ext uri="{FF2B5EF4-FFF2-40B4-BE49-F238E27FC236}">
                <a16:creationId xmlns:a16="http://schemas.microsoft.com/office/drawing/2014/main" id="{876BBDBF-B63B-A0DD-F65D-FDCA01F5B58B}"/>
              </a:ext>
            </a:extLst>
          </p:cNvPr>
          <p:cNvSpPr/>
          <p:nvPr/>
        </p:nvSpPr>
        <p:spPr>
          <a:xfrm>
            <a:off x="8463485" y="4108552"/>
            <a:ext cx="1228365" cy="35387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/>
              <a:t>Banc Vision Industrielle</a:t>
            </a:r>
          </a:p>
        </p:txBody>
      </p:sp>
      <p:sp>
        <p:nvSpPr>
          <p:cNvPr id="94" name="Rectangle : coins arrondis 93">
            <a:extLst>
              <a:ext uri="{FF2B5EF4-FFF2-40B4-BE49-F238E27FC236}">
                <a16:creationId xmlns:a16="http://schemas.microsoft.com/office/drawing/2014/main" id="{2A22AE68-1E88-EEB6-A649-CD68EC6D881B}"/>
              </a:ext>
            </a:extLst>
          </p:cNvPr>
          <p:cNvSpPr/>
          <p:nvPr/>
        </p:nvSpPr>
        <p:spPr>
          <a:xfrm>
            <a:off x="8636501" y="4502226"/>
            <a:ext cx="1228365" cy="15945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/>
              <a:t>Caméra CMOS</a:t>
            </a:r>
          </a:p>
        </p:txBody>
      </p:sp>
      <p:sp>
        <p:nvSpPr>
          <p:cNvPr id="95" name="Rectangle : coins arrondis 94">
            <a:extLst>
              <a:ext uri="{FF2B5EF4-FFF2-40B4-BE49-F238E27FC236}">
                <a16:creationId xmlns:a16="http://schemas.microsoft.com/office/drawing/2014/main" id="{056B4F08-554C-2855-7A04-A51EA0CCC556}"/>
              </a:ext>
            </a:extLst>
          </p:cNvPr>
          <p:cNvSpPr/>
          <p:nvPr/>
        </p:nvSpPr>
        <p:spPr>
          <a:xfrm>
            <a:off x="8636501" y="4699508"/>
            <a:ext cx="1228365" cy="15945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/>
              <a:t>Eclairage</a:t>
            </a:r>
          </a:p>
        </p:txBody>
      </p:sp>
      <p:sp>
        <p:nvSpPr>
          <p:cNvPr id="96" name="Rectangle : coins arrondis 95">
            <a:extLst>
              <a:ext uri="{FF2B5EF4-FFF2-40B4-BE49-F238E27FC236}">
                <a16:creationId xmlns:a16="http://schemas.microsoft.com/office/drawing/2014/main" id="{D65D0366-B16E-EE5A-3525-BC39416F0864}"/>
              </a:ext>
            </a:extLst>
          </p:cNvPr>
          <p:cNvSpPr/>
          <p:nvPr/>
        </p:nvSpPr>
        <p:spPr>
          <a:xfrm>
            <a:off x="8649408" y="4906442"/>
            <a:ext cx="1228365" cy="15945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/>
              <a:t>Optique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E5E7D42-95B6-CA73-AA04-A933A5AF01C7}"/>
              </a:ext>
            </a:extLst>
          </p:cNvPr>
          <p:cNvSpPr/>
          <p:nvPr/>
        </p:nvSpPr>
        <p:spPr>
          <a:xfrm>
            <a:off x="8391334" y="5262387"/>
            <a:ext cx="1594673" cy="1986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Détection de couleurs</a:t>
            </a:r>
          </a:p>
        </p:txBody>
      </p:sp>
      <p:sp>
        <p:nvSpPr>
          <p:cNvPr id="102" name="Rectangle : coins arrondis 101">
            <a:extLst>
              <a:ext uri="{FF2B5EF4-FFF2-40B4-BE49-F238E27FC236}">
                <a16:creationId xmlns:a16="http://schemas.microsoft.com/office/drawing/2014/main" id="{0B4D0836-586F-3D02-06DE-98F1FF4B2991}"/>
              </a:ext>
            </a:extLst>
          </p:cNvPr>
          <p:cNvSpPr/>
          <p:nvPr/>
        </p:nvSpPr>
        <p:spPr>
          <a:xfrm>
            <a:off x="10254742" y="3913418"/>
            <a:ext cx="1228365" cy="17786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/>
              <a:t>OpenCV</a:t>
            </a:r>
          </a:p>
        </p:txBody>
      </p:sp>
      <p:sp>
        <p:nvSpPr>
          <p:cNvPr id="103" name="Rectangle : coins arrondis 102">
            <a:extLst>
              <a:ext uri="{FF2B5EF4-FFF2-40B4-BE49-F238E27FC236}">
                <a16:creationId xmlns:a16="http://schemas.microsoft.com/office/drawing/2014/main" id="{82BBD540-0536-B76D-9E2F-D5CB3667704A}"/>
              </a:ext>
            </a:extLst>
          </p:cNvPr>
          <p:cNvSpPr/>
          <p:nvPr/>
        </p:nvSpPr>
        <p:spPr>
          <a:xfrm>
            <a:off x="10415784" y="4148137"/>
            <a:ext cx="1065200" cy="16382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/>
              <a:t>Seuillage</a:t>
            </a:r>
          </a:p>
        </p:txBody>
      </p:sp>
      <p:sp>
        <p:nvSpPr>
          <p:cNvPr id="104" name="Rectangle : coins arrondis 103">
            <a:extLst>
              <a:ext uri="{FF2B5EF4-FFF2-40B4-BE49-F238E27FC236}">
                <a16:creationId xmlns:a16="http://schemas.microsoft.com/office/drawing/2014/main" id="{9008C3F9-54BA-2624-F238-AE02DF28F8B3}"/>
              </a:ext>
            </a:extLst>
          </p:cNvPr>
          <p:cNvSpPr/>
          <p:nvPr/>
        </p:nvSpPr>
        <p:spPr>
          <a:xfrm>
            <a:off x="10415784" y="4356104"/>
            <a:ext cx="1065200" cy="16382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/>
              <a:t>Filtrage</a:t>
            </a:r>
          </a:p>
        </p:txBody>
      </p:sp>
      <p:sp>
        <p:nvSpPr>
          <p:cNvPr id="105" name="Rectangle : coins arrondis 104">
            <a:extLst>
              <a:ext uri="{FF2B5EF4-FFF2-40B4-BE49-F238E27FC236}">
                <a16:creationId xmlns:a16="http://schemas.microsoft.com/office/drawing/2014/main" id="{AD746919-8B70-FE35-C5D3-70AA033E8432}"/>
              </a:ext>
            </a:extLst>
          </p:cNvPr>
          <p:cNvSpPr/>
          <p:nvPr/>
        </p:nvSpPr>
        <p:spPr>
          <a:xfrm>
            <a:off x="10415784" y="4554629"/>
            <a:ext cx="1065200" cy="16382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/>
              <a:t>Contours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1F44840-8DC7-6CDF-38B9-7AAE0C6B3560}"/>
              </a:ext>
            </a:extLst>
          </p:cNvPr>
          <p:cNvSpPr/>
          <p:nvPr/>
        </p:nvSpPr>
        <p:spPr>
          <a:xfrm>
            <a:off x="10151048" y="5262386"/>
            <a:ext cx="1594673" cy="1986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Détection de formes</a:t>
            </a:r>
          </a:p>
        </p:txBody>
      </p:sp>
      <p:pic>
        <p:nvPicPr>
          <p:cNvPr id="61" name="Image 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F97846C-B682-94BD-AED8-B0F10A090BF8}"/>
              </a:ext>
            </a:extLst>
          </p:cNvPr>
          <p:cNvSpPr/>
          <p:nvPr/>
        </p:nvSpPr>
        <p:spPr>
          <a:xfrm>
            <a:off x="6600852" y="5268885"/>
            <a:ext cx="1604804" cy="19861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bg1"/>
                </a:solidFill>
              </a:rPr>
              <a:t>Asservissement</a:t>
            </a:r>
          </a:p>
        </p:txBody>
      </p:sp>
    </p:spTree>
    <p:extLst>
      <p:ext uri="{BB962C8B-B14F-4D97-AF65-F5344CB8AC3E}">
        <p14:creationId xmlns:p14="http://schemas.microsoft.com/office/powerpoint/2010/main" val="481589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CFFC-F0AF-4899-AAFD-A6E466F9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20662E-AE3F-3DD1-DCEA-63BA1CAD8962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2F7C5C7-00EC-4662-FC40-984DB9F248D2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/ </a:t>
            </a:r>
            <a:r>
              <a:rPr lang="fr-FR" sz="2400" dirty="0"/>
              <a:t>DEROULEMENT 2026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B1C316-0EE8-AC3A-5ED9-7AC4884B605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2F1D95-CBB8-2C92-242D-B5F4F8BCEACC}"/>
              </a:ext>
            </a:extLst>
          </p:cNvPr>
          <p:cNvSpPr/>
          <p:nvPr/>
        </p:nvSpPr>
        <p:spPr>
          <a:xfrm>
            <a:off x="1354395" y="2513900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BA6F71-F298-9B08-A0A8-CE77903BEAFA}"/>
              </a:ext>
            </a:extLst>
          </p:cNvPr>
          <p:cNvSpPr/>
          <p:nvPr/>
        </p:nvSpPr>
        <p:spPr>
          <a:xfrm>
            <a:off x="1354395" y="2891111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71C208-E654-089D-EFA1-01A6D9AFC4F6}"/>
              </a:ext>
            </a:extLst>
          </p:cNvPr>
          <p:cNvSpPr/>
          <p:nvPr/>
        </p:nvSpPr>
        <p:spPr>
          <a:xfrm>
            <a:off x="1354394" y="4303395"/>
            <a:ext cx="3385155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61F7A80-14B3-AEFD-723C-87CE98A2A481}"/>
              </a:ext>
            </a:extLst>
          </p:cNvPr>
          <p:cNvSpPr/>
          <p:nvPr/>
        </p:nvSpPr>
        <p:spPr>
          <a:xfrm>
            <a:off x="1354395" y="4682490"/>
            <a:ext cx="338515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D863B9-ADD0-A5B1-80E4-702270401571}"/>
              </a:ext>
            </a:extLst>
          </p:cNvPr>
          <p:cNvSpPr/>
          <p:nvPr/>
        </p:nvSpPr>
        <p:spPr>
          <a:xfrm>
            <a:off x="3134746" y="2513900"/>
            <a:ext cx="160480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 VI1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EC2F02-6D26-E0A5-D033-44346437C756}"/>
              </a:ext>
            </a:extLst>
          </p:cNvPr>
          <p:cNvSpPr/>
          <p:nvPr/>
        </p:nvSpPr>
        <p:spPr>
          <a:xfrm>
            <a:off x="3134746" y="2891111"/>
            <a:ext cx="160480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 VI2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FE6914-2A73-DFF5-83B2-EC5F2562B15F}"/>
              </a:ext>
            </a:extLst>
          </p:cNvPr>
          <p:cNvSpPr/>
          <p:nvPr/>
        </p:nvSpPr>
        <p:spPr>
          <a:xfrm>
            <a:off x="1354395" y="3408647"/>
            <a:ext cx="160480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 VI1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4D7028-BE06-8D91-89A4-291033DAED4D}"/>
              </a:ext>
            </a:extLst>
          </p:cNvPr>
          <p:cNvSpPr/>
          <p:nvPr/>
        </p:nvSpPr>
        <p:spPr>
          <a:xfrm>
            <a:off x="1354395" y="3785859"/>
            <a:ext cx="1604804" cy="350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 VI2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DB11C6-E438-64D0-8289-EA27977E12F7}"/>
              </a:ext>
            </a:extLst>
          </p:cNvPr>
          <p:cNvSpPr/>
          <p:nvPr/>
        </p:nvSpPr>
        <p:spPr>
          <a:xfrm>
            <a:off x="3134746" y="3402867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90B81A-9B60-BD6E-D526-CE952E97E6D8}"/>
              </a:ext>
            </a:extLst>
          </p:cNvPr>
          <p:cNvSpPr/>
          <p:nvPr/>
        </p:nvSpPr>
        <p:spPr>
          <a:xfrm>
            <a:off x="3134746" y="3780078"/>
            <a:ext cx="1604804" cy="350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TP2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604DACB-DF23-40CE-1944-F1D33C96E0FF}"/>
              </a:ext>
            </a:extLst>
          </p:cNvPr>
          <p:cNvSpPr txBox="1"/>
          <p:nvPr/>
        </p:nvSpPr>
        <p:spPr>
          <a:xfrm>
            <a:off x="1354394" y="2077435"/>
            <a:ext cx="160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B01 à B08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2A7DC8C6-8362-D8DD-44CF-269386D21154}"/>
              </a:ext>
            </a:extLst>
          </p:cNvPr>
          <p:cNvSpPr txBox="1"/>
          <p:nvPr/>
        </p:nvSpPr>
        <p:spPr>
          <a:xfrm>
            <a:off x="3134745" y="2077435"/>
            <a:ext cx="160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B09 à B16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FB1B848-789F-7CC9-233E-C4D09DE6ED64}"/>
              </a:ext>
            </a:extLst>
          </p:cNvPr>
          <p:cNvSpPr txBox="1"/>
          <p:nvPr/>
        </p:nvSpPr>
        <p:spPr>
          <a:xfrm>
            <a:off x="270543" y="2558355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1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7A6F760-1C01-19AE-82F7-08659E0EDBFE}"/>
              </a:ext>
            </a:extLst>
          </p:cNvPr>
          <p:cNvSpPr txBox="1"/>
          <p:nvPr/>
        </p:nvSpPr>
        <p:spPr>
          <a:xfrm>
            <a:off x="263322" y="2891111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2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347361E2-CD17-E827-87D6-274A909955D1}"/>
              </a:ext>
            </a:extLst>
          </p:cNvPr>
          <p:cNvSpPr txBox="1"/>
          <p:nvPr/>
        </p:nvSpPr>
        <p:spPr>
          <a:xfrm>
            <a:off x="270543" y="3443670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3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AE1C8AF-D6DD-7081-FB67-E5A8A16FCAEF}"/>
              </a:ext>
            </a:extLst>
          </p:cNvPr>
          <p:cNvSpPr txBox="1"/>
          <p:nvPr/>
        </p:nvSpPr>
        <p:spPr>
          <a:xfrm>
            <a:off x="270543" y="3824533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4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322908FF-432D-5A05-837E-CBF1C04C2393}"/>
              </a:ext>
            </a:extLst>
          </p:cNvPr>
          <p:cNvSpPr txBox="1"/>
          <p:nvPr/>
        </p:nvSpPr>
        <p:spPr>
          <a:xfrm>
            <a:off x="287897" y="4352300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5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97DBFDDF-72BF-A430-CD97-8AE4CE4D7C61}"/>
              </a:ext>
            </a:extLst>
          </p:cNvPr>
          <p:cNvSpPr txBox="1"/>
          <p:nvPr/>
        </p:nvSpPr>
        <p:spPr>
          <a:xfrm>
            <a:off x="282020" y="4723123"/>
            <a:ext cx="8213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/>
              <a:t>Séance 6</a:t>
            </a:r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85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52179-B989-C93F-5DEA-3A652E161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906AE9-1C02-00D4-7D64-3E3D475CE118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C933E8-EE02-07F0-1805-676D888869AD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 err="1"/>
              <a:t>LEnsE</a:t>
            </a:r>
            <a:r>
              <a:rPr lang="fr-FR" sz="4000" dirty="0"/>
              <a:t> / </a:t>
            </a:r>
            <a:r>
              <a:rPr lang="fr-FR" sz="2800" dirty="0"/>
              <a:t>En cas de soucis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34BAE7-2A82-2689-5596-FF9F2341ECAC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3B9D9B0-50CA-3B41-A97E-4776C09B90EC}"/>
              </a:ext>
            </a:extLst>
          </p:cNvPr>
          <p:cNvSpPr txBox="1"/>
          <p:nvPr/>
        </p:nvSpPr>
        <p:spPr>
          <a:xfrm>
            <a:off x="987106" y="3953878"/>
            <a:ext cx="57703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Garantir le </a:t>
            </a:r>
            <a:r>
              <a:rPr lang="fr-FR" b="1" dirty="0"/>
              <a:t>bon déroulement </a:t>
            </a:r>
            <a:r>
              <a:rPr lang="fr-FR" dirty="0"/>
              <a:t>des TP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Encadrement / </a:t>
            </a:r>
            <a:r>
              <a:rPr lang="fr-FR" sz="1400" dirty="0"/>
              <a:t>Recrutement et Formation</a:t>
            </a:r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Matériel / </a:t>
            </a:r>
            <a:r>
              <a:rPr lang="fr-FR" sz="1400" dirty="0"/>
              <a:t>Choix et Maintenance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Pédagogie / </a:t>
            </a:r>
            <a:r>
              <a:rPr lang="fr-FR" sz="1400" dirty="0"/>
              <a:t>Sujets et Compétences</a:t>
            </a:r>
            <a:endParaRPr lang="fr-FR" sz="20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8D66A32-89A8-1E36-4125-62DC3AAAECCB}"/>
              </a:ext>
            </a:extLst>
          </p:cNvPr>
          <p:cNvSpPr/>
          <p:nvPr/>
        </p:nvSpPr>
        <p:spPr>
          <a:xfrm>
            <a:off x="743267" y="1788220"/>
            <a:ext cx="6791389" cy="184194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Responsables pédagogiques du </a:t>
            </a:r>
            <a:r>
              <a:rPr lang="fr-FR" b="1" dirty="0" err="1"/>
              <a:t>LEnsE</a:t>
            </a:r>
            <a:endParaRPr lang="fr-FR" b="1" dirty="0"/>
          </a:p>
          <a:p>
            <a:pPr algn="ctr"/>
            <a:endParaRPr lang="fr-FR" sz="1200" b="1" dirty="0"/>
          </a:p>
          <a:p>
            <a:pPr algn="ctr"/>
            <a:r>
              <a:rPr lang="fr-FR" sz="2400" dirty="0"/>
              <a:t>Fabienne BERNARD</a:t>
            </a:r>
          </a:p>
          <a:p>
            <a:pPr algn="ctr"/>
            <a:r>
              <a:rPr lang="fr-FR" sz="2400" dirty="0"/>
              <a:t>Jeanne BERNARD</a:t>
            </a:r>
          </a:p>
          <a:p>
            <a:pPr algn="ctr"/>
            <a:r>
              <a:rPr lang="fr-FR" sz="2400" dirty="0"/>
              <a:t>Julien VILLEMEJANE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A514283-78F9-4477-F00F-B99BFE0716DF}"/>
              </a:ext>
            </a:extLst>
          </p:cNvPr>
          <p:cNvSpPr txBox="1"/>
          <p:nvPr/>
        </p:nvSpPr>
        <p:spPr>
          <a:xfrm>
            <a:off x="987106" y="5595053"/>
            <a:ext cx="69200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Garantir un </a:t>
            </a:r>
            <a:r>
              <a:rPr lang="fr-FR" b="1" dirty="0"/>
              <a:t>apprentissage égalitaire </a:t>
            </a:r>
            <a:r>
              <a:rPr lang="fr-FR" dirty="0"/>
              <a:t>pour toutes et tous</a:t>
            </a:r>
            <a:endParaRPr lang="fr-FR" sz="20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dirty="0"/>
          </a:p>
        </p:txBody>
      </p:sp>
      <p:pic>
        <p:nvPicPr>
          <p:cNvPr id="13" name="Image 12" descr="Une image contenant habits, personne, sourire, Visage humain&#10;&#10;Le contenu généré par l’IA peut être incorrect.">
            <a:extLst>
              <a:ext uri="{FF2B5EF4-FFF2-40B4-BE49-F238E27FC236}">
                <a16:creationId xmlns:a16="http://schemas.microsoft.com/office/drawing/2014/main" id="{BCF2D6B8-6942-1525-FD20-D5471AE648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998" y="4215384"/>
            <a:ext cx="2596896" cy="1947672"/>
          </a:xfrm>
          <a:prstGeom prst="rect">
            <a:avLst/>
          </a:prstGeom>
        </p:spPr>
      </p:pic>
      <p:pic>
        <p:nvPicPr>
          <p:cNvPr id="15" name="Image 14" descr="Une image contenant personne, sourire, intérieur, habits&#10;&#10;Le contenu généré par l’IA peut être incorrect.">
            <a:extLst>
              <a:ext uri="{FF2B5EF4-FFF2-40B4-BE49-F238E27FC236}">
                <a16:creationId xmlns:a16="http://schemas.microsoft.com/office/drawing/2014/main" id="{E8F0AD17-9C3F-6F46-8AAD-87D9D42CF6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998" y="2046656"/>
            <a:ext cx="2596896" cy="1947672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84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EEE2CD-304C-7206-E015-F52A5695E8DF}"/>
              </a:ext>
            </a:extLst>
          </p:cNvPr>
          <p:cNvSpPr/>
          <p:nvPr/>
        </p:nvSpPr>
        <p:spPr>
          <a:xfrm>
            <a:off x="673975" y="405113"/>
            <a:ext cx="11020314" cy="937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F71108-8121-4CC2-3ED6-50ABC11E79C5}"/>
              </a:ext>
            </a:extLst>
          </p:cNvPr>
          <p:cNvSpPr txBox="1">
            <a:spLocks/>
          </p:cNvSpPr>
          <p:nvPr/>
        </p:nvSpPr>
        <p:spPr>
          <a:xfrm>
            <a:off x="907225" y="583365"/>
            <a:ext cx="8970548" cy="7014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UE Optoélectronique / </a:t>
            </a:r>
            <a:r>
              <a:rPr lang="fr-FR" sz="2400" dirty="0"/>
              <a:t>TRAVAIL ATTENDU</a:t>
            </a:r>
            <a:endParaRPr lang="fr-FR" sz="4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ACAFF-7D28-E79D-9EB4-4FEEF5BB9613}"/>
              </a:ext>
            </a:extLst>
          </p:cNvPr>
          <p:cNvSpPr/>
          <p:nvPr/>
        </p:nvSpPr>
        <p:spPr>
          <a:xfrm>
            <a:off x="619125" y="500258"/>
            <a:ext cx="124142" cy="7498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6AE7ADF-BCF3-0A51-607F-E13D9F5B5966}"/>
              </a:ext>
            </a:extLst>
          </p:cNvPr>
          <p:cNvSpPr txBox="1"/>
          <p:nvPr/>
        </p:nvSpPr>
        <p:spPr>
          <a:xfrm>
            <a:off x="743267" y="2499982"/>
            <a:ext cx="483069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Réaliser des circuits et des mesures sur ces circuits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Tenir un </a:t>
            </a:r>
            <a:r>
              <a:rPr lang="fr-FR" b="1" dirty="0"/>
              <a:t>cahier de labo numérique partagé</a:t>
            </a:r>
            <a:r>
              <a:rPr lang="fr-FR" dirty="0"/>
              <a:t> contenant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descriptifs des conditions des mesures,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relevés des mesures, les copies d’écrans d’oscilloscope, etc.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analyses des résultats par quelques phrases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600" dirty="0"/>
              <a:t>les relevés et les analyses des erreurs commises et des difficultés rencontrées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Solliciter l’aide des </a:t>
            </a:r>
            <a:r>
              <a:rPr lang="fr-FR" dirty="0" err="1"/>
              <a:t>enseignant·es</a:t>
            </a:r>
            <a:r>
              <a:rPr lang="fr-FR" dirty="0"/>
              <a:t> avec des question précises</a:t>
            </a:r>
          </a:p>
        </p:txBody>
      </p:sp>
      <p:sp>
        <p:nvSpPr>
          <p:cNvPr id="12" name="Flèche : pentagone 11">
            <a:extLst>
              <a:ext uri="{FF2B5EF4-FFF2-40B4-BE49-F238E27FC236}">
                <a16:creationId xmlns:a16="http://schemas.microsoft.com/office/drawing/2014/main" id="{9D4F1CE8-F77A-A9C9-44F7-CF13D70E16FF}"/>
              </a:ext>
            </a:extLst>
          </p:cNvPr>
          <p:cNvSpPr/>
          <p:nvPr/>
        </p:nvSpPr>
        <p:spPr>
          <a:xfrm>
            <a:off x="619125" y="1982129"/>
            <a:ext cx="1548003" cy="369332"/>
          </a:xfrm>
          <a:prstGeom prst="homePlat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En TP</a:t>
            </a:r>
          </a:p>
        </p:txBody>
      </p:sp>
      <p:sp>
        <p:nvSpPr>
          <p:cNvPr id="22" name="Flèche : pentagone 21">
            <a:extLst>
              <a:ext uri="{FF2B5EF4-FFF2-40B4-BE49-F238E27FC236}">
                <a16:creationId xmlns:a16="http://schemas.microsoft.com/office/drawing/2014/main" id="{EE22E71C-A3F5-1A39-6EC9-16C5219EBA57}"/>
              </a:ext>
            </a:extLst>
          </p:cNvPr>
          <p:cNvSpPr/>
          <p:nvPr/>
        </p:nvSpPr>
        <p:spPr>
          <a:xfrm>
            <a:off x="6379844" y="1982129"/>
            <a:ext cx="1548003" cy="369332"/>
          </a:xfrm>
          <a:prstGeom prst="homePlat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En TD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0C58C53-DB3A-89CF-609A-59CC0E4D88FA}"/>
              </a:ext>
            </a:extLst>
          </p:cNvPr>
          <p:cNvSpPr txBox="1"/>
          <p:nvPr/>
        </p:nvSpPr>
        <p:spPr>
          <a:xfrm>
            <a:off x="6494526" y="2499981"/>
            <a:ext cx="48306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Répondre aux problématiques proposées en lien avec des notions prédéfinies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Partager des idées avec les autres et profiter de l’expérience de </a:t>
            </a:r>
            <a:r>
              <a:rPr lang="fr-FR" dirty="0" err="1"/>
              <a:t>chacun·e</a:t>
            </a:r>
            <a:r>
              <a:rPr lang="fr-FR" dirty="0"/>
              <a:t> pour faire avancer l’ensemble du groupe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Solliciter l’aide des </a:t>
            </a:r>
            <a:r>
              <a:rPr lang="fr-FR" dirty="0" err="1"/>
              <a:t>enseignant·es</a:t>
            </a:r>
            <a:r>
              <a:rPr lang="fr-FR" dirty="0"/>
              <a:t> avec des question précises, pour clarifier ce que vous n’avez peut-être pas compris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783FE1-11AD-4641-DDAD-FF9B0FC66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323" y="5752413"/>
            <a:ext cx="958882" cy="852339"/>
          </a:xfrm>
          <a:prstGeom prst="rect">
            <a:avLst/>
          </a:prstGeom>
        </p:spPr>
      </p:pic>
      <p:cxnSp>
        <p:nvCxnSpPr>
          <p:cNvPr id="6" name="Connecteur : en arc 5">
            <a:extLst>
              <a:ext uri="{FF2B5EF4-FFF2-40B4-BE49-F238E27FC236}">
                <a16:creationId xmlns:a16="http://schemas.microsoft.com/office/drawing/2014/main" id="{51F19D28-3D7D-4361-62B6-138C9F8B75E2}"/>
              </a:ext>
            </a:extLst>
          </p:cNvPr>
          <p:cNvCxnSpPr>
            <a:cxnSpLocks/>
          </p:cNvCxnSpPr>
          <p:nvPr/>
        </p:nvCxnSpPr>
        <p:spPr>
          <a:xfrm flipV="1">
            <a:off x="8697487" y="6181972"/>
            <a:ext cx="916476" cy="162116"/>
          </a:xfrm>
          <a:prstGeom prst="curvedConnector3">
            <a:avLst>
              <a:gd name="adj1" fmla="val 50000"/>
            </a:avLst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>
            <a:extLst>
              <a:ext uri="{FF2B5EF4-FFF2-40B4-BE49-F238E27FC236}">
                <a16:creationId xmlns:a16="http://schemas.microsoft.com/office/drawing/2014/main" id="{52F68540-755E-5E2D-4073-1189FB533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985" y="5863155"/>
            <a:ext cx="960142" cy="761736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587" y="452685"/>
            <a:ext cx="2050702" cy="84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2687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412624"/>
      </a:dk2>
      <a:lt2>
        <a:srgbClr val="E2E8E6"/>
      </a:lt2>
      <a:accent1>
        <a:srgbClr val="C696A7"/>
      </a:accent1>
      <a:accent2>
        <a:srgbClr val="BA827F"/>
      </a:accent2>
      <a:accent3>
        <a:srgbClr val="BC9E83"/>
      </a:accent3>
      <a:accent4>
        <a:srgbClr val="ABA575"/>
      </a:accent4>
      <a:accent5>
        <a:srgbClr val="9CA87F"/>
      </a:accent5>
      <a:accent6>
        <a:srgbClr val="85AD76"/>
      </a:accent6>
      <a:hlink>
        <a:srgbClr val="568F7B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1453</TotalTime>
  <Words>1073</Words>
  <Application>Microsoft Office PowerPoint</Application>
  <PresentationFormat>Grand écran</PresentationFormat>
  <Paragraphs>281</Paragraphs>
  <Slides>15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4" baseType="lpstr">
      <vt:lpstr>Arial</vt:lpstr>
      <vt:lpstr>Avenir Next LT Pro</vt:lpstr>
      <vt:lpstr>Bahnschrift Light</vt:lpstr>
      <vt:lpstr>Bahnschrift SemiBold</vt:lpstr>
      <vt:lpstr>Calibri</vt:lpstr>
      <vt:lpstr>FreeSans</vt:lpstr>
      <vt:lpstr>Liberation Sans</vt:lpstr>
      <vt:lpstr>Wingdings</vt:lpstr>
      <vt:lpstr>AccentBoxVTI</vt:lpstr>
      <vt:lpstr> UE Opto électronique   TD et TP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Outils Numériques - Méthodes et Outils</dc:title>
  <dc:creator>Julien VILLEMEJANE</dc:creator>
  <cp:lastModifiedBy>Julien VILLEMEJANE</cp:lastModifiedBy>
  <cp:revision>837</cp:revision>
  <dcterms:created xsi:type="dcterms:W3CDTF">2023-04-08T12:37:13Z</dcterms:created>
  <dcterms:modified xsi:type="dcterms:W3CDTF">2026-05-16T08:49:22Z</dcterms:modified>
</cp:coreProperties>
</file>