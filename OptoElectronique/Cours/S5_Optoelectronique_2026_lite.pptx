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14"/>
  </p:notesMasterIdLst>
  <p:sldIdLst>
    <p:sldId id="256" r:id="rId2"/>
    <p:sldId id="358" r:id="rId3"/>
    <p:sldId id="359" r:id="rId4"/>
    <p:sldId id="336" r:id="rId5"/>
    <p:sldId id="319" r:id="rId6"/>
    <p:sldId id="353" r:id="rId7"/>
    <p:sldId id="327" r:id="rId8"/>
    <p:sldId id="357" r:id="rId9"/>
    <p:sldId id="339" r:id="rId10"/>
    <p:sldId id="334" r:id="rId11"/>
    <p:sldId id="356" r:id="rId12"/>
    <p:sldId id="33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7030A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C724E-499D-43AC-8699-CF969D2466FC}" type="datetimeFigureOut">
              <a:rPr lang="fr-FR" smtClean="0"/>
              <a:t>03/09/2026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53D4-8BF5-4FDD-81EC-7AC957B0D2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625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6644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114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13C57-C433-5060-FB8F-4610505FE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8D0A38-71C2-6863-762E-333FD45A4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135C28-2617-3DAE-6387-1EE59A0EF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914DC6-A284-BD78-67D4-0F8B1176E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117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F51E-350D-A995-ADD0-5453780C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CA99F1A-F3BF-DBED-20AF-89F922240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01877D-47F0-646A-D2F1-BA034928B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9DE6A62-53A9-30F7-E7EE-5F3475EC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084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5064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9069-C0BA-8566-8C8A-F40FB866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F0C5EF0-2335-0F23-7058-17EB7F91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1A68777-FA55-C976-46D1-79C22A44D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425EF1-01AC-62AE-DD0B-5FBF0B24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2984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3600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br>
              <a:rPr lang="fr-FR" sz="48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UE </a:t>
            </a:r>
            <a:r>
              <a:rPr lang="fr-FR" sz="4400" dirty="0" err="1">
                <a:latin typeface="Bahnschrift SemiBold" panose="020B0502040204020203" pitchFamily="34" charset="0"/>
              </a:rPr>
              <a:t>Opto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électronique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		</a:t>
            </a:r>
            <a:r>
              <a:rPr lang="fr-FR" sz="3200" dirty="0">
                <a:latin typeface="Bahnschrift SemiBold" panose="020B0502040204020203" pitchFamily="34" charset="0"/>
              </a:rPr>
              <a:t>TD et TP</a:t>
            </a:r>
            <a:endParaRPr lang="fr-FR" sz="4800" dirty="0">
              <a:latin typeface="Bahnschrift SemiBold" panose="020B0502040204020203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 err="1">
                <a:latin typeface="Bahnschrift Light" panose="020B0502040204020203" pitchFamily="34" charset="0"/>
              </a:rPr>
              <a:t>OpE</a:t>
            </a:r>
            <a:r>
              <a:rPr lang="fr-FR" sz="2000" dirty="0">
                <a:latin typeface="Bahnschrift Light" panose="020B0502040204020203" pitchFamily="34" charset="0"/>
              </a:rPr>
              <a:t> / Semestre 5 </a:t>
            </a:r>
            <a:br>
              <a:rPr lang="fr-FR" sz="2000" dirty="0">
                <a:latin typeface="Bahnschrift Light" panose="020B0502040204020203" pitchFamily="34" charset="0"/>
              </a:rPr>
            </a:br>
            <a:r>
              <a:rPr lang="fr-FR" sz="2000" dirty="0">
                <a:latin typeface="Bahnschrift Light" panose="020B0502040204020203" pitchFamily="34" charset="0"/>
              </a:rPr>
              <a:t>Institut d’Optique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1" y="145408"/>
            <a:ext cx="2694463" cy="110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0F14-0653-6A28-4989-044A70E2A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38FB89-F1D0-A172-997B-1BE2268C2CB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767202-436F-EA58-7F0A-79EFBE6F9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Ressources en ligne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34310-FA7B-919C-D4B8-3AC1BE91B6E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5A3CB2BA-4A6B-7052-A7AB-C5FFDF9C07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BC44D69-C402-A629-BF34-FD0F714DAC0A}"/>
              </a:ext>
            </a:extLst>
          </p:cNvPr>
          <p:cNvSpPr txBox="1"/>
          <p:nvPr/>
        </p:nvSpPr>
        <p:spPr>
          <a:xfrm>
            <a:off x="669906" y="1516202"/>
            <a:ext cx="5417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Bahnschrift SemiBold" panose="020B0502040204020203" pitchFamily="34" charset="0"/>
              </a:rPr>
              <a:t>https://lense.institutoptique.fr/</a:t>
            </a:r>
            <a:endParaRPr lang="fr-FR" sz="2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AAF2D60-0BDA-9CE7-0F29-CB9B468CD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2212962"/>
            <a:ext cx="7640826" cy="4484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69AD05F-CDFC-D987-A65C-02CF12E23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80" y="3098841"/>
            <a:ext cx="3241580" cy="359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97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Conception d’un système optique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9BFF7F1D-2708-E366-DB38-F68C1FBD9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0" name="ZoneTexte 59">
            <a:extLst>
              <a:ext uri="{FF2B5EF4-FFF2-40B4-BE49-F238E27FC236}">
                <a16:creationId xmlns:a16="http://schemas.microsoft.com/office/drawing/2014/main" id="{5B0B69C1-F2A4-3AED-5BD5-8A149A1A801E}"/>
              </a:ext>
            </a:extLst>
          </p:cNvPr>
          <p:cNvSpPr txBox="1"/>
          <p:nvPr/>
        </p:nvSpPr>
        <p:spPr>
          <a:xfrm>
            <a:off x="5114099" y="1655033"/>
            <a:ext cx="6032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61" name="Flèche : pentagone 60">
            <a:extLst>
              <a:ext uri="{FF2B5EF4-FFF2-40B4-BE49-F238E27FC236}">
                <a16:creationId xmlns:a16="http://schemas.microsoft.com/office/drawing/2014/main" id="{A48CFDD8-919C-C576-823B-C65F357AD387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Conception d’un système optique</a:t>
            </a: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9F15BAB8-0E09-1168-DB15-0CB088413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 : carré corné 53">
            <a:extLst>
              <a:ext uri="{FF2B5EF4-FFF2-40B4-BE49-F238E27FC236}">
                <a16:creationId xmlns:a16="http://schemas.microsoft.com/office/drawing/2014/main" id="{57A57D86-463F-204E-70A2-2628DDB3CEAF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EF6FE325-572C-F942-7935-23676A7D0DDD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0AD1B10-B412-E5A0-10E7-2AD2A8469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10" name="Flèche : pentagone 10">
            <a:extLst>
              <a:ext uri="{FF2B5EF4-FFF2-40B4-BE49-F238E27FC236}">
                <a16:creationId xmlns:a16="http://schemas.microsoft.com/office/drawing/2014/main" id="{6D8FF9CF-F72C-3481-6934-36911B13309D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11" name="Organigramme : Multidocument 10">
            <a:extLst>
              <a:ext uri="{FF2B5EF4-FFF2-40B4-BE49-F238E27FC236}">
                <a16:creationId xmlns:a16="http://schemas.microsoft.com/office/drawing/2014/main" id="{B3DFDF21-DDF0-BA1D-805E-D2374009E29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16A60FF-0CCA-ADAC-EE5F-2A1E33AA5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44190620-05D8-FA93-59A1-E7509C2E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6878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D289D4E5-09E8-AD42-73C0-C8471D6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167" y="4831912"/>
            <a:ext cx="1381556" cy="10960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80B1FE2-421C-C3F3-8759-5747F26B6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32" y="4685531"/>
            <a:ext cx="1562434" cy="13888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831B6A5-6289-648D-2669-16CD74D6055A}"/>
              </a:ext>
            </a:extLst>
          </p:cNvPr>
          <p:cNvSpPr/>
          <p:nvPr/>
        </p:nvSpPr>
        <p:spPr>
          <a:xfrm>
            <a:off x="743267" y="2743228"/>
            <a:ext cx="6680759" cy="19534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pentagone 8">
            <a:extLst>
              <a:ext uri="{FF2B5EF4-FFF2-40B4-BE49-F238E27FC236}">
                <a16:creationId xmlns:a16="http://schemas.microsoft.com/office/drawing/2014/main" id="{28ADF0A4-E77B-DA03-EB3A-CFBDCE0AC872}"/>
              </a:ext>
            </a:extLst>
          </p:cNvPr>
          <p:cNvSpPr/>
          <p:nvPr/>
        </p:nvSpPr>
        <p:spPr>
          <a:xfrm>
            <a:off x="907226" y="3763157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Photodétecteur</a:t>
            </a: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ACF27571-268A-478D-3B8F-50DB98195AE4}"/>
              </a:ext>
            </a:extLst>
          </p:cNvPr>
          <p:cNvSpPr/>
          <p:nvPr/>
        </p:nvSpPr>
        <p:spPr>
          <a:xfrm>
            <a:off x="907225" y="2911454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Source / LED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id="{AA4B21F1-4161-655B-5767-E5C2B69D21BD}"/>
              </a:ext>
            </a:extLst>
          </p:cNvPr>
          <p:cNvSpPr/>
          <p:nvPr/>
        </p:nvSpPr>
        <p:spPr>
          <a:xfrm>
            <a:off x="2863346" y="2911453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Emetteur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2B851135-06CF-594A-7450-17DA7231C110}"/>
              </a:ext>
            </a:extLst>
          </p:cNvPr>
          <p:cNvSpPr/>
          <p:nvPr/>
        </p:nvSpPr>
        <p:spPr>
          <a:xfrm>
            <a:off x="2863346" y="3763157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Récepteur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id="{DC1BC409-5367-BFD5-A3BF-E35BF1856B9D}"/>
              </a:ext>
            </a:extLst>
          </p:cNvPr>
          <p:cNvSpPr/>
          <p:nvPr/>
        </p:nvSpPr>
        <p:spPr>
          <a:xfrm>
            <a:off x="4877341" y="3763156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Optimisation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CFB3284-2C30-3921-B88B-1AF38A707C71}"/>
              </a:ext>
            </a:extLst>
          </p:cNvPr>
          <p:cNvSpPr txBox="1"/>
          <p:nvPr/>
        </p:nvSpPr>
        <p:spPr>
          <a:xfrm>
            <a:off x="1105420" y="3343753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7368C82-75E3-A542-2D81-1A0BF6062A6C}"/>
              </a:ext>
            </a:extLst>
          </p:cNvPr>
          <p:cNvSpPr txBox="1"/>
          <p:nvPr/>
        </p:nvSpPr>
        <p:spPr>
          <a:xfrm>
            <a:off x="1105420" y="4163189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49486859-C02B-5896-180E-13B456B499CB}"/>
              </a:ext>
            </a:extLst>
          </p:cNvPr>
          <p:cNvSpPr txBox="1"/>
          <p:nvPr/>
        </p:nvSpPr>
        <p:spPr>
          <a:xfrm>
            <a:off x="3234071" y="4178883"/>
            <a:ext cx="1165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Réponse freq.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427008F-58E6-4057-4D4E-F9D3B8AE3B8A}"/>
              </a:ext>
            </a:extLst>
          </p:cNvPr>
          <p:cNvSpPr txBox="1"/>
          <p:nvPr/>
        </p:nvSpPr>
        <p:spPr>
          <a:xfrm>
            <a:off x="5239229" y="4194314"/>
            <a:ext cx="510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AOP</a:t>
            </a:r>
          </a:p>
        </p:txBody>
      </p:sp>
      <p:cxnSp>
        <p:nvCxnSpPr>
          <p:cNvPr id="16" name="Connecteur : en arc 15">
            <a:extLst>
              <a:ext uri="{FF2B5EF4-FFF2-40B4-BE49-F238E27FC236}">
                <a16:creationId xmlns:a16="http://schemas.microsoft.com/office/drawing/2014/main" id="{1B56CF65-8D49-354F-2607-F55BD67DA5DC}"/>
              </a:ext>
            </a:extLst>
          </p:cNvPr>
          <p:cNvCxnSpPr>
            <a:cxnSpLocks/>
          </p:cNvCxnSpPr>
          <p:nvPr/>
        </p:nvCxnSpPr>
        <p:spPr>
          <a:xfrm flipV="1">
            <a:off x="3480532" y="5222022"/>
            <a:ext cx="1349785" cy="320040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62C3312-9CD4-773B-546E-C01121CB6607}"/>
              </a:ext>
            </a:extLst>
          </p:cNvPr>
          <p:cNvSpPr txBox="1"/>
          <p:nvPr/>
        </p:nvSpPr>
        <p:spPr>
          <a:xfrm>
            <a:off x="375547" y="6550223"/>
            <a:ext cx="464973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Images : </a:t>
            </a:r>
            <a:r>
              <a:rPr lang="fr-FR" sz="700" dirty="0" err="1">
                <a:solidFill>
                  <a:prstClr val="black"/>
                </a:solidFill>
                <a:latin typeface="Liberation Sans" panose="020B0604020202020204" pitchFamily="34" charset="0"/>
              </a:rPr>
              <a:t>Radiospares</a:t>
            </a:r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 / rs-online.com</a:t>
            </a:r>
            <a:endParaRPr lang="fr-FR" sz="1000" b="0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8C80BD-BCA5-0BB5-3E7A-9F146103F612}"/>
              </a:ext>
            </a:extLst>
          </p:cNvPr>
          <p:cNvSpPr txBox="1"/>
          <p:nvPr/>
        </p:nvSpPr>
        <p:spPr>
          <a:xfrm>
            <a:off x="10416516" y="160858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8054542" y="1977914"/>
            <a:ext cx="3646462" cy="195346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</a:t>
            </a:r>
            <a:r>
              <a:rPr lang="fr-FR" b="1" dirty="0"/>
              <a:t>acquérir une image </a:t>
            </a:r>
            <a:r>
              <a:rPr lang="fr-FR" dirty="0"/>
              <a:t>numérique exploitable ?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Comment </a:t>
            </a:r>
            <a:r>
              <a:rPr lang="fr-FR" b="1" dirty="0"/>
              <a:t>préparer une image </a:t>
            </a:r>
            <a:r>
              <a:rPr lang="fr-FR" dirty="0"/>
              <a:t>numérique pour un traitement ?</a:t>
            </a:r>
            <a:endParaRPr lang="fr-FR" sz="24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B3DD7E3-4EDD-3CF2-2FA3-5F9C5F738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402" y="4075327"/>
            <a:ext cx="1130633" cy="1130633"/>
          </a:xfrm>
          <a:prstGeom prst="rect">
            <a:avLst/>
          </a:prstGeom>
        </p:spPr>
      </p:pic>
      <p:pic>
        <p:nvPicPr>
          <p:cNvPr id="17" name="Image 16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id="{9CD72F96-59F2-CA27-62E3-8974ACEBB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510" y="5205960"/>
            <a:ext cx="3322525" cy="1458510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5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4BFD9744-0876-5047-18DF-17BB5AA72CFD}"/>
              </a:ext>
            </a:extLst>
          </p:cNvPr>
          <p:cNvSpPr/>
          <p:nvPr/>
        </p:nvSpPr>
        <p:spPr>
          <a:xfrm>
            <a:off x="9008724" y="269104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8 séances de TD</a:t>
            </a:r>
          </a:p>
        </p:txBody>
      </p:sp>
      <p:sp>
        <p:nvSpPr>
          <p:cNvPr id="14" name="Flèche : pentagone 13">
            <a:extLst>
              <a:ext uri="{FF2B5EF4-FFF2-40B4-BE49-F238E27FC236}">
                <a16:creationId xmlns:a16="http://schemas.microsoft.com/office/drawing/2014/main" id="{862561DF-5E53-4B2F-2083-D2A26DEB7A9C}"/>
              </a:ext>
            </a:extLst>
          </p:cNvPr>
          <p:cNvSpPr/>
          <p:nvPr/>
        </p:nvSpPr>
        <p:spPr>
          <a:xfrm>
            <a:off x="9008724" y="1940503"/>
            <a:ext cx="2561364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TP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C9D3F52-E1BA-B42F-CF7D-2C54A262BFB9}"/>
              </a:ext>
            </a:extLst>
          </p:cNvPr>
          <p:cNvSpPr txBox="1"/>
          <p:nvPr/>
        </p:nvSpPr>
        <p:spPr>
          <a:xfrm>
            <a:off x="9320309" y="2316780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4h30 / en binôme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BDFE3A8-516A-719B-9836-7966508F83B9}"/>
              </a:ext>
            </a:extLst>
          </p:cNvPr>
          <p:cNvSpPr txBox="1"/>
          <p:nvPr/>
        </p:nvSpPr>
        <p:spPr>
          <a:xfrm>
            <a:off x="9320308" y="310325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F4D2A82-CA7C-D137-200C-91B9E50DB9C5}"/>
              </a:ext>
            </a:extLst>
          </p:cNvPr>
          <p:cNvSpPr txBox="1"/>
          <p:nvPr/>
        </p:nvSpPr>
        <p:spPr>
          <a:xfrm>
            <a:off x="9132923" y="1354539"/>
            <a:ext cx="25613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</a:rPr>
              <a:t>UE = Unité d’Enseignement</a:t>
            </a:r>
            <a:endParaRPr lang="fr-FR" sz="14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28BA60-A8EC-4AA1-00CA-85A39DAE9194}"/>
              </a:ext>
            </a:extLst>
          </p:cNvPr>
          <p:cNvSpPr txBox="1"/>
          <p:nvPr/>
        </p:nvSpPr>
        <p:spPr>
          <a:xfrm>
            <a:off x="907225" y="3132056"/>
            <a:ext cx="688346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Module d’enseignement s’inscrivant dans le </a:t>
            </a:r>
            <a:br>
              <a:rPr lang="fr-FR" dirty="0"/>
            </a:br>
            <a:r>
              <a:rPr lang="fr-FR" sz="2400" b="1" dirty="0">
                <a:solidFill>
                  <a:srgbClr val="002060"/>
                </a:solidFill>
              </a:rPr>
              <a:t>déploiement de l’approche par compétences </a:t>
            </a:r>
            <a:endParaRPr lang="fr-FR" dirty="0">
              <a:solidFill>
                <a:srgbClr val="00206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400" dirty="0"/>
              <a:t>Vous serez </a:t>
            </a:r>
            <a:r>
              <a:rPr lang="fr-FR" sz="1400" dirty="0" err="1"/>
              <a:t>encouragé·e</a:t>
            </a:r>
            <a:r>
              <a:rPr lang="fr-FR" sz="1400" dirty="0"/>
              <a:t> à </a:t>
            </a:r>
            <a:br>
              <a:rPr lang="fr-FR" sz="1600" dirty="0"/>
            </a:br>
            <a:r>
              <a:rPr lang="fr-FR" b="1" dirty="0"/>
              <a:t>analyser votre progression personnelle</a:t>
            </a:r>
            <a:r>
              <a:rPr lang="fr-FR" dirty="0"/>
              <a:t> </a:t>
            </a:r>
            <a:br>
              <a:rPr lang="fr-FR" sz="1600" dirty="0"/>
            </a:br>
            <a:r>
              <a:rPr lang="fr-FR" sz="1400" dirty="0"/>
              <a:t>dans l’acquisition de savoirs et savoir-faire</a:t>
            </a:r>
            <a:endParaRPr lang="fr-FR" sz="1600" dirty="0"/>
          </a:p>
          <a:p>
            <a:endParaRPr lang="fr-FR" sz="1600" dirty="0"/>
          </a:p>
          <a:p>
            <a:r>
              <a:rPr lang="fr-FR" sz="1400" dirty="0"/>
              <a:t>Vous serez </a:t>
            </a:r>
            <a:r>
              <a:rPr lang="fr-FR" sz="1400" dirty="0" err="1"/>
              <a:t>amené·e</a:t>
            </a:r>
            <a:r>
              <a:rPr lang="fr-FR" sz="1400" dirty="0"/>
              <a:t> en particulier à </a:t>
            </a:r>
            <a:br>
              <a:rPr lang="fr-FR" sz="1400" dirty="0"/>
            </a:br>
            <a:r>
              <a:rPr lang="fr-FR" b="1" dirty="0"/>
              <a:t>repérer de façon explicite les erreurs </a:t>
            </a:r>
            <a:br>
              <a:rPr lang="fr-FR" sz="1600" dirty="0"/>
            </a:br>
            <a:r>
              <a:rPr lang="fr-FR" sz="1400" dirty="0"/>
              <a:t>et les maladresses commises</a:t>
            </a:r>
            <a:endParaRPr lang="fr-FR" sz="1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7201329-58DA-613B-87D6-838BFF5FC419}"/>
              </a:ext>
            </a:extLst>
          </p:cNvPr>
          <p:cNvSpPr txBox="1"/>
          <p:nvPr/>
        </p:nvSpPr>
        <p:spPr>
          <a:xfrm>
            <a:off x="933498" y="1765148"/>
            <a:ext cx="4781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Volume horaire de 42h </a:t>
            </a:r>
            <a:r>
              <a:rPr lang="fr-FR" dirty="0"/>
              <a:t>pour </a:t>
            </a:r>
            <a:r>
              <a:rPr lang="fr-FR" b="1" dirty="0"/>
              <a:t>4 ECTS</a:t>
            </a:r>
            <a:r>
              <a:rPr lang="fr-FR" dirty="0"/>
              <a:t> </a:t>
            </a:r>
            <a:br>
              <a:rPr lang="fr-FR" dirty="0"/>
            </a:br>
            <a:r>
              <a:rPr lang="fr-FR" sz="1400" dirty="0"/>
              <a:t>(</a:t>
            </a:r>
            <a:r>
              <a:rPr lang="fr-FR" sz="1400" i="1" dirty="0" err="1"/>
              <a:t>European</a:t>
            </a:r>
            <a:r>
              <a:rPr lang="fr-FR" sz="1400" i="1" dirty="0"/>
              <a:t> </a:t>
            </a:r>
            <a:r>
              <a:rPr lang="fr-FR" sz="1400" i="1" dirty="0" err="1"/>
              <a:t>Credit</a:t>
            </a:r>
            <a:r>
              <a:rPr lang="fr-FR" sz="1400" i="1" dirty="0"/>
              <a:t> Transfer and Accumulation System</a:t>
            </a:r>
            <a:r>
              <a:rPr lang="fr-FR" sz="1400" dirty="0"/>
              <a:t>) </a:t>
            </a:r>
            <a:endParaRPr lang="fr-FR" dirty="0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86DAA1EA-4AC5-8DDB-3DF5-D340B4C083DA}"/>
              </a:ext>
            </a:extLst>
          </p:cNvPr>
          <p:cNvSpPr/>
          <p:nvPr/>
        </p:nvSpPr>
        <p:spPr>
          <a:xfrm>
            <a:off x="5715000" y="1832187"/>
            <a:ext cx="1481328" cy="369332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13 % du S5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9008722" y="5308661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Responsables</a:t>
            </a:r>
          </a:p>
          <a:p>
            <a:pPr algn="ctr"/>
            <a:endParaRPr lang="fr-FR" sz="1200" b="1" dirty="0"/>
          </a:p>
          <a:p>
            <a:pPr algn="ctr"/>
            <a:r>
              <a:rPr lang="fr-FR" sz="1600" dirty="0"/>
              <a:t>Fabienne BERNARD</a:t>
            </a:r>
          </a:p>
          <a:p>
            <a:pPr algn="ctr"/>
            <a:r>
              <a:rPr lang="fr-FR" sz="1600" dirty="0"/>
              <a:t>Julien VILLEMEJANE</a:t>
            </a: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  <p:sp>
        <p:nvSpPr>
          <p:cNvPr id="5" name="Flèche : pentagone 4">
            <a:extLst>
              <a:ext uri="{FF2B5EF4-FFF2-40B4-BE49-F238E27FC236}">
                <a16:creationId xmlns:a16="http://schemas.microsoft.com/office/drawing/2014/main" id="{CE9D8D48-DFB0-F1C5-7E7A-8C2B7A6D6D8F}"/>
              </a:ext>
            </a:extLst>
          </p:cNvPr>
          <p:cNvSpPr/>
          <p:nvPr/>
        </p:nvSpPr>
        <p:spPr>
          <a:xfrm>
            <a:off x="9008722" y="368282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cours magistraux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17905C3-6559-FB76-94FE-6C81E3F92E67}"/>
              </a:ext>
            </a:extLst>
          </p:cNvPr>
          <p:cNvSpPr txBox="1"/>
          <p:nvPr/>
        </p:nvSpPr>
        <p:spPr>
          <a:xfrm>
            <a:off x="9320306" y="409503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12078-5DED-8BCB-E677-A1A2D9923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FECD18D-6BE8-0B8D-D414-AA59B99BF60C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6A8437-0399-979D-B01C-545767EF06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45" y="1933900"/>
            <a:ext cx="7490544" cy="4518987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163763C6-F06F-FD7D-CFCA-0515800C17A3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COMPETENCES</a:t>
            </a:r>
            <a:endParaRPr lang="fr-FR" sz="4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7E5D26-46F9-9493-593F-FEAF55B60669}"/>
              </a:ext>
            </a:extLst>
          </p:cNvPr>
          <p:cNvSpPr/>
          <p:nvPr/>
        </p:nvSpPr>
        <p:spPr>
          <a:xfrm>
            <a:off x="6656832" y="335735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5CCB61-45B6-AD8E-4A2A-F2ECAC198F2F}"/>
              </a:ext>
            </a:extLst>
          </p:cNvPr>
          <p:cNvSpPr/>
          <p:nvPr/>
        </p:nvSpPr>
        <p:spPr>
          <a:xfrm>
            <a:off x="9161844" y="1876027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259CD-6F95-C931-B7E2-D0A9DC8D6755}"/>
              </a:ext>
            </a:extLst>
          </p:cNvPr>
          <p:cNvSpPr/>
          <p:nvPr/>
        </p:nvSpPr>
        <p:spPr>
          <a:xfrm>
            <a:off x="4139771" y="335584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22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>
            <a:extLst>
              <a:ext uri="{FF2B5EF4-FFF2-40B4-BE49-F238E27FC236}">
                <a16:creationId xmlns:a16="http://schemas.microsoft.com/office/drawing/2014/main" id="{70DEBF2F-962B-2118-00D0-C2E2D0D22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25" y="2905451"/>
            <a:ext cx="817592" cy="7267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CONTENU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2B48A41D-8BAF-BE4F-4E2F-096FB1C909EE}"/>
              </a:ext>
            </a:extLst>
          </p:cNvPr>
          <p:cNvSpPr/>
          <p:nvPr/>
        </p:nvSpPr>
        <p:spPr>
          <a:xfrm>
            <a:off x="540846" y="4121589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individuel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:a16="http://schemas.microsoft.com/office/drawing/2014/main" id="{A0ABED0A-FA80-4E0A-C1FA-C49F0624BC34}"/>
              </a:ext>
            </a:extLst>
          </p:cNvPr>
          <p:cNvSpPr/>
          <p:nvPr/>
        </p:nvSpPr>
        <p:spPr>
          <a:xfrm>
            <a:off x="540846" y="5349496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binôme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B66A6B-EF1E-45FB-249E-1355DF2BAEAF}"/>
              </a:ext>
            </a:extLst>
          </p:cNvPr>
          <p:cNvSpPr/>
          <p:nvPr/>
        </p:nvSpPr>
        <p:spPr>
          <a:xfrm>
            <a:off x="4358026" y="4102302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6FC09C-6EF4-6C72-E95C-6B01C9C7E30F}"/>
              </a:ext>
            </a:extLst>
          </p:cNvPr>
          <p:cNvSpPr/>
          <p:nvPr/>
        </p:nvSpPr>
        <p:spPr>
          <a:xfrm>
            <a:off x="5819775" y="5251811"/>
            <a:ext cx="1356298" cy="101025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Feuille de résultats</a:t>
            </a:r>
            <a:br>
              <a:rPr lang="fr-FR" sz="1050" dirty="0">
                <a:solidFill>
                  <a:schemeClr val="bg1"/>
                </a:solidFill>
              </a:rPr>
            </a:b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>Rédaction protocole </a:t>
            </a:r>
          </a:p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AD7EEC-F41E-8C48-A14A-851D9C53CA3E}"/>
              </a:ext>
            </a:extLst>
          </p:cNvPr>
          <p:cNvSpPr/>
          <p:nvPr/>
        </p:nvSpPr>
        <p:spPr>
          <a:xfrm>
            <a:off x="4358027" y="5251812"/>
            <a:ext cx="1356298" cy="10102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40810789-B56D-7665-0F6C-E310414DAB4F}"/>
              </a:ext>
            </a:extLst>
          </p:cNvPr>
          <p:cNvSpPr/>
          <p:nvPr/>
        </p:nvSpPr>
        <p:spPr>
          <a:xfrm>
            <a:off x="8054542" y="1977914"/>
            <a:ext cx="3646462" cy="145108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Vision industrielle</a:t>
            </a:r>
            <a:br>
              <a:rPr lang="fr-FR" dirty="0"/>
            </a:br>
            <a:r>
              <a:rPr lang="fr-FR" dirty="0"/>
              <a:t>Traitement d’image</a:t>
            </a:r>
            <a:endParaRPr lang="fr-FR" sz="2400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80BCB17D-4C08-1457-200D-745BB5C86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786" y="3520600"/>
            <a:ext cx="733784" cy="733784"/>
          </a:xfrm>
          <a:prstGeom prst="rect">
            <a:avLst/>
          </a:prstGeom>
        </p:spPr>
      </p:pic>
      <p:sp>
        <p:nvSpPr>
          <p:cNvPr id="40" name="Organigramme : Connecteur page suivante 39">
            <a:extLst>
              <a:ext uri="{FF2B5EF4-FFF2-40B4-BE49-F238E27FC236}">
                <a16:creationId xmlns:a16="http://schemas.microsoft.com/office/drawing/2014/main" id="{30AE272D-DE58-2557-D637-82A8E7EEFD33}"/>
              </a:ext>
            </a:extLst>
          </p:cNvPr>
          <p:cNvSpPr/>
          <p:nvPr/>
        </p:nvSpPr>
        <p:spPr>
          <a:xfrm>
            <a:off x="9682489" y="3304245"/>
            <a:ext cx="1356297" cy="950140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sp>
        <p:nvSpPr>
          <p:cNvPr id="41" name="Organigramme : Connecteur page suivante 40">
            <a:extLst>
              <a:ext uri="{FF2B5EF4-FFF2-40B4-BE49-F238E27FC236}">
                <a16:creationId xmlns:a16="http://schemas.microsoft.com/office/drawing/2014/main" id="{E61CDC6D-D588-2909-210E-06EF8222EADB}"/>
              </a:ext>
            </a:extLst>
          </p:cNvPr>
          <p:cNvSpPr/>
          <p:nvPr/>
        </p:nvSpPr>
        <p:spPr>
          <a:xfrm>
            <a:off x="8198990" y="3310597"/>
            <a:ext cx="1356297" cy="931083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AE7004-78F0-2949-7707-0414FEDBC65C}"/>
              </a:ext>
            </a:extLst>
          </p:cNvPr>
          <p:cNvSpPr/>
          <p:nvPr/>
        </p:nvSpPr>
        <p:spPr>
          <a:xfrm>
            <a:off x="8198988" y="4460110"/>
            <a:ext cx="1356298" cy="6452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Prise en main caméra industrielle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529F8C9F-B255-DCE9-D2AC-4AFDF1E64CBA}"/>
              </a:ext>
            </a:extLst>
          </p:cNvPr>
          <p:cNvSpPr txBox="1"/>
          <p:nvPr/>
        </p:nvSpPr>
        <p:spPr>
          <a:xfrm>
            <a:off x="9044918" y="1608582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 (en binôme)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990232F-199F-F3D2-52F8-D218DA81F29D}"/>
              </a:ext>
            </a:extLst>
          </p:cNvPr>
          <p:cNvSpPr/>
          <p:nvPr/>
        </p:nvSpPr>
        <p:spPr>
          <a:xfrm>
            <a:off x="5819775" y="4102302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5121DB-E620-A657-FAEC-C010A901015E}"/>
              </a:ext>
            </a:extLst>
          </p:cNvPr>
          <p:cNvSpPr/>
          <p:nvPr/>
        </p:nvSpPr>
        <p:spPr>
          <a:xfrm>
            <a:off x="5819775" y="4669541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Auto-évaluation compétences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DB142BE-B09A-F1F5-44BC-E9EFA5D1D863}"/>
              </a:ext>
            </a:extLst>
          </p:cNvPr>
          <p:cNvSpPr/>
          <p:nvPr/>
        </p:nvSpPr>
        <p:spPr>
          <a:xfrm>
            <a:off x="4358026" y="4674934"/>
            <a:ext cx="1356298" cy="46275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D63247D-B4AD-B18D-8F20-57C812B8B6AC}"/>
              </a:ext>
            </a:extLst>
          </p:cNvPr>
          <p:cNvSpPr txBox="1"/>
          <p:nvPr/>
        </p:nvSpPr>
        <p:spPr>
          <a:xfrm>
            <a:off x="540846" y="4510440"/>
            <a:ext cx="3689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</a:rPr>
              <a:t>Caractérisation statique d’un dipôle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Caractérisation fréquentielle d’un système linéaire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F71C34D5-FC0E-E7E9-ABC4-17ADECBE5A2D}"/>
              </a:ext>
            </a:extLst>
          </p:cNvPr>
          <p:cNvSpPr txBox="1"/>
          <p:nvPr/>
        </p:nvSpPr>
        <p:spPr>
          <a:xfrm>
            <a:off x="540846" y="5726985"/>
            <a:ext cx="3689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Comparaison de circuits de photodétection (étude dynamique)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F52A36B-B31F-53E2-9113-F63348C11A11}"/>
              </a:ext>
            </a:extLst>
          </p:cNvPr>
          <p:cNvSpPr/>
          <p:nvPr/>
        </p:nvSpPr>
        <p:spPr>
          <a:xfrm>
            <a:off x="8198988" y="5214617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d’objets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1D99C7-1D25-1E99-315C-2F04A7D8DF8D}"/>
              </a:ext>
            </a:extLst>
          </p:cNvPr>
          <p:cNvSpPr/>
          <p:nvPr/>
        </p:nvSpPr>
        <p:spPr>
          <a:xfrm>
            <a:off x="8198988" y="5791979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EC2F9DF-A3AE-36AB-D785-BEB02958A382}"/>
              </a:ext>
            </a:extLst>
          </p:cNvPr>
          <p:cNvSpPr/>
          <p:nvPr/>
        </p:nvSpPr>
        <p:spPr>
          <a:xfrm>
            <a:off x="9682488" y="4460110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1183452-3CB8-77E9-DC59-7EC3F8CB673E}"/>
              </a:ext>
            </a:extLst>
          </p:cNvPr>
          <p:cNvSpPr/>
          <p:nvPr/>
        </p:nvSpPr>
        <p:spPr>
          <a:xfrm>
            <a:off x="9682488" y="5214617"/>
            <a:ext cx="1356298" cy="104550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938694"/>
          </a:xfrm>
          <a:prstGeom prst="roundRect">
            <a:avLst>
              <a:gd name="adj" fmla="val 2642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Photodétection</a:t>
            </a:r>
            <a:endParaRPr lang="fr-FR" sz="2400" dirty="0"/>
          </a:p>
        </p:txBody>
      </p:sp>
      <p:sp>
        <p:nvSpPr>
          <p:cNvPr id="16" name="Organigramme : Connecteur page suivante 15">
            <a:extLst>
              <a:ext uri="{FF2B5EF4-FFF2-40B4-BE49-F238E27FC236}">
                <a16:creationId xmlns:a16="http://schemas.microsoft.com/office/drawing/2014/main" id="{C325DA8E-D07A-6124-5C61-F5BE79E1EB47}"/>
              </a:ext>
            </a:extLst>
          </p:cNvPr>
          <p:cNvSpPr/>
          <p:nvPr/>
        </p:nvSpPr>
        <p:spPr>
          <a:xfrm>
            <a:off x="4358027" y="2853401"/>
            <a:ext cx="1356297" cy="943786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19" name="Organigramme : Connecteur page suivante 18">
            <a:extLst>
              <a:ext uri="{FF2B5EF4-FFF2-40B4-BE49-F238E27FC236}">
                <a16:creationId xmlns:a16="http://schemas.microsoft.com/office/drawing/2014/main" id="{9F505F6D-F56E-43BC-3BED-F00C3D880133}"/>
              </a:ext>
            </a:extLst>
          </p:cNvPr>
          <p:cNvSpPr/>
          <p:nvPr/>
        </p:nvSpPr>
        <p:spPr>
          <a:xfrm>
            <a:off x="5819775" y="2840696"/>
            <a:ext cx="1356297" cy="943786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2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ECFFC-F0AF-4899-AAFD-A6E466F9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20662E-AE3F-3DD1-DCEA-63BA1CAD896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2F7C5C7-00EC-4662-FC40-984DB9F24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B1C316-0EE8-AC3A-5ED9-7AC4884B60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2F1D95-CBB8-2C92-242D-B5F4F8BCEACC}"/>
              </a:ext>
            </a:extLst>
          </p:cNvPr>
          <p:cNvSpPr/>
          <p:nvPr/>
        </p:nvSpPr>
        <p:spPr>
          <a:xfrm>
            <a:off x="1354395" y="2513900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BA6F71-F298-9B08-A0A8-CE77903BEAFA}"/>
              </a:ext>
            </a:extLst>
          </p:cNvPr>
          <p:cNvSpPr/>
          <p:nvPr/>
        </p:nvSpPr>
        <p:spPr>
          <a:xfrm>
            <a:off x="1354395" y="2891111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71C208-E654-089D-EFA1-01A6D9AFC4F6}"/>
              </a:ext>
            </a:extLst>
          </p:cNvPr>
          <p:cNvSpPr/>
          <p:nvPr/>
        </p:nvSpPr>
        <p:spPr>
          <a:xfrm>
            <a:off x="1354394" y="4303395"/>
            <a:ext cx="3385155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61F7A80-14B3-AEFD-723C-87CE98A2A481}"/>
              </a:ext>
            </a:extLst>
          </p:cNvPr>
          <p:cNvSpPr/>
          <p:nvPr/>
        </p:nvSpPr>
        <p:spPr>
          <a:xfrm>
            <a:off x="1354395" y="4682490"/>
            <a:ext cx="338515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D863B9-ADD0-A5B1-80E4-702270401571}"/>
              </a:ext>
            </a:extLst>
          </p:cNvPr>
          <p:cNvSpPr/>
          <p:nvPr/>
        </p:nvSpPr>
        <p:spPr>
          <a:xfrm>
            <a:off x="3134746" y="2513900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EC2F02-6D26-E0A5-D033-44346437C756}"/>
              </a:ext>
            </a:extLst>
          </p:cNvPr>
          <p:cNvSpPr/>
          <p:nvPr/>
        </p:nvSpPr>
        <p:spPr>
          <a:xfrm>
            <a:off x="3134746" y="2891111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FE6914-2A73-DFF5-83B2-EC5F2562B15F}"/>
              </a:ext>
            </a:extLst>
          </p:cNvPr>
          <p:cNvSpPr/>
          <p:nvPr/>
        </p:nvSpPr>
        <p:spPr>
          <a:xfrm>
            <a:off x="1354395" y="3408647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4D7028-BE06-8D91-89A4-291033DAED4D}"/>
              </a:ext>
            </a:extLst>
          </p:cNvPr>
          <p:cNvSpPr/>
          <p:nvPr/>
        </p:nvSpPr>
        <p:spPr>
          <a:xfrm>
            <a:off x="1354395" y="3785859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DB11C6-E438-64D0-8289-EA27977E12F7}"/>
              </a:ext>
            </a:extLst>
          </p:cNvPr>
          <p:cNvSpPr/>
          <p:nvPr/>
        </p:nvSpPr>
        <p:spPr>
          <a:xfrm>
            <a:off x="3134746" y="3402867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90B81A-9B60-BD6E-D526-CE952E97E6D8}"/>
              </a:ext>
            </a:extLst>
          </p:cNvPr>
          <p:cNvSpPr/>
          <p:nvPr/>
        </p:nvSpPr>
        <p:spPr>
          <a:xfrm>
            <a:off x="3134746" y="3780078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604DACB-DF23-40CE-1944-F1D33C96E0FF}"/>
              </a:ext>
            </a:extLst>
          </p:cNvPr>
          <p:cNvSpPr txBox="1"/>
          <p:nvPr/>
        </p:nvSpPr>
        <p:spPr>
          <a:xfrm>
            <a:off x="1354394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B01 à B08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2A7DC8C6-8362-D8DD-44CF-269386D21154}"/>
              </a:ext>
            </a:extLst>
          </p:cNvPr>
          <p:cNvSpPr txBox="1"/>
          <p:nvPr/>
        </p:nvSpPr>
        <p:spPr>
          <a:xfrm>
            <a:off x="3134745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B09 à B16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1FB1B848-789F-7CC9-233E-C4D09DE6ED64}"/>
              </a:ext>
            </a:extLst>
          </p:cNvPr>
          <p:cNvSpPr txBox="1"/>
          <p:nvPr/>
        </p:nvSpPr>
        <p:spPr>
          <a:xfrm>
            <a:off x="270543" y="2558355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1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7A6F760-1C01-19AE-82F7-08659E0EDBFE}"/>
              </a:ext>
            </a:extLst>
          </p:cNvPr>
          <p:cNvSpPr txBox="1"/>
          <p:nvPr/>
        </p:nvSpPr>
        <p:spPr>
          <a:xfrm>
            <a:off x="263322" y="2891111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2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47361E2-CD17-E827-87D6-274A909955D1}"/>
              </a:ext>
            </a:extLst>
          </p:cNvPr>
          <p:cNvSpPr txBox="1"/>
          <p:nvPr/>
        </p:nvSpPr>
        <p:spPr>
          <a:xfrm>
            <a:off x="270543" y="344367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3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AE1C8AF-D6DD-7081-FB67-E5A8A16FCAEF}"/>
              </a:ext>
            </a:extLst>
          </p:cNvPr>
          <p:cNvSpPr txBox="1"/>
          <p:nvPr/>
        </p:nvSpPr>
        <p:spPr>
          <a:xfrm>
            <a:off x="270543" y="382453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4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322908FF-432D-5A05-837E-CBF1C04C2393}"/>
              </a:ext>
            </a:extLst>
          </p:cNvPr>
          <p:cNvSpPr txBox="1"/>
          <p:nvPr/>
        </p:nvSpPr>
        <p:spPr>
          <a:xfrm>
            <a:off x="287897" y="435230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5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7DBFDDF-72BF-A430-CD97-8AE4CE4D7C61}"/>
              </a:ext>
            </a:extLst>
          </p:cNvPr>
          <p:cNvSpPr txBox="1"/>
          <p:nvPr/>
        </p:nvSpPr>
        <p:spPr>
          <a:xfrm>
            <a:off x="282020" y="472312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6</a:t>
            </a: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85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B8D6B-6930-21E0-9885-A410A071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8E1835D-1337-EE65-DC44-6DB174786ED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F2F49C-86DC-A66F-4B98-9EB7E87DDD8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F5CC5-8CBC-8E4D-84BD-CFD88C3FD72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53F98B-D52E-912B-27F5-B0115A0D071C}"/>
              </a:ext>
            </a:extLst>
          </p:cNvPr>
          <p:cNvSpPr/>
          <p:nvPr/>
        </p:nvSpPr>
        <p:spPr>
          <a:xfrm>
            <a:off x="9393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4F5F2-68DB-624E-B0CD-2F1103DE4893}"/>
              </a:ext>
            </a:extLst>
          </p:cNvPr>
          <p:cNvSpPr/>
          <p:nvPr/>
        </p:nvSpPr>
        <p:spPr>
          <a:xfrm>
            <a:off x="193505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DADEFD-5010-AA0F-D0C3-272D06D03465}"/>
              </a:ext>
            </a:extLst>
          </p:cNvPr>
          <p:cNvSpPr/>
          <p:nvPr/>
        </p:nvSpPr>
        <p:spPr>
          <a:xfrm>
            <a:off x="293073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03555E-E2C0-4FF4-C086-24748FBD662C}"/>
              </a:ext>
            </a:extLst>
          </p:cNvPr>
          <p:cNvSpPr/>
          <p:nvPr/>
        </p:nvSpPr>
        <p:spPr>
          <a:xfrm>
            <a:off x="392641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B6AE3E-0ED9-2EDC-2FBF-D9B67B9DBD8F}"/>
              </a:ext>
            </a:extLst>
          </p:cNvPr>
          <p:cNvSpPr/>
          <p:nvPr/>
        </p:nvSpPr>
        <p:spPr>
          <a:xfrm>
            <a:off x="492209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D73805-79EC-BF93-2F01-8C4C0906F729}"/>
              </a:ext>
            </a:extLst>
          </p:cNvPr>
          <p:cNvSpPr/>
          <p:nvPr/>
        </p:nvSpPr>
        <p:spPr>
          <a:xfrm>
            <a:off x="59177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8076F3-F71D-B410-56E5-E7B38AAE3F7A}"/>
              </a:ext>
            </a:extLst>
          </p:cNvPr>
          <p:cNvSpPr/>
          <p:nvPr/>
        </p:nvSpPr>
        <p:spPr>
          <a:xfrm>
            <a:off x="825500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DA3FE9-CFF4-F0C8-6B73-5D0D66AE4FE1}"/>
              </a:ext>
            </a:extLst>
          </p:cNvPr>
          <p:cNvSpPr/>
          <p:nvPr/>
        </p:nvSpPr>
        <p:spPr>
          <a:xfrm>
            <a:off x="925068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31EABB-1494-D6D2-AB7F-8E444A53262D}"/>
              </a:ext>
            </a:extLst>
          </p:cNvPr>
          <p:cNvSpPr/>
          <p:nvPr/>
        </p:nvSpPr>
        <p:spPr>
          <a:xfrm>
            <a:off x="130032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5212508-71D6-4543-1D50-EE9F266F5A80}"/>
              </a:ext>
            </a:extLst>
          </p:cNvPr>
          <p:cNvSpPr/>
          <p:nvPr/>
        </p:nvSpPr>
        <p:spPr>
          <a:xfrm>
            <a:off x="307054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C46B34-5724-0879-5F85-F8617C05FED2}"/>
              </a:ext>
            </a:extLst>
          </p:cNvPr>
          <p:cNvSpPr/>
          <p:nvPr/>
        </p:nvSpPr>
        <p:spPr>
          <a:xfrm>
            <a:off x="4840763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8E6636-BC5E-818C-DED6-58F3724295AC}"/>
              </a:ext>
            </a:extLst>
          </p:cNvPr>
          <p:cNvSpPr/>
          <p:nvPr/>
        </p:nvSpPr>
        <p:spPr>
          <a:xfrm>
            <a:off x="838120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1A4BCA8-B066-1A7F-8D19-7E93EEE5A495}"/>
              </a:ext>
            </a:extLst>
          </p:cNvPr>
          <p:cNvSpPr/>
          <p:nvPr/>
        </p:nvSpPr>
        <p:spPr>
          <a:xfrm>
            <a:off x="1015142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62EC8C5-92A5-3996-D9AB-BB0751283CD7}"/>
              </a:ext>
            </a:extLst>
          </p:cNvPr>
          <p:cNvSpPr/>
          <p:nvPr/>
        </p:nvSpPr>
        <p:spPr>
          <a:xfrm>
            <a:off x="660085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559A381F-C816-AAA9-FB91-3C84046017A9}"/>
              </a:ext>
            </a:extLst>
          </p:cNvPr>
          <p:cNvSpPr/>
          <p:nvPr/>
        </p:nvSpPr>
        <p:spPr>
          <a:xfrm>
            <a:off x="3134043" y="3897887"/>
            <a:ext cx="420846" cy="16059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/>
              <a:t>LED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3F1D77E0-18BD-BDB7-C643-EA41D03E2C8E}"/>
              </a:ext>
            </a:extLst>
          </p:cNvPr>
          <p:cNvSpPr/>
          <p:nvPr/>
        </p:nvSpPr>
        <p:spPr>
          <a:xfrm>
            <a:off x="1360836" y="389438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PhotoDiode</a:t>
            </a:r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7133B409-F495-B402-5FA1-10D56533770B}"/>
              </a:ext>
            </a:extLst>
          </p:cNvPr>
          <p:cNvSpPr/>
          <p:nvPr/>
        </p:nvSpPr>
        <p:spPr>
          <a:xfrm>
            <a:off x="1360837" y="5047481"/>
            <a:ext cx="460869" cy="177861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ALI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278B2635-9C2B-8BB6-FABB-89BCD1E2BFA8}"/>
              </a:ext>
            </a:extLst>
          </p:cNvPr>
          <p:cNvSpPr/>
          <p:nvPr/>
        </p:nvSpPr>
        <p:spPr>
          <a:xfrm>
            <a:off x="1896027" y="5047481"/>
            <a:ext cx="117451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Ampli Inverseur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68E5376-3A4A-923F-568F-DD4C749A09B7}"/>
              </a:ext>
            </a:extLst>
          </p:cNvPr>
          <p:cNvSpPr/>
          <p:nvPr/>
        </p:nvSpPr>
        <p:spPr>
          <a:xfrm>
            <a:off x="1381158" y="4462422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50ADD-5E86-F50F-736B-9EDB70F02A29}"/>
              </a:ext>
            </a:extLst>
          </p:cNvPr>
          <p:cNvSpPr/>
          <p:nvPr/>
        </p:nvSpPr>
        <p:spPr>
          <a:xfrm>
            <a:off x="1303974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9407C0D-735F-AD7C-F95B-EA1513C3BE97}"/>
              </a:ext>
            </a:extLst>
          </p:cNvPr>
          <p:cNvSpPr/>
          <p:nvPr/>
        </p:nvSpPr>
        <p:spPr>
          <a:xfrm>
            <a:off x="3134043" y="446242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Emetteur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CC2AC60-DDFB-8436-AB60-E07F3026105B}"/>
              </a:ext>
            </a:extLst>
          </p:cNvPr>
          <p:cNvSpPr/>
          <p:nvPr/>
        </p:nvSpPr>
        <p:spPr>
          <a:xfrm>
            <a:off x="4989554" y="410855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Suiveur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307CA6BC-ECDD-45AC-13F2-85ABD089F886}"/>
              </a:ext>
            </a:extLst>
          </p:cNvPr>
          <p:cNvSpPr/>
          <p:nvPr/>
        </p:nvSpPr>
        <p:spPr>
          <a:xfrm>
            <a:off x="6346149" y="3894277"/>
            <a:ext cx="1772598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Transimpédance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1BA424-BB71-C3F2-84E5-FB2507D8BB47}"/>
              </a:ext>
            </a:extLst>
          </p:cNvPr>
          <p:cNvSpPr/>
          <p:nvPr/>
        </p:nvSpPr>
        <p:spPr>
          <a:xfrm>
            <a:off x="3072833" y="313288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Auto-Evaluation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297583-4FA7-8B4A-DBFE-8B877EE65D73}"/>
              </a:ext>
            </a:extLst>
          </p:cNvPr>
          <p:cNvSpPr/>
          <p:nvPr/>
        </p:nvSpPr>
        <p:spPr>
          <a:xfrm>
            <a:off x="1303974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00070-76D6-D30C-2828-0AB13300A086}"/>
              </a:ext>
            </a:extLst>
          </p:cNvPr>
          <p:cNvSpPr/>
          <p:nvPr/>
        </p:nvSpPr>
        <p:spPr>
          <a:xfrm>
            <a:off x="1303973" y="3638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B3594A-7FB0-A77B-3A3F-76675C96D274}"/>
              </a:ext>
            </a:extLst>
          </p:cNvPr>
          <p:cNvSpPr/>
          <p:nvPr/>
        </p:nvSpPr>
        <p:spPr>
          <a:xfrm>
            <a:off x="4841527" y="3638622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8EE4C37-6488-FA9B-D44E-585DFDF0A8BA}"/>
              </a:ext>
            </a:extLst>
          </p:cNvPr>
          <p:cNvSpPr/>
          <p:nvPr/>
        </p:nvSpPr>
        <p:spPr>
          <a:xfrm>
            <a:off x="1294557" y="4763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144956F-9FDE-EACB-057B-86D382E41DDC}"/>
              </a:ext>
            </a:extLst>
          </p:cNvPr>
          <p:cNvSpPr/>
          <p:nvPr/>
        </p:nvSpPr>
        <p:spPr>
          <a:xfrm>
            <a:off x="1294557" y="4191597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Montages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C0B9A7-734F-FBD4-2DF8-FEA83357F676}"/>
              </a:ext>
            </a:extLst>
          </p:cNvPr>
          <p:cNvSpPr/>
          <p:nvPr/>
        </p:nvSpPr>
        <p:spPr>
          <a:xfrm>
            <a:off x="1294557" y="5327397"/>
            <a:ext cx="3366423" cy="19861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Protocoles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6824B58D-9215-2232-07CA-EEAF95DB3332}"/>
              </a:ext>
            </a:extLst>
          </p:cNvPr>
          <p:cNvSpPr txBox="1"/>
          <p:nvPr/>
        </p:nvSpPr>
        <p:spPr>
          <a:xfrm>
            <a:off x="1429302" y="6295461"/>
            <a:ext cx="1346844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Réponse fréquentielle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4565F202-FFC4-A672-886E-3A15134E5EC2}"/>
              </a:ext>
            </a:extLst>
          </p:cNvPr>
          <p:cNvSpPr txBox="1"/>
          <p:nvPr/>
        </p:nvSpPr>
        <p:spPr>
          <a:xfrm>
            <a:off x="3407681" y="6284466"/>
            <a:ext cx="1037463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Balayage rapide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53D14C0A-D3A1-B2ED-A1EB-B0AB727CC10A}"/>
              </a:ext>
            </a:extLst>
          </p:cNvPr>
          <p:cNvSpPr txBox="1"/>
          <p:nvPr/>
        </p:nvSpPr>
        <p:spPr>
          <a:xfrm>
            <a:off x="3344466" y="6007648"/>
            <a:ext cx="1151277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Réponse indicielle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C538B99B-4B70-46E0-02B2-7977C89046CB}"/>
              </a:ext>
            </a:extLst>
          </p:cNvPr>
          <p:cNvSpPr txBox="1"/>
          <p:nvPr/>
        </p:nvSpPr>
        <p:spPr>
          <a:xfrm>
            <a:off x="1605200" y="6024676"/>
            <a:ext cx="1031051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Bande-passante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6DC26B4-651F-8109-14EB-12EB64DBDF1B}"/>
              </a:ext>
            </a:extLst>
          </p:cNvPr>
          <p:cNvSpPr/>
          <p:nvPr/>
        </p:nvSpPr>
        <p:spPr>
          <a:xfrm>
            <a:off x="4840763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02CA08B-1667-77A5-6338-6BAB4650B873}"/>
              </a:ext>
            </a:extLst>
          </p:cNvPr>
          <p:cNvSpPr/>
          <p:nvPr/>
        </p:nvSpPr>
        <p:spPr>
          <a:xfrm>
            <a:off x="6605326" y="314050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E4EAF5FF-36BF-ADAF-81F8-6BF09C4187FF}"/>
              </a:ext>
            </a:extLst>
          </p:cNvPr>
          <p:cNvSpPr/>
          <p:nvPr/>
        </p:nvSpPr>
        <p:spPr>
          <a:xfrm>
            <a:off x="4989553" y="3892224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A625D49-E458-99E5-740E-E11750DBACBA}"/>
              </a:ext>
            </a:extLst>
          </p:cNvPr>
          <p:cNvSpPr/>
          <p:nvPr/>
        </p:nvSpPr>
        <p:spPr>
          <a:xfrm>
            <a:off x="4840763" y="4463063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Modélisation des montages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5DDF0200-DA72-2CA9-29F6-1F0D053C41FF}"/>
              </a:ext>
            </a:extLst>
          </p:cNvPr>
          <p:cNvSpPr txBox="1"/>
          <p:nvPr/>
        </p:nvSpPr>
        <p:spPr>
          <a:xfrm>
            <a:off x="1384418" y="5628071"/>
            <a:ext cx="1436612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Caractéristique statique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4A3310D-E56E-5A66-FB7C-783A5F599D54}"/>
              </a:ext>
            </a:extLst>
          </p:cNvPr>
          <p:cNvSpPr txBox="1"/>
          <p:nvPr/>
        </p:nvSpPr>
        <p:spPr>
          <a:xfrm>
            <a:off x="3584916" y="5628071"/>
            <a:ext cx="670376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Mode XY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2D37D8C-D030-387E-2CC9-762EA85826F5}"/>
              </a:ext>
            </a:extLst>
          </p:cNvPr>
          <p:cNvSpPr/>
          <p:nvPr/>
        </p:nvSpPr>
        <p:spPr>
          <a:xfrm>
            <a:off x="8391334" y="3638621"/>
            <a:ext cx="1594673" cy="41958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Chaine d’acquisition d’images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7780055-F114-0C4B-31BB-A0DBA564340D}"/>
              </a:ext>
            </a:extLst>
          </p:cNvPr>
          <p:cNvSpPr/>
          <p:nvPr/>
        </p:nvSpPr>
        <p:spPr>
          <a:xfrm>
            <a:off x="10151048" y="3638620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Traitement d’images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51295E4-6379-04A7-A2EF-9EDC91529D4A}"/>
              </a:ext>
            </a:extLst>
          </p:cNvPr>
          <p:cNvSpPr/>
          <p:nvPr/>
        </p:nvSpPr>
        <p:spPr>
          <a:xfrm>
            <a:off x="8388505" y="2902734"/>
            <a:ext cx="1597502" cy="198619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FFED827-96DA-7413-7B1B-5AC453E5FAC6}"/>
              </a:ext>
            </a:extLst>
          </p:cNvPr>
          <p:cNvSpPr/>
          <p:nvPr/>
        </p:nvSpPr>
        <p:spPr>
          <a:xfrm>
            <a:off x="8388505" y="3140893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9163194-3416-4442-A2F7-D57ADF1350E4}"/>
              </a:ext>
            </a:extLst>
          </p:cNvPr>
          <p:cNvSpPr/>
          <p:nvPr/>
        </p:nvSpPr>
        <p:spPr>
          <a:xfrm>
            <a:off x="10151048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876BBDBF-B63B-A0DD-F65D-FDCA01F5B58B}"/>
              </a:ext>
            </a:extLst>
          </p:cNvPr>
          <p:cNvSpPr/>
          <p:nvPr/>
        </p:nvSpPr>
        <p:spPr>
          <a:xfrm>
            <a:off x="8463485" y="4108552"/>
            <a:ext cx="1228365" cy="35387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Banc Vision Industrielle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2A22AE68-1E88-EEB6-A649-CD68EC6D881B}"/>
              </a:ext>
            </a:extLst>
          </p:cNvPr>
          <p:cNvSpPr/>
          <p:nvPr/>
        </p:nvSpPr>
        <p:spPr>
          <a:xfrm>
            <a:off x="8636501" y="4502226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Caméra CMOS</a:t>
            </a:r>
          </a:p>
        </p:txBody>
      </p:sp>
      <p:sp>
        <p:nvSpPr>
          <p:cNvPr id="95" name="Rectangle : coins arrondis 94">
            <a:extLst>
              <a:ext uri="{FF2B5EF4-FFF2-40B4-BE49-F238E27FC236}">
                <a16:creationId xmlns:a16="http://schemas.microsoft.com/office/drawing/2014/main" id="{056B4F08-554C-2855-7A04-A51EA0CCC556}"/>
              </a:ext>
            </a:extLst>
          </p:cNvPr>
          <p:cNvSpPr/>
          <p:nvPr/>
        </p:nvSpPr>
        <p:spPr>
          <a:xfrm>
            <a:off x="8636501" y="4699508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Eclairage</a:t>
            </a:r>
          </a:p>
        </p:txBody>
      </p:sp>
      <p:sp>
        <p:nvSpPr>
          <p:cNvPr id="96" name="Rectangle : coins arrondis 95">
            <a:extLst>
              <a:ext uri="{FF2B5EF4-FFF2-40B4-BE49-F238E27FC236}">
                <a16:creationId xmlns:a16="http://schemas.microsoft.com/office/drawing/2014/main" id="{D65D0366-B16E-EE5A-3525-BC39416F0864}"/>
              </a:ext>
            </a:extLst>
          </p:cNvPr>
          <p:cNvSpPr/>
          <p:nvPr/>
        </p:nvSpPr>
        <p:spPr>
          <a:xfrm>
            <a:off x="8649408" y="4906442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Optique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E5E7D42-95B6-CA73-AA04-A933A5AF01C7}"/>
              </a:ext>
            </a:extLst>
          </p:cNvPr>
          <p:cNvSpPr/>
          <p:nvPr/>
        </p:nvSpPr>
        <p:spPr>
          <a:xfrm>
            <a:off x="8391334" y="5262387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id="{0B4D0836-586F-3D02-06DE-98F1FF4B2991}"/>
              </a:ext>
            </a:extLst>
          </p:cNvPr>
          <p:cNvSpPr/>
          <p:nvPr/>
        </p:nvSpPr>
        <p:spPr>
          <a:xfrm>
            <a:off x="10254742" y="3913418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 err="1"/>
              <a:t>OpenCV</a:t>
            </a:r>
            <a:endParaRPr lang="fr-FR" sz="900" b="1" dirty="0"/>
          </a:p>
        </p:txBody>
      </p:sp>
      <p:sp>
        <p:nvSpPr>
          <p:cNvPr id="103" name="Rectangle : coins arrondis 102">
            <a:extLst>
              <a:ext uri="{FF2B5EF4-FFF2-40B4-BE49-F238E27FC236}">
                <a16:creationId xmlns:a16="http://schemas.microsoft.com/office/drawing/2014/main" id="{82BBD540-0536-B76D-9E2F-D5CB3667704A}"/>
              </a:ext>
            </a:extLst>
          </p:cNvPr>
          <p:cNvSpPr/>
          <p:nvPr/>
        </p:nvSpPr>
        <p:spPr>
          <a:xfrm>
            <a:off x="10415784" y="4148137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Seuillage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9008C3F9-54BA-2624-F238-AE02DF28F8B3}"/>
              </a:ext>
            </a:extLst>
          </p:cNvPr>
          <p:cNvSpPr/>
          <p:nvPr/>
        </p:nvSpPr>
        <p:spPr>
          <a:xfrm>
            <a:off x="10415784" y="435610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Filtrage</a:t>
            </a:r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:a16="http://schemas.microsoft.com/office/drawing/2014/main" id="{AD746919-8B70-FE35-C5D3-70AA033E8432}"/>
              </a:ext>
            </a:extLst>
          </p:cNvPr>
          <p:cNvSpPr/>
          <p:nvPr/>
        </p:nvSpPr>
        <p:spPr>
          <a:xfrm>
            <a:off x="10415784" y="4554629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Contours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1F44840-8DC7-6CDF-38B9-7AAE0C6B3560}"/>
              </a:ext>
            </a:extLst>
          </p:cNvPr>
          <p:cNvSpPr/>
          <p:nvPr/>
        </p:nvSpPr>
        <p:spPr>
          <a:xfrm>
            <a:off x="10151048" y="5262386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formes</a:t>
            </a: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89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SUIVI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5352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Sujet en ligne et disponible dans la salle de TP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Cahier de laboratoire en ligne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Validation des étapes par les </a:t>
            </a:r>
            <a:r>
              <a:rPr lang="fr-FR" dirty="0" err="1"/>
              <a:t>encadrant</a:t>
            </a:r>
            <a:r>
              <a:rPr lang="fr-FR" sz="1800" dirty="0" err="1"/>
              <a:t>·</a:t>
            </a:r>
            <a:r>
              <a:rPr lang="fr-FR" dirty="0" err="1"/>
              <a:t>es</a:t>
            </a:r>
            <a:endParaRPr lang="fr-FR" dirty="0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17" name="Organigramme : Extraire 16">
            <a:extLst>
              <a:ext uri="{FF2B5EF4-FFF2-40B4-BE49-F238E27FC236}">
                <a16:creationId xmlns:a16="http://schemas.microsoft.com/office/drawing/2014/main" id="{57883FA6-2040-0CD6-D4A9-356AF7B9EFB8}"/>
              </a:ext>
            </a:extLst>
          </p:cNvPr>
          <p:cNvSpPr/>
          <p:nvPr/>
        </p:nvSpPr>
        <p:spPr>
          <a:xfrm>
            <a:off x="692727" y="3923707"/>
            <a:ext cx="722376" cy="595369"/>
          </a:xfrm>
          <a:prstGeom prst="flowChartExtract">
            <a:avLst/>
          </a:prstGeom>
          <a:noFill/>
          <a:ln w="571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9F6F3ED-E123-F54B-AFC0-E546F64C4F02}"/>
              </a:ext>
            </a:extLst>
          </p:cNvPr>
          <p:cNvSpPr txBox="1"/>
          <p:nvPr/>
        </p:nvSpPr>
        <p:spPr>
          <a:xfrm>
            <a:off x="1712214" y="3906350"/>
            <a:ext cx="41399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Certaines missions doivent être validées par </a:t>
            </a:r>
            <a:r>
              <a:rPr lang="fr-FR" sz="1600" b="1" dirty="0" err="1"/>
              <a:t>un·e</a:t>
            </a:r>
            <a:r>
              <a:rPr lang="fr-FR" sz="1600" b="1" dirty="0"/>
              <a:t> encadrant ·e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A3C8A58-2595-80A6-C331-4FE6E7E55221}"/>
              </a:ext>
            </a:extLst>
          </p:cNvPr>
          <p:cNvSpPr txBox="1"/>
          <p:nvPr/>
        </p:nvSpPr>
        <p:spPr>
          <a:xfrm>
            <a:off x="737997" y="5194848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posées (livrables)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BE8784F5-19B6-6880-8A25-5A17A5AF409F}"/>
              </a:ext>
            </a:extLst>
          </p:cNvPr>
          <p:cNvSpPr/>
          <p:nvPr/>
        </p:nvSpPr>
        <p:spPr>
          <a:xfrm>
            <a:off x="7805734" y="1536484"/>
            <a:ext cx="3693539" cy="2456925"/>
          </a:xfrm>
          <a:prstGeom prst="roundRect">
            <a:avLst>
              <a:gd name="adj" fmla="val 5540"/>
            </a:avLst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/>
              <a:t>Déroulement d’une séance</a:t>
            </a:r>
            <a:endParaRPr lang="fr-FR" sz="1600" b="1" dirty="0">
              <a:solidFill>
                <a:srgbClr val="FFC000"/>
              </a:solidFill>
            </a:endParaRP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  <a:endParaRPr lang="fr-FR" sz="1600" b="1" dirty="0"/>
          </a:p>
          <a:p>
            <a:pPr algn="ctr"/>
            <a:r>
              <a:rPr lang="fr-FR" sz="1600" b="1" dirty="0"/>
              <a:t>Durée</a:t>
            </a:r>
            <a:r>
              <a:rPr lang="fr-FR" sz="1600" dirty="0"/>
              <a:t> : </a:t>
            </a:r>
            <a:r>
              <a:rPr lang="fr-FR" sz="1600" b="1" dirty="0"/>
              <a:t>4h30</a:t>
            </a:r>
          </a:p>
          <a:p>
            <a:pPr algn="ctr"/>
            <a:r>
              <a:rPr lang="fr-FR" sz="1600" b="1" dirty="0">
                <a:solidFill>
                  <a:srgbClr val="FFC000"/>
                </a:solidFill>
              </a:rPr>
              <a:t>Début à 8h30</a:t>
            </a: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</a:p>
          <a:p>
            <a:pPr algn="ctr"/>
            <a:r>
              <a:rPr lang="fr-FR" sz="1600" b="1" dirty="0"/>
              <a:t>Réalisation de missions</a:t>
            </a:r>
          </a:p>
          <a:p>
            <a:pPr algn="ctr"/>
            <a:r>
              <a:rPr lang="fr-FR" sz="1600" dirty="0"/>
              <a:t>Objectifs / Matériels</a:t>
            </a:r>
          </a:p>
          <a:p>
            <a:pPr algn="ctr"/>
            <a:r>
              <a:rPr lang="fr-FR" sz="1600" dirty="0"/>
              <a:t>Prise de notes numériques</a:t>
            </a:r>
          </a:p>
          <a:p>
            <a:pPr algn="ctr"/>
            <a:r>
              <a:rPr lang="fr-FR" sz="1600" dirty="0"/>
              <a:t>Ressources / Livrables</a:t>
            </a:r>
            <a:endParaRPr lang="fr-FR" sz="1600" b="1" dirty="0">
              <a:solidFill>
                <a:srgbClr val="00B0F0"/>
              </a:solidFill>
            </a:endParaRPr>
          </a:p>
          <a:p>
            <a:pPr algn="ctr"/>
            <a:endParaRPr lang="fr-FR" sz="1600" dirty="0"/>
          </a:p>
          <a:p>
            <a:pPr algn="ctr"/>
            <a:endParaRPr lang="fr-FR" sz="1600" b="1" dirty="0">
              <a:solidFill>
                <a:srgbClr val="00B0F0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D480A1-741A-9526-A736-1F96BAA2A09D}"/>
              </a:ext>
            </a:extLst>
          </p:cNvPr>
          <p:cNvSpPr txBox="1"/>
          <p:nvPr/>
        </p:nvSpPr>
        <p:spPr>
          <a:xfrm>
            <a:off x="7760464" y="4764853"/>
            <a:ext cx="36935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b="1" i="1" dirty="0"/>
              <a:t>toute arrivée tardive</a:t>
            </a:r>
            <a:r>
              <a:rPr lang="fr-FR" sz="1600" i="1" dirty="0"/>
              <a:t>, </a:t>
            </a:r>
            <a:r>
              <a:rPr lang="fr-FR" sz="1600" b="1" i="1" dirty="0"/>
              <a:t>départ anticipé </a:t>
            </a:r>
            <a:r>
              <a:rPr lang="fr-FR" sz="1600" i="1" dirty="0"/>
              <a:t>ou </a:t>
            </a:r>
            <a:r>
              <a:rPr lang="fr-FR" sz="1600" b="1" i="1" dirty="0"/>
              <a:t>absence non justifiée </a:t>
            </a:r>
            <a:r>
              <a:rPr lang="fr-FR" sz="1600" i="1" dirty="0"/>
              <a:t>bloque l’accès à la deuxième chance, </a:t>
            </a:r>
            <a:br>
              <a:rPr lang="fr-FR" sz="1600" i="1" dirty="0"/>
            </a:br>
            <a:r>
              <a:rPr lang="fr-FR" sz="1600" i="1" dirty="0"/>
              <a:t>et même en cas de validation, une alerte est notifiée au jury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401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2179-B989-C93F-5DEA-3A652E16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906AE9-1C02-00D4-7D64-3E3D475CE118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BC933E8-EE02-07F0-1805-676D888869A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 err="1"/>
              <a:t>LEnsE</a:t>
            </a:r>
            <a:r>
              <a:rPr lang="fr-FR" sz="4000" dirty="0"/>
              <a:t> / </a:t>
            </a:r>
            <a:r>
              <a:rPr lang="fr-FR" sz="2800" dirty="0"/>
              <a:t>En cas de soucis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34BAE7-2A82-2689-5596-FF9F2341ECA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3B9D9B0-50CA-3B41-A97E-4776C09B90EC}"/>
              </a:ext>
            </a:extLst>
          </p:cNvPr>
          <p:cNvSpPr txBox="1"/>
          <p:nvPr/>
        </p:nvSpPr>
        <p:spPr>
          <a:xfrm>
            <a:off x="987106" y="3953878"/>
            <a:ext cx="577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le </a:t>
            </a:r>
            <a:r>
              <a:rPr lang="fr-FR" b="1" dirty="0"/>
              <a:t>bon déroulement </a:t>
            </a:r>
            <a:r>
              <a:rPr lang="fr-FR" dirty="0"/>
              <a:t>des TP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Encadrement / </a:t>
            </a:r>
            <a:r>
              <a:rPr lang="fr-FR" sz="1400" dirty="0"/>
              <a:t>Recrutement et Formation</a:t>
            </a: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Matériel / </a:t>
            </a:r>
            <a:r>
              <a:rPr lang="fr-FR" sz="1400" dirty="0"/>
              <a:t>Choix et Maintenance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Pédagogie / </a:t>
            </a:r>
            <a:r>
              <a:rPr lang="fr-FR" sz="1400" dirty="0"/>
              <a:t>Sujets et Compétences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8D66A32-89A8-1E36-4125-62DC3AAAECCB}"/>
              </a:ext>
            </a:extLst>
          </p:cNvPr>
          <p:cNvSpPr/>
          <p:nvPr/>
        </p:nvSpPr>
        <p:spPr>
          <a:xfrm>
            <a:off x="743267" y="1788220"/>
            <a:ext cx="6791389" cy="184194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Responsables pédagogiques du </a:t>
            </a:r>
            <a:r>
              <a:rPr lang="fr-FR" b="1" dirty="0" err="1"/>
              <a:t>LEnsE</a:t>
            </a:r>
            <a:endParaRPr lang="fr-FR" b="1" dirty="0"/>
          </a:p>
          <a:p>
            <a:pPr algn="ctr"/>
            <a:endParaRPr lang="fr-FR" sz="1200" b="1" dirty="0"/>
          </a:p>
          <a:p>
            <a:pPr algn="ctr"/>
            <a:r>
              <a:rPr lang="fr-FR" sz="2400" dirty="0"/>
              <a:t>Fabienne BERNARD</a:t>
            </a:r>
          </a:p>
          <a:p>
            <a:pPr algn="ctr"/>
            <a:r>
              <a:rPr lang="fr-FR" sz="2400" dirty="0"/>
              <a:t>Jeanne BERNARD</a:t>
            </a:r>
          </a:p>
          <a:p>
            <a:pPr algn="ctr"/>
            <a:r>
              <a:rPr lang="fr-FR" sz="2400" dirty="0"/>
              <a:t>Julien VILLEMEJANE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A514283-78F9-4477-F00F-B99BFE0716DF}"/>
              </a:ext>
            </a:extLst>
          </p:cNvPr>
          <p:cNvSpPr txBox="1"/>
          <p:nvPr/>
        </p:nvSpPr>
        <p:spPr>
          <a:xfrm>
            <a:off x="987106" y="5595053"/>
            <a:ext cx="6920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un </a:t>
            </a:r>
            <a:r>
              <a:rPr lang="fr-FR" b="1" dirty="0"/>
              <a:t>apprentissage égalitaire </a:t>
            </a:r>
            <a:r>
              <a:rPr lang="fr-FR" dirty="0"/>
              <a:t>pour toutes et tous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pic>
        <p:nvPicPr>
          <p:cNvPr id="13" name="Image 12" descr="Une image contenant habits, personne, sourire, Visage humain&#10;&#10;Le contenu généré par l’IA peut être incorrect.">
            <a:extLst>
              <a:ext uri="{FF2B5EF4-FFF2-40B4-BE49-F238E27FC236}">
                <a16:creationId xmlns:a16="http://schemas.microsoft.com/office/drawing/2014/main" id="{BCF2D6B8-6942-1525-FD20-D5471AE648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4215384"/>
            <a:ext cx="2596896" cy="1947672"/>
          </a:xfrm>
          <a:prstGeom prst="rect">
            <a:avLst/>
          </a:prstGeom>
        </p:spPr>
      </p:pic>
      <p:pic>
        <p:nvPicPr>
          <p:cNvPr id="15" name="Image 14" descr="Une image contenant personne, sourire, intérieur, habits&#10;&#10;Le contenu généré par l’IA peut être incorrect.">
            <a:extLst>
              <a:ext uri="{FF2B5EF4-FFF2-40B4-BE49-F238E27FC236}">
                <a16:creationId xmlns:a16="http://schemas.microsoft.com/office/drawing/2014/main" id="{E8F0AD17-9C3F-6F46-8AAD-87D9D42CF6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2046656"/>
            <a:ext cx="2596896" cy="1947672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884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TRAVAIL ATTENDU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483069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Réaliser des circuits et des mesures sur ces circuits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  <a:r>
              <a:rPr lang="fr-FR" dirty="0"/>
              <a:t> contenant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descriptifs des conditions des mesures,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des mesures, les copies d’écrans d’oscilloscope, etc.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analyses des résultats par quelques phrases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et les analyses des erreurs commises et des difficultés rencontrées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</a:t>
            </a:r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22" name="Flèche : pentagone 21">
            <a:extLst>
              <a:ext uri="{FF2B5EF4-FFF2-40B4-BE49-F238E27FC236}">
                <a16:creationId xmlns:a16="http://schemas.microsoft.com/office/drawing/2014/main" id="{EE22E71C-A3F5-1A39-6EC9-16C5219EBA57}"/>
              </a:ext>
            </a:extLst>
          </p:cNvPr>
          <p:cNvSpPr/>
          <p:nvPr/>
        </p:nvSpPr>
        <p:spPr>
          <a:xfrm>
            <a:off x="6379844" y="1982129"/>
            <a:ext cx="1548003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TD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0C58C53-DB3A-89CF-609A-59CC0E4D88FA}"/>
              </a:ext>
            </a:extLst>
          </p:cNvPr>
          <p:cNvSpPr txBox="1"/>
          <p:nvPr/>
        </p:nvSpPr>
        <p:spPr>
          <a:xfrm>
            <a:off x="6494526" y="2499981"/>
            <a:ext cx="483069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proposées en lien avec des notions prédéfinies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Partager des idées avec les autres et profiter de l’expérience de </a:t>
            </a:r>
            <a:r>
              <a:rPr lang="fr-FR" dirty="0" err="1"/>
              <a:t>chacun·e</a:t>
            </a:r>
            <a:r>
              <a:rPr lang="fr-FR" dirty="0"/>
              <a:t> pour faire avancer l’ensemble du groupe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précises, pour clarifier ce que vous n’avez peut-être pas compris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0783FE1-11AD-4641-DDAD-FF9B0FC6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323" y="5752413"/>
            <a:ext cx="958882" cy="852339"/>
          </a:xfrm>
          <a:prstGeom prst="rect">
            <a:avLst/>
          </a:prstGeom>
        </p:spPr>
      </p:pic>
      <p:cxnSp>
        <p:nvCxnSpPr>
          <p:cNvPr id="6" name="Connecteur : en arc 5">
            <a:extLst>
              <a:ext uri="{FF2B5EF4-FFF2-40B4-BE49-F238E27FC236}">
                <a16:creationId xmlns:a16="http://schemas.microsoft.com/office/drawing/2014/main" id="{51F19D28-3D7D-4361-62B6-138C9F8B75E2}"/>
              </a:ext>
            </a:extLst>
          </p:cNvPr>
          <p:cNvCxnSpPr>
            <a:cxnSpLocks/>
          </p:cNvCxnSpPr>
          <p:nvPr/>
        </p:nvCxnSpPr>
        <p:spPr>
          <a:xfrm flipV="1">
            <a:off x="8697487" y="6181972"/>
            <a:ext cx="916476" cy="162116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52F68540-755E-5E2D-4073-1189FB533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2985" y="5863155"/>
            <a:ext cx="960142" cy="761736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72687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1511</TotalTime>
  <Words>727</Words>
  <Application>Microsoft Office PowerPoint</Application>
  <PresentationFormat>Grand écran</PresentationFormat>
  <Paragraphs>204</Paragraphs>
  <Slides>12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Arial</vt:lpstr>
      <vt:lpstr>Avenir Next LT Pro</vt:lpstr>
      <vt:lpstr>Bahnschrift Light</vt:lpstr>
      <vt:lpstr>Bahnschrift SemiBold</vt:lpstr>
      <vt:lpstr>Calibri</vt:lpstr>
      <vt:lpstr>FreeSans</vt:lpstr>
      <vt:lpstr>Liberation Sans</vt:lpstr>
      <vt:lpstr>Wingdings</vt:lpstr>
      <vt:lpstr>AccentBoxVTI</vt:lpstr>
      <vt:lpstr> UE Opto électronique   TD et TP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Numériques - Méthodes et Outils</dc:title>
  <dc:creator>Julien VILLEMEJANE</dc:creator>
  <cp:lastModifiedBy>Julien VILLEMEJANE</cp:lastModifiedBy>
  <cp:revision>839</cp:revision>
  <dcterms:created xsi:type="dcterms:W3CDTF">2023-04-08T12:37:13Z</dcterms:created>
  <dcterms:modified xsi:type="dcterms:W3CDTF">2026-09-03T16:54:01Z</dcterms:modified>
</cp:coreProperties>
</file>