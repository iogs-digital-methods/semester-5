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10"/>
  </p:notesMasterIdLst>
  <p:sldIdLst>
    <p:sldId id="256" r:id="rId2"/>
    <p:sldId id="358" r:id="rId3"/>
    <p:sldId id="359" r:id="rId4"/>
    <p:sldId id="336" r:id="rId5"/>
    <p:sldId id="319" r:id="rId6"/>
    <p:sldId id="327" r:id="rId7"/>
    <p:sldId id="339" r:id="rId8"/>
    <p:sldId id="3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7030A0"/>
    <a:srgbClr val="00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799" autoAdjust="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C724E-499D-43AC-8699-CF969D2466FC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DC53D4-8BF5-4FDD-81EC-7AC957B0D2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6258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66443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114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B9DF51E-350D-A995-ADD0-5453780C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="" xmlns:a16="http://schemas.microsoft.com/office/drawing/2014/main" id="{4CA99F1A-F3BF-DBED-20AF-89F922240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="" xmlns:a16="http://schemas.microsoft.com/office/drawing/2014/main" id="{2B01877D-47F0-646A-D2F1-BA034928B7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="" xmlns:a16="http://schemas.microsoft.com/office/drawing/2014/main" id="{99DE6A62-53A9-30F7-E7EE-5F3475EC90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6084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AA13C57-C433-5060-FB8F-4610505FE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="" xmlns:a16="http://schemas.microsoft.com/office/drawing/2014/main" id="{5C8D0A38-71C2-6863-762E-333FD45A42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="" xmlns:a16="http://schemas.microsoft.com/office/drawing/2014/main" id="{CC135C28-2617-3DAE-6387-1EE59A0EFD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="" xmlns:a16="http://schemas.microsoft.com/office/drawing/2014/main" id="{52914DC6-A284-BD78-67D4-0F8B1176EC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DC53D4-8BF5-4FDD-81EC-7AC957B0D21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117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75833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=""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=""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82032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=""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79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=""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=""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079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=""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=""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=""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=""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=""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=""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4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=""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05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7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=""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956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=""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=""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64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59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=""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=""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780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818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04" r:id="rId6"/>
    <p:sldLayoutId id="2147483700" r:id="rId7"/>
    <p:sldLayoutId id="2147483701" r:id="rId8"/>
    <p:sldLayoutId id="2147483702" r:id="rId9"/>
    <p:sldLayoutId id="2147483703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="" xmlns:a16="http://schemas.microsoft.com/office/drawing/2014/main" id="{526E0BFB-CDF1-4990-8C11-AC849311E0A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4C72F330-992B-B125-739B-F8303ED3A0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669" r="-1" b="426"/>
          <a:stretch/>
        </p:blipFill>
        <p:spPr>
          <a:xfrm>
            <a:off x="-2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6069A1F8-9BEB-4786-9694-FC48B2D75D2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 flipH="1">
            <a:off x="2788244" y="0"/>
            <a:ext cx="9403756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0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CF8D1EB8-F6E7-EB54-1CC8-28472070B9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fr-FR" sz="4800" dirty="0">
                <a:latin typeface="Bahnschrift SemiBold" panose="020B0502040204020203" pitchFamily="34" charset="0"/>
              </a:rPr>
              <a:t/>
            </a:r>
            <a:br>
              <a:rPr lang="fr-FR" sz="48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UE </a:t>
            </a:r>
            <a:r>
              <a:rPr lang="fr-FR" sz="4400" dirty="0" err="1">
                <a:latin typeface="Bahnschrift SemiBold" panose="020B0502040204020203" pitchFamily="34" charset="0"/>
              </a:rPr>
              <a:t>Opto</a:t>
            </a:r>
            <a:r>
              <a:rPr lang="fr-FR" sz="4400" dirty="0">
                <a:latin typeface="Bahnschrift SemiBold" panose="020B0502040204020203" pitchFamily="34" charset="0"/>
              </a:rPr>
              <a:t/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électronique</a:t>
            </a:r>
            <a:br>
              <a:rPr lang="fr-FR" sz="4400" dirty="0">
                <a:latin typeface="Bahnschrift SemiBold" panose="020B0502040204020203" pitchFamily="34" charset="0"/>
              </a:rPr>
            </a:br>
            <a:r>
              <a:rPr lang="fr-FR" sz="4400" dirty="0">
                <a:latin typeface="Bahnschrift SemiBold" panose="020B0502040204020203" pitchFamily="34" charset="0"/>
              </a:rPr>
              <a:t>		</a:t>
            </a:r>
            <a:r>
              <a:rPr lang="fr-FR" sz="3200" dirty="0">
                <a:latin typeface="Bahnschrift SemiBold" panose="020B0502040204020203" pitchFamily="34" charset="0"/>
              </a:rPr>
              <a:t>TD et TP</a:t>
            </a:r>
            <a:endParaRPr lang="fr-FR" sz="4800" dirty="0">
              <a:latin typeface="Bahnschrift SemiBold" panose="020B0502040204020203" pitchFamily="34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="" xmlns:a16="http://schemas.microsoft.com/office/drawing/2014/main" id="{BDFEFAEF-AB6A-BE8F-01E7-845FB609FA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872922"/>
            <a:ext cx="4023360" cy="1208141"/>
          </a:xfrm>
        </p:spPr>
        <p:txBody>
          <a:bodyPr>
            <a:normAutofit/>
          </a:bodyPr>
          <a:lstStyle/>
          <a:p>
            <a:r>
              <a:rPr lang="fr-FR" sz="2000" dirty="0" err="1">
                <a:latin typeface="Bahnschrift Light" panose="020B0502040204020203" pitchFamily="34" charset="0"/>
              </a:rPr>
              <a:t>OpE</a:t>
            </a:r>
            <a:r>
              <a:rPr lang="fr-FR" sz="2000" dirty="0">
                <a:latin typeface="Bahnschrift Light" panose="020B0502040204020203" pitchFamily="34" charset="0"/>
              </a:rPr>
              <a:t> / Semestre 5 </a:t>
            </a:r>
            <a:br>
              <a:rPr lang="fr-FR" sz="2000" dirty="0">
                <a:latin typeface="Bahnschrift Light" panose="020B0502040204020203" pitchFamily="34" charset="0"/>
              </a:rPr>
            </a:br>
            <a:r>
              <a:rPr lang="fr-FR" sz="2000" dirty="0">
                <a:latin typeface="Bahnschrift Light" panose="020B0502040204020203" pitchFamily="34" charset="0"/>
              </a:rPr>
              <a:t>Institut d’Optique</a:t>
            </a:r>
          </a:p>
        </p:txBody>
      </p:sp>
      <p:sp>
        <p:nvSpPr>
          <p:cNvPr id="32" name="Rectangle 12">
            <a:extLst>
              <a:ext uri="{FF2B5EF4-FFF2-40B4-BE49-F238E27FC236}">
                <a16:creationId xmlns="" xmlns:a16="http://schemas.microsoft.com/office/drawing/2014/main" id="{AF2F604E-43BE-4DC3-B983-E071523364F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14">
            <a:extLst>
              <a:ext uri="{FF2B5EF4-FFF2-40B4-BE49-F238E27FC236}">
                <a16:creationId xmlns="" xmlns:a16="http://schemas.microsoft.com/office/drawing/2014/main" id="{08C9B587-E65E-4B52-B37C-ABEBB6E8792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=""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81" y="145408"/>
            <a:ext cx="2694463" cy="1106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42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52B0F14-0653-6A28-4989-044A70E2A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1038FB89-F1D0-A172-997B-1BE2268C2CB7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07767202-436F-EA58-7F0A-79EFBE6F98D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Ressources en ligne</a:t>
            </a:r>
          </a:p>
          <a:p>
            <a:endParaRPr lang="fr-FR" sz="4000" dirty="0"/>
          </a:p>
          <a:p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AE34310-FA7B-919C-D4B8-3AC1BE91B6E1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xmlns="" id="{5A3CB2BA-4A6B-7052-A7AB-C5FFDF9C07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xmlns="" id="{9BC44D69-C402-A629-BF34-FD0F714DAC0A}"/>
              </a:ext>
            </a:extLst>
          </p:cNvPr>
          <p:cNvSpPr txBox="1"/>
          <p:nvPr/>
        </p:nvSpPr>
        <p:spPr>
          <a:xfrm>
            <a:off x="669906" y="1516202"/>
            <a:ext cx="541736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>
                <a:latin typeface="Bahnschrift SemiBold" panose="020B0502040204020203" pitchFamily="34" charset="0"/>
              </a:rPr>
              <a:t>https://lense.institutoptique.fr/</a:t>
            </a:r>
            <a:endParaRPr lang="fr-FR" sz="2800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xmlns="" id="{BAAF2D60-0BDA-9CE7-0F29-CB9B468CD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816" y="2212962"/>
            <a:ext cx="7640826" cy="4484444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xmlns="" id="{D69AD05F-CDFC-D987-A65C-02CF12E23C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180" y="3098841"/>
            <a:ext cx="3241580" cy="359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097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Conception d’un système optique</a:t>
            </a:r>
          </a:p>
          <a:p>
            <a:endParaRPr lang="fr-FR" sz="4000" dirty="0"/>
          </a:p>
          <a:p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 descr="Une image contenant texte&#10;&#10;Description générée automatiquement">
            <a:extLst>
              <a:ext uri="{FF2B5EF4-FFF2-40B4-BE49-F238E27FC236}">
                <a16:creationId xmlns:a16="http://schemas.microsoft.com/office/drawing/2014/main" xmlns="" id="{9BFF7F1D-2708-E366-DB38-F68C1FBD99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8481" y="509288"/>
            <a:ext cx="1825291" cy="749808"/>
          </a:xfrm>
          <a:prstGeom prst="rect">
            <a:avLst/>
          </a:prstGeom>
        </p:spPr>
      </p:pic>
      <p:sp>
        <p:nvSpPr>
          <p:cNvPr id="60" name="ZoneTexte 59">
            <a:extLst>
              <a:ext uri="{FF2B5EF4-FFF2-40B4-BE49-F238E27FC236}">
                <a16:creationId xmlns:a16="http://schemas.microsoft.com/office/drawing/2014/main" xmlns="" id="{5B0B69C1-F2A4-3AED-5BD5-8A149A1A801E}"/>
              </a:ext>
            </a:extLst>
          </p:cNvPr>
          <p:cNvSpPr txBox="1"/>
          <p:nvPr/>
        </p:nvSpPr>
        <p:spPr>
          <a:xfrm>
            <a:off x="5114099" y="1655033"/>
            <a:ext cx="60324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Génération de photons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Conception optique / « Fabrication d’images »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Acquisition de données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Traitement des informations</a:t>
            </a:r>
          </a:p>
        </p:txBody>
      </p:sp>
      <p:sp>
        <p:nvSpPr>
          <p:cNvPr id="61" name="Flèche : pentagone 60">
            <a:extLst>
              <a:ext uri="{FF2B5EF4-FFF2-40B4-BE49-F238E27FC236}">
                <a16:creationId xmlns:a16="http://schemas.microsoft.com/office/drawing/2014/main" xmlns="" id="{A48CFDD8-919C-C576-823B-C65F357AD387}"/>
              </a:ext>
            </a:extLst>
          </p:cNvPr>
          <p:cNvSpPr/>
          <p:nvPr/>
        </p:nvSpPr>
        <p:spPr>
          <a:xfrm>
            <a:off x="618915" y="1610717"/>
            <a:ext cx="3687909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Conception d’un système optique</a:t>
            </a:r>
          </a:p>
        </p:txBody>
      </p:sp>
      <p:pic>
        <p:nvPicPr>
          <p:cNvPr id="5" name="Picture 1">
            <a:extLst>
              <a:ext uri="{FF2B5EF4-FFF2-40B4-BE49-F238E27FC236}">
                <a16:creationId xmlns:a16="http://schemas.microsoft.com/office/drawing/2014/main" xmlns="" id="{9F15BAB8-0E09-1168-DB15-0CB088413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393" y="5109217"/>
            <a:ext cx="967685" cy="830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 : carré corné 53">
            <a:extLst>
              <a:ext uri="{FF2B5EF4-FFF2-40B4-BE49-F238E27FC236}">
                <a16:creationId xmlns:a16="http://schemas.microsoft.com/office/drawing/2014/main" xmlns="" id="{57A57D86-463F-204E-70A2-2628DDB3CEAF}"/>
              </a:ext>
            </a:extLst>
          </p:cNvPr>
          <p:cNvSpPr/>
          <p:nvPr/>
        </p:nvSpPr>
        <p:spPr>
          <a:xfrm>
            <a:off x="3923645" y="4406180"/>
            <a:ext cx="701183" cy="417189"/>
          </a:xfrm>
          <a:prstGeom prst="foldedCorner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Image</a:t>
            </a:r>
          </a:p>
        </p:txBody>
      </p:sp>
      <p:sp>
        <p:nvSpPr>
          <p:cNvPr id="8" name="Cube 7">
            <a:extLst>
              <a:ext uri="{FF2B5EF4-FFF2-40B4-BE49-F238E27FC236}">
                <a16:creationId xmlns:a16="http://schemas.microsoft.com/office/drawing/2014/main" xmlns="" id="{EF6FE325-572C-F942-7935-23676A7D0DDD}"/>
              </a:ext>
            </a:extLst>
          </p:cNvPr>
          <p:cNvSpPr/>
          <p:nvPr/>
        </p:nvSpPr>
        <p:spPr>
          <a:xfrm>
            <a:off x="939322" y="4210561"/>
            <a:ext cx="771222" cy="480989"/>
          </a:xfrm>
          <a:prstGeom prst="cube">
            <a:avLst>
              <a:gd name="adj" fmla="val 17604"/>
            </a:avLst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Objet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xmlns="" id="{60AD1B10-B412-E5A0-10E7-2AD2A8469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869" y="4011461"/>
            <a:ext cx="1748290" cy="1397924"/>
          </a:xfrm>
          <a:prstGeom prst="rect">
            <a:avLst/>
          </a:prstGeom>
        </p:spPr>
      </p:pic>
      <p:sp>
        <p:nvSpPr>
          <p:cNvPr id="10" name="Flèche : pentagone 10">
            <a:extLst>
              <a:ext uri="{FF2B5EF4-FFF2-40B4-BE49-F238E27FC236}">
                <a16:creationId xmlns:a16="http://schemas.microsoft.com/office/drawing/2014/main" xmlns="" id="{6D8FF9CF-F72C-3481-6934-36911B13309D}"/>
              </a:ext>
            </a:extLst>
          </p:cNvPr>
          <p:cNvSpPr/>
          <p:nvPr/>
        </p:nvSpPr>
        <p:spPr>
          <a:xfrm>
            <a:off x="6369392" y="4418576"/>
            <a:ext cx="1352207" cy="443781"/>
          </a:xfrm>
          <a:prstGeom prst="homePlat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Signaux électriques</a:t>
            </a:r>
          </a:p>
        </p:txBody>
      </p:sp>
      <p:sp>
        <p:nvSpPr>
          <p:cNvPr id="11" name="Organigramme : Multidocument 10">
            <a:extLst>
              <a:ext uri="{FF2B5EF4-FFF2-40B4-BE49-F238E27FC236}">
                <a16:creationId xmlns:a16="http://schemas.microsoft.com/office/drawing/2014/main" xmlns="" id="{B3DFDF21-DDF0-BA1D-805E-D2374009E294}"/>
              </a:ext>
            </a:extLst>
          </p:cNvPr>
          <p:cNvSpPr/>
          <p:nvPr/>
        </p:nvSpPr>
        <p:spPr>
          <a:xfrm>
            <a:off x="9746206" y="4387417"/>
            <a:ext cx="1085850" cy="454713"/>
          </a:xfrm>
          <a:prstGeom prst="flowChartMultidocumen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Données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xmlns="" id="{C16A60FF-0CCA-ADAC-EE5F-2A1E33AA54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9032" y="4315328"/>
            <a:ext cx="993117" cy="1094057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xmlns="" id="{44190620-05D8-FA93-59A1-E7509C2EB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842" y="4289540"/>
            <a:ext cx="12287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6878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 20">
            <a:extLst>
              <a:ext uri="{FF2B5EF4-FFF2-40B4-BE49-F238E27FC236}">
                <a16:creationId xmlns="" xmlns:a16="http://schemas.microsoft.com/office/drawing/2014/main" id="{D289D4E5-09E8-AD42-73C0-C8471D6E7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167" y="4831912"/>
            <a:ext cx="1381556" cy="1096068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="" xmlns:a16="http://schemas.microsoft.com/office/drawing/2014/main" id="{080B1FE2-421C-C3F3-8759-5747F26B6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3432" y="4685531"/>
            <a:ext cx="1562434" cy="138883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="" xmlns:a16="http://schemas.microsoft.com/office/drawing/2014/main" id="{3831B6A5-6289-648D-2669-16CD74D6055A}"/>
              </a:ext>
            </a:extLst>
          </p:cNvPr>
          <p:cNvSpPr/>
          <p:nvPr/>
        </p:nvSpPr>
        <p:spPr>
          <a:xfrm>
            <a:off x="743267" y="2743228"/>
            <a:ext cx="6680759" cy="195346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 : pentagone 8">
            <a:extLst>
              <a:ext uri="{FF2B5EF4-FFF2-40B4-BE49-F238E27FC236}">
                <a16:creationId xmlns="" xmlns:a16="http://schemas.microsoft.com/office/drawing/2014/main" id="{28ADF0A4-E77B-DA03-EB3A-CFBDCE0AC872}"/>
              </a:ext>
            </a:extLst>
          </p:cNvPr>
          <p:cNvSpPr/>
          <p:nvPr/>
        </p:nvSpPr>
        <p:spPr>
          <a:xfrm>
            <a:off x="907226" y="3763157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Photodétecteur</a:t>
            </a:r>
          </a:p>
        </p:txBody>
      </p:sp>
      <p:sp>
        <p:nvSpPr>
          <p:cNvPr id="10" name="Flèche : pentagone 9">
            <a:extLst>
              <a:ext uri="{FF2B5EF4-FFF2-40B4-BE49-F238E27FC236}">
                <a16:creationId xmlns="" xmlns:a16="http://schemas.microsoft.com/office/drawing/2014/main" id="{ACF27571-268A-478D-3B8F-50DB98195AE4}"/>
              </a:ext>
            </a:extLst>
          </p:cNvPr>
          <p:cNvSpPr/>
          <p:nvPr/>
        </p:nvSpPr>
        <p:spPr>
          <a:xfrm>
            <a:off x="907225" y="2911454"/>
            <a:ext cx="1956121" cy="694481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Source / LED</a:t>
            </a:r>
          </a:p>
        </p:txBody>
      </p:sp>
      <p:sp>
        <p:nvSpPr>
          <p:cNvPr id="11" name="Flèche : chevron 10">
            <a:extLst>
              <a:ext uri="{FF2B5EF4-FFF2-40B4-BE49-F238E27FC236}">
                <a16:creationId xmlns="" xmlns:a16="http://schemas.microsoft.com/office/drawing/2014/main" id="{AA4B21F1-4161-655B-5767-E5C2B69D21BD}"/>
              </a:ext>
            </a:extLst>
          </p:cNvPr>
          <p:cNvSpPr/>
          <p:nvPr/>
        </p:nvSpPr>
        <p:spPr>
          <a:xfrm>
            <a:off x="2863346" y="2911453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Emetteur</a:t>
            </a:r>
          </a:p>
        </p:txBody>
      </p:sp>
      <p:sp>
        <p:nvSpPr>
          <p:cNvPr id="12" name="Flèche : chevron 11">
            <a:extLst>
              <a:ext uri="{FF2B5EF4-FFF2-40B4-BE49-F238E27FC236}">
                <a16:creationId xmlns="" xmlns:a16="http://schemas.microsoft.com/office/drawing/2014/main" id="{2B851135-06CF-594A-7450-17DA7231C110}"/>
              </a:ext>
            </a:extLst>
          </p:cNvPr>
          <p:cNvSpPr/>
          <p:nvPr/>
        </p:nvSpPr>
        <p:spPr>
          <a:xfrm>
            <a:off x="2863346" y="3763157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Récepteur</a:t>
            </a:r>
          </a:p>
        </p:txBody>
      </p:sp>
      <p:sp>
        <p:nvSpPr>
          <p:cNvPr id="13" name="Flèche : chevron 12">
            <a:extLst>
              <a:ext uri="{FF2B5EF4-FFF2-40B4-BE49-F238E27FC236}">
                <a16:creationId xmlns="" xmlns:a16="http://schemas.microsoft.com/office/drawing/2014/main" id="{DC1BC409-5367-BFD5-A3BF-E35BF1856B9D}"/>
              </a:ext>
            </a:extLst>
          </p:cNvPr>
          <p:cNvSpPr/>
          <p:nvPr/>
        </p:nvSpPr>
        <p:spPr>
          <a:xfrm>
            <a:off x="4877341" y="3763156"/>
            <a:ext cx="2013995" cy="694481"/>
          </a:xfrm>
          <a:prstGeom prst="chevron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Optimisation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="" xmlns:a16="http://schemas.microsoft.com/office/drawing/2014/main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 séances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="" xmlns:a16="http://schemas.microsoft.com/office/drawing/2014/main" id="{BCFB3284-2C30-3921-B88B-1AF38A707C71}"/>
              </a:ext>
            </a:extLst>
          </p:cNvPr>
          <p:cNvSpPr txBox="1"/>
          <p:nvPr/>
        </p:nvSpPr>
        <p:spPr>
          <a:xfrm>
            <a:off x="1105420" y="3343753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="" xmlns:a16="http://schemas.microsoft.com/office/drawing/2014/main" id="{37368C82-75E3-A542-2D81-1A0BF6062A6C}"/>
              </a:ext>
            </a:extLst>
          </p:cNvPr>
          <p:cNvSpPr txBox="1"/>
          <p:nvPr/>
        </p:nvSpPr>
        <p:spPr>
          <a:xfrm>
            <a:off x="1105420" y="4163189"/>
            <a:ext cx="12019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Carac Statique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="" xmlns:a16="http://schemas.microsoft.com/office/drawing/2014/main" id="{49486859-C02B-5896-180E-13B456B499CB}"/>
              </a:ext>
            </a:extLst>
          </p:cNvPr>
          <p:cNvSpPr txBox="1"/>
          <p:nvPr/>
        </p:nvSpPr>
        <p:spPr>
          <a:xfrm>
            <a:off x="3234071" y="4178883"/>
            <a:ext cx="1165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Réponse freq.</a:t>
            </a:r>
          </a:p>
        </p:txBody>
      </p:sp>
      <p:sp>
        <p:nvSpPr>
          <p:cNvPr id="51" name="ZoneTexte 50">
            <a:extLst>
              <a:ext uri="{FF2B5EF4-FFF2-40B4-BE49-F238E27FC236}">
                <a16:creationId xmlns="" xmlns:a16="http://schemas.microsoft.com/office/drawing/2014/main" id="{D427008F-58E6-4057-4D4E-F9D3B8AE3B8A}"/>
              </a:ext>
            </a:extLst>
          </p:cNvPr>
          <p:cNvSpPr txBox="1"/>
          <p:nvPr/>
        </p:nvSpPr>
        <p:spPr>
          <a:xfrm>
            <a:off x="5239229" y="4194314"/>
            <a:ext cx="5105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bg1"/>
                </a:solidFill>
              </a:rPr>
              <a:t>AOP</a:t>
            </a:r>
          </a:p>
        </p:txBody>
      </p:sp>
      <p:cxnSp>
        <p:nvCxnSpPr>
          <p:cNvPr id="16" name="Connecteur : en arc 15">
            <a:extLst>
              <a:ext uri="{FF2B5EF4-FFF2-40B4-BE49-F238E27FC236}">
                <a16:creationId xmlns="" xmlns:a16="http://schemas.microsoft.com/office/drawing/2014/main" id="{1B56CF65-8D49-354F-2607-F55BD67DA5DC}"/>
              </a:ext>
            </a:extLst>
          </p:cNvPr>
          <p:cNvCxnSpPr>
            <a:cxnSpLocks/>
          </p:cNvCxnSpPr>
          <p:nvPr/>
        </p:nvCxnSpPr>
        <p:spPr>
          <a:xfrm flipV="1">
            <a:off x="3480532" y="5222022"/>
            <a:ext cx="1349785" cy="320040"/>
          </a:xfrm>
          <a:prstGeom prst="curvedConnector3">
            <a:avLst>
              <a:gd name="adj1" fmla="val 50000"/>
            </a:avLst>
          </a:prstGeom>
          <a:ln w="762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="" xmlns:a16="http://schemas.microsoft.com/office/drawing/2014/main" id="{362C3312-9CD4-773B-546E-C01121CB6607}"/>
              </a:ext>
            </a:extLst>
          </p:cNvPr>
          <p:cNvSpPr txBox="1"/>
          <p:nvPr/>
        </p:nvSpPr>
        <p:spPr>
          <a:xfrm>
            <a:off x="375547" y="6550223"/>
            <a:ext cx="4649734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/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Images : </a:t>
            </a:r>
            <a:r>
              <a:rPr lang="fr-FR" sz="700" dirty="0" err="1">
                <a:solidFill>
                  <a:prstClr val="black"/>
                </a:solidFill>
                <a:latin typeface="Liberation Sans" panose="020B0604020202020204" pitchFamily="34" charset="0"/>
              </a:rPr>
              <a:t>Radiospares</a:t>
            </a:r>
            <a:r>
              <a:rPr lang="fr-FR" sz="700" dirty="0">
                <a:solidFill>
                  <a:prstClr val="black"/>
                </a:solidFill>
                <a:latin typeface="Liberation Sans" panose="020B0604020202020204" pitchFamily="34" charset="0"/>
              </a:rPr>
              <a:t> / rs-online.com</a:t>
            </a:r>
            <a:endParaRPr lang="fr-FR" sz="1000" b="0" i="0" u="none" strike="noStrike" dirty="0">
              <a:solidFill>
                <a:prstClr val="black"/>
              </a:solidFill>
              <a:latin typeface="FreeSan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="" xmlns:a16="http://schemas.microsoft.com/office/drawing/2014/main" id="{DB8C80BD-BCA5-0BB5-3E7A-9F146103F612}"/>
              </a:ext>
            </a:extLst>
          </p:cNvPr>
          <p:cNvSpPr txBox="1"/>
          <p:nvPr/>
        </p:nvSpPr>
        <p:spPr>
          <a:xfrm>
            <a:off x="10416516" y="160858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séances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=""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8054542" y="1977914"/>
            <a:ext cx="3646462" cy="1953464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Comment </a:t>
            </a:r>
            <a:r>
              <a:rPr lang="fr-FR" b="1" dirty="0"/>
              <a:t>acquérir une image </a:t>
            </a:r>
            <a:r>
              <a:rPr lang="fr-FR" dirty="0"/>
              <a:t>numérique exploitable ?</a:t>
            </a:r>
          </a:p>
          <a:p>
            <a:pPr algn="ctr"/>
            <a:endParaRPr lang="fr-FR" dirty="0"/>
          </a:p>
          <a:p>
            <a:pPr algn="ctr"/>
            <a:r>
              <a:rPr lang="fr-FR" dirty="0"/>
              <a:t>Comment </a:t>
            </a:r>
            <a:r>
              <a:rPr lang="fr-FR" b="1" dirty="0"/>
              <a:t>préparer une image </a:t>
            </a:r>
            <a:r>
              <a:rPr lang="fr-FR" dirty="0"/>
              <a:t>numérique pour un traitement ?</a:t>
            </a:r>
            <a:endParaRPr lang="fr-FR" sz="2400" dirty="0"/>
          </a:p>
        </p:txBody>
      </p:sp>
      <p:pic>
        <p:nvPicPr>
          <p:cNvPr id="15" name="Image 14">
            <a:extLst>
              <a:ext uri="{FF2B5EF4-FFF2-40B4-BE49-F238E27FC236}">
                <a16:creationId xmlns="" xmlns:a16="http://schemas.microsoft.com/office/drawing/2014/main" id="{BB3DD7E3-4EDD-3CF2-2FA3-5F9C5F738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8402" y="4075327"/>
            <a:ext cx="1130633" cy="1130633"/>
          </a:xfrm>
          <a:prstGeom prst="rect">
            <a:avLst/>
          </a:prstGeom>
        </p:spPr>
      </p:pic>
      <p:pic>
        <p:nvPicPr>
          <p:cNvPr id="17" name="Image 16" descr="Une image contenant texte, capture d’écran, Post-it, Rectangle&#10;&#10;Le contenu généré par l’IA peut être incorrect.">
            <a:extLst>
              <a:ext uri="{FF2B5EF4-FFF2-40B4-BE49-F238E27FC236}">
                <a16:creationId xmlns="" xmlns:a16="http://schemas.microsoft.com/office/drawing/2014/main" id="{9CD72F96-59F2-CA27-62E3-8974ACEBBB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6510" y="5205960"/>
            <a:ext cx="3322525" cy="1458510"/>
          </a:xfrm>
          <a:prstGeom prst="rect">
            <a:avLst/>
          </a:prstGeom>
        </p:spPr>
      </p:pic>
      <p:sp>
        <p:nvSpPr>
          <p:cNvPr id="25" name="Rectangle : coins arrondis 13">
            <a:extLst>
              <a:ext uri="{FF2B5EF4-FFF2-40B4-BE49-F238E27FC236}">
                <a16:creationId xmlns=""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743266" y="1977914"/>
            <a:ext cx="6680760" cy="598770"/>
          </a:xfrm>
          <a:prstGeom prst="roundRect">
            <a:avLst>
              <a:gd name="adj" fmla="val 46546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Comment acquérir un signal lumineux ?</a:t>
            </a:r>
            <a:endParaRPr lang="fr-FR" sz="2400" dirty="0"/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95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Flèche : pentagone 11">
            <a:extLst>
              <a:ext uri="{FF2B5EF4-FFF2-40B4-BE49-F238E27FC236}">
                <a16:creationId xmlns="" xmlns:a16="http://schemas.microsoft.com/office/drawing/2014/main" id="{4BFD9744-0876-5047-18DF-17BB5AA72CFD}"/>
              </a:ext>
            </a:extLst>
          </p:cNvPr>
          <p:cNvSpPr/>
          <p:nvPr/>
        </p:nvSpPr>
        <p:spPr>
          <a:xfrm>
            <a:off x="9008724" y="2691044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6 séances de TD</a:t>
            </a:r>
          </a:p>
        </p:txBody>
      </p:sp>
      <p:sp>
        <p:nvSpPr>
          <p:cNvPr id="13" name="Flèche : pentagone 12">
            <a:extLst>
              <a:ext uri="{FF2B5EF4-FFF2-40B4-BE49-F238E27FC236}">
                <a16:creationId xmlns="" xmlns:a16="http://schemas.microsoft.com/office/drawing/2014/main" id="{2F01100B-DA0A-03DB-8881-9744D6158B2F}"/>
              </a:ext>
            </a:extLst>
          </p:cNvPr>
          <p:cNvSpPr/>
          <p:nvPr/>
        </p:nvSpPr>
        <p:spPr>
          <a:xfrm>
            <a:off x="9008724" y="3941959"/>
            <a:ext cx="2561364" cy="369332"/>
          </a:xfrm>
          <a:prstGeom prst="homePlat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2 séances de TD Machine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="" xmlns:a16="http://schemas.microsoft.com/office/drawing/2014/main" id="{BE614CFB-345A-A05F-31A8-899F09B08114}"/>
              </a:ext>
            </a:extLst>
          </p:cNvPr>
          <p:cNvSpPr txBox="1"/>
          <p:nvPr/>
        </p:nvSpPr>
        <p:spPr>
          <a:xfrm>
            <a:off x="9458592" y="4552607"/>
            <a:ext cx="193819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/>
              <a:t>Découverte du langage C++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8D4A82AA-5EA4-6EB3-63EC-257B2C083A72}"/>
              </a:ext>
            </a:extLst>
          </p:cNvPr>
          <p:cNvSpPr/>
          <p:nvPr/>
        </p:nvSpPr>
        <p:spPr>
          <a:xfrm>
            <a:off x="9280277" y="4552607"/>
            <a:ext cx="149912" cy="253916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4" name="Flèche : pentagone 13">
            <a:extLst>
              <a:ext uri="{FF2B5EF4-FFF2-40B4-BE49-F238E27FC236}">
                <a16:creationId xmlns="" xmlns:a16="http://schemas.microsoft.com/office/drawing/2014/main" id="{862561DF-5E53-4B2F-2083-D2A26DEB7A9C}"/>
              </a:ext>
            </a:extLst>
          </p:cNvPr>
          <p:cNvSpPr/>
          <p:nvPr/>
        </p:nvSpPr>
        <p:spPr>
          <a:xfrm>
            <a:off x="9008724" y="1940503"/>
            <a:ext cx="2561364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6 séances de TP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="" xmlns:a16="http://schemas.microsoft.com/office/drawing/2014/main" id="{3C9D3F52-E1BA-B42F-CF7D-2C54A262BFB9}"/>
              </a:ext>
            </a:extLst>
          </p:cNvPr>
          <p:cNvSpPr txBox="1"/>
          <p:nvPr/>
        </p:nvSpPr>
        <p:spPr>
          <a:xfrm>
            <a:off x="9320309" y="2316780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4h30 / en binôme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="" xmlns:a16="http://schemas.microsoft.com/office/drawing/2014/main" id="{7BDFE3A8-516A-719B-9836-7966508F83B9}"/>
              </a:ext>
            </a:extLst>
          </p:cNvPr>
          <p:cNvSpPr txBox="1"/>
          <p:nvPr/>
        </p:nvSpPr>
        <p:spPr>
          <a:xfrm>
            <a:off x="9320308" y="3103256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="" xmlns:a16="http://schemas.microsoft.com/office/drawing/2014/main" id="{83913704-F055-41D9-4440-C55B75D5144C}"/>
              </a:ext>
            </a:extLst>
          </p:cNvPr>
          <p:cNvSpPr txBox="1"/>
          <p:nvPr/>
        </p:nvSpPr>
        <p:spPr>
          <a:xfrm>
            <a:off x="9320308" y="4311291"/>
            <a:ext cx="1938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/>
              <a:t>1h30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="" xmlns:a16="http://schemas.microsoft.com/office/drawing/2014/main" id="{6F4D2A82-CA7C-D137-200C-91B9E50DB9C5}"/>
              </a:ext>
            </a:extLst>
          </p:cNvPr>
          <p:cNvSpPr txBox="1"/>
          <p:nvPr/>
        </p:nvSpPr>
        <p:spPr>
          <a:xfrm>
            <a:off x="9132923" y="1354539"/>
            <a:ext cx="256136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</a:rPr>
              <a:t>UE = Unité d’Enseignement</a:t>
            </a:r>
            <a:endParaRPr lang="fr-FR" sz="1400" dirty="0"/>
          </a:p>
        </p:txBody>
      </p:sp>
      <p:sp>
        <p:nvSpPr>
          <p:cNvPr id="16" name="ZoneTexte 15">
            <a:extLst>
              <a:ext uri="{FF2B5EF4-FFF2-40B4-BE49-F238E27FC236}">
                <a16:creationId xmlns="" xmlns:a16="http://schemas.microsoft.com/office/drawing/2014/main" id="{2628BA60-A8EC-4AA1-00CA-85A39DAE9194}"/>
              </a:ext>
            </a:extLst>
          </p:cNvPr>
          <p:cNvSpPr txBox="1"/>
          <p:nvPr/>
        </p:nvSpPr>
        <p:spPr>
          <a:xfrm>
            <a:off x="907225" y="3132056"/>
            <a:ext cx="688346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Module d’enseignement s’inscrivant dans le </a:t>
            </a:r>
            <a:br>
              <a:rPr lang="fr-FR" dirty="0"/>
            </a:br>
            <a:r>
              <a:rPr lang="fr-FR" sz="2400" b="1" dirty="0">
                <a:solidFill>
                  <a:srgbClr val="002060"/>
                </a:solidFill>
              </a:rPr>
              <a:t>déploiement de l’approche par compétences </a:t>
            </a:r>
            <a:endParaRPr lang="fr-FR" dirty="0">
              <a:solidFill>
                <a:srgbClr val="002060"/>
              </a:solidFill>
            </a:endParaRP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1400" dirty="0"/>
              <a:t>Vous serez </a:t>
            </a:r>
            <a:r>
              <a:rPr lang="fr-FR" sz="1400" dirty="0" err="1"/>
              <a:t>encouragé·e</a:t>
            </a:r>
            <a:r>
              <a:rPr lang="fr-FR" sz="1400" dirty="0"/>
              <a:t> à </a:t>
            </a:r>
            <a:r>
              <a:rPr lang="fr-FR" sz="1600" dirty="0"/>
              <a:t/>
            </a:r>
            <a:br>
              <a:rPr lang="fr-FR" sz="1600" dirty="0"/>
            </a:br>
            <a:r>
              <a:rPr lang="fr-FR" b="1" dirty="0"/>
              <a:t>analyser votre progression personnelle</a:t>
            </a:r>
            <a:r>
              <a:rPr lang="fr-FR" dirty="0"/>
              <a:t> </a:t>
            </a:r>
            <a:r>
              <a:rPr lang="fr-FR" sz="1600" dirty="0"/>
              <a:t/>
            </a:r>
            <a:br>
              <a:rPr lang="fr-FR" sz="1600" dirty="0"/>
            </a:br>
            <a:r>
              <a:rPr lang="fr-FR" sz="1400" dirty="0"/>
              <a:t>dans l’acquisition de savoirs et savoir-faire</a:t>
            </a:r>
            <a:endParaRPr lang="fr-FR" sz="1600" dirty="0"/>
          </a:p>
          <a:p>
            <a:endParaRPr lang="fr-FR" sz="1600" dirty="0"/>
          </a:p>
          <a:p>
            <a:r>
              <a:rPr lang="fr-FR" sz="1400" dirty="0"/>
              <a:t>Vous serez </a:t>
            </a:r>
            <a:r>
              <a:rPr lang="fr-FR" sz="1400" dirty="0" err="1"/>
              <a:t>amené·e</a:t>
            </a:r>
            <a:r>
              <a:rPr lang="fr-FR" sz="1400" dirty="0"/>
              <a:t> en particulier à </a:t>
            </a:r>
            <a:br>
              <a:rPr lang="fr-FR" sz="1400" dirty="0"/>
            </a:br>
            <a:r>
              <a:rPr lang="fr-FR" b="1" dirty="0"/>
              <a:t>repérer de façon explicite les erreurs </a:t>
            </a:r>
            <a:r>
              <a:rPr lang="fr-FR" sz="1600" dirty="0"/>
              <a:t/>
            </a:r>
            <a:br>
              <a:rPr lang="fr-FR" sz="1600" dirty="0"/>
            </a:br>
            <a:r>
              <a:rPr lang="fr-FR" sz="1400" dirty="0"/>
              <a:t>et les maladresses commises</a:t>
            </a:r>
            <a:endParaRPr lang="fr-FR" sz="1600" dirty="0"/>
          </a:p>
        </p:txBody>
      </p:sp>
      <p:sp>
        <p:nvSpPr>
          <p:cNvPr id="27" name="ZoneTexte 26">
            <a:extLst>
              <a:ext uri="{FF2B5EF4-FFF2-40B4-BE49-F238E27FC236}">
                <a16:creationId xmlns="" xmlns:a16="http://schemas.microsoft.com/office/drawing/2014/main" id="{77201329-58DA-613B-87D6-838BFF5FC419}"/>
              </a:ext>
            </a:extLst>
          </p:cNvPr>
          <p:cNvSpPr txBox="1"/>
          <p:nvPr/>
        </p:nvSpPr>
        <p:spPr>
          <a:xfrm>
            <a:off x="933498" y="1765148"/>
            <a:ext cx="478150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1" dirty="0"/>
              <a:t>Volume horaire de 42h </a:t>
            </a:r>
            <a:r>
              <a:rPr lang="fr-FR" dirty="0"/>
              <a:t>pour </a:t>
            </a:r>
            <a:r>
              <a:rPr lang="fr-FR" b="1" dirty="0"/>
              <a:t>4 ECTS</a:t>
            </a:r>
            <a:r>
              <a:rPr lang="fr-FR" dirty="0"/>
              <a:t> </a:t>
            </a:r>
            <a:br>
              <a:rPr lang="fr-FR" dirty="0"/>
            </a:br>
            <a:r>
              <a:rPr lang="fr-FR" sz="1400" dirty="0"/>
              <a:t>(</a:t>
            </a:r>
            <a:r>
              <a:rPr lang="fr-FR" sz="1400" i="1" dirty="0" err="1"/>
              <a:t>European</a:t>
            </a:r>
            <a:r>
              <a:rPr lang="fr-FR" sz="1400" i="1" dirty="0"/>
              <a:t> </a:t>
            </a:r>
            <a:r>
              <a:rPr lang="fr-FR" sz="1400" i="1" dirty="0" err="1"/>
              <a:t>Credit</a:t>
            </a:r>
            <a:r>
              <a:rPr lang="fr-FR" sz="1400" i="1" dirty="0"/>
              <a:t> Transfer and Accumulation System</a:t>
            </a:r>
            <a:r>
              <a:rPr lang="fr-FR" sz="1400" dirty="0"/>
              <a:t>) </a:t>
            </a:r>
            <a:endParaRPr lang="fr-FR" dirty="0"/>
          </a:p>
        </p:txBody>
      </p:sp>
      <p:sp>
        <p:nvSpPr>
          <p:cNvPr id="29" name="Rectangle : coins arrondis 28">
            <a:extLst>
              <a:ext uri="{FF2B5EF4-FFF2-40B4-BE49-F238E27FC236}">
                <a16:creationId xmlns="" xmlns:a16="http://schemas.microsoft.com/office/drawing/2014/main" id="{86DAA1EA-4AC5-8DDB-3DF5-D340B4C083DA}"/>
              </a:ext>
            </a:extLst>
          </p:cNvPr>
          <p:cNvSpPr/>
          <p:nvPr/>
        </p:nvSpPr>
        <p:spPr>
          <a:xfrm>
            <a:off x="5715000" y="1832187"/>
            <a:ext cx="1481328" cy="369332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13 % du S5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="" xmlns:a16="http://schemas.microsoft.com/office/drawing/2014/main" id="{237980B8-414A-9B48-1996-2D348DCB3EDC}"/>
              </a:ext>
            </a:extLst>
          </p:cNvPr>
          <p:cNvSpPr/>
          <p:nvPr/>
        </p:nvSpPr>
        <p:spPr>
          <a:xfrm>
            <a:off x="9008722" y="5308661"/>
            <a:ext cx="2561364" cy="114422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/>
              <a:t>Responsables</a:t>
            </a:r>
          </a:p>
          <a:p>
            <a:pPr algn="ctr"/>
            <a:endParaRPr lang="fr-FR" sz="1200" b="1" dirty="0"/>
          </a:p>
          <a:p>
            <a:pPr algn="ctr"/>
            <a:r>
              <a:rPr lang="fr-FR" sz="1600" dirty="0"/>
              <a:t>Fabienne BERNARD</a:t>
            </a:r>
          </a:p>
          <a:p>
            <a:pPr algn="ctr"/>
            <a:r>
              <a:rPr lang="fr-FR" sz="1600" dirty="0"/>
              <a:t>Julien VILLEMEJANE</a:t>
            </a: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305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24">
            <a:extLst>
              <a:ext uri="{FF2B5EF4-FFF2-40B4-BE49-F238E27FC236}">
                <a16:creationId xmlns="" xmlns:a16="http://schemas.microsoft.com/office/drawing/2014/main" id="{70DEBF2F-962B-2118-00D0-C2E2D0D22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225" y="2905451"/>
            <a:ext cx="817592" cy="72674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69EEE2CD-304C-7206-E015-F52A5695E8DF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97F71108-8121-4CC2-3ED6-50ABC11E79C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TESTS DE TP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E97ACAFF-7D28-E79D-9EB4-4FEEF5BB961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="" xmlns:a16="http://schemas.microsoft.com/office/drawing/2014/main" id="{39864482-9753-290A-3835-55F6858709FA}"/>
              </a:ext>
            </a:extLst>
          </p:cNvPr>
          <p:cNvSpPr txBox="1"/>
          <p:nvPr/>
        </p:nvSpPr>
        <p:spPr>
          <a:xfrm>
            <a:off x="907225" y="1611430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4 séances</a:t>
            </a:r>
          </a:p>
        </p:txBody>
      </p:sp>
      <p:sp>
        <p:nvSpPr>
          <p:cNvPr id="20" name="Flèche : pentagone 19">
            <a:extLst>
              <a:ext uri="{FF2B5EF4-FFF2-40B4-BE49-F238E27FC236}">
                <a16:creationId xmlns="" xmlns:a16="http://schemas.microsoft.com/office/drawing/2014/main" id="{2B48A41D-8BAF-BE4F-4E2F-096FB1C909EE}"/>
              </a:ext>
            </a:extLst>
          </p:cNvPr>
          <p:cNvSpPr/>
          <p:nvPr/>
        </p:nvSpPr>
        <p:spPr>
          <a:xfrm>
            <a:off x="540846" y="4121589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séances en individuel</a:t>
            </a:r>
          </a:p>
        </p:txBody>
      </p:sp>
      <p:sp>
        <p:nvSpPr>
          <p:cNvPr id="21" name="Flèche : pentagone 20">
            <a:extLst>
              <a:ext uri="{FF2B5EF4-FFF2-40B4-BE49-F238E27FC236}">
                <a16:creationId xmlns="" xmlns:a16="http://schemas.microsoft.com/office/drawing/2014/main" id="{A0ABED0A-FA80-4E0A-C1FA-C49F0624BC34}"/>
              </a:ext>
            </a:extLst>
          </p:cNvPr>
          <p:cNvSpPr/>
          <p:nvPr/>
        </p:nvSpPr>
        <p:spPr>
          <a:xfrm>
            <a:off x="540846" y="5349496"/>
            <a:ext cx="2893250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2 séances en binôme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="" xmlns:a16="http://schemas.microsoft.com/office/drawing/2014/main" id="{70B66A6B-EF1E-45FB-249E-1355DF2BAEAF}"/>
              </a:ext>
            </a:extLst>
          </p:cNvPr>
          <p:cNvSpPr/>
          <p:nvPr/>
        </p:nvSpPr>
        <p:spPr>
          <a:xfrm>
            <a:off x="4358026" y="4102302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="" xmlns:a16="http://schemas.microsoft.com/office/drawing/2014/main" id="{C76FC09C-6EF4-6C72-E95C-6B01C9C7E30F}"/>
              </a:ext>
            </a:extLst>
          </p:cNvPr>
          <p:cNvSpPr/>
          <p:nvPr/>
        </p:nvSpPr>
        <p:spPr>
          <a:xfrm>
            <a:off x="5819775" y="5251811"/>
            <a:ext cx="1356298" cy="1010255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Feuille de résultats</a:t>
            </a:r>
            <a:br>
              <a:rPr lang="fr-FR" sz="1050" dirty="0">
                <a:solidFill>
                  <a:schemeClr val="bg1"/>
                </a:solidFill>
              </a:rPr>
            </a:br>
            <a:r>
              <a:rPr lang="fr-FR" sz="1050" dirty="0">
                <a:solidFill>
                  <a:schemeClr val="bg1"/>
                </a:solidFill>
              </a:rPr>
              <a:t/>
            </a:r>
            <a:br>
              <a:rPr lang="fr-FR" sz="1050" dirty="0">
                <a:solidFill>
                  <a:schemeClr val="bg1"/>
                </a:solidFill>
              </a:rPr>
            </a:br>
            <a:r>
              <a:rPr lang="fr-FR" sz="1050" dirty="0">
                <a:solidFill>
                  <a:schemeClr val="bg1"/>
                </a:solidFill>
              </a:rPr>
              <a:t>Rédaction protocole </a:t>
            </a:r>
          </a:p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8CAD7EEC-F41E-8C48-A14A-851D9C53CA3E}"/>
              </a:ext>
            </a:extLst>
          </p:cNvPr>
          <p:cNvSpPr/>
          <p:nvPr/>
        </p:nvSpPr>
        <p:spPr>
          <a:xfrm>
            <a:off x="4358027" y="5251812"/>
            <a:ext cx="1356298" cy="101025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38" name="Rectangle : coins arrondis 37">
            <a:extLst>
              <a:ext uri="{FF2B5EF4-FFF2-40B4-BE49-F238E27FC236}">
                <a16:creationId xmlns="" xmlns:a16="http://schemas.microsoft.com/office/drawing/2014/main" id="{40810789-B56D-7665-0F6C-E310414DAB4F}"/>
              </a:ext>
            </a:extLst>
          </p:cNvPr>
          <p:cNvSpPr/>
          <p:nvPr/>
        </p:nvSpPr>
        <p:spPr>
          <a:xfrm>
            <a:off x="8054542" y="1977914"/>
            <a:ext cx="3646462" cy="1451086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Vision industrielle</a:t>
            </a:r>
            <a:br>
              <a:rPr lang="fr-FR" dirty="0"/>
            </a:br>
            <a:r>
              <a:rPr lang="fr-FR" dirty="0"/>
              <a:t>Traitement d’image</a:t>
            </a:r>
            <a:endParaRPr lang="fr-FR" sz="2400" dirty="0"/>
          </a:p>
        </p:txBody>
      </p:sp>
      <p:pic>
        <p:nvPicPr>
          <p:cNvPr id="39" name="Image 38">
            <a:extLst>
              <a:ext uri="{FF2B5EF4-FFF2-40B4-BE49-F238E27FC236}">
                <a16:creationId xmlns="" xmlns:a16="http://schemas.microsoft.com/office/drawing/2014/main" id="{80BCB17D-4C08-1457-200D-745BB5C86B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8786" y="3520600"/>
            <a:ext cx="733784" cy="733784"/>
          </a:xfrm>
          <a:prstGeom prst="rect">
            <a:avLst/>
          </a:prstGeom>
        </p:spPr>
      </p:pic>
      <p:sp>
        <p:nvSpPr>
          <p:cNvPr id="40" name="Organigramme : Connecteur page suivante 39">
            <a:extLst>
              <a:ext uri="{FF2B5EF4-FFF2-40B4-BE49-F238E27FC236}">
                <a16:creationId xmlns="" xmlns:a16="http://schemas.microsoft.com/office/drawing/2014/main" id="{30AE272D-DE58-2557-D637-82A8E7EEFD33}"/>
              </a:ext>
            </a:extLst>
          </p:cNvPr>
          <p:cNvSpPr/>
          <p:nvPr/>
        </p:nvSpPr>
        <p:spPr>
          <a:xfrm>
            <a:off x="9682489" y="3304245"/>
            <a:ext cx="1356297" cy="950140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sp>
        <p:nvSpPr>
          <p:cNvPr id="41" name="Organigramme : Connecteur page suivante 40">
            <a:extLst>
              <a:ext uri="{FF2B5EF4-FFF2-40B4-BE49-F238E27FC236}">
                <a16:creationId xmlns="" xmlns:a16="http://schemas.microsoft.com/office/drawing/2014/main" id="{E61CDC6D-D588-2909-210E-06EF8222EADB}"/>
              </a:ext>
            </a:extLst>
          </p:cNvPr>
          <p:cNvSpPr/>
          <p:nvPr/>
        </p:nvSpPr>
        <p:spPr>
          <a:xfrm>
            <a:off x="8198990" y="3310597"/>
            <a:ext cx="1356297" cy="931083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r>
              <a:rPr lang="fr-FR" sz="1200" dirty="0">
                <a:solidFill>
                  <a:schemeClr val="bg1"/>
                </a:solidFill>
              </a:rPr>
              <a:t/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="" xmlns:a16="http://schemas.microsoft.com/office/drawing/2014/main" id="{CFAE7004-78F0-2949-7707-0414FEDBC65C}"/>
              </a:ext>
            </a:extLst>
          </p:cNvPr>
          <p:cNvSpPr/>
          <p:nvPr/>
        </p:nvSpPr>
        <p:spPr>
          <a:xfrm>
            <a:off x="8198988" y="4460110"/>
            <a:ext cx="1356298" cy="64528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Prise en main caméra industrielle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="" xmlns:a16="http://schemas.microsoft.com/office/drawing/2014/main" id="{529F8C9F-B255-DCE9-D2AC-4AFDF1E64CBA}"/>
              </a:ext>
            </a:extLst>
          </p:cNvPr>
          <p:cNvSpPr txBox="1"/>
          <p:nvPr/>
        </p:nvSpPr>
        <p:spPr>
          <a:xfrm>
            <a:off x="9044918" y="1608582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 </a:t>
            </a:r>
            <a:r>
              <a:rPr lang="fr-FR" dirty="0" smtClean="0"/>
              <a:t>séances (en binôme)</a:t>
            </a:r>
            <a:endParaRPr lang="fr-FR" dirty="0"/>
          </a:p>
        </p:txBody>
      </p:sp>
      <p:sp>
        <p:nvSpPr>
          <p:cNvPr id="48" name="Rectangle 47">
            <a:extLst>
              <a:ext uri="{FF2B5EF4-FFF2-40B4-BE49-F238E27FC236}">
                <a16:creationId xmlns="" xmlns:a16="http://schemas.microsoft.com/office/drawing/2014/main" id="{2990232F-199F-F3D2-52F8-D218DA81F29D}"/>
              </a:ext>
            </a:extLst>
          </p:cNvPr>
          <p:cNvSpPr/>
          <p:nvPr/>
        </p:nvSpPr>
        <p:spPr>
          <a:xfrm>
            <a:off x="5819775" y="4102302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="" xmlns:a16="http://schemas.microsoft.com/office/drawing/2014/main" id="{685121DB-E620-A657-FAEC-C010A901015E}"/>
              </a:ext>
            </a:extLst>
          </p:cNvPr>
          <p:cNvSpPr/>
          <p:nvPr/>
        </p:nvSpPr>
        <p:spPr>
          <a:xfrm>
            <a:off x="5819775" y="4669541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Auto-évaluation compétences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="" xmlns:a16="http://schemas.microsoft.com/office/drawing/2014/main" id="{8DB142BE-B09A-F1F5-44BC-E9EFA5D1D863}"/>
              </a:ext>
            </a:extLst>
          </p:cNvPr>
          <p:cNvSpPr/>
          <p:nvPr/>
        </p:nvSpPr>
        <p:spPr>
          <a:xfrm>
            <a:off x="4358026" y="4674934"/>
            <a:ext cx="1356298" cy="462751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="" xmlns:a16="http://schemas.microsoft.com/office/drawing/2014/main" id="{2D63247D-B4AD-B18D-8F20-57C812B8B6AC}"/>
              </a:ext>
            </a:extLst>
          </p:cNvPr>
          <p:cNvSpPr txBox="1"/>
          <p:nvPr/>
        </p:nvSpPr>
        <p:spPr>
          <a:xfrm>
            <a:off x="540846" y="4510440"/>
            <a:ext cx="36899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>
                <a:solidFill>
                  <a:schemeClr val="tx1"/>
                </a:solidFill>
              </a:rPr>
              <a:t>Caractérisation statique d’un dipôle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Caractérisation fréquentielle d’un système linéaire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="" xmlns:a16="http://schemas.microsoft.com/office/drawing/2014/main" id="{F71C34D5-FC0E-E7E9-ABC4-17ADECBE5A2D}"/>
              </a:ext>
            </a:extLst>
          </p:cNvPr>
          <p:cNvSpPr txBox="1"/>
          <p:nvPr/>
        </p:nvSpPr>
        <p:spPr>
          <a:xfrm>
            <a:off x="540846" y="5726985"/>
            <a:ext cx="368997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400" dirty="0"/>
              <a:t>Comparaison de circuits de photodétection (étude dynamique)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="" xmlns:a16="http://schemas.microsoft.com/office/drawing/2014/main" id="{DF52A36B-B31F-53E2-9113-F63348C11A11}"/>
              </a:ext>
            </a:extLst>
          </p:cNvPr>
          <p:cNvSpPr/>
          <p:nvPr/>
        </p:nvSpPr>
        <p:spPr>
          <a:xfrm>
            <a:off x="8198988" y="5214617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d’objets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="" xmlns:a16="http://schemas.microsoft.com/office/drawing/2014/main" id="{B71D99C7-1D25-1E99-315C-2F04A7D8DF8D}"/>
              </a:ext>
            </a:extLst>
          </p:cNvPr>
          <p:cNvSpPr/>
          <p:nvPr/>
        </p:nvSpPr>
        <p:spPr>
          <a:xfrm>
            <a:off x="8198988" y="5791979"/>
            <a:ext cx="1356298" cy="46814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="" xmlns:a16="http://schemas.microsoft.com/office/drawing/2014/main" id="{2EC2F9DF-A3AE-36AB-D785-BEB02958A382}"/>
              </a:ext>
            </a:extLst>
          </p:cNvPr>
          <p:cNvSpPr/>
          <p:nvPr/>
        </p:nvSpPr>
        <p:spPr>
          <a:xfrm>
            <a:off x="9682488" y="4460110"/>
            <a:ext cx="1356298" cy="46814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Feuille de résultats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="" xmlns:a16="http://schemas.microsoft.com/office/drawing/2014/main" id="{31183452-3CB8-77E9-DC59-7EC3F8CB673E}"/>
              </a:ext>
            </a:extLst>
          </p:cNvPr>
          <p:cNvSpPr/>
          <p:nvPr/>
        </p:nvSpPr>
        <p:spPr>
          <a:xfrm>
            <a:off x="9682488" y="5214617"/>
            <a:ext cx="1356298" cy="1045506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37" name="Rectangle : coins arrondis 13">
            <a:extLst>
              <a:ext uri="{FF2B5EF4-FFF2-40B4-BE49-F238E27FC236}">
                <a16:creationId xmlns="" xmlns:a16="http://schemas.microsoft.com/office/drawing/2014/main" id="{81E8FF1F-0D52-122D-E5E6-DAD7AD83E1F7}"/>
              </a:ext>
            </a:extLst>
          </p:cNvPr>
          <p:cNvSpPr/>
          <p:nvPr/>
        </p:nvSpPr>
        <p:spPr>
          <a:xfrm>
            <a:off x="743266" y="1977914"/>
            <a:ext cx="6680760" cy="938694"/>
          </a:xfrm>
          <a:prstGeom prst="roundRect">
            <a:avLst>
              <a:gd name="adj" fmla="val 26428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Photodétection</a:t>
            </a:r>
            <a:endParaRPr lang="fr-FR" sz="2400" dirty="0"/>
          </a:p>
        </p:txBody>
      </p:sp>
      <p:sp>
        <p:nvSpPr>
          <p:cNvPr id="16" name="Organigramme : Connecteur page suivante 15">
            <a:extLst>
              <a:ext uri="{FF2B5EF4-FFF2-40B4-BE49-F238E27FC236}">
                <a16:creationId xmlns="" xmlns:a16="http://schemas.microsoft.com/office/drawing/2014/main" id="{C325DA8E-D07A-6124-5C61-F5BE79E1EB47}"/>
              </a:ext>
            </a:extLst>
          </p:cNvPr>
          <p:cNvSpPr/>
          <p:nvPr/>
        </p:nvSpPr>
        <p:spPr>
          <a:xfrm>
            <a:off x="4358027" y="2853401"/>
            <a:ext cx="1356297" cy="943786"/>
          </a:xfrm>
          <a:prstGeom prst="flowChartOffpageConnector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Mise en œuvre de </a:t>
            </a:r>
            <a:r>
              <a:rPr lang="fr-FR" sz="1200" b="1" dirty="0">
                <a:solidFill>
                  <a:schemeClr val="bg1"/>
                </a:solidFill>
              </a:rPr>
              <a:t>protocoles</a:t>
            </a:r>
            <a:r>
              <a:rPr lang="fr-FR" sz="1200" dirty="0">
                <a:solidFill>
                  <a:schemeClr val="bg1"/>
                </a:solidFill>
              </a:rPr>
              <a:t/>
            </a:r>
            <a:br>
              <a:rPr lang="fr-FR" sz="1200" dirty="0">
                <a:solidFill>
                  <a:schemeClr val="bg1"/>
                </a:solidFill>
              </a:rPr>
            </a:br>
            <a:r>
              <a:rPr lang="fr-FR" sz="1200" dirty="0">
                <a:solidFill>
                  <a:schemeClr val="bg1"/>
                </a:solidFill>
              </a:rPr>
              <a:t>Réalisation de </a:t>
            </a:r>
            <a:r>
              <a:rPr lang="fr-FR" sz="1200" b="1" dirty="0">
                <a:solidFill>
                  <a:schemeClr val="bg1"/>
                </a:solidFill>
              </a:rPr>
              <a:t>mesures</a:t>
            </a:r>
          </a:p>
        </p:txBody>
      </p:sp>
      <p:sp>
        <p:nvSpPr>
          <p:cNvPr id="19" name="Organigramme : Connecteur page suivante 18">
            <a:extLst>
              <a:ext uri="{FF2B5EF4-FFF2-40B4-BE49-F238E27FC236}">
                <a16:creationId xmlns="" xmlns:a16="http://schemas.microsoft.com/office/drawing/2014/main" id="{9F505F6D-F56E-43BC-3BED-F00C3D880133}"/>
              </a:ext>
            </a:extLst>
          </p:cNvPr>
          <p:cNvSpPr/>
          <p:nvPr/>
        </p:nvSpPr>
        <p:spPr>
          <a:xfrm>
            <a:off x="5819775" y="2840696"/>
            <a:ext cx="1356297" cy="943786"/>
          </a:xfrm>
          <a:prstGeom prst="flowChartOffpageConnector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</a:rPr>
              <a:t>Production de </a:t>
            </a:r>
            <a:r>
              <a:rPr lang="fr-FR" sz="1200" b="1" dirty="0">
                <a:solidFill>
                  <a:schemeClr val="bg1"/>
                </a:solidFill>
              </a:rPr>
              <a:t>livrables</a:t>
            </a:r>
          </a:p>
        </p:txBody>
      </p:sp>
      <p:pic>
        <p:nvPicPr>
          <p:cNvPr id="31" name="Image 3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8225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8EB8D6B-6930-21E0-9885-A410A0711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18E1835D-1337-EE65-DC44-6DB174786ED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48F2F49C-86DC-A66F-4B98-9EB7E87DDD85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466F5CC5-8CBC-8E4D-84BD-CFD88C3FD729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AD53F98B-D52E-912B-27F5-B0115A0D071C}"/>
              </a:ext>
            </a:extLst>
          </p:cNvPr>
          <p:cNvSpPr/>
          <p:nvPr/>
        </p:nvSpPr>
        <p:spPr>
          <a:xfrm>
            <a:off x="9393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89B4F5F2-68DB-624E-B0CD-2F1103DE4893}"/>
              </a:ext>
            </a:extLst>
          </p:cNvPr>
          <p:cNvSpPr/>
          <p:nvPr/>
        </p:nvSpPr>
        <p:spPr>
          <a:xfrm>
            <a:off x="193505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ACDADEFD-5010-AA0F-D0C3-272D06D03465}"/>
              </a:ext>
            </a:extLst>
          </p:cNvPr>
          <p:cNvSpPr/>
          <p:nvPr/>
        </p:nvSpPr>
        <p:spPr>
          <a:xfrm>
            <a:off x="293073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="" xmlns:a16="http://schemas.microsoft.com/office/drawing/2014/main" id="{B003555E-E2C0-4FF4-C086-24748FBD662C}"/>
              </a:ext>
            </a:extLst>
          </p:cNvPr>
          <p:cNvSpPr/>
          <p:nvPr/>
        </p:nvSpPr>
        <p:spPr>
          <a:xfrm>
            <a:off x="392641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="" xmlns:a16="http://schemas.microsoft.com/office/drawing/2014/main" id="{A7B6AE3E-0ED9-2EDC-2FBF-D9B67B9DBD8F}"/>
              </a:ext>
            </a:extLst>
          </p:cNvPr>
          <p:cNvSpPr/>
          <p:nvPr/>
        </p:nvSpPr>
        <p:spPr>
          <a:xfrm>
            <a:off x="492209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="" xmlns:a16="http://schemas.microsoft.com/office/drawing/2014/main" id="{A8D73805-79EC-BF93-2F01-8C4C0906F729}"/>
              </a:ext>
            </a:extLst>
          </p:cNvPr>
          <p:cNvSpPr/>
          <p:nvPr/>
        </p:nvSpPr>
        <p:spPr>
          <a:xfrm>
            <a:off x="5917773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TD6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="" xmlns:a16="http://schemas.microsoft.com/office/drawing/2014/main" id="{1C8076F3-F71D-B410-56E5-E7B38AAE3F7A}"/>
              </a:ext>
            </a:extLst>
          </p:cNvPr>
          <p:cNvSpPr/>
          <p:nvPr/>
        </p:nvSpPr>
        <p:spPr>
          <a:xfrm>
            <a:off x="825500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60DA3FE9-CFF4-F0C8-6B73-5D0D66AE4FE1}"/>
              </a:ext>
            </a:extLst>
          </p:cNvPr>
          <p:cNvSpPr/>
          <p:nvPr/>
        </p:nvSpPr>
        <p:spPr>
          <a:xfrm>
            <a:off x="9250684" y="1589115"/>
            <a:ext cx="882333" cy="2469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TDC2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="" xmlns:a16="http://schemas.microsoft.com/office/drawing/2014/main" id="{C431EABB-1494-D6D2-AB7F-8E444A53262D}"/>
              </a:ext>
            </a:extLst>
          </p:cNvPr>
          <p:cNvSpPr/>
          <p:nvPr/>
        </p:nvSpPr>
        <p:spPr>
          <a:xfrm>
            <a:off x="130032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="" xmlns:a16="http://schemas.microsoft.com/office/drawing/2014/main" id="{45212508-71D6-4543-1D50-EE9F266F5A80}"/>
              </a:ext>
            </a:extLst>
          </p:cNvPr>
          <p:cNvSpPr/>
          <p:nvPr/>
        </p:nvSpPr>
        <p:spPr>
          <a:xfrm>
            <a:off x="307054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BDC46B34-5724-0879-5F85-F8617C05FED2}"/>
              </a:ext>
            </a:extLst>
          </p:cNvPr>
          <p:cNvSpPr/>
          <p:nvPr/>
        </p:nvSpPr>
        <p:spPr>
          <a:xfrm>
            <a:off x="4840763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="" xmlns:a16="http://schemas.microsoft.com/office/drawing/2014/main" id="{498E6636-BC5E-818C-DED6-58F3724295AC}"/>
              </a:ext>
            </a:extLst>
          </p:cNvPr>
          <p:cNvSpPr/>
          <p:nvPr/>
        </p:nvSpPr>
        <p:spPr>
          <a:xfrm>
            <a:off x="838120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="" xmlns:a16="http://schemas.microsoft.com/office/drawing/2014/main" id="{61A4BCA8-B066-1A7F-8D19-7E93EEE5A495}"/>
              </a:ext>
            </a:extLst>
          </p:cNvPr>
          <p:cNvSpPr/>
          <p:nvPr/>
        </p:nvSpPr>
        <p:spPr>
          <a:xfrm>
            <a:off x="10151423" y="2428875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="" xmlns:a16="http://schemas.microsoft.com/office/drawing/2014/main" id="{762EC8C5-92A5-3996-D9AB-BB0751283CD7}"/>
              </a:ext>
            </a:extLst>
          </p:cNvPr>
          <p:cNvSpPr/>
          <p:nvPr/>
        </p:nvSpPr>
        <p:spPr>
          <a:xfrm>
            <a:off x="6600852" y="2428875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TP4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="" xmlns:a16="http://schemas.microsoft.com/office/drawing/2014/main" id="{559A381F-C816-AAA9-FB91-3C84046017A9}"/>
              </a:ext>
            </a:extLst>
          </p:cNvPr>
          <p:cNvSpPr/>
          <p:nvPr/>
        </p:nvSpPr>
        <p:spPr>
          <a:xfrm>
            <a:off x="3134043" y="3897887"/>
            <a:ext cx="420846" cy="160590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" b="1" dirty="0"/>
              <a:t>LED</a:t>
            </a:r>
          </a:p>
        </p:txBody>
      </p:sp>
      <p:sp>
        <p:nvSpPr>
          <p:cNvPr id="82" name="Rectangle : coins arrondis 81">
            <a:extLst>
              <a:ext uri="{FF2B5EF4-FFF2-40B4-BE49-F238E27FC236}">
                <a16:creationId xmlns="" xmlns:a16="http://schemas.microsoft.com/office/drawing/2014/main" id="{3F1D77E0-18BD-BDB7-C643-EA41D03E2C8E}"/>
              </a:ext>
            </a:extLst>
          </p:cNvPr>
          <p:cNvSpPr/>
          <p:nvPr/>
        </p:nvSpPr>
        <p:spPr>
          <a:xfrm>
            <a:off x="1360836" y="389438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PhotoDiode</a:t>
            </a:r>
          </a:p>
        </p:txBody>
      </p:sp>
      <p:sp>
        <p:nvSpPr>
          <p:cNvPr id="84" name="Rectangle : coins arrondis 83">
            <a:extLst>
              <a:ext uri="{FF2B5EF4-FFF2-40B4-BE49-F238E27FC236}">
                <a16:creationId xmlns="" xmlns:a16="http://schemas.microsoft.com/office/drawing/2014/main" id="{7133B409-F495-B402-5FA1-10D56533770B}"/>
              </a:ext>
            </a:extLst>
          </p:cNvPr>
          <p:cNvSpPr/>
          <p:nvPr/>
        </p:nvSpPr>
        <p:spPr>
          <a:xfrm>
            <a:off x="1360837" y="5047481"/>
            <a:ext cx="460869" cy="177861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ALI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="" xmlns:a16="http://schemas.microsoft.com/office/drawing/2014/main" id="{278B2635-9C2B-8BB6-FABB-89BCD1E2BFA8}"/>
              </a:ext>
            </a:extLst>
          </p:cNvPr>
          <p:cNvSpPr/>
          <p:nvPr/>
        </p:nvSpPr>
        <p:spPr>
          <a:xfrm>
            <a:off x="1896027" y="5047481"/>
            <a:ext cx="117451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Ampli Inverseur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="" xmlns:a16="http://schemas.microsoft.com/office/drawing/2014/main" id="{F68E5376-3A4A-923F-568F-DD4C749A09B7}"/>
              </a:ext>
            </a:extLst>
          </p:cNvPr>
          <p:cNvSpPr/>
          <p:nvPr/>
        </p:nvSpPr>
        <p:spPr>
          <a:xfrm>
            <a:off x="1381158" y="4462422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FF950ADD-5E86-F50F-736B-9EDB70F02A29}"/>
              </a:ext>
            </a:extLst>
          </p:cNvPr>
          <p:cNvSpPr/>
          <p:nvPr/>
        </p:nvSpPr>
        <p:spPr>
          <a:xfrm>
            <a:off x="1303974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="" xmlns:a16="http://schemas.microsoft.com/office/drawing/2014/main" id="{39407C0D-735F-AD7C-F95B-EA1513C3BE97}"/>
              </a:ext>
            </a:extLst>
          </p:cNvPr>
          <p:cNvSpPr/>
          <p:nvPr/>
        </p:nvSpPr>
        <p:spPr>
          <a:xfrm>
            <a:off x="3134043" y="446242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Emetteur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="" xmlns:a16="http://schemas.microsoft.com/office/drawing/2014/main" id="{8CC2AC60-DDFB-8436-AB60-E07F3026105B}"/>
              </a:ext>
            </a:extLst>
          </p:cNvPr>
          <p:cNvSpPr/>
          <p:nvPr/>
        </p:nvSpPr>
        <p:spPr>
          <a:xfrm>
            <a:off x="4989554" y="4108551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Suiveur</a:t>
            </a:r>
          </a:p>
        </p:txBody>
      </p:sp>
      <p:sp>
        <p:nvSpPr>
          <p:cNvPr id="33" name="Rectangle : coins arrondis 32">
            <a:extLst>
              <a:ext uri="{FF2B5EF4-FFF2-40B4-BE49-F238E27FC236}">
                <a16:creationId xmlns="" xmlns:a16="http://schemas.microsoft.com/office/drawing/2014/main" id="{307CA6BC-ECDD-45AC-13F2-85ABD089F886}"/>
              </a:ext>
            </a:extLst>
          </p:cNvPr>
          <p:cNvSpPr/>
          <p:nvPr/>
        </p:nvSpPr>
        <p:spPr>
          <a:xfrm>
            <a:off x="6346149" y="3894277"/>
            <a:ext cx="1772598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Transimpédance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="" xmlns:a16="http://schemas.microsoft.com/office/drawing/2014/main" id="{7C1BA424-BB71-C3F2-84E5-FB2507D8BB47}"/>
              </a:ext>
            </a:extLst>
          </p:cNvPr>
          <p:cNvSpPr/>
          <p:nvPr/>
        </p:nvSpPr>
        <p:spPr>
          <a:xfrm>
            <a:off x="3072833" y="313288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Auto-Evaluation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="" xmlns:a16="http://schemas.microsoft.com/office/drawing/2014/main" id="{B8297583-4FA7-8B4A-DBFE-8B877EE65D73}"/>
              </a:ext>
            </a:extLst>
          </p:cNvPr>
          <p:cNvSpPr/>
          <p:nvPr/>
        </p:nvSpPr>
        <p:spPr>
          <a:xfrm>
            <a:off x="1303974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="" xmlns:a16="http://schemas.microsoft.com/office/drawing/2014/main" id="{7C000070-76D6-D30C-2828-0AB13300A086}"/>
              </a:ext>
            </a:extLst>
          </p:cNvPr>
          <p:cNvSpPr/>
          <p:nvPr/>
        </p:nvSpPr>
        <p:spPr>
          <a:xfrm>
            <a:off x="1303973" y="3638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Caractéristique statique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="" xmlns:a16="http://schemas.microsoft.com/office/drawing/2014/main" id="{AEB3594A-7FB0-A77B-3A3F-76675C96D274}"/>
              </a:ext>
            </a:extLst>
          </p:cNvPr>
          <p:cNvSpPr/>
          <p:nvPr/>
        </p:nvSpPr>
        <p:spPr>
          <a:xfrm>
            <a:off x="4841527" y="3638622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Comparaison des caractéristiques dynamiques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="" xmlns:a16="http://schemas.microsoft.com/office/drawing/2014/main" id="{B8EE4C37-6488-FA9B-D44E-585DFDF0A8BA}"/>
              </a:ext>
            </a:extLst>
          </p:cNvPr>
          <p:cNvSpPr/>
          <p:nvPr/>
        </p:nvSpPr>
        <p:spPr>
          <a:xfrm>
            <a:off x="1294557" y="4763622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Etude dynamique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="" xmlns:a16="http://schemas.microsoft.com/office/drawing/2014/main" id="{F144956F-9FDE-EACB-057B-86D382E41DDC}"/>
              </a:ext>
            </a:extLst>
          </p:cNvPr>
          <p:cNvSpPr/>
          <p:nvPr/>
        </p:nvSpPr>
        <p:spPr>
          <a:xfrm>
            <a:off x="1294557" y="4191597"/>
            <a:ext cx="336642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Montages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="" xmlns:a16="http://schemas.microsoft.com/office/drawing/2014/main" id="{95C0B9A7-734F-FBD4-2DF8-FEA83357F676}"/>
              </a:ext>
            </a:extLst>
          </p:cNvPr>
          <p:cNvSpPr/>
          <p:nvPr/>
        </p:nvSpPr>
        <p:spPr>
          <a:xfrm>
            <a:off x="1294557" y="5327397"/>
            <a:ext cx="3366423" cy="19861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Protocoles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="" xmlns:a16="http://schemas.microsoft.com/office/drawing/2014/main" id="{6824B58D-9215-2232-07CA-EEAF95DB3332}"/>
              </a:ext>
            </a:extLst>
          </p:cNvPr>
          <p:cNvSpPr txBox="1"/>
          <p:nvPr/>
        </p:nvSpPr>
        <p:spPr>
          <a:xfrm>
            <a:off x="1429302" y="6295461"/>
            <a:ext cx="1346844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Réponse fréquentielle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="" xmlns:a16="http://schemas.microsoft.com/office/drawing/2014/main" id="{4565F202-FFC4-A672-886E-3A15134E5EC2}"/>
              </a:ext>
            </a:extLst>
          </p:cNvPr>
          <p:cNvSpPr txBox="1"/>
          <p:nvPr/>
        </p:nvSpPr>
        <p:spPr>
          <a:xfrm>
            <a:off x="3407681" y="6284466"/>
            <a:ext cx="1037463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Balayage rapide</a:t>
            </a:r>
          </a:p>
        </p:txBody>
      </p:sp>
      <p:sp>
        <p:nvSpPr>
          <p:cNvPr id="68" name="ZoneTexte 67">
            <a:extLst>
              <a:ext uri="{FF2B5EF4-FFF2-40B4-BE49-F238E27FC236}">
                <a16:creationId xmlns="" xmlns:a16="http://schemas.microsoft.com/office/drawing/2014/main" id="{53D14C0A-D3A1-B2ED-A1EB-B0AB727CC10A}"/>
              </a:ext>
            </a:extLst>
          </p:cNvPr>
          <p:cNvSpPr txBox="1"/>
          <p:nvPr/>
        </p:nvSpPr>
        <p:spPr>
          <a:xfrm>
            <a:off x="3344466" y="6007648"/>
            <a:ext cx="1151277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Réponse indicielle</a:t>
            </a:r>
          </a:p>
        </p:txBody>
      </p:sp>
      <p:sp>
        <p:nvSpPr>
          <p:cNvPr id="69" name="ZoneTexte 68">
            <a:extLst>
              <a:ext uri="{FF2B5EF4-FFF2-40B4-BE49-F238E27FC236}">
                <a16:creationId xmlns="" xmlns:a16="http://schemas.microsoft.com/office/drawing/2014/main" id="{C538B99B-4B70-46E0-02B2-7977C89046CB}"/>
              </a:ext>
            </a:extLst>
          </p:cNvPr>
          <p:cNvSpPr txBox="1"/>
          <p:nvPr/>
        </p:nvSpPr>
        <p:spPr>
          <a:xfrm>
            <a:off x="1605200" y="6024676"/>
            <a:ext cx="1031051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fr-FR" sz="900" dirty="0"/>
              <a:t>Bande-passante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="" xmlns:a16="http://schemas.microsoft.com/office/drawing/2014/main" id="{56DC26B4-651F-8109-14EB-12EB64DBDF1B}"/>
              </a:ext>
            </a:extLst>
          </p:cNvPr>
          <p:cNvSpPr/>
          <p:nvPr/>
        </p:nvSpPr>
        <p:spPr>
          <a:xfrm>
            <a:off x="4840763" y="2902734"/>
            <a:ext cx="3366422" cy="19887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="" xmlns:a16="http://schemas.microsoft.com/office/drawing/2014/main" id="{102CA08B-1667-77A5-6338-6BAB4650B873}"/>
              </a:ext>
            </a:extLst>
          </p:cNvPr>
          <p:cNvSpPr/>
          <p:nvPr/>
        </p:nvSpPr>
        <p:spPr>
          <a:xfrm>
            <a:off x="6605326" y="3140500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79" name="Rectangle : coins arrondis 78">
            <a:extLst>
              <a:ext uri="{FF2B5EF4-FFF2-40B4-BE49-F238E27FC236}">
                <a16:creationId xmlns="" xmlns:a16="http://schemas.microsoft.com/office/drawing/2014/main" id="{E4EAF5FF-36BF-ADAF-81F8-6BF09C4187FF}"/>
              </a:ext>
            </a:extLst>
          </p:cNvPr>
          <p:cNvSpPr/>
          <p:nvPr/>
        </p:nvSpPr>
        <p:spPr>
          <a:xfrm>
            <a:off x="4989553" y="3892224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Détecteur Simple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="" xmlns:a16="http://schemas.microsoft.com/office/drawing/2014/main" id="{FA625D49-E458-99E5-740E-E11750DBACBA}"/>
              </a:ext>
            </a:extLst>
          </p:cNvPr>
          <p:cNvSpPr/>
          <p:nvPr/>
        </p:nvSpPr>
        <p:spPr>
          <a:xfrm>
            <a:off x="4840763" y="4463063"/>
            <a:ext cx="336489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Modélisation des montages</a:t>
            </a:r>
          </a:p>
        </p:txBody>
      </p:sp>
      <p:sp>
        <p:nvSpPr>
          <p:cNvPr id="81" name="ZoneTexte 80">
            <a:extLst>
              <a:ext uri="{FF2B5EF4-FFF2-40B4-BE49-F238E27FC236}">
                <a16:creationId xmlns="" xmlns:a16="http://schemas.microsoft.com/office/drawing/2014/main" id="{5DDF0200-DA72-2CA9-29F6-1F0D053C41FF}"/>
              </a:ext>
            </a:extLst>
          </p:cNvPr>
          <p:cNvSpPr txBox="1"/>
          <p:nvPr/>
        </p:nvSpPr>
        <p:spPr>
          <a:xfrm>
            <a:off x="1384418" y="5628071"/>
            <a:ext cx="1436612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Caractéristique statique</a:t>
            </a:r>
          </a:p>
        </p:txBody>
      </p:sp>
      <p:sp>
        <p:nvSpPr>
          <p:cNvPr id="83" name="ZoneTexte 82">
            <a:extLst>
              <a:ext uri="{FF2B5EF4-FFF2-40B4-BE49-F238E27FC236}">
                <a16:creationId xmlns="" xmlns:a16="http://schemas.microsoft.com/office/drawing/2014/main" id="{14A3310D-E56E-5A66-FB7C-783A5F599D54}"/>
              </a:ext>
            </a:extLst>
          </p:cNvPr>
          <p:cNvSpPr txBox="1"/>
          <p:nvPr/>
        </p:nvSpPr>
        <p:spPr>
          <a:xfrm>
            <a:off x="3584916" y="5628071"/>
            <a:ext cx="670376" cy="2308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fr-FR" sz="900" dirty="0"/>
              <a:t>Mode XY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="" xmlns:a16="http://schemas.microsoft.com/office/drawing/2014/main" id="{F2D37D8C-D030-387E-2CC9-762EA85826F5}"/>
              </a:ext>
            </a:extLst>
          </p:cNvPr>
          <p:cNvSpPr/>
          <p:nvPr/>
        </p:nvSpPr>
        <p:spPr>
          <a:xfrm>
            <a:off x="8391334" y="3638621"/>
            <a:ext cx="1594673" cy="41958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Chaine d’acquisition d’images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="" xmlns:a16="http://schemas.microsoft.com/office/drawing/2014/main" id="{A7780055-F114-0C4B-31BB-A0DBA564340D}"/>
              </a:ext>
            </a:extLst>
          </p:cNvPr>
          <p:cNvSpPr/>
          <p:nvPr/>
        </p:nvSpPr>
        <p:spPr>
          <a:xfrm>
            <a:off x="10151048" y="3638620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Traitement d’images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="" xmlns:a16="http://schemas.microsoft.com/office/drawing/2014/main" id="{851295E4-6379-04A7-A2EF-9EDC91529D4A}"/>
              </a:ext>
            </a:extLst>
          </p:cNvPr>
          <p:cNvSpPr/>
          <p:nvPr/>
        </p:nvSpPr>
        <p:spPr>
          <a:xfrm>
            <a:off x="8388505" y="2902734"/>
            <a:ext cx="1597502" cy="198619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Fiche Résultats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="" xmlns:a16="http://schemas.microsoft.com/office/drawing/2014/main" id="{4FFED827-96DA-7413-7B1B-5AC453E5FAC6}"/>
              </a:ext>
            </a:extLst>
          </p:cNvPr>
          <p:cNvSpPr/>
          <p:nvPr/>
        </p:nvSpPr>
        <p:spPr>
          <a:xfrm>
            <a:off x="8388505" y="3140893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="" xmlns:a16="http://schemas.microsoft.com/office/drawing/2014/main" id="{C9163194-3416-4442-A2F7-D57ADF1350E4}"/>
              </a:ext>
            </a:extLst>
          </p:cNvPr>
          <p:cNvSpPr/>
          <p:nvPr/>
        </p:nvSpPr>
        <p:spPr>
          <a:xfrm>
            <a:off x="10151048" y="3137387"/>
            <a:ext cx="1600330" cy="184086"/>
          </a:xfrm>
          <a:prstGeom prst="rect">
            <a:avLst/>
          </a:prstGeom>
          <a:solidFill>
            <a:srgbClr val="00B0F0"/>
          </a:solidFill>
          <a:ln w="127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>
                <a:solidFill>
                  <a:schemeClr val="bg1"/>
                </a:solidFill>
              </a:rPr>
              <a:t>Analyse comparative</a:t>
            </a:r>
          </a:p>
        </p:txBody>
      </p:sp>
      <p:sp>
        <p:nvSpPr>
          <p:cNvPr id="93" name="Rectangle : coins arrondis 92">
            <a:extLst>
              <a:ext uri="{FF2B5EF4-FFF2-40B4-BE49-F238E27FC236}">
                <a16:creationId xmlns="" xmlns:a16="http://schemas.microsoft.com/office/drawing/2014/main" id="{876BBDBF-B63B-A0DD-F65D-FDCA01F5B58B}"/>
              </a:ext>
            </a:extLst>
          </p:cNvPr>
          <p:cNvSpPr/>
          <p:nvPr/>
        </p:nvSpPr>
        <p:spPr>
          <a:xfrm>
            <a:off x="8463485" y="4108552"/>
            <a:ext cx="1228365" cy="35387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/>
              <a:t>Banc Vision Industrielle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="" xmlns:a16="http://schemas.microsoft.com/office/drawing/2014/main" id="{2A22AE68-1E88-EEB6-A649-CD68EC6D881B}"/>
              </a:ext>
            </a:extLst>
          </p:cNvPr>
          <p:cNvSpPr/>
          <p:nvPr/>
        </p:nvSpPr>
        <p:spPr>
          <a:xfrm>
            <a:off x="8636501" y="4502226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Caméra CMOS</a:t>
            </a:r>
          </a:p>
        </p:txBody>
      </p:sp>
      <p:sp>
        <p:nvSpPr>
          <p:cNvPr id="95" name="Rectangle : coins arrondis 94">
            <a:extLst>
              <a:ext uri="{FF2B5EF4-FFF2-40B4-BE49-F238E27FC236}">
                <a16:creationId xmlns="" xmlns:a16="http://schemas.microsoft.com/office/drawing/2014/main" id="{056B4F08-554C-2855-7A04-A51EA0CCC556}"/>
              </a:ext>
            </a:extLst>
          </p:cNvPr>
          <p:cNvSpPr/>
          <p:nvPr/>
        </p:nvSpPr>
        <p:spPr>
          <a:xfrm>
            <a:off x="8636501" y="4699508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Eclairage</a:t>
            </a:r>
          </a:p>
        </p:txBody>
      </p:sp>
      <p:sp>
        <p:nvSpPr>
          <p:cNvPr id="96" name="Rectangle : coins arrondis 95">
            <a:extLst>
              <a:ext uri="{FF2B5EF4-FFF2-40B4-BE49-F238E27FC236}">
                <a16:creationId xmlns="" xmlns:a16="http://schemas.microsoft.com/office/drawing/2014/main" id="{D65D0366-B16E-EE5A-3525-BC39416F0864}"/>
              </a:ext>
            </a:extLst>
          </p:cNvPr>
          <p:cNvSpPr/>
          <p:nvPr/>
        </p:nvSpPr>
        <p:spPr>
          <a:xfrm>
            <a:off x="8649408" y="4906442"/>
            <a:ext cx="1228365" cy="159456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Optique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="" xmlns:a16="http://schemas.microsoft.com/office/drawing/2014/main" id="{7E5E7D42-95B6-CA73-AA04-A933A5AF01C7}"/>
              </a:ext>
            </a:extLst>
          </p:cNvPr>
          <p:cNvSpPr/>
          <p:nvPr/>
        </p:nvSpPr>
        <p:spPr>
          <a:xfrm>
            <a:off x="8391334" y="5262387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couleurs</a:t>
            </a:r>
          </a:p>
        </p:txBody>
      </p:sp>
      <p:sp>
        <p:nvSpPr>
          <p:cNvPr id="102" name="Rectangle : coins arrondis 101">
            <a:extLst>
              <a:ext uri="{FF2B5EF4-FFF2-40B4-BE49-F238E27FC236}">
                <a16:creationId xmlns="" xmlns:a16="http://schemas.microsoft.com/office/drawing/2014/main" id="{0B4D0836-586F-3D02-06DE-98F1FF4B2991}"/>
              </a:ext>
            </a:extLst>
          </p:cNvPr>
          <p:cNvSpPr/>
          <p:nvPr/>
        </p:nvSpPr>
        <p:spPr>
          <a:xfrm>
            <a:off x="10254742" y="3913418"/>
            <a:ext cx="1228365" cy="17786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 err="1"/>
              <a:t>OpenCV</a:t>
            </a:r>
            <a:endParaRPr lang="fr-FR" sz="900" b="1" dirty="0"/>
          </a:p>
        </p:txBody>
      </p:sp>
      <p:sp>
        <p:nvSpPr>
          <p:cNvPr id="103" name="Rectangle : coins arrondis 102">
            <a:extLst>
              <a:ext uri="{FF2B5EF4-FFF2-40B4-BE49-F238E27FC236}">
                <a16:creationId xmlns="" xmlns:a16="http://schemas.microsoft.com/office/drawing/2014/main" id="{82BBD540-0536-B76D-9E2F-D5CB3667704A}"/>
              </a:ext>
            </a:extLst>
          </p:cNvPr>
          <p:cNvSpPr/>
          <p:nvPr/>
        </p:nvSpPr>
        <p:spPr>
          <a:xfrm>
            <a:off x="10415784" y="4148137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Seuillage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="" xmlns:a16="http://schemas.microsoft.com/office/drawing/2014/main" id="{9008C3F9-54BA-2624-F238-AE02DF28F8B3}"/>
              </a:ext>
            </a:extLst>
          </p:cNvPr>
          <p:cNvSpPr/>
          <p:nvPr/>
        </p:nvSpPr>
        <p:spPr>
          <a:xfrm>
            <a:off x="10415784" y="4356104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Filtrage</a:t>
            </a:r>
          </a:p>
        </p:txBody>
      </p:sp>
      <p:sp>
        <p:nvSpPr>
          <p:cNvPr id="105" name="Rectangle : coins arrondis 104">
            <a:extLst>
              <a:ext uri="{FF2B5EF4-FFF2-40B4-BE49-F238E27FC236}">
                <a16:creationId xmlns="" xmlns:a16="http://schemas.microsoft.com/office/drawing/2014/main" id="{AD746919-8B70-FE35-C5D3-70AA033E8432}"/>
              </a:ext>
            </a:extLst>
          </p:cNvPr>
          <p:cNvSpPr/>
          <p:nvPr/>
        </p:nvSpPr>
        <p:spPr>
          <a:xfrm>
            <a:off x="10415784" y="4554629"/>
            <a:ext cx="1065200" cy="163822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Contours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="" xmlns:a16="http://schemas.microsoft.com/office/drawing/2014/main" id="{31F44840-8DC7-6CDF-38B9-7AAE0C6B3560}"/>
              </a:ext>
            </a:extLst>
          </p:cNvPr>
          <p:cNvSpPr/>
          <p:nvPr/>
        </p:nvSpPr>
        <p:spPr>
          <a:xfrm>
            <a:off x="10151048" y="5262386"/>
            <a:ext cx="1594673" cy="19861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Détection de formes</a:t>
            </a:r>
          </a:p>
        </p:txBody>
      </p:sp>
      <p:pic>
        <p:nvPicPr>
          <p:cNvPr id="61" name="Image 6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5893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58ECFFC-F0AF-4899-AAFD-A6E466F90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0120662E-AE3F-3DD1-DCEA-63BA1CAD8962}"/>
              </a:ext>
            </a:extLst>
          </p:cNvPr>
          <p:cNvSpPr/>
          <p:nvPr/>
        </p:nvSpPr>
        <p:spPr>
          <a:xfrm>
            <a:off x="673975" y="405113"/>
            <a:ext cx="11020314" cy="93754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="" xmlns:a16="http://schemas.microsoft.com/office/drawing/2014/main" id="{52F7C5C7-00EC-4662-FC40-984DB9F248D2}"/>
              </a:ext>
            </a:extLst>
          </p:cNvPr>
          <p:cNvSpPr txBox="1">
            <a:spLocks/>
          </p:cNvSpPr>
          <p:nvPr/>
        </p:nvSpPr>
        <p:spPr>
          <a:xfrm>
            <a:off x="907225" y="583365"/>
            <a:ext cx="8970548" cy="70142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4000" dirty="0"/>
              <a:t>UE Optoélectronique / </a:t>
            </a:r>
            <a:r>
              <a:rPr lang="fr-FR" sz="2400" dirty="0"/>
              <a:t>DEROULEMENT 2026</a:t>
            </a:r>
            <a:endParaRPr lang="fr-FR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8B1C316-0EE8-AC3A-5ED9-7AC4884B6053}"/>
              </a:ext>
            </a:extLst>
          </p:cNvPr>
          <p:cNvSpPr/>
          <p:nvPr/>
        </p:nvSpPr>
        <p:spPr>
          <a:xfrm>
            <a:off x="619125" y="500258"/>
            <a:ext cx="124142" cy="7498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="" xmlns:a16="http://schemas.microsoft.com/office/drawing/2014/main" id="{642F1D95-CBB8-2C92-242D-B5F4F8BCEACC}"/>
              </a:ext>
            </a:extLst>
          </p:cNvPr>
          <p:cNvSpPr/>
          <p:nvPr/>
        </p:nvSpPr>
        <p:spPr>
          <a:xfrm>
            <a:off x="1354395" y="2513900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="" xmlns:a16="http://schemas.microsoft.com/office/drawing/2014/main" id="{35BA6F71-F298-9B08-A0A8-CE77903BEAFA}"/>
              </a:ext>
            </a:extLst>
          </p:cNvPr>
          <p:cNvSpPr/>
          <p:nvPr/>
        </p:nvSpPr>
        <p:spPr>
          <a:xfrm>
            <a:off x="1354395" y="2891111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F771C208-E654-089D-EFA1-01A6D9AFC4F6}"/>
              </a:ext>
            </a:extLst>
          </p:cNvPr>
          <p:cNvSpPr/>
          <p:nvPr/>
        </p:nvSpPr>
        <p:spPr>
          <a:xfrm>
            <a:off x="1354394" y="4303395"/>
            <a:ext cx="3385155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="" xmlns:a16="http://schemas.microsoft.com/office/drawing/2014/main" id="{A61F7A80-14B3-AEFD-723C-87CE98A2A481}"/>
              </a:ext>
            </a:extLst>
          </p:cNvPr>
          <p:cNvSpPr/>
          <p:nvPr/>
        </p:nvSpPr>
        <p:spPr>
          <a:xfrm>
            <a:off x="1354395" y="4682490"/>
            <a:ext cx="338515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41D863B9-ADD0-A5B1-80E4-702270401571}"/>
              </a:ext>
            </a:extLst>
          </p:cNvPr>
          <p:cNvSpPr/>
          <p:nvPr/>
        </p:nvSpPr>
        <p:spPr>
          <a:xfrm>
            <a:off x="3134746" y="2513900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98EC2F02-6D26-E0A5-D033-44346437C756}"/>
              </a:ext>
            </a:extLst>
          </p:cNvPr>
          <p:cNvSpPr/>
          <p:nvPr/>
        </p:nvSpPr>
        <p:spPr>
          <a:xfrm>
            <a:off x="3134746" y="2891111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9FFE6914-2A73-DFF5-83B2-EC5F2562B15F}"/>
              </a:ext>
            </a:extLst>
          </p:cNvPr>
          <p:cNvSpPr/>
          <p:nvPr/>
        </p:nvSpPr>
        <p:spPr>
          <a:xfrm>
            <a:off x="1354395" y="3408647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="" xmlns:a16="http://schemas.microsoft.com/office/drawing/2014/main" id="{BD4D7028-BE06-8D91-89A4-291033DAED4D}"/>
              </a:ext>
            </a:extLst>
          </p:cNvPr>
          <p:cNvSpPr/>
          <p:nvPr/>
        </p:nvSpPr>
        <p:spPr>
          <a:xfrm>
            <a:off x="1354395" y="3785859"/>
            <a:ext cx="1604804" cy="350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 VI2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67DB11C6-E438-64D0-8289-EA27977E12F7}"/>
              </a:ext>
            </a:extLst>
          </p:cNvPr>
          <p:cNvSpPr/>
          <p:nvPr/>
        </p:nvSpPr>
        <p:spPr>
          <a:xfrm>
            <a:off x="3134746" y="3402867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="" xmlns:a16="http://schemas.microsoft.com/office/drawing/2014/main" id="{5890B81A-9B60-BD6E-D526-CE952E97E6D8}"/>
              </a:ext>
            </a:extLst>
          </p:cNvPr>
          <p:cNvSpPr/>
          <p:nvPr/>
        </p:nvSpPr>
        <p:spPr>
          <a:xfrm>
            <a:off x="3134746" y="3780078"/>
            <a:ext cx="1604804" cy="350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TP2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="" xmlns:a16="http://schemas.microsoft.com/office/drawing/2014/main" id="{8604DACB-DF23-40CE-1944-F1D33C96E0FF}"/>
              </a:ext>
            </a:extLst>
          </p:cNvPr>
          <p:cNvSpPr txBox="1"/>
          <p:nvPr/>
        </p:nvSpPr>
        <p:spPr>
          <a:xfrm>
            <a:off x="1354394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B01 à B08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="" xmlns:a16="http://schemas.microsoft.com/office/drawing/2014/main" id="{2A7DC8C6-8362-D8DD-44CF-269386D21154}"/>
              </a:ext>
            </a:extLst>
          </p:cNvPr>
          <p:cNvSpPr txBox="1"/>
          <p:nvPr/>
        </p:nvSpPr>
        <p:spPr>
          <a:xfrm>
            <a:off x="3134745" y="2077435"/>
            <a:ext cx="1604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b="1" dirty="0"/>
              <a:t>B09 à B16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="" xmlns:a16="http://schemas.microsoft.com/office/drawing/2014/main" id="{1FB1B848-789F-7CC9-233E-C4D09DE6ED64}"/>
              </a:ext>
            </a:extLst>
          </p:cNvPr>
          <p:cNvSpPr txBox="1"/>
          <p:nvPr/>
        </p:nvSpPr>
        <p:spPr>
          <a:xfrm>
            <a:off x="270543" y="2558355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1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="" xmlns:a16="http://schemas.microsoft.com/office/drawing/2014/main" id="{C7A6F760-1C01-19AE-82F7-08659E0EDBFE}"/>
              </a:ext>
            </a:extLst>
          </p:cNvPr>
          <p:cNvSpPr txBox="1"/>
          <p:nvPr/>
        </p:nvSpPr>
        <p:spPr>
          <a:xfrm>
            <a:off x="263322" y="2891111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2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="" xmlns:a16="http://schemas.microsoft.com/office/drawing/2014/main" id="{347361E2-CD17-E827-87D6-274A909955D1}"/>
              </a:ext>
            </a:extLst>
          </p:cNvPr>
          <p:cNvSpPr txBox="1"/>
          <p:nvPr/>
        </p:nvSpPr>
        <p:spPr>
          <a:xfrm>
            <a:off x="270543" y="344367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3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="" xmlns:a16="http://schemas.microsoft.com/office/drawing/2014/main" id="{1AE1C8AF-D6DD-7081-FB67-E5A8A16FCAEF}"/>
              </a:ext>
            </a:extLst>
          </p:cNvPr>
          <p:cNvSpPr txBox="1"/>
          <p:nvPr/>
        </p:nvSpPr>
        <p:spPr>
          <a:xfrm>
            <a:off x="270543" y="382453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4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="" xmlns:a16="http://schemas.microsoft.com/office/drawing/2014/main" id="{322908FF-432D-5A05-837E-CBF1C04C2393}"/>
              </a:ext>
            </a:extLst>
          </p:cNvPr>
          <p:cNvSpPr txBox="1"/>
          <p:nvPr/>
        </p:nvSpPr>
        <p:spPr>
          <a:xfrm>
            <a:off x="287897" y="4352300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5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="" xmlns:a16="http://schemas.microsoft.com/office/drawing/2014/main" id="{97DBFDDF-72BF-A430-CD97-8AE4CE4D7C61}"/>
              </a:ext>
            </a:extLst>
          </p:cNvPr>
          <p:cNvSpPr txBox="1"/>
          <p:nvPr/>
        </p:nvSpPr>
        <p:spPr>
          <a:xfrm>
            <a:off x="282020" y="4723123"/>
            <a:ext cx="8213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/>
              <a:t>Séance 6</a:t>
            </a: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587" y="452685"/>
            <a:ext cx="2050702" cy="842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85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ccentBoxVTI">
  <a:themeElements>
    <a:clrScheme name="AnalogousFromLightSeedRightStep">
      <a:dk1>
        <a:srgbClr val="000000"/>
      </a:dk1>
      <a:lt1>
        <a:srgbClr val="FFFFFF"/>
      </a:lt1>
      <a:dk2>
        <a:srgbClr val="412624"/>
      </a:dk2>
      <a:lt2>
        <a:srgbClr val="E2E8E6"/>
      </a:lt2>
      <a:accent1>
        <a:srgbClr val="C696A7"/>
      </a:accent1>
      <a:accent2>
        <a:srgbClr val="BA827F"/>
      </a:accent2>
      <a:accent3>
        <a:srgbClr val="BC9E83"/>
      </a:accent3>
      <a:accent4>
        <a:srgbClr val="ABA575"/>
      </a:accent4>
      <a:accent5>
        <a:srgbClr val="9CA87F"/>
      </a:accent5>
      <a:accent6>
        <a:srgbClr val="85AD76"/>
      </a:accent6>
      <a:hlink>
        <a:srgbClr val="568F7B"/>
      </a:hlink>
      <a:folHlink>
        <a:srgbClr val="7F7F7F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1447</TotalTime>
  <Words>356</Words>
  <Application>Microsoft Office PowerPoint</Application>
  <PresentationFormat>Grand écran</PresentationFormat>
  <Paragraphs>158</Paragraphs>
  <Slides>8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7" baseType="lpstr">
      <vt:lpstr>Arial</vt:lpstr>
      <vt:lpstr>Avenir Next LT Pro</vt:lpstr>
      <vt:lpstr>Bahnschrift Light</vt:lpstr>
      <vt:lpstr>Bahnschrift SemiBold</vt:lpstr>
      <vt:lpstr>Calibri</vt:lpstr>
      <vt:lpstr>FreeSans</vt:lpstr>
      <vt:lpstr>Liberation Sans</vt:lpstr>
      <vt:lpstr>Wingdings</vt:lpstr>
      <vt:lpstr>AccentBoxVTI</vt:lpstr>
      <vt:lpstr> UE Opto électronique   TD et TP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Outils Numériques - Méthodes et Outils</dc:title>
  <dc:creator>Julien VILLEMEJANE</dc:creator>
  <cp:lastModifiedBy>Utilisateur Windows</cp:lastModifiedBy>
  <cp:revision>834</cp:revision>
  <dcterms:created xsi:type="dcterms:W3CDTF">2023-04-08T12:37:13Z</dcterms:created>
  <dcterms:modified xsi:type="dcterms:W3CDTF">2026-08-31T08:38:22Z</dcterms:modified>
</cp:coreProperties>
</file>