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4" r:id="rId2"/>
  </p:sldMasterIdLst>
  <p:notesMasterIdLst>
    <p:notesMasterId r:id="rId15"/>
  </p:notesMasterIdLst>
  <p:handoutMasterIdLst>
    <p:handoutMasterId r:id="rId16"/>
  </p:handoutMasterIdLst>
  <p:sldIdLst>
    <p:sldId id="420" r:id="rId3"/>
    <p:sldId id="429" r:id="rId4"/>
    <p:sldId id="437" r:id="rId5"/>
    <p:sldId id="432" r:id="rId6"/>
    <p:sldId id="433" r:id="rId7"/>
    <p:sldId id="438" r:id="rId8"/>
    <p:sldId id="439" r:id="rId9"/>
    <p:sldId id="440" r:id="rId10"/>
    <p:sldId id="441" r:id="rId11"/>
    <p:sldId id="442" r:id="rId12"/>
    <p:sldId id="443" r:id="rId13"/>
    <p:sldId id="444" r:id="rId14"/>
  </p:sldIdLst>
  <p:sldSz cx="12192000" cy="6858000"/>
  <p:notesSz cx="6797675" cy="99282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1pPr>
    <a:lvl2pPr marL="45358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2pPr>
    <a:lvl3pPr marL="91034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3pPr>
    <a:lvl4pPr marL="136711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4pPr>
    <a:lvl5pPr marL="182387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5pPr>
    <a:lvl6pPr marL="2283805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6pPr>
    <a:lvl7pPr marL="274056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7pPr>
    <a:lvl8pPr marL="319732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8pPr>
    <a:lvl9pPr marL="3654091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9pPr>
  </p:defaultTextStyle>
  <p:extLst>
    <p:ext uri="{521415D9-36F7-43E2-AB2F-B90AF26B5E84}">
      <p14:sectionLst xmlns:p14="http://schemas.microsoft.com/office/powerpoint/2010/main">
        <p14:section name="Section par défaut" id="{6A6AAF0A-6CDB-6A4B-A404-BE18D9B0BA16}">
          <p14:sldIdLst>
            <p14:sldId id="420"/>
            <p14:sldId id="429"/>
            <p14:sldId id="437"/>
            <p14:sldId id="432"/>
            <p14:sldId id="433"/>
            <p14:sldId id="438"/>
            <p14:sldId id="439"/>
            <p14:sldId id="440"/>
            <p14:sldId id="441"/>
            <p14:sldId id="442"/>
            <p14:sldId id="443"/>
            <p14:sldId id="4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ylvie Retailleau" initials="SR" lastIdx="9" clrIdx="0"/>
  <p:cmAuthor id="2" name="Claire LARTIGUE" initials="CL" lastIdx="10" clrIdx="1"/>
  <p:cmAuthor id="3" name="Bouye Clementine" initials="BC" lastIdx="1" clrIdx="2">
    <p:extLst>
      <p:ext uri="{19B8F6BF-5375-455C-9EA6-DF929625EA0E}">
        <p15:presenceInfo xmlns:p15="http://schemas.microsoft.com/office/powerpoint/2012/main" userId="S-1-5-21-2844717677-1882146966-2427725951-285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F00"/>
    <a:srgbClr val="FA960A"/>
    <a:srgbClr val="D02D12"/>
    <a:srgbClr val="00B0F0"/>
    <a:srgbClr val="222268"/>
    <a:srgbClr val="CC7604"/>
    <a:srgbClr val="D9D9D9"/>
    <a:srgbClr val="6AB5D9"/>
    <a:srgbClr val="0A3250"/>
    <a:srgbClr val="CB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83" autoAdjust="0"/>
    <p:restoredTop sz="84504" autoAdjust="0"/>
  </p:normalViewPr>
  <p:slideViewPr>
    <p:cSldViewPr>
      <p:cViewPr varScale="1">
        <p:scale>
          <a:sx n="75" d="100"/>
          <a:sy n="75" d="100"/>
        </p:scale>
        <p:origin x="1080" y="62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56" d="100"/>
          <a:sy n="156" d="100"/>
        </p:scale>
        <p:origin x="7648" y="19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05200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FE5C97D-F4A4-3148-9D69-08ACA8026603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9751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0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r>
              <a:rPr lang="fr-FR" dirty="0"/>
              <a:t>CA IOGS 20 décembre 2018</a:t>
            </a:r>
          </a:p>
        </p:txBody>
      </p:sp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4510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202EF97-A5BF-E644-B5D7-99A720C3808E}" type="datetimeFigureOut">
              <a:rPr lang="fr-FR"/>
              <a:pPr/>
              <a:t>05/09/2026</a:t>
            </a:fld>
            <a:endParaRPr lang="fr-FR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5D8CFC6-2EE8-4043-8C44-71F3876B961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85409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1pPr>
    <a:lvl2pPr marL="45358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2pPr>
    <a:lvl3pPr marL="91034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3pPr>
    <a:lvl4pPr marL="13671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4pPr>
    <a:lvl5pPr marL="182387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5pPr>
    <a:lvl6pPr marL="2282113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8534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4959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1381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E45EE1D-A26C-FAD7-4E63-AD006091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xmlns="" id="{D2D8A2C9-C093-B30E-F006-AC6BDEFCE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xmlns="" id="{695FD705-54D6-764B-F264-257EDFBF3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9D239A3D-9B79-DC54-FFF9-27461A009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670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002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8210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C7F6BA6-46AF-7420-8009-717456F01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xmlns="" id="{AEECF67E-EE62-5BF5-C61A-7BC5CB3C6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BE857563-E25F-3CC4-07A9-A3B478301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32B5B6C1-9D87-141A-F617-A3F3AE172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333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xmlns="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910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xmlns="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3247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xmlns="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1300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xmlns="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0550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xmlns="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7446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xmlns="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8306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xmlns="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0272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xmlns="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3323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14979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50190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xmlns="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34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xmlns="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22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xmlns="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xmlns="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06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xmlns="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xmlns="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84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xmlns="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4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xmlns="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44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xmlns="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58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76049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9703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xmlns="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xmlns="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678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xmlns="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xmlns="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507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xmlns="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xmlns="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116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xmlns="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797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xmlns="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547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xmlns="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62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xmlns="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5" name="Image 4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xmlns="" id="{E83C2882-4408-CE09-DEC2-6856CAFD3C6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17" y="0"/>
            <a:ext cx="4343400" cy="1524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xmlns="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6" name="Image 5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xmlns="" id="{8EBAC630-7DDC-F79A-67A7-A059B76493E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35" y="116632"/>
            <a:ext cx="2070649" cy="127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8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A3405EC-A826-EC6D-55C4-4E5E0791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E0F5709-2192-5660-DE19-0D133898DDEB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xmlns="" id="{AD9166C3-CA35-32A9-D474-6F1A6F6B0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 err="1" smtClean="0"/>
              <a:t>Opto-Electronique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018A8D8B-0215-8CF0-4D01-85AF8D9DE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sz="2000" dirty="0" smtClean="0"/>
              <a:t>Cours / TD / TP</a:t>
            </a:r>
            <a:endParaRPr lang="fr-FR" sz="2000" dirty="0"/>
          </a:p>
        </p:txBody>
      </p:sp>
      <p:pic>
        <p:nvPicPr>
          <p:cNvPr id="4" name="Image 3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xmlns="" id="{51EC4A98-337F-88F8-43D4-D7C44BD106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2294164"/>
            <a:ext cx="3909375" cy="2606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DCF7B6F-0795-01C8-9205-560B68EE3584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9F6EB4C1-C32C-5C8F-51DE-4361F16DF7E5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AE7E99A-9869-3A9B-334C-964ABAE2EBEA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6D1A35A-167D-8BB2-8E51-39D0F792563C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xmlns="" id="{744736B6-C889-86DA-7344-FCFEAC32CF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778BB9FF-8E3B-C33D-482F-EDD5D3C8920B}"/>
              </a:ext>
            </a:extLst>
          </p:cNvPr>
          <p:cNvSpPr txBox="1"/>
          <p:nvPr/>
        </p:nvSpPr>
        <p:spPr>
          <a:xfrm>
            <a:off x="1343472" y="5724479"/>
            <a:ext cx="51845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EE7202"/>
                </a:solidFill>
              </a:rPr>
              <a:t>Julien VILLEMEJANE </a:t>
            </a:r>
            <a:r>
              <a:rPr lang="fr-FR" sz="1050" b="1" dirty="0">
                <a:solidFill>
                  <a:srgbClr val="EE7202"/>
                </a:solidFill>
              </a:rPr>
              <a:t/>
            </a:r>
            <a:br>
              <a:rPr lang="fr-FR" sz="1050" b="1" dirty="0">
                <a:solidFill>
                  <a:srgbClr val="EE7202"/>
                </a:solidFill>
              </a:rPr>
            </a:br>
            <a:endParaRPr lang="fr-FR" sz="1050" b="1" dirty="0">
              <a:solidFill>
                <a:srgbClr val="EE7202"/>
              </a:solidFill>
            </a:endParaRPr>
          </a:p>
          <a:p>
            <a:r>
              <a:rPr lang="fr-FR" sz="1800" dirty="0">
                <a:solidFill>
                  <a:srgbClr val="EE7202"/>
                </a:solidFill>
              </a:rPr>
              <a:t>julien.villemejane@institutoptique.fr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xmlns="" id="{018A8D8B-0215-8CF0-4D01-85AF8D9DE8F9}"/>
              </a:ext>
            </a:extLst>
          </p:cNvPr>
          <p:cNvSpPr txBox="1">
            <a:spLocks/>
          </p:cNvSpPr>
          <p:nvPr/>
        </p:nvSpPr>
        <p:spPr>
          <a:xfrm>
            <a:off x="5539749" y="5423184"/>
            <a:ext cx="5169376" cy="135972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rgbClr val="0A3250"/>
                </a:solidFill>
                <a:latin typeface="+mn-lt"/>
                <a:ea typeface="ＭＳ Ｐゴシック" charset="0"/>
                <a:cs typeface="+mn-cs"/>
              </a:defRPr>
            </a:lvl1pPr>
            <a:lvl2pPr marL="456425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rgbClr val="0A3250"/>
                </a:solidFill>
                <a:latin typeface="+mn-lt"/>
                <a:ea typeface="ＭＳ Ｐゴシック" charset="0"/>
              </a:defRPr>
            </a:lvl2pPr>
            <a:lvl3pPr marL="912843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rgbClr val="0A3250"/>
                </a:solidFill>
                <a:latin typeface="+mn-lt"/>
                <a:ea typeface="ＭＳ Ｐゴシック" charset="0"/>
              </a:defRPr>
            </a:lvl3pPr>
            <a:lvl4pPr marL="1369266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4pPr>
            <a:lvl5pPr marL="1825691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5pPr>
            <a:lvl6pPr marL="2282113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6pPr>
            <a:lvl7pPr marL="2738534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7pPr>
            <a:lvl8pPr marL="3194959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8pPr>
            <a:lvl9pPr marL="3651381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9pPr>
          </a:lstStyle>
          <a:p>
            <a:pPr algn="l"/>
            <a:r>
              <a:rPr lang="fr-FR" sz="1400" b="1" kern="0" dirty="0">
                <a:latin typeface="IBM Plex Sans"/>
              </a:rPr>
              <a:t>Co-responsable </a:t>
            </a:r>
            <a:r>
              <a:rPr lang="fr-FR" sz="1400" b="1" kern="0" dirty="0" err="1">
                <a:latin typeface="IBM Plex Sans"/>
              </a:rPr>
              <a:t>LEnsE</a:t>
            </a:r>
            <a:r>
              <a:rPr lang="fr-FR" sz="1400" b="1" kern="0" dirty="0">
                <a:latin typeface="IBM Plex Sans"/>
              </a:rPr>
              <a:t> - TP Electronique</a:t>
            </a:r>
          </a:p>
          <a:p>
            <a:pPr algn="l"/>
            <a:r>
              <a:rPr lang="fr-FR" sz="1400" kern="0" dirty="0">
                <a:latin typeface="IBM Plex Sans"/>
              </a:rPr>
              <a:t>Responsable Enquête « jeunes </a:t>
            </a:r>
            <a:r>
              <a:rPr lang="fr-FR" sz="1400" kern="0" dirty="0" err="1">
                <a:latin typeface="IBM Plex Sans"/>
              </a:rPr>
              <a:t>diplômé·es</a:t>
            </a:r>
            <a:r>
              <a:rPr lang="fr-FR" sz="1400" kern="0" dirty="0">
                <a:latin typeface="IBM Plex Sans"/>
              </a:rPr>
              <a:t> »</a:t>
            </a:r>
          </a:p>
          <a:p>
            <a:pPr algn="l"/>
            <a:r>
              <a:rPr lang="fr-FR" sz="1400" kern="0" dirty="0">
                <a:latin typeface="IBM Plex Sans"/>
              </a:rPr>
              <a:t>Responsable Formation Professionnelle</a:t>
            </a:r>
          </a:p>
          <a:p>
            <a:pPr algn="l"/>
            <a:endParaRPr lang="fr-FR" sz="1400" kern="0" dirty="0">
              <a:latin typeface="IBM Plex Sans"/>
            </a:endParaRPr>
          </a:p>
          <a:p>
            <a:pPr algn="l"/>
            <a:r>
              <a:rPr lang="fr-FR" sz="1400" kern="0" dirty="0">
                <a:latin typeface="IBM Plex Sans"/>
              </a:rPr>
              <a:t>☑ Je ne suis pas un robot </a:t>
            </a:r>
          </a:p>
        </p:txBody>
      </p:sp>
    </p:spTree>
    <p:extLst>
      <p:ext uri="{BB962C8B-B14F-4D97-AF65-F5344CB8AC3E}">
        <p14:creationId xmlns:p14="http://schemas.microsoft.com/office/powerpoint/2010/main" val="4152357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Ressources en ligne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xmlns="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F0EBDA9F-024E-1644-4C77-64A4359F9D32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 smtClean="0">
                <a:solidFill>
                  <a:srgbClr val="CC7604"/>
                </a:solidFill>
                <a:latin typeface="IBM Plex Sans"/>
              </a:rPr>
              <a:t>LEnsE</a:t>
            </a:r>
            <a:r>
              <a:rPr lang="fr-FR" b="1" dirty="0" smtClean="0">
                <a:solidFill>
                  <a:srgbClr val="CC7604"/>
                </a:solidFill>
                <a:latin typeface="IBM Plex Sans"/>
              </a:rPr>
              <a:t> / </a:t>
            </a:r>
            <a:r>
              <a:rPr lang="fr-FR" b="1" dirty="0" err="1" smtClean="0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xmlns="" id="{9BC44D69-C402-A629-BF34-FD0F714DAC0A}"/>
              </a:ext>
            </a:extLst>
          </p:cNvPr>
          <p:cNvSpPr txBox="1"/>
          <p:nvPr/>
        </p:nvSpPr>
        <p:spPr>
          <a:xfrm>
            <a:off x="669906" y="1516202"/>
            <a:ext cx="5417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SemiBold" panose="020B0502040204020203" pitchFamily="34" charset="0"/>
              </a:rPr>
              <a:t>https://lense.institutoptique.fr/</a:t>
            </a:r>
            <a:endParaRPr lang="fr-FR" sz="28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xmlns="" id="{BAAF2D60-0BDA-9CE7-0F29-CB9B468CD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2212962"/>
            <a:ext cx="7640826" cy="4484444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xmlns="" id="{D69AD05F-CDFC-D987-A65C-02CF12E23C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180" y="3098841"/>
            <a:ext cx="3241580" cy="359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38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Photonique : un mélange de compétences techniques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xmlns="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F0EBDA9F-024E-1644-4C77-64A4359F9D32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rgbClr val="CC7604"/>
                </a:solidFill>
                <a:latin typeface="IBM Plex Sans"/>
              </a:rPr>
              <a:t>Systèmes imageants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14" name="Picture 1">
            <a:extLst>
              <a:ext uri="{FF2B5EF4-FFF2-40B4-BE49-F238E27FC236}">
                <a16:creationId xmlns:a16="http://schemas.microsoft.com/office/drawing/2014/main" xmlns="" id="{6A7B7FF8-BE89-50A8-FB7F-2ADE998C9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93" y="5109217"/>
            <a:ext cx="967685" cy="830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 : carré corné 53">
            <a:extLst>
              <a:ext uri="{FF2B5EF4-FFF2-40B4-BE49-F238E27FC236}">
                <a16:creationId xmlns:a16="http://schemas.microsoft.com/office/drawing/2014/main" xmlns="" id="{4F5CB0A9-FCF6-3A53-C7E0-CA77DD7A4000}"/>
              </a:ext>
            </a:extLst>
          </p:cNvPr>
          <p:cNvSpPr/>
          <p:nvPr/>
        </p:nvSpPr>
        <p:spPr>
          <a:xfrm>
            <a:off x="3923645" y="4406180"/>
            <a:ext cx="701183" cy="417189"/>
          </a:xfrm>
          <a:prstGeom prst="foldedCorner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Image</a:t>
            </a:r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xmlns="" id="{A1A2128C-2636-B72C-26CF-08A0922FC6B7}"/>
              </a:ext>
            </a:extLst>
          </p:cNvPr>
          <p:cNvSpPr/>
          <p:nvPr/>
        </p:nvSpPr>
        <p:spPr>
          <a:xfrm>
            <a:off x="939322" y="4210561"/>
            <a:ext cx="771222" cy="480989"/>
          </a:xfrm>
          <a:prstGeom prst="cube">
            <a:avLst>
              <a:gd name="adj" fmla="val 17604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Objet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xmlns="" id="{2D53FF99-0639-89C2-61B2-7851D9196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2869" y="4011461"/>
            <a:ext cx="1748290" cy="1397924"/>
          </a:xfrm>
          <a:prstGeom prst="rect">
            <a:avLst/>
          </a:prstGeom>
        </p:spPr>
      </p:pic>
      <p:sp>
        <p:nvSpPr>
          <p:cNvPr id="27" name="Flèche : pentagone 10">
            <a:extLst>
              <a:ext uri="{FF2B5EF4-FFF2-40B4-BE49-F238E27FC236}">
                <a16:creationId xmlns:a16="http://schemas.microsoft.com/office/drawing/2014/main" xmlns="" id="{D2262639-B397-9A1F-0EFF-B40C302146B9}"/>
              </a:ext>
            </a:extLst>
          </p:cNvPr>
          <p:cNvSpPr/>
          <p:nvPr/>
        </p:nvSpPr>
        <p:spPr>
          <a:xfrm>
            <a:off x="6369392" y="4418576"/>
            <a:ext cx="1352207" cy="443781"/>
          </a:xfrm>
          <a:prstGeom prst="homePlat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Signaux électriques</a:t>
            </a:r>
          </a:p>
        </p:txBody>
      </p:sp>
      <p:sp>
        <p:nvSpPr>
          <p:cNvPr id="29" name="Organigramme : Multidocument 28">
            <a:extLst>
              <a:ext uri="{FF2B5EF4-FFF2-40B4-BE49-F238E27FC236}">
                <a16:creationId xmlns:a16="http://schemas.microsoft.com/office/drawing/2014/main" xmlns="" id="{AA4A1DEB-43BA-6C8B-0919-C66C5DEA75F4}"/>
              </a:ext>
            </a:extLst>
          </p:cNvPr>
          <p:cNvSpPr/>
          <p:nvPr/>
        </p:nvSpPr>
        <p:spPr>
          <a:xfrm>
            <a:off x="9746206" y="4387417"/>
            <a:ext cx="1085850" cy="454713"/>
          </a:xfrm>
          <a:prstGeom prst="flowChartMultidocumen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Données</a:t>
            </a:r>
            <a:endParaRPr lang="fr-FR" sz="1400" b="1" dirty="0">
              <a:solidFill>
                <a:schemeClr val="bg1"/>
              </a:solidFill>
            </a:endParaRP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xmlns="" id="{FC462FA9-8816-3E3B-5BCF-6363F55383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9032" y="4315328"/>
            <a:ext cx="993117" cy="1094057"/>
          </a:xfrm>
          <a:prstGeom prst="rect">
            <a:avLst/>
          </a:prstGeom>
        </p:spPr>
      </p:pic>
      <p:pic>
        <p:nvPicPr>
          <p:cNvPr id="33" name="Picture 2">
            <a:extLst>
              <a:ext uri="{FF2B5EF4-FFF2-40B4-BE49-F238E27FC236}">
                <a16:creationId xmlns:a16="http://schemas.microsoft.com/office/drawing/2014/main" xmlns="" id="{EDFFD55C-E80A-2797-0D5E-199DFC538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842" y="4289540"/>
            <a:ext cx="1228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xmlns="" id="{278DCF96-87D6-4311-9264-86E742F47FFB}"/>
              </a:ext>
            </a:extLst>
          </p:cNvPr>
          <p:cNvSpPr txBox="1"/>
          <p:nvPr/>
        </p:nvSpPr>
        <p:spPr>
          <a:xfrm>
            <a:off x="5114099" y="1655033"/>
            <a:ext cx="60324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Génération de photons = Source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Conception optique / « Fabrication d’images »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Acquisition de données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Traitement des informations</a:t>
            </a:r>
          </a:p>
        </p:txBody>
      </p:sp>
      <p:sp>
        <p:nvSpPr>
          <p:cNvPr id="37" name="Flèche : pentagone 36">
            <a:extLst>
              <a:ext uri="{FF2B5EF4-FFF2-40B4-BE49-F238E27FC236}">
                <a16:creationId xmlns:a16="http://schemas.microsoft.com/office/drawing/2014/main" xmlns="" id="{D1AFDECF-1D61-3B5B-B3BE-3085A46D4C20}"/>
              </a:ext>
            </a:extLst>
          </p:cNvPr>
          <p:cNvSpPr/>
          <p:nvPr/>
        </p:nvSpPr>
        <p:spPr>
          <a:xfrm>
            <a:off x="618915" y="1610717"/>
            <a:ext cx="3687909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Système optique</a:t>
            </a:r>
          </a:p>
        </p:txBody>
      </p:sp>
    </p:spTree>
    <p:extLst>
      <p:ext uri="{BB962C8B-B14F-4D97-AF65-F5344CB8AC3E}">
        <p14:creationId xmlns:p14="http://schemas.microsoft.com/office/powerpoint/2010/main" val="2619999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10271A5-EC96-EE38-2126-62ED7CDF6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xmlns="" id="{78F00D6C-2B74-32D1-8B46-CF287750C5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D58B40F0-1429-01C3-BCCA-E2726BC59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Photonique : un mélange de compétences techniques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B5A645F-12BC-0655-09A3-47999908B8D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23342F2-FC16-DDCA-C1DA-2FC87E569632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xmlns="" id="{09AC7213-6061-9864-121A-7B6EF7C08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37158409-D14C-B844-C562-266FCEE965F6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rgbClr val="CC7604"/>
                </a:solidFill>
                <a:latin typeface="IBM Plex Sans"/>
              </a:rPr>
              <a:t>Opto-Electronique, Interfaçage Numérique, Outils Numériques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B0E05C10-4A6C-C7A3-7FBB-F2329259AC6B}"/>
              </a:ext>
            </a:extLst>
          </p:cNvPr>
          <p:cNvSpPr/>
          <p:nvPr/>
        </p:nvSpPr>
        <p:spPr>
          <a:xfrm>
            <a:off x="407368" y="6528457"/>
            <a:ext cx="154080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Visuel généré par </a:t>
            </a:r>
            <a:r>
              <a:rPr lang="fr-FR" sz="1050" dirty="0" err="1">
                <a:solidFill>
                  <a:schemeClr val="bg1">
                    <a:lumMod val="65000"/>
                  </a:schemeClr>
                </a:solidFill>
              </a:rPr>
              <a:t>IAg</a:t>
            </a:r>
            <a:endParaRPr lang="fr-FR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300A40DB-23E1-0D37-2A5C-6D53C73DE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08" y="1844824"/>
            <a:ext cx="3077566" cy="3240360"/>
          </a:xfrm>
          <a:prstGeom prst="rect">
            <a:avLst/>
          </a:prstGeom>
        </p:spPr>
      </p:pic>
      <p:sp>
        <p:nvSpPr>
          <p:cNvPr id="6" name="Flèche : pentagone 5">
            <a:extLst>
              <a:ext uri="{FF2B5EF4-FFF2-40B4-BE49-F238E27FC236}">
                <a16:creationId xmlns:a16="http://schemas.microsoft.com/office/drawing/2014/main" xmlns="" id="{F3D07DC7-E5FB-85F2-67BC-64C29B5BEADA}"/>
              </a:ext>
            </a:extLst>
          </p:cNvPr>
          <p:cNvSpPr/>
          <p:nvPr/>
        </p:nvSpPr>
        <p:spPr>
          <a:xfrm>
            <a:off x="4352386" y="1916832"/>
            <a:ext cx="3982632" cy="338554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Electronique / Traitement du Signal</a:t>
            </a:r>
          </a:p>
        </p:txBody>
      </p:sp>
      <p:sp>
        <p:nvSpPr>
          <p:cNvPr id="11" name="Flèche : pentagone 10">
            <a:extLst>
              <a:ext uri="{FF2B5EF4-FFF2-40B4-BE49-F238E27FC236}">
                <a16:creationId xmlns:a16="http://schemas.microsoft.com/office/drawing/2014/main" xmlns="" id="{80F031A5-4E0F-CC88-5CB9-797E9086BE2B}"/>
              </a:ext>
            </a:extLst>
          </p:cNvPr>
          <p:cNvSpPr/>
          <p:nvPr/>
        </p:nvSpPr>
        <p:spPr>
          <a:xfrm>
            <a:off x="4364396" y="4582112"/>
            <a:ext cx="3982632" cy="338554"/>
          </a:xfrm>
          <a:prstGeom prst="homePlate">
            <a:avLst/>
          </a:prstGeom>
          <a:solidFill>
            <a:srgbClr val="FF7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Outils Numériques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xmlns="" id="{DF755FB5-911B-F4B8-2377-080207264690}"/>
              </a:ext>
            </a:extLst>
          </p:cNvPr>
          <p:cNvSpPr/>
          <p:nvPr/>
        </p:nvSpPr>
        <p:spPr bwMode="auto">
          <a:xfrm rot="1704236">
            <a:off x="1522234" y="1924478"/>
            <a:ext cx="2431713" cy="1126522"/>
          </a:xfrm>
          <a:prstGeom prst="ellipse">
            <a:avLst/>
          </a:prstGeom>
          <a:noFill/>
          <a:ln w="38100" cap="flat" cmpd="sng" algn="ctr">
            <a:solidFill>
              <a:srgbClr val="22226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xmlns="" id="{C4B4DE05-2DF3-E585-3E01-F01A8E39E692}"/>
              </a:ext>
            </a:extLst>
          </p:cNvPr>
          <p:cNvSpPr/>
          <p:nvPr/>
        </p:nvSpPr>
        <p:spPr bwMode="auto">
          <a:xfrm rot="5650958">
            <a:off x="19873" y="2650446"/>
            <a:ext cx="2159472" cy="1126522"/>
          </a:xfrm>
          <a:prstGeom prst="ellipse">
            <a:avLst/>
          </a:prstGeom>
          <a:noFill/>
          <a:ln w="38100" cap="flat" cmpd="sng" algn="ctr">
            <a:solidFill>
              <a:srgbClr val="FF7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xmlns="" id="{6895DFD0-32D4-14F1-353E-0A002F5931D6}"/>
              </a:ext>
            </a:extLst>
          </p:cNvPr>
          <p:cNvSpPr/>
          <p:nvPr/>
        </p:nvSpPr>
        <p:spPr bwMode="auto">
          <a:xfrm rot="1704236">
            <a:off x="1855742" y="4399049"/>
            <a:ext cx="844566" cy="870375"/>
          </a:xfrm>
          <a:prstGeom prst="ellipse">
            <a:avLst/>
          </a:prstGeom>
          <a:noFill/>
          <a:ln w="38100" cap="flat" cmpd="sng" algn="ctr">
            <a:solidFill>
              <a:srgbClr val="D02D1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9936D568-7DD2-26F2-06A4-5D34B5925C13}"/>
              </a:ext>
            </a:extLst>
          </p:cNvPr>
          <p:cNvSpPr/>
          <p:nvPr/>
        </p:nvSpPr>
        <p:spPr>
          <a:xfrm>
            <a:off x="4943872" y="5118489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STOCKER / CLASSER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CD92DB01-9BC0-5CD8-DB75-C66157FFC692}"/>
              </a:ext>
            </a:extLst>
          </p:cNvPr>
          <p:cNvSpPr/>
          <p:nvPr/>
        </p:nvSpPr>
        <p:spPr>
          <a:xfrm>
            <a:off x="4943872" y="5524070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TRAITER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EB83D6AC-EE74-4654-9FD1-36F11CD4383D}"/>
              </a:ext>
            </a:extLst>
          </p:cNvPr>
          <p:cNvSpPr/>
          <p:nvPr/>
        </p:nvSpPr>
        <p:spPr>
          <a:xfrm>
            <a:off x="4943872" y="5927438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ANALYSER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F821C6ED-9512-B45C-64D1-8636E73E018C}"/>
              </a:ext>
            </a:extLst>
          </p:cNvPr>
          <p:cNvSpPr/>
          <p:nvPr/>
        </p:nvSpPr>
        <p:spPr>
          <a:xfrm>
            <a:off x="4943872" y="6330806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AFFICHER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4BAE86DF-DBCD-9B55-B1FA-7FD4174019B9}"/>
              </a:ext>
            </a:extLst>
          </p:cNvPr>
          <p:cNvSpPr/>
          <p:nvPr/>
        </p:nvSpPr>
        <p:spPr>
          <a:xfrm>
            <a:off x="4943872" y="4162502"/>
            <a:ext cx="2304256" cy="33855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INTERFACER</a:t>
            </a:r>
          </a:p>
        </p:txBody>
      </p:sp>
      <p:sp>
        <p:nvSpPr>
          <p:cNvPr id="35" name="Flèche : chevron 34">
            <a:extLst>
              <a:ext uri="{FF2B5EF4-FFF2-40B4-BE49-F238E27FC236}">
                <a16:creationId xmlns:a16="http://schemas.microsoft.com/office/drawing/2014/main" xmlns="" id="{253D08C6-F3CF-E471-9F42-F3461B4C182C}"/>
              </a:ext>
            </a:extLst>
          </p:cNvPr>
          <p:cNvSpPr/>
          <p:nvPr/>
        </p:nvSpPr>
        <p:spPr>
          <a:xfrm>
            <a:off x="8785958" y="4595399"/>
            <a:ext cx="2638634" cy="325267"/>
          </a:xfrm>
          <a:prstGeom prst="chevron">
            <a:avLst/>
          </a:prstGeom>
          <a:solidFill>
            <a:srgbClr val="FA96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Modélisation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3577C404-38BF-435E-D02D-69A8E8F0BC14}"/>
              </a:ext>
            </a:extLst>
          </p:cNvPr>
          <p:cNvSpPr/>
          <p:nvPr/>
        </p:nvSpPr>
        <p:spPr>
          <a:xfrm>
            <a:off x="9120336" y="5118489"/>
            <a:ext cx="2304256" cy="338554"/>
          </a:xfrm>
          <a:prstGeom prst="rect">
            <a:avLst/>
          </a:prstGeom>
          <a:noFill/>
          <a:ln>
            <a:solidFill>
              <a:srgbClr val="FA96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A960A"/>
                </a:solidFill>
              </a:rPr>
              <a:t>VALIDER / VERIFIER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F9CF1188-5F0A-34E9-A0D3-10C3F2B502D2}"/>
              </a:ext>
            </a:extLst>
          </p:cNvPr>
          <p:cNvSpPr/>
          <p:nvPr/>
        </p:nvSpPr>
        <p:spPr>
          <a:xfrm>
            <a:off x="9120336" y="5524070"/>
            <a:ext cx="2304256" cy="338554"/>
          </a:xfrm>
          <a:prstGeom prst="rect">
            <a:avLst/>
          </a:prstGeom>
          <a:noFill/>
          <a:ln>
            <a:solidFill>
              <a:srgbClr val="FA96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A960A"/>
                </a:solidFill>
              </a:rPr>
              <a:t>AJUSTER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CB24DE96-0D26-5ED8-B407-412B930E91ED}"/>
              </a:ext>
            </a:extLst>
          </p:cNvPr>
          <p:cNvSpPr/>
          <p:nvPr/>
        </p:nvSpPr>
        <p:spPr>
          <a:xfrm>
            <a:off x="4943872" y="2362427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DETECTER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542966CE-60D4-F191-90A7-1266CBF19876}"/>
              </a:ext>
            </a:extLst>
          </p:cNvPr>
          <p:cNvSpPr/>
          <p:nvPr/>
        </p:nvSpPr>
        <p:spPr>
          <a:xfrm>
            <a:off x="4943872" y="2768008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AMPLIFIER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3363EB52-5B89-3CCE-82A3-FDE6B4AC174C}"/>
              </a:ext>
            </a:extLst>
          </p:cNvPr>
          <p:cNvSpPr/>
          <p:nvPr/>
        </p:nvSpPr>
        <p:spPr>
          <a:xfrm>
            <a:off x="4943872" y="3171376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FILTRER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29AD1DBE-6C2B-41EF-9FAD-C8737C92C633}"/>
              </a:ext>
            </a:extLst>
          </p:cNvPr>
          <p:cNvSpPr/>
          <p:nvPr/>
        </p:nvSpPr>
        <p:spPr>
          <a:xfrm>
            <a:off x="5163338" y="3582162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002060"/>
                </a:solidFill>
              </a:rPr>
              <a:t>ALIMENTER / GENERER</a:t>
            </a:r>
          </a:p>
        </p:txBody>
      </p:sp>
      <p:sp>
        <p:nvSpPr>
          <p:cNvPr id="49" name="Flèche : chevron 48">
            <a:extLst>
              <a:ext uri="{FF2B5EF4-FFF2-40B4-BE49-F238E27FC236}">
                <a16:creationId xmlns:a16="http://schemas.microsoft.com/office/drawing/2014/main" xmlns="" id="{D8891EC7-DF0C-093C-CDC5-658DAD0ED038}"/>
              </a:ext>
            </a:extLst>
          </p:cNvPr>
          <p:cNvSpPr/>
          <p:nvPr/>
        </p:nvSpPr>
        <p:spPr>
          <a:xfrm>
            <a:off x="8785958" y="1937334"/>
            <a:ext cx="2638634" cy="325267"/>
          </a:xfrm>
          <a:prstGeom prst="chevron">
            <a:avLst/>
          </a:prstGeom>
          <a:solidFill>
            <a:srgbClr val="D02D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Automatique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xmlns="" id="{C6A07083-F836-105A-219A-E6031C996B7F}"/>
              </a:ext>
            </a:extLst>
          </p:cNvPr>
          <p:cNvSpPr/>
          <p:nvPr/>
        </p:nvSpPr>
        <p:spPr>
          <a:xfrm>
            <a:off x="8953147" y="2362427"/>
            <a:ext cx="2304256" cy="338554"/>
          </a:xfrm>
          <a:prstGeom prst="rect">
            <a:avLst/>
          </a:prstGeom>
          <a:noFill/>
          <a:ln>
            <a:solidFill>
              <a:srgbClr val="D02D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D02D12"/>
                </a:solidFill>
              </a:rPr>
              <a:t>CONTROLER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xmlns="" id="{18C0EFA1-BEA1-E4FD-030B-8DCBDFD0B1C9}"/>
              </a:ext>
            </a:extLst>
          </p:cNvPr>
          <p:cNvSpPr/>
          <p:nvPr/>
        </p:nvSpPr>
        <p:spPr>
          <a:xfrm>
            <a:off x="8953147" y="2781288"/>
            <a:ext cx="2304256" cy="338554"/>
          </a:xfrm>
          <a:prstGeom prst="rect">
            <a:avLst/>
          </a:prstGeom>
          <a:noFill/>
          <a:ln>
            <a:solidFill>
              <a:srgbClr val="D02D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D02D12"/>
                </a:solidFill>
              </a:rPr>
              <a:t>ASSERVIR</a:t>
            </a:r>
          </a:p>
        </p:txBody>
      </p:sp>
    </p:spTree>
    <p:extLst>
      <p:ext uri="{BB962C8B-B14F-4D97-AF65-F5344CB8AC3E}">
        <p14:creationId xmlns:p14="http://schemas.microsoft.com/office/powerpoint/2010/main" val="7683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xmlns="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Contenue de l’UE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xmlns="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 smtClean="0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xmlns="" id="{D289D4E5-09E8-AD42-73C0-C8471D6E7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167" y="4831912"/>
            <a:ext cx="1381556" cy="109606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xmlns="" id="{080B1FE2-421C-C3F3-8759-5747F26B6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3432" y="4685531"/>
            <a:ext cx="1562434" cy="1388830"/>
          </a:xfrm>
          <a:prstGeom prst="rect">
            <a:avLst/>
          </a:prstGeom>
        </p:spPr>
      </p:pic>
      <p:sp>
        <p:nvSpPr>
          <p:cNvPr id="20" name="Rectangle : coins arrondis 7">
            <a:extLst>
              <a:ext uri="{FF2B5EF4-FFF2-40B4-BE49-F238E27FC236}">
                <a16:creationId xmlns:a16="http://schemas.microsoft.com/office/drawing/2014/main" xmlns="" id="{3831B6A5-6289-648D-2669-16CD74D6055A}"/>
              </a:ext>
            </a:extLst>
          </p:cNvPr>
          <p:cNvSpPr/>
          <p:nvPr/>
        </p:nvSpPr>
        <p:spPr>
          <a:xfrm>
            <a:off x="743267" y="2743228"/>
            <a:ext cx="6680759" cy="195346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 : pentagone 8">
            <a:extLst>
              <a:ext uri="{FF2B5EF4-FFF2-40B4-BE49-F238E27FC236}">
                <a16:creationId xmlns:a16="http://schemas.microsoft.com/office/drawing/2014/main" xmlns="" id="{28ADF0A4-E77B-DA03-EB3A-CFBDCE0AC872}"/>
              </a:ext>
            </a:extLst>
          </p:cNvPr>
          <p:cNvSpPr/>
          <p:nvPr/>
        </p:nvSpPr>
        <p:spPr>
          <a:xfrm>
            <a:off x="907226" y="3763157"/>
            <a:ext cx="1956121" cy="694481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Photodétecteur</a:t>
            </a:r>
          </a:p>
        </p:txBody>
      </p:sp>
      <p:sp>
        <p:nvSpPr>
          <p:cNvPr id="22" name="Flèche : pentagone 9">
            <a:extLst>
              <a:ext uri="{FF2B5EF4-FFF2-40B4-BE49-F238E27FC236}">
                <a16:creationId xmlns:a16="http://schemas.microsoft.com/office/drawing/2014/main" xmlns="" id="{ACF27571-268A-478D-3B8F-50DB98195AE4}"/>
              </a:ext>
            </a:extLst>
          </p:cNvPr>
          <p:cNvSpPr/>
          <p:nvPr/>
        </p:nvSpPr>
        <p:spPr>
          <a:xfrm>
            <a:off x="907225" y="2911454"/>
            <a:ext cx="1956121" cy="694481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Source / LED</a:t>
            </a:r>
          </a:p>
        </p:txBody>
      </p:sp>
      <p:sp>
        <p:nvSpPr>
          <p:cNvPr id="23" name="Flèche : chevron 10">
            <a:extLst>
              <a:ext uri="{FF2B5EF4-FFF2-40B4-BE49-F238E27FC236}">
                <a16:creationId xmlns:a16="http://schemas.microsoft.com/office/drawing/2014/main" xmlns="" id="{AA4B21F1-4161-655B-5767-E5C2B69D21BD}"/>
              </a:ext>
            </a:extLst>
          </p:cNvPr>
          <p:cNvSpPr/>
          <p:nvPr/>
        </p:nvSpPr>
        <p:spPr>
          <a:xfrm>
            <a:off x="2863346" y="2911453"/>
            <a:ext cx="2013995" cy="694481"/>
          </a:xfrm>
          <a:prstGeom prst="chevron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Emetteur</a:t>
            </a:r>
          </a:p>
        </p:txBody>
      </p:sp>
      <p:sp>
        <p:nvSpPr>
          <p:cNvPr id="24" name="Flèche : chevron 11">
            <a:extLst>
              <a:ext uri="{FF2B5EF4-FFF2-40B4-BE49-F238E27FC236}">
                <a16:creationId xmlns:a16="http://schemas.microsoft.com/office/drawing/2014/main" xmlns="" id="{2B851135-06CF-594A-7450-17DA7231C110}"/>
              </a:ext>
            </a:extLst>
          </p:cNvPr>
          <p:cNvSpPr/>
          <p:nvPr/>
        </p:nvSpPr>
        <p:spPr>
          <a:xfrm>
            <a:off x="2863346" y="3763157"/>
            <a:ext cx="2013995" cy="694481"/>
          </a:xfrm>
          <a:prstGeom prst="chevron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Récepteur</a:t>
            </a:r>
          </a:p>
        </p:txBody>
      </p:sp>
      <p:sp>
        <p:nvSpPr>
          <p:cNvPr id="25" name="Flèche : chevron 12">
            <a:extLst>
              <a:ext uri="{FF2B5EF4-FFF2-40B4-BE49-F238E27FC236}">
                <a16:creationId xmlns:a16="http://schemas.microsoft.com/office/drawing/2014/main" xmlns="" id="{DC1BC409-5367-BFD5-A3BF-E35BF1856B9D}"/>
              </a:ext>
            </a:extLst>
          </p:cNvPr>
          <p:cNvSpPr/>
          <p:nvPr/>
        </p:nvSpPr>
        <p:spPr>
          <a:xfrm>
            <a:off x="4877341" y="3763156"/>
            <a:ext cx="2013995" cy="694481"/>
          </a:xfrm>
          <a:prstGeom prst="chevron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Optimisation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xmlns="" id="{39864482-9753-290A-3835-55F6858709FA}"/>
              </a:ext>
            </a:extLst>
          </p:cNvPr>
          <p:cNvSpPr txBox="1"/>
          <p:nvPr/>
        </p:nvSpPr>
        <p:spPr>
          <a:xfrm>
            <a:off x="907225" y="1611430"/>
            <a:ext cx="121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 séances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xmlns="" id="{BCFB3284-2C30-3921-B88B-1AF38A707C71}"/>
              </a:ext>
            </a:extLst>
          </p:cNvPr>
          <p:cNvSpPr txBox="1"/>
          <p:nvPr/>
        </p:nvSpPr>
        <p:spPr>
          <a:xfrm>
            <a:off x="1105420" y="3343753"/>
            <a:ext cx="1201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Carac Statique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xmlns="" id="{37368C82-75E3-A542-2D81-1A0BF6062A6C}"/>
              </a:ext>
            </a:extLst>
          </p:cNvPr>
          <p:cNvSpPr txBox="1"/>
          <p:nvPr/>
        </p:nvSpPr>
        <p:spPr>
          <a:xfrm>
            <a:off x="1105420" y="4163189"/>
            <a:ext cx="1201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Carac Statique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xmlns="" id="{49486859-C02B-5896-180E-13B456B499CB}"/>
              </a:ext>
            </a:extLst>
          </p:cNvPr>
          <p:cNvSpPr txBox="1"/>
          <p:nvPr/>
        </p:nvSpPr>
        <p:spPr>
          <a:xfrm>
            <a:off x="3234071" y="4178883"/>
            <a:ext cx="1165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Réponse freq.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xmlns="" id="{D427008F-58E6-4057-4D4E-F9D3B8AE3B8A}"/>
              </a:ext>
            </a:extLst>
          </p:cNvPr>
          <p:cNvSpPr txBox="1"/>
          <p:nvPr/>
        </p:nvSpPr>
        <p:spPr>
          <a:xfrm>
            <a:off x="5239229" y="4194314"/>
            <a:ext cx="510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AOP</a:t>
            </a:r>
          </a:p>
        </p:txBody>
      </p:sp>
      <p:cxnSp>
        <p:nvCxnSpPr>
          <p:cNvPr id="31" name="Connecteur : en arc 15">
            <a:extLst>
              <a:ext uri="{FF2B5EF4-FFF2-40B4-BE49-F238E27FC236}">
                <a16:creationId xmlns:a16="http://schemas.microsoft.com/office/drawing/2014/main" xmlns="" id="{1B56CF65-8D49-354F-2607-F55BD67DA5DC}"/>
              </a:ext>
            </a:extLst>
          </p:cNvPr>
          <p:cNvCxnSpPr>
            <a:cxnSpLocks/>
          </p:cNvCxnSpPr>
          <p:nvPr/>
        </p:nvCxnSpPr>
        <p:spPr>
          <a:xfrm flipV="1">
            <a:off x="3480532" y="5222022"/>
            <a:ext cx="1349785" cy="320040"/>
          </a:xfrm>
          <a:prstGeom prst="curvedConnector3">
            <a:avLst>
              <a:gd name="adj1" fmla="val 50000"/>
            </a:avLst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xmlns="" id="{362C3312-9CD4-773B-546E-C01121CB6607}"/>
              </a:ext>
            </a:extLst>
          </p:cNvPr>
          <p:cNvSpPr txBox="1"/>
          <p:nvPr/>
        </p:nvSpPr>
        <p:spPr>
          <a:xfrm>
            <a:off x="375547" y="6550223"/>
            <a:ext cx="464973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/>
            <a:r>
              <a:rPr lang="fr-FR" sz="700" dirty="0">
                <a:solidFill>
                  <a:prstClr val="black"/>
                </a:solidFill>
                <a:latin typeface="Liberation Sans" panose="020B0604020202020204" pitchFamily="34" charset="0"/>
              </a:rPr>
              <a:t>Images : </a:t>
            </a:r>
            <a:r>
              <a:rPr lang="fr-FR" sz="700" dirty="0" err="1">
                <a:solidFill>
                  <a:prstClr val="black"/>
                </a:solidFill>
                <a:latin typeface="Liberation Sans" panose="020B0604020202020204" pitchFamily="34" charset="0"/>
              </a:rPr>
              <a:t>Radiospares</a:t>
            </a:r>
            <a:r>
              <a:rPr lang="fr-FR" sz="700" dirty="0">
                <a:solidFill>
                  <a:prstClr val="black"/>
                </a:solidFill>
                <a:latin typeface="Liberation Sans" panose="020B0604020202020204" pitchFamily="34" charset="0"/>
              </a:rPr>
              <a:t> / rs-online.com</a:t>
            </a:r>
            <a:endParaRPr lang="fr-FR" sz="1000" b="0" i="0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xmlns="" id="{DB8C80BD-BCA5-0BB5-3E7A-9F146103F612}"/>
              </a:ext>
            </a:extLst>
          </p:cNvPr>
          <p:cNvSpPr txBox="1"/>
          <p:nvPr/>
        </p:nvSpPr>
        <p:spPr>
          <a:xfrm>
            <a:off x="10416516" y="1608582"/>
            <a:ext cx="121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séances</a:t>
            </a:r>
          </a:p>
        </p:txBody>
      </p:sp>
      <p:sp>
        <p:nvSpPr>
          <p:cNvPr id="34" name="Rectangle : coins arrondis 13">
            <a:extLst>
              <a:ext uri="{FF2B5EF4-FFF2-40B4-BE49-F238E27FC236}">
                <a16:creationId xmlns:a16="http://schemas.microsoft.com/office/drawing/2014/main" xmlns="" id="{81E8FF1F-0D52-122D-E5E6-DAD7AD83E1F7}"/>
              </a:ext>
            </a:extLst>
          </p:cNvPr>
          <p:cNvSpPr/>
          <p:nvPr/>
        </p:nvSpPr>
        <p:spPr>
          <a:xfrm>
            <a:off x="8054542" y="1977914"/>
            <a:ext cx="3646462" cy="1953464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Comment </a:t>
            </a:r>
            <a:r>
              <a:rPr lang="fr-FR" b="1" dirty="0"/>
              <a:t>acquérir une image </a:t>
            </a:r>
            <a:r>
              <a:rPr lang="fr-FR" dirty="0"/>
              <a:t>numérique exploitable ?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Comment </a:t>
            </a:r>
            <a:r>
              <a:rPr lang="fr-FR" b="1" dirty="0"/>
              <a:t>préparer une image </a:t>
            </a:r>
            <a:r>
              <a:rPr lang="fr-FR" dirty="0"/>
              <a:t>numérique pour un traitement ?</a:t>
            </a:r>
            <a:endParaRPr lang="fr-FR" sz="2400" dirty="0"/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xmlns="" id="{BB3DD7E3-4EDD-3CF2-2FA3-5F9C5F7386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8402" y="4075327"/>
            <a:ext cx="1130633" cy="1130633"/>
          </a:xfrm>
          <a:prstGeom prst="rect">
            <a:avLst/>
          </a:prstGeom>
        </p:spPr>
      </p:pic>
      <p:pic>
        <p:nvPicPr>
          <p:cNvPr id="36" name="Image 35" descr="Une image contenant texte, capture d’écran, Post-it, Rectangle&#10;&#10;Le contenu généré par l’IA peut être incorrect.">
            <a:extLst>
              <a:ext uri="{FF2B5EF4-FFF2-40B4-BE49-F238E27FC236}">
                <a16:creationId xmlns:a16="http://schemas.microsoft.com/office/drawing/2014/main" xmlns="" id="{9CD72F96-59F2-CA27-62E3-8974ACEBBB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510" y="5205960"/>
            <a:ext cx="3322525" cy="1458510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xmlns="" id="{6F4D2A82-CA7C-D137-200C-91B9E50DB9C5}"/>
              </a:ext>
            </a:extLst>
          </p:cNvPr>
          <p:cNvSpPr txBox="1"/>
          <p:nvPr/>
        </p:nvSpPr>
        <p:spPr>
          <a:xfrm>
            <a:off x="6888088" y="1161715"/>
            <a:ext cx="2561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UE = Unité d’Enseignement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57235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xmlns="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Contenue de l’UE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xmlns="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 smtClean="0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37" name="Flèche : pentagone 11">
            <a:extLst>
              <a:ext uri="{FF2B5EF4-FFF2-40B4-BE49-F238E27FC236}">
                <a16:creationId xmlns:a16="http://schemas.microsoft.com/office/drawing/2014/main" xmlns="" id="{4BFD9744-0876-5047-18DF-17BB5AA72CFD}"/>
              </a:ext>
            </a:extLst>
          </p:cNvPr>
          <p:cNvSpPr/>
          <p:nvPr/>
        </p:nvSpPr>
        <p:spPr>
          <a:xfrm>
            <a:off x="9008724" y="2691044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8 séances de TD</a:t>
            </a:r>
          </a:p>
        </p:txBody>
      </p:sp>
      <p:sp>
        <p:nvSpPr>
          <p:cNvPr id="38" name="Flèche : pentagone 13">
            <a:extLst>
              <a:ext uri="{FF2B5EF4-FFF2-40B4-BE49-F238E27FC236}">
                <a16:creationId xmlns:a16="http://schemas.microsoft.com/office/drawing/2014/main" xmlns="" id="{862561DF-5E53-4B2F-2083-D2A26DEB7A9C}"/>
              </a:ext>
            </a:extLst>
          </p:cNvPr>
          <p:cNvSpPr/>
          <p:nvPr/>
        </p:nvSpPr>
        <p:spPr>
          <a:xfrm>
            <a:off x="9008724" y="1940503"/>
            <a:ext cx="2561364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6 séances de TP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xmlns="" id="{3C9D3F52-E1BA-B42F-CF7D-2C54A262BFB9}"/>
              </a:ext>
            </a:extLst>
          </p:cNvPr>
          <p:cNvSpPr txBox="1"/>
          <p:nvPr/>
        </p:nvSpPr>
        <p:spPr>
          <a:xfrm>
            <a:off x="9320309" y="2316780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4h30 / en binôme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xmlns="" id="{7BDFE3A8-516A-719B-9836-7966508F83B9}"/>
              </a:ext>
            </a:extLst>
          </p:cNvPr>
          <p:cNvSpPr txBox="1"/>
          <p:nvPr/>
        </p:nvSpPr>
        <p:spPr>
          <a:xfrm>
            <a:off x="9320308" y="3103256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xmlns="" id="{6F4D2A82-CA7C-D137-200C-91B9E50DB9C5}"/>
              </a:ext>
            </a:extLst>
          </p:cNvPr>
          <p:cNvSpPr txBox="1"/>
          <p:nvPr/>
        </p:nvSpPr>
        <p:spPr>
          <a:xfrm>
            <a:off x="6888088" y="1161715"/>
            <a:ext cx="2561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UE = Unité d’Enseignement</a:t>
            </a:r>
            <a:endParaRPr lang="fr-FR" sz="140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xmlns="" id="{2628BA60-A8EC-4AA1-00CA-85A39DAE9194}"/>
              </a:ext>
            </a:extLst>
          </p:cNvPr>
          <p:cNvSpPr txBox="1"/>
          <p:nvPr/>
        </p:nvSpPr>
        <p:spPr>
          <a:xfrm>
            <a:off x="907225" y="3132056"/>
            <a:ext cx="688346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Module d’enseignement s’inscrivant dans le </a:t>
            </a:r>
            <a:br>
              <a:rPr lang="fr-FR" dirty="0"/>
            </a:br>
            <a:r>
              <a:rPr lang="fr-FR" sz="2400" b="1" dirty="0">
                <a:solidFill>
                  <a:srgbClr val="002060"/>
                </a:solidFill>
              </a:rPr>
              <a:t>déploiement de l’approche par compétences </a:t>
            </a:r>
            <a:endParaRPr lang="fr-FR" dirty="0">
              <a:solidFill>
                <a:srgbClr val="002060"/>
              </a:solidFill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1400" dirty="0"/>
              <a:t>Vous serez </a:t>
            </a:r>
            <a:r>
              <a:rPr lang="fr-FR" sz="1400" dirty="0" err="1"/>
              <a:t>encouragé·e</a:t>
            </a:r>
            <a:r>
              <a:rPr lang="fr-FR" sz="1400" dirty="0"/>
              <a:t> à 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b="1" dirty="0"/>
              <a:t>analyser votre progression personnelle</a:t>
            </a:r>
            <a:r>
              <a:rPr lang="fr-FR" dirty="0"/>
              <a:t> 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sz="1400" dirty="0"/>
              <a:t>dans l’acquisition de savoirs et savoir-faire</a:t>
            </a:r>
            <a:endParaRPr lang="fr-FR" sz="1600" dirty="0"/>
          </a:p>
          <a:p>
            <a:endParaRPr lang="fr-FR" sz="1600" dirty="0"/>
          </a:p>
          <a:p>
            <a:r>
              <a:rPr lang="fr-FR" sz="1400" dirty="0"/>
              <a:t>Vous serez </a:t>
            </a:r>
            <a:r>
              <a:rPr lang="fr-FR" sz="1400" dirty="0" err="1"/>
              <a:t>amené·e</a:t>
            </a:r>
            <a:r>
              <a:rPr lang="fr-FR" sz="1400" dirty="0"/>
              <a:t> en particulier à </a:t>
            </a:r>
            <a:br>
              <a:rPr lang="fr-FR" sz="1400" dirty="0"/>
            </a:br>
            <a:r>
              <a:rPr lang="fr-FR" b="1" dirty="0"/>
              <a:t>repérer de façon explicite les erreurs 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sz="1400" dirty="0"/>
              <a:t>et les maladresses commises</a:t>
            </a:r>
            <a:endParaRPr lang="fr-FR" sz="1600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xmlns="" id="{77201329-58DA-613B-87D6-838BFF5FC419}"/>
              </a:ext>
            </a:extLst>
          </p:cNvPr>
          <p:cNvSpPr txBox="1"/>
          <p:nvPr/>
        </p:nvSpPr>
        <p:spPr>
          <a:xfrm>
            <a:off x="933498" y="1765148"/>
            <a:ext cx="4781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dirty="0"/>
              <a:t>Volume horaire de 42h </a:t>
            </a:r>
            <a:r>
              <a:rPr lang="fr-FR" dirty="0"/>
              <a:t>pour </a:t>
            </a:r>
            <a:r>
              <a:rPr lang="fr-FR" b="1" dirty="0"/>
              <a:t>4 ECTS</a:t>
            </a:r>
            <a:r>
              <a:rPr lang="fr-FR" dirty="0"/>
              <a:t> </a:t>
            </a:r>
            <a:br>
              <a:rPr lang="fr-FR" dirty="0"/>
            </a:br>
            <a:r>
              <a:rPr lang="fr-FR" sz="1400" dirty="0"/>
              <a:t>(</a:t>
            </a:r>
            <a:r>
              <a:rPr lang="fr-FR" sz="1400" i="1" dirty="0" err="1"/>
              <a:t>European</a:t>
            </a:r>
            <a:r>
              <a:rPr lang="fr-FR" sz="1400" i="1" dirty="0"/>
              <a:t> </a:t>
            </a:r>
            <a:r>
              <a:rPr lang="fr-FR" sz="1400" i="1" dirty="0" err="1"/>
              <a:t>Credit</a:t>
            </a:r>
            <a:r>
              <a:rPr lang="fr-FR" sz="1400" i="1" dirty="0"/>
              <a:t> Transfer and Accumulation System</a:t>
            </a:r>
            <a:r>
              <a:rPr lang="fr-FR" sz="1400" dirty="0"/>
              <a:t>) </a:t>
            </a:r>
            <a:endParaRPr lang="fr-FR" dirty="0"/>
          </a:p>
        </p:txBody>
      </p:sp>
      <p:sp>
        <p:nvSpPr>
          <p:cNvPr id="44" name="Rectangle : coins arrondis 28">
            <a:extLst>
              <a:ext uri="{FF2B5EF4-FFF2-40B4-BE49-F238E27FC236}">
                <a16:creationId xmlns:a16="http://schemas.microsoft.com/office/drawing/2014/main" xmlns="" id="{86DAA1EA-4AC5-8DDB-3DF5-D340B4C083DA}"/>
              </a:ext>
            </a:extLst>
          </p:cNvPr>
          <p:cNvSpPr/>
          <p:nvPr/>
        </p:nvSpPr>
        <p:spPr>
          <a:xfrm>
            <a:off x="5715000" y="1832187"/>
            <a:ext cx="1481328" cy="36933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13 % du S5</a:t>
            </a:r>
          </a:p>
        </p:txBody>
      </p:sp>
      <p:sp>
        <p:nvSpPr>
          <p:cNvPr id="45" name="Rectangle : coins arrondis 29">
            <a:extLst>
              <a:ext uri="{FF2B5EF4-FFF2-40B4-BE49-F238E27FC236}">
                <a16:creationId xmlns:a16="http://schemas.microsoft.com/office/drawing/2014/main" xmlns="" id="{237980B8-414A-9B48-1996-2D348DCB3EDC}"/>
              </a:ext>
            </a:extLst>
          </p:cNvPr>
          <p:cNvSpPr/>
          <p:nvPr/>
        </p:nvSpPr>
        <p:spPr>
          <a:xfrm>
            <a:off x="9008722" y="5308661"/>
            <a:ext cx="2561364" cy="11442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Responsables</a:t>
            </a:r>
          </a:p>
          <a:p>
            <a:pPr algn="ctr"/>
            <a:endParaRPr lang="fr-FR" sz="1200" b="1" dirty="0"/>
          </a:p>
          <a:p>
            <a:pPr algn="ctr"/>
            <a:r>
              <a:rPr lang="fr-FR" sz="1600" dirty="0"/>
              <a:t>Fabienne BERNARD</a:t>
            </a:r>
          </a:p>
          <a:p>
            <a:pPr algn="ctr"/>
            <a:r>
              <a:rPr lang="fr-FR" sz="1600" dirty="0"/>
              <a:t>Julien VILLEMEJANE</a:t>
            </a:r>
          </a:p>
        </p:txBody>
      </p:sp>
      <p:sp>
        <p:nvSpPr>
          <p:cNvPr id="46" name="Flèche : pentagone 4">
            <a:extLst>
              <a:ext uri="{FF2B5EF4-FFF2-40B4-BE49-F238E27FC236}">
                <a16:creationId xmlns:a16="http://schemas.microsoft.com/office/drawing/2014/main" xmlns="" id="{CE9D8D48-DFB0-F1C5-7E7A-8C2B7A6D6D8F}"/>
              </a:ext>
            </a:extLst>
          </p:cNvPr>
          <p:cNvSpPr/>
          <p:nvPr/>
        </p:nvSpPr>
        <p:spPr>
          <a:xfrm>
            <a:off x="9008722" y="3682824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2 cours magistraux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xmlns="" id="{617905C3-6559-FB76-94FE-6C81E3F92E67}"/>
              </a:ext>
            </a:extLst>
          </p:cNvPr>
          <p:cNvSpPr txBox="1"/>
          <p:nvPr/>
        </p:nvSpPr>
        <p:spPr>
          <a:xfrm>
            <a:off x="9320306" y="4095036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</p:spTree>
    <p:extLst>
      <p:ext uri="{BB962C8B-B14F-4D97-AF65-F5344CB8AC3E}">
        <p14:creationId xmlns:p14="http://schemas.microsoft.com/office/powerpoint/2010/main" val="127626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xmlns="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Approche par compétences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xmlns="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 smtClean="0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xmlns="" id="{6D2883B5-1155-D3A2-65BB-C9C9D21E4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745" y="1933900"/>
            <a:ext cx="7490544" cy="451898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EE7E5D26-46F9-9493-593F-FEAF55B60669}"/>
              </a:ext>
            </a:extLst>
          </p:cNvPr>
          <p:cNvSpPr/>
          <p:nvPr/>
        </p:nvSpPr>
        <p:spPr>
          <a:xfrm>
            <a:off x="6656832" y="3357356"/>
            <a:ext cx="2505456" cy="1479819"/>
          </a:xfrm>
          <a:prstGeom prst="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455CCB61-45B6-AD8E-4A2A-F2ECAC198F2F}"/>
              </a:ext>
            </a:extLst>
          </p:cNvPr>
          <p:cNvSpPr/>
          <p:nvPr/>
        </p:nvSpPr>
        <p:spPr>
          <a:xfrm>
            <a:off x="9161844" y="1876027"/>
            <a:ext cx="2505456" cy="1479819"/>
          </a:xfrm>
          <a:prstGeom prst="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810259CD-6F95-C931-B7E2-D0A9DC8D6755}"/>
              </a:ext>
            </a:extLst>
          </p:cNvPr>
          <p:cNvSpPr/>
          <p:nvPr/>
        </p:nvSpPr>
        <p:spPr>
          <a:xfrm>
            <a:off x="4139771" y="3355846"/>
            <a:ext cx="2505456" cy="1479819"/>
          </a:xfrm>
          <a:prstGeom prst="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770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xmlns="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Déroulement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xmlns="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 smtClean="0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xmlns="" id="{70DEBF2F-962B-2118-00D0-C2E2D0D221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225" y="2905451"/>
            <a:ext cx="817592" cy="72674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39864482-9753-290A-3835-55F6858709FA}"/>
              </a:ext>
            </a:extLst>
          </p:cNvPr>
          <p:cNvSpPr txBox="1"/>
          <p:nvPr/>
        </p:nvSpPr>
        <p:spPr>
          <a:xfrm>
            <a:off x="907225" y="1611430"/>
            <a:ext cx="121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 séances</a:t>
            </a:r>
          </a:p>
        </p:txBody>
      </p:sp>
      <p:sp>
        <p:nvSpPr>
          <p:cNvPr id="14" name="Flèche : pentagone 19">
            <a:extLst>
              <a:ext uri="{FF2B5EF4-FFF2-40B4-BE49-F238E27FC236}">
                <a16:creationId xmlns:a16="http://schemas.microsoft.com/office/drawing/2014/main" xmlns="" id="{2B48A41D-8BAF-BE4F-4E2F-096FB1C909EE}"/>
              </a:ext>
            </a:extLst>
          </p:cNvPr>
          <p:cNvSpPr/>
          <p:nvPr/>
        </p:nvSpPr>
        <p:spPr>
          <a:xfrm>
            <a:off x="540846" y="4121589"/>
            <a:ext cx="2893250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2 séances en individuel</a:t>
            </a:r>
          </a:p>
        </p:txBody>
      </p:sp>
      <p:sp>
        <p:nvSpPr>
          <p:cNvPr id="15" name="Flèche : pentagone 20">
            <a:extLst>
              <a:ext uri="{FF2B5EF4-FFF2-40B4-BE49-F238E27FC236}">
                <a16:creationId xmlns:a16="http://schemas.microsoft.com/office/drawing/2014/main" xmlns="" id="{A0ABED0A-FA80-4E0A-C1FA-C49F0624BC34}"/>
              </a:ext>
            </a:extLst>
          </p:cNvPr>
          <p:cNvSpPr/>
          <p:nvPr/>
        </p:nvSpPr>
        <p:spPr>
          <a:xfrm>
            <a:off x="540846" y="5349496"/>
            <a:ext cx="2893250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1 séance en binôme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70B66A6B-EF1E-45FB-249E-1355DF2BAEAF}"/>
              </a:ext>
            </a:extLst>
          </p:cNvPr>
          <p:cNvSpPr/>
          <p:nvPr/>
        </p:nvSpPr>
        <p:spPr>
          <a:xfrm>
            <a:off x="4358026" y="4102302"/>
            <a:ext cx="1356298" cy="46814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Caractéristique statique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C76FC09C-6EF4-6C72-E95C-6B01C9C7E30F}"/>
              </a:ext>
            </a:extLst>
          </p:cNvPr>
          <p:cNvSpPr/>
          <p:nvPr/>
        </p:nvSpPr>
        <p:spPr>
          <a:xfrm>
            <a:off x="5819775" y="5251811"/>
            <a:ext cx="1356298" cy="101025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Feuille de résultats</a:t>
            </a:r>
            <a:br>
              <a:rPr lang="fr-FR" sz="1050" dirty="0">
                <a:solidFill>
                  <a:schemeClr val="bg1"/>
                </a:solidFill>
              </a:rPr>
            </a:br>
            <a:r>
              <a:rPr lang="fr-FR" sz="1050" dirty="0">
                <a:solidFill>
                  <a:schemeClr val="bg1"/>
                </a:solidFill>
              </a:rPr>
              <a:t/>
            </a:r>
            <a:br>
              <a:rPr lang="fr-FR" sz="1050" dirty="0">
                <a:solidFill>
                  <a:schemeClr val="bg1"/>
                </a:solidFill>
              </a:rPr>
            </a:br>
            <a:r>
              <a:rPr lang="fr-FR" sz="1050" dirty="0">
                <a:solidFill>
                  <a:schemeClr val="bg1"/>
                </a:solidFill>
              </a:rPr>
              <a:t>Rédaction protocole 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</a:rPr>
              <a:t>Analyse comparative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8CAD7EEC-F41E-8C48-A14A-851D9C53CA3E}"/>
              </a:ext>
            </a:extLst>
          </p:cNvPr>
          <p:cNvSpPr/>
          <p:nvPr/>
        </p:nvSpPr>
        <p:spPr>
          <a:xfrm>
            <a:off x="4358027" y="5251812"/>
            <a:ext cx="1356298" cy="101025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Comparaison des caractéristiques dynamiques</a:t>
            </a:r>
          </a:p>
        </p:txBody>
      </p:sp>
      <p:sp>
        <p:nvSpPr>
          <p:cNvPr id="24" name="Rectangle : coins arrondis 37">
            <a:extLst>
              <a:ext uri="{FF2B5EF4-FFF2-40B4-BE49-F238E27FC236}">
                <a16:creationId xmlns:a16="http://schemas.microsoft.com/office/drawing/2014/main" xmlns="" id="{40810789-B56D-7665-0F6C-E310414DAB4F}"/>
              </a:ext>
            </a:extLst>
          </p:cNvPr>
          <p:cNvSpPr/>
          <p:nvPr/>
        </p:nvSpPr>
        <p:spPr>
          <a:xfrm>
            <a:off x="8054542" y="1977914"/>
            <a:ext cx="3646462" cy="145108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Vision industrielle</a:t>
            </a:r>
            <a:br>
              <a:rPr lang="fr-FR" dirty="0"/>
            </a:br>
            <a:r>
              <a:rPr lang="fr-FR" dirty="0"/>
              <a:t>Traitement d’image</a:t>
            </a:r>
            <a:endParaRPr lang="fr-FR" sz="240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xmlns="" id="{80BCB17D-4C08-1457-200D-745BB5C86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8786" y="3520600"/>
            <a:ext cx="733784" cy="733784"/>
          </a:xfrm>
          <a:prstGeom prst="rect">
            <a:avLst/>
          </a:prstGeom>
        </p:spPr>
      </p:pic>
      <p:sp>
        <p:nvSpPr>
          <p:cNvPr id="26" name="Organigramme : Connecteur page suivante 25">
            <a:extLst>
              <a:ext uri="{FF2B5EF4-FFF2-40B4-BE49-F238E27FC236}">
                <a16:creationId xmlns:a16="http://schemas.microsoft.com/office/drawing/2014/main" xmlns="" id="{30AE272D-DE58-2557-D637-82A8E7EEFD33}"/>
              </a:ext>
            </a:extLst>
          </p:cNvPr>
          <p:cNvSpPr/>
          <p:nvPr/>
        </p:nvSpPr>
        <p:spPr>
          <a:xfrm>
            <a:off x="9682489" y="3304245"/>
            <a:ext cx="1356297" cy="950140"/>
          </a:xfrm>
          <a:prstGeom prst="flowChartOffpageConnector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Production de </a:t>
            </a:r>
            <a:r>
              <a:rPr lang="fr-FR" sz="1200" b="1" dirty="0">
                <a:solidFill>
                  <a:schemeClr val="bg1"/>
                </a:solidFill>
              </a:rPr>
              <a:t>livrables</a:t>
            </a:r>
          </a:p>
        </p:txBody>
      </p:sp>
      <p:sp>
        <p:nvSpPr>
          <p:cNvPr id="27" name="Organigramme : Connecteur page suivante 26">
            <a:extLst>
              <a:ext uri="{FF2B5EF4-FFF2-40B4-BE49-F238E27FC236}">
                <a16:creationId xmlns:a16="http://schemas.microsoft.com/office/drawing/2014/main" xmlns="" id="{E61CDC6D-D588-2909-210E-06EF8222EADB}"/>
              </a:ext>
            </a:extLst>
          </p:cNvPr>
          <p:cNvSpPr/>
          <p:nvPr/>
        </p:nvSpPr>
        <p:spPr>
          <a:xfrm>
            <a:off x="8198990" y="3310597"/>
            <a:ext cx="1356297" cy="931083"/>
          </a:xfrm>
          <a:prstGeom prst="flowChartOffpageConnector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Mise en œuvre de </a:t>
            </a:r>
            <a:r>
              <a:rPr lang="fr-FR" sz="1200" b="1" dirty="0">
                <a:solidFill>
                  <a:schemeClr val="bg1"/>
                </a:solidFill>
              </a:rPr>
              <a:t>protocoles</a:t>
            </a:r>
            <a:r>
              <a:rPr lang="fr-FR" sz="1200" dirty="0">
                <a:solidFill>
                  <a:schemeClr val="bg1"/>
                </a:solidFill>
              </a:rPr>
              <a:t/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Réalisation de </a:t>
            </a:r>
            <a:r>
              <a:rPr lang="fr-FR" sz="1200" b="1" dirty="0">
                <a:solidFill>
                  <a:schemeClr val="bg1"/>
                </a:solidFill>
              </a:rPr>
              <a:t>mesures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CFAE7004-78F0-2949-7707-0414FEDBC65C}"/>
              </a:ext>
            </a:extLst>
          </p:cNvPr>
          <p:cNvSpPr/>
          <p:nvPr/>
        </p:nvSpPr>
        <p:spPr>
          <a:xfrm>
            <a:off x="8198988" y="4460110"/>
            <a:ext cx="1356298" cy="64528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Prise en main caméra industrielle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xmlns="" id="{529F8C9F-B255-DCE9-D2AC-4AFDF1E64CBA}"/>
              </a:ext>
            </a:extLst>
          </p:cNvPr>
          <p:cNvSpPr txBox="1"/>
          <p:nvPr/>
        </p:nvSpPr>
        <p:spPr>
          <a:xfrm>
            <a:off x="9044918" y="1608582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séances (en binôme)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2990232F-199F-F3D2-52F8-D218DA81F29D}"/>
              </a:ext>
            </a:extLst>
          </p:cNvPr>
          <p:cNvSpPr/>
          <p:nvPr/>
        </p:nvSpPr>
        <p:spPr>
          <a:xfrm>
            <a:off x="5819775" y="4102302"/>
            <a:ext cx="1356298" cy="46814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Feuille de résultats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685121DB-E620-A657-FAEC-C010A901015E}"/>
              </a:ext>
            </a:extLst>
          </p:cNvPr>
          <p:cNvSpPr/>
          <p:nvPr/>
        </p:nvSpPr>
        <p:spPr>
          <a:xfrm>
            <a:off x="5819775" y="4669541"/>
            <a:ext cx="1356298" cy="46814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Auto-évaluation compétences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8DB142BE-B09A-F1F5-44BC-E9EFA5D1D863}"/>
              </a:ext>
            </a:extLst>
          </p:cNvPr>
          <p:cNvSpPr/>
          <p:nvPr/>
        </p:nvSpPr>
        <p:spPr>
          <a:xfrm>
            <a:off x="4358026" y="4674934"/>
            <a:ext cx="1356298" cy="46275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Etude dynamique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xmlns="" id="{2D63247D-B4AD-B18D-8F20-57C812B8B6AC}"/>
              </a:ext>
            </a:extLst>
          </p:cNvPr>
          <p:cNvSpPr txBox="1"/>
          <p:nvPr/>
        </p:nvSpPr>
        <p:spPr>
          <a:xfrm>
            <a:off x="540846" y="4510440"/>
            <a:ext cx="36899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Caractérisation statique d’un dipôle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Caractérisation fréquentielle d’un système linéaire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xmlns="" id="{F71C34D5-FC0E-E7E9-ABC4-17ADECBE5A2D}"/>
              </a:ext>
            </a:extLst>
          </p:cNvPr>
          <p:cNvSpPr txBox="1"/>
          <p:nvPr/>
        </p:nvSpPr>
        <p:spPr>
          <a:xfrm>
            <a:off x="540846" y="5726985"/>
            <a:ext cx="36899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Comparaison de circuits de photodétection (étude dynamique)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DF52A36B-B31F-53E2-9113-F63348C11A11}"/>
              </a:ext>
            </a:extLst>
          </p:cNvPr>
          <p:cNvSpPr/>
          <p:nvPr/>
        </p:nvSpPr>
        <p:spPr>
          <a:xfrm>
            <a:off x="8198988" y="5214617"/>
            <a:ext cx="1356298" cy="46814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Détection d’objets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B71D99C7-1D25-1E99-315C-2F04A7D8DF8D}"/>
              </a:ext>
            </a:extLst>
          </p:cNvPr>
          <p:cNvSpPr/>
          <p:nvPr/>
        </p:nvSpPr>
        <p:spPr>
          <a:xfrm>
            <a:off x="8198988" y="5791979"/>
            <a:ext cx="1356298" cy="46814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Détection de couleurs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2EC2F9DF-A3AE-36AB-D785-BEB02958A382}"/>
              </a:ext>
            </a:extLst>
          </p:cNvPr>
          <p:cNvSpPr/>
          <p:nvPr/>
        </p:nvSpPr>
        <p:spPr>
          <a:xfrm>
            <a:off x="9682488" y="4460110"/>
            <a:ext cx="1356298" cy="46814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Feuille de résultats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31183452-3CB8-77E9-DC59-7EC3F8CB673E}"/>
              </a:ext>
            </a:extLst>
          </p:cNvPr>
          <p:cNvSpPr/>
          <p:nvPr/>
        </p:nvSpPr>
        <p:spPr>
          <a:xfrm>
            <a:off x="9682488" y="5214617"/>
            <a:ext cx="1356298" cy="104550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Analyse comparative</a:t>
            </a:r>
          </a:p>
        </p:txBody>
      </p:sp>
      <p:sp>
        <p:nvSpPr>
          <p:cNvPr id="39" name="Rectangle : coins arrondis 13">
            <a:extLst>
              <a:ext uri="{FF2B5EF4-FFF2-40B4-BE49-F238E27FC236}">
                <a16:creationId xmlns:a16="http://schemas.microsoft.com/office/drawing/2014/main" xmlns="" id="{81E8FF1F-0D52-122D-E5E6-DAD7AD83E1F7}"/>
              </a:ext>
            </a:extLst>
          </p:cNvPr>
          <p:cNvSpPr/>
          <p:nvPr/>
        </p:nvSpPr>
        <p:spPr>
          <a:xfrm>
            <a:off x="743266" y="1977914"/>
            <a:ext cx="6680760" cy="938694"/>
          </a:xfrm>
          <a:prstGeom prst="roundRect">
            <a:avLst>
              <a:gd name="adj" fmla="val 2642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Photodétection</a:t>
            </a:r>
            <a:endParaRPr lang="fr-FR" sz="2400" dirty="0"/>
          </a:p>
        </p:txBody>
      </p:sp>
      <p:sp>
        <p:nvSpPr>
          <p:cNvPr id="40" name="Organigramme : Connecteur page suivante 39">
            <a:extLst>
              <a:ext uri="{FF2B5EF4-FFF2-40B4-BE49-F238E27FC236}">
                <a16:creationId xmlns:a16="http://schemas.microsoft.com/office/drawing/2014/main" xmlns="" id="{C325DA8E-D07A-6124-5C61-F5BE79E1EB47}"/>
              </a:ext>
            </a:extLst>
          </p:cNvPr>
          <p:cNvSpPr/>
          <p:nvPr/>
        </p:nvSpPr>
        <p:spPr>
          <a:xfrm>
            <a:off x="4358027" y="2853401"/>
            <a:ext cx="1356297" cy="943786"/>
          </a:xfrm>
          <a:prstGeom prst="flowChartOffpageConnector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Mise en œuvre de </a:t>
            </a:r>
            <a:r>
              <a:rPr lang="fr-FR" sz="1200" b="1" dirty="0">
                <a:solidFill>
                  <a:schemeClr val="bg1"/>
                </a:solidFill>
              </a:rPr>
              <a:t>protocoles</a:t>
            </a:r>
            <a:r>
              <a:rPr lang="fr-FR" sz="1200" dirty="0">
                <a:solidFill>
                  <a:schemeClr val="bg1"/>
                </a:solidFill>
              </a:rPr>
              <a:t/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Réalisation de </a:t>
            </a:r>
            <a:r>
              <a:rPr lang="fr-FR" sz="1200" b="1" dirty="0">
                <a:solidFill>
                  <a:schemeClr val="bg1"/>
                </a:solidFill>
              </a:rPr>
              <a:t>mesures</a:t>
            </a:r>
          </a:p>
        </p:txBody>
      </p:sp>
      <p:sp>
        <p:nvSpPr>
          <p:cNvPr id="41" name="Organigramme : Connecteur page suivante 40">
            <a:extLst>
              <a:ext uri="{FF2B5EF4-FFF2-40B4-BE49-F238E27FC236}">
                <a16:creationId xmlns:a16="http://schemas.microsoft.com/office/drawing/2014/main" xmlns="" id="{9F505F6D-F56E-43BC-3BED-F00C3D880133}"/>
              </a:ext>
            </a:extLst>
          </p:cNvPr>
          <p:cNvSpPr/>
          <p:nvPr/>
        </p:nvSpPr>
        <p:spPr>
          <a:xfrm>
            <a:off x="5819775" y="2840696"/>
            <a:ext cx="1356297" cy="943786"/>
          </a:xfrm>
          <a:prstGeom prst="flowChartOffpageConnector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Production de </a:t>
            </a:r>
            <a:r>
              <a:rPr lang="fr-FR" sz="1200" b="1" dirty="0">
                <a:solidFill>
                  <a:schemeClr val="bg1"/>
                </a:solidFill>
              </a:rPr>
              <a:t>livrables</a:t>
            </a:r>
          </a:p>
        </p:txBody>
      </p:sp>
    </p:spTree>
    <p:extLst>
      <p:ext uri="{BB962C8B-B14F-4D97-AF65-F5344CB8AC3E}">
        <p14:creationId xmlns:p14="http://schemas.microsoft.com/office/powerpoint/2010/main" val="562545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xmlns="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Déroulement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xmlns="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 smtClean="0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642F1D95-CBB8-2C92-242D-B5F4F8BCEACC}"/>
              </a:ext>
            </a:extLst>
          </p:cNvPr>
          <p:cNvSpPr/>
          <p:nvPr/>
        </p:nvSpPr>
        <p:spPr>
          <a:xfrm>
            <a:off x="1354395" y="2513900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35BA6F71-F298-9B08-A0A8-CE77903BEAFA}"/>
              </a:ext>
            </a:extLst>
          </p:cNvPr>
          <p:cNvSpPr/>
          <p:nvPr/>
        </p:nvSpPr>
        <p:spPr>
          <a:xfrm>
            <a:off x="1354395" y="2891111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F771C208-E654-089D-EFA1-01A6D9AFC4F6}"/>
              </a:ext>
            </a:extLst>
          </p:cNvPr>
          <p:cNvSpPr/>
          <p:nvPr/>
        </p:nvSpPr>
        <p:spPr>
          <a:xfrm>
            <a:off x="1354394" y="4303395"/>
            <a:ext cx="3385155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A61F7A80-14B3-AEFD-723C-87CE98A2A481}"/>
              </a:ext>
            </a:extLst>
          </p:cNvPr>
          <p:cNvSpPr/>
          <p:nvPr/>
        </p:nvSpPr>
        <p:spPr>
          <a:xfrm>
            <a:off x="1354395" y="4682490"/>
            <a:ext cx="338515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Atelier Groupe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41D863B9-ADD0-A5B1-80E4-702270401571}"/>
              </a:ext>
            </a:extLst>
          </p:cNvPr>
          <p:cNvSpPr/>
          <p:nvPr/>
        </p:nvSpPr>
        <p:spPr>
          <a:xfrm>
            <a:off x="3134747" y="2513900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67DB11C6-E438-64D0-8289-EA27977E12F7}"/>
              </a:ext>
            </a:extLst>
          </p:cNvPr>
          <p:cNvSpPr/>
          <p:nvPr/>
        </p:nvSpPr>
        <p:spPr>
          <a:xfrm>
            <a:off x="3134746" y="3402867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5890B81A-9B60-BD6E-D526-CE952E97E6D8}"/>
              </a:ext>
            </a:extLst>
          </p:cNvPr>
          <p:cNvSpPr/>
          <p:nvPr/>
        </p:nvSpPr>
        <p:spPr>
          <a:xfrm>
            <a:off x="3134746" y="3780078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TP2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xmlns="" id="{8604DACB-DF23-40CE-1944-F1D33C96E0FF}"/>
              </a:ext>
            </a:extLst>
          </p:cNvPr>
          <p:cNvSpPr txBox="1"/>
          <p:nvPr/>
        </p:nvSpPr>
        <p:spPr>
          <a:xfrm>
            <a:off x="1354394" y="2077435"/>
            <a:ext cx="1604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B01 à B08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xmlns="" id="{2A7DC8C6-8362-D8DD-44CF-269386D21154}"/>
              </a:ext>
            </a:extLst>
          </p:cNvPr>
          <p:cNvSpPr txBox="1"/>
          <p:nvPr/>
        </p:nvSpPr>
        <p:spPr>
          <a:xfrm>
            <a:off x="3134745" y="2077435"/>
            <a:ext cx="1604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B09 à B16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xmlns="" id="{1FB1B848-789F-7CC9-233E-C4D09DE6ED64}"/>
              </a:ext>
            </a:extLst>
          </p:cNvPr>
          <p:cNvSpPr txBox="1"/>
          <p:nvPr/>
        </p:nvSpPr>
        <p:spPr>
          <a:xfrm>
            <a:off x="270543" y="2558355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1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xmlns="" id="{C7A6F760-1C01-19AE-82F7-08659E0EDBFE}"/>
              </a:ext>
            </a:extLst>
          </p:cNvPr>
          <p:cNvSpPr txBox="1"/>
          <p:nvPr/>
        </p:nvSpPr>
        <p:spPr>
          <a:xfrm>
            <a:off x="263322" y="2891111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2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xmlns="" id="{347361E2-CD17-E827-87D6-274A909955D1}"/>
              </a:ext>
            </a:extLst>
          </p:cNvPr>
          <p:cNvSpPr txBox="1"/>
          <p:nvPr/>
        </p:nvSpPr>
        <p:spPr>
          <a:xfrm>
            <a:off x="270543" y="3443670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3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xmlns="" id="{1AE1C8AF-D6DD-7081-FB67-E5A8A16FCAEF}"/>
              </a:ext>
            </a:extLst>
          </p:cNvPr>
          <p:cNvSpPr txBox="1"/>
          <p:nvPr/>
        </p:nvSpPr>
        <p:spPr>
          <a:xfrm>
            <a:off x="270543" y="3824533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4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xmlns="" id="{322908FF-432D-5A05-837E-CBF1C04C2393}"/>
              </a:ext>
            </a:extLst>
          </p:cNvPr>
          <p:cNvSpPr txBox="1"/>
          <p:nvPr/>
        </p:nvSpPr>
        <p:spPr>
          <a:xfrm>
            <a:off x="287897" y="4352300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5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xmlns="" id="{97DBFDDF-72BF-A430-CD97-8AE4CE4D7C61}"/>
              </a:ext>
            </a:extLst>
          </p:cNvPr>
          <p:cNvSpPr txBox="1"/>
          <p:nvPr/>
        </p:nvSpPr>
        <p:spPr>
          <a:xfrm>
            <a:off x="282020" y="4723123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6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B4B8254A-7A68-64C8-9294-6854DD6C3171}"/>
              </a:ext>
            </a:extLst>
          </p:cNvPr>
          <p:cNvSpPr/>
          <p:nvPr/>
        </p:nvSpPr>
        <p:spPr>
          <a:xfrm>
            <a:off x="3988093" y="2513900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xmlns="" id="{1DEA2F91-D546-EF69-5821-13B24A72A1BC}"/>
              </a:ext>
            </a:extLst>
          </p:cNvPr>
          <p:cNvSpPr/>
          <p:nvPr/>
        </p:nvSpPr>
        <p:spPr>
          <a:xfrm>
            <a:off x="3134745" y="2895282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xmlns="" id="{81CA1916-A585-796E-8407-D490918B16DB}"/>
              </a:ext>
            </a:extLst>
          </p:cNvPr>
          <p:cNvSpPr/>
          <p:nvPr/>
        </p:nvSpPr>
        <p:spPr>
          <a:xfrm>
            <a:off x="3988093" y="2898676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xmlns="" id="{D4013EFB-91C1-5B7B-B9EA-74E34D7FFC49}"/>
              </a:ext>
            </a:extLst>
          </p:cNvPr>
          <p:cNvSpPr/>
          <p:nvPr/>
        </p:nvSpPr>
        <p:spPr>
          <a:xfrm>
            <a:off x="1354394" y="3402867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xmlns="" id="{9B4DD4F3-C0C1-5BF8-9A9A-07C806621681}"/>
              </a:ext>
            </a:extLst>
          </p:cNvPr>
          <p:cNvSpPr/>
          <p:nvPr/>
        </p:nvSpPr>
        <p:spPr>
          <a:xfrm>
            <a:off x="2207740" y="3402867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xmlns="" id="{9E613C2A-3B60-42C1-A582-45C98751D56A}"/>
              </a:ext>
            </a:extLst>
          </p:cNvPr>
          <p:cNvSpPr/>
          <p:nvPr/>
        </p:nvSpPr>
        <p:spPr>
          <a:xfrm>
            <a:off x="1354392" y="3784249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xmlns="" id="{04370ED9-B96E-F7FB-652B-00D951148AFF}"/>
              </a:ext>
            </a:extLst>
          </p:cNvPr>
          <p:cNvSpPr/>
          <p:nvPr/>
        </p:nvSpPr>
        <p:spPr>
          <a:xfrm>
            <a:off x="2207740" y="3787643"/>
            <a:ext cx="75145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TP VI1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xmlns="" id="{A3ED2499-703C-181D-DF4A-673322051F1D}"/>
              </a:ext>
            </a:extLst>
          </p:cNvPr>
          <p:cNvSpPr/>
          <p:nvPr/>
        </p:nvSpPr>
        <p:spPr>
          <a:xfrm>
            <a:off x="5090292" y="2513900"/>
            <a:ext cx="1356298" cy="162426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Feuille de résultats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xmlns="" id="{A83C895C-8371-E583-DA83-2DFB64F2BBF5}"/>
              </a:ext>
            </a:extLst>
          </p:cNvPr>
          <p:cNvSpPr/>
          <p:nvPr/>
        </p:nvSpPr>
        <p:spPr>
          <a:xfrm>
            <a:off x="5090292" y="4303395"/>
            <a:ext cx="1356298" cy="35052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Analyse comparative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EBA05CAD-D4CC-5C0A-9FA8-088AA6D8167C}"/>
              </a:ext>
            </a:extLst>
          </p:cNvPr>
          <p:cNvSpPr/>
          <p:nvPr/>
        </p:nvSpPr>
        <p:spPr>
          <a:xfrm>
            <a:off x="5090292" y="4697730"/>
            <a:ext cx="1356298" cy="35052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Poster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xmlns="" id="{2A7DC8C6-8362-D8DD-44CF-269386D21154}"/>
              </a:ext>
            </a:extLst>
          </p:cNvPr>
          <p:cNvSpPr txBox="1"/>
          <p:nvPr/>
        </p:nvSpPr>
        <p:spPr>
          <a:xfrm>
            <a:off x="4997336" y="2092730"/>
            <a:ext cx="1604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 smtClean="0"/>
              <a:t>Livrables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337307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xmlns="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Suivi / Règles du jeu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xmlns="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 smtClean="0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xmlns="" id="{26AE7ADF-BCF3-0A51-607F-E13D9F5B5966}"/>
              </a:ext>
            </a:extLst>
          </p:cNvPr>
          <p:cNvSpPr txBox="1"/>
          <p:nvPr/>
        </p:nvSpPr>
        <p:spPr>
          <a:xfrm>
            <a:off x="743267" y="2499982"/>
            <a:ext cx="53527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Sujet en ligne et disponible dans la salle de TP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Cahier de laboratoire en ligne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Validation des étapes par les </a:t>
            </a:r>
            <a:r>
              <a:rPr lang="fr-FR" dirty="0" err="1"/>
              <a:t>encadrant</a:t>
            </a:r>
            <a:r>
              <a:rPr lang="fr-FR" sz="1800" dirty="0" err="1"/>
              <a:t>·</a:t>
            </a:r>
            <a:r>
              <a:rPr lang="fr-FR" dirty="0" err="1"/>
              <a:t>es</a:t>
            </a:r>
            <a:endParaRPr lang="fr-FR" dirty="0"/>
          </a:p>
        </p:txBody>
      </p:sp>
      <p:sp>
        <p:nvSpPr>
          <p:cNvPr id="35" name="Flèche : pentagone 11">
            <a:extLst>
              <a:ext uri="{FF2B5EF4-FFF2-40B4-BE49-F238E27FC236}">
                <a16:creationId xmlns:a16="http://schemas.microsoft.com/office/drawing/2014/main" xmlns="" id="{9D4F1CE8-F77A-A9C9-44F7-CF13D70E16FF}"/>
              </a:ext>
            </a:extLst>
          </p:cNvPr>
          <p:cNvSpPr/>
          <p:nvPr/>
        </p:nvSpPr>
        <p:spPr>
          <a:xfrm>
            <a:off x="619125" y="1982129"/>
            <a:ext cx="1548003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En TP</a:t>
            </a:r>
          </a:p>
        </p:txBody>
      </p:sp>
      <p:sp>
        <p:nvSpPr>
          <p:cNvPr id="36" name="Organigramme : Extraire 35">
            <a:extLst>
              <a:ext uri="{FF2B5EF4-FFF2-40B4-BE49-F238E27FC236}">
                <a16:creationId xmlns:a16="http://schemas.microsoft.com/office/drawing/2014/main" xmlns="" id="{57883FA6-2040-0CD6-D4A9-356AF7B9EFB8}"/>
              </a:ext>
            </a:extLst>
          </p:cNvPr>
          <p:cNvSpPr/>
          <p:nvPr/>
        </p:nvSpPr>
        <p:spPr>
          <a:xfrm>
            <a:off x="692727" y="3923707"/>
            <a:ext cx="722376" cy="595369"/>
          </a:xfrm>
          <a:prstGeom prst="flowChartExtra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xmlns="" id="{09F6F3ED-E123-F54B-AFC0-E546F64C4F02}"/>
              </a:ext>
            </a:extLst>
          </p:cNvPr>
          <p:cNvSpPr txBox="1"/>
          <p:nvPr/>
        </p:nvSpPr>
        <p:spPr>
          <a:xfrm>
            <a:off x="1712214" y="3906350"/>
            <a:ext cx="41399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Certaines missions doivent être validées par </a:t>
            </a:r>
            <a:r>
              <a:rPr lang="fr-FR" sz="1600" b="1" dirty="0" err="1"/>
              <a:t>un·e</a:t>
            </a:r>
            <a:r>
              <a:rPr lang="fr-FR" sz="1600" b="1" dirty="0"/>
              <a:t> encadrant ·e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xmlns="" id="{AA3C8A58-2595-80A6-C331-4FE6E7E55221}"/>
              </a:ext>
            </a:extLst>
          </p:cNvPr>
          <p:cNvSpPr txBox="1"/>
          <p:nvPr/>
        </p:nvSpPr>
        <p:spPr>
          <a:xfrm>
            <a:off x="737997" y="5194848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Tenir un </a:t>
            </a:r>
            <a:r>
              <a:rPr lang="fr-FR" b="1" dirty="0"/>
              <a:t>cahier de labo numérique partagé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Répondre aux problématiques posées (livrables)</a:t>
            </a:r>
          </a:p>
        </p:txBody>
      </p:sp>
      <p:sp>
        <p:nvSpPr>
          <p:cNvPr id="39" name="Rectangle : coins arrondis 4">
            <a:extLst>
              <a:ext uri="{FF2B5EF4-FFF2-40B4-BE49-F238E27FC236}">
                <a16:creationId xmlns:a16="http://schemas.microsoft.com/office/drawing/2014/main" xmlns="" id="{BE8784F5-19B6-6880-8A25-5A17A5AF409F}"/>
              </a:ext>
            </a:extLst>
          </p:cNvPr>
          <p:cNvSpPr/>
          <p:nvPr/>
        </p:nvSpPr>
        <p:spPr>
          <a:xfrm>
            <a:off x="7805734" y="1536484"/>
            <a:ext cx="3693539" cy="2456925"/>
          </a:xfrm>
          <a:prstGeom prst="roundRect">
            <a:avLst>
              <a:gd name="adj" fmla="val 5540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b="1" dirty="0"/>
              <a:t>Déroulement d’une séance</a:t>
            </a:r>
            <a:endParaRPr lang="fr-FR" sz="1600" b="1" dirty="0">
              <a:solidFill>
                <a:srgbClr val="FFC000"/>
              </a:solidFill>
            </a:endParaRPr>
          </a:p>
          <a:p>
            <a:pPr algn="ctr"/>
            <a:r>
              <a:rPr lang="fr-FR" sz="1600" b="1" dirty="0">
                <a:solidFill>
                  <a:srgbClr val="00B0F0"/>
                </a:solidFill>
              </a:rPr>
              <a:t>--------</a:t>
            </a:r>
            <a:endParaRPr lang="fr-FR" sz="1600" b="1" dirty="0"/>
          </a:p>
          <a:p>
            <a:pPr algn="ctr"/>
            <a:r>
              <a:rPr lang="fr-FR" sz="1600" b="1" dirty="0"/>
              <a:t>Durée</a:t>
            </a:r>
            <a:r>
              <a:rPr lang="fr-FR" sz="1600" dirty="0"/>
              <a:t> : </a:t>
            </a:r>
            <a:r>
              <a:rPr lang="fr-FR" sz="1600" b="1" dirty="0"/>
              <a:t>4h30</a:t>
            </a:r>
          </a:p>
          <a:p>
            <a:pPr algn="ctr"/>
            <a:r>
              <a:rPr lang="fr-FR" sz="1600" b="1" dirty="0">
                <a:solidFill>
                  <a:srgbClr val="FFC000"/>
                </a:solidFill>
              </a:rPr>
              <a:t>Début à 8h30</a:t>
            </a:r>
          </a:p>
          <a:p>
            <a:pPr algn="ctr"/>
            <a:r>
              <a:rPr lang="fr-FR" sz="1600" b="1" dirty="0">
                <a:solidFill>
                  <a:srgbClr val="00B0F0"/>
                </a:solidFill>
              </a:rPr>
              <a:t>--------</a:t>
            </a:r>
          </a:p>
          <a:p>
            <a:pPr algn="ctr"/>
            <a:r>
              <a:rPr lang="fr-FR" sz="1600" b="1" dirty="0"/>
              <a:t>Réalisation de missions</a:t>
            </a:r>
          </a:p>
          <a:p>
            <a:pPr algn="ctr"/>
            <a:r>
              <a:rPr lang="fr-FR" sz="1600" dirty="0"/>
              <a:t>Objectifs / Matériels</a:t>
            </a:r>
          </a:p>
          <a:p>
            <a:pPr algn="ctr"/>
            <a:r>
              <a:rPr lang="fr-FR" sz="1600" dirty="0"/>
              <a:t>Prise de notes numériques</a:t>
            </a:r>
          </a:p>
          <a:p>
            <a:pPr algn="ctr"/>
            <a:r>
              <a:rPr lang="fr-FR" sz="1600" dirty="0"/>
              <a:t>Ressources / Livrables</a:t>
            </a:r>
            <a:endParaRPr lang="fr-FR" sz="1600" b="1" dirty="0">
              <a:solidFill>
                <a:srgbClr val="00B0F0"/>
              </a:solidFill>
            </a:endParaRPr>
          </a:p>
          <a:p>
            <a:pPr algn="ctr"/>
            <a:endParaRPr lang="fr-FR" sz="1600" dirty="0"/>
          </a:p>
          <a:p>
            <a:pPr algn="ctr"/>
            <a:endParaRPr lang="fr-FR" sz="1600" b="1" dirty="0">
              <a:solidFill>
                <a:srgbClr val="00B0F0"/>
              </a:solidFill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xmlns="" id="{D0D480A1-741A-9526-A736-1F96BAA2A09D}"/>
              </a:ext>
            </a:extLst>
          </p:cNvPr>
          <p:cNvSpPr txBox="1"/>
          <p:nvPr/>
        </p:nvSpPr>
        <p:spPr>
          <a:xfrm>
            <a:off x="7760464" y="4764853"/>
            <a:ext cx="36935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b="1" i="1" dirty="0"/>
              <a:t>toute arrivée tardive</a:t>
            </a:r>
            <a:r>
              <a:rPr lang="fr-FR" sz="1600" i="1" dirty="0"/>
              <a:t>, </a:t>
            </a:r>
            <a:r>
              <a:rPr lang="fr-FR" sz="1600" b="1" i="1" dirty="0"/>
              <a:t>départ anticipé </a:t>
            </a:r>
            <a:r>
              <a:rPr lang="fr-FR" sz="1600" i="1" dirty="0"/>
              <a:t>ou </a:t>
            </a:r>
            <a:r>
              <a:rPr lang="fr-FR" sz="1600" b="1" i="1" dirty="0"/>
              <a:t>absence non justifiée </a:t>
            </a:r>
            <a:r>
              <a:rPr lang="fr-FR" sz="1600" i="1" dirty="0"/>
              <a:t>bloque l’accès à la deuxième chance, </a:t>
            </a:r>
            <a:br>
              <a:rPr lang="fr-FR" sz="1600" i="1" dirty="0"/>
            </a:br>
            <a:r>
              <a:rPr lang="fr-FR" sz="1600" i="1" dirty="0"/>
              <a:t>et même en cas de validation, une alerte est notifiée au jury</a:t>
            </a:r>
          </a:p>
        </p:txBody>
      </p:sp>
    </p:spTree>
    <p:extLst>
      <p:ext uri="{BB962C8B-B14F-4D97-AF65-F5344CB8AC3E}">
        <p14:creationId xmlns:p14="http://schemas.microsoft.com/office/powerpoint/2010/main" val="165932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xmlns="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En cas de soucis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xmlns="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 smtClean="0">
                <a:solidFill>
                  <a:srgbClr val="CC7604"/>
                </a:solidFill>
                <a:latin typeface="IBM Plex Sans"/>
              </a:rPr>
              <a:t>LEnsE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83B9D9B0-50CA-3B41-A97E-4776C09B90EC}"/>
              </a:ext>
            </a:extLst>
          </p:cNvPr>
          <p:cNvSpPr txBox="1"/>
          <p:nvPr/>
        </p:nvSpPr>
        <p:spPr>
          <a:xfrm>
            <a:off x="987106" y="3953878"/>
            <a:ext cx="57703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Garantir le </a:t>
            </a:r>
            <a:r>
              <a:rPr lang="fr-FR" b="1" dirty="0"/>
              <a:t>bon déroulement </a:t>
            </a:r>
            <a:r>
              <a:rPr lang="fr-FR" dirty="0"/>
              <a:t>des TP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Encadrement / </a:t>
            </a:r>
            <a:r>
              <a:rPr lang="fr-FR" sz="1400" dirty="0"/>
              <a:t>Recrutement et Formation</a:t>
            </a:r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Matériel / </a:t>
            </a:r>
            <a:r>
              <a:rPr lang="fr-FR" sz="1400" dirty="0"/>
              <a:t>Choix et Maintenance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Pédagogie / </a:t>
            </a:r>
            <a:r>
              <a:rPr lang="fr-FR" sz="1400" dirty="0"/>
              <a:t>Sujets et Compétences</a:t>
            </a:r>
            <a:endParaRPr lang="fr-FR" sz="20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dirty="0"/>
          </a:p>
        </p:txBody>
      </p:sp>
      <p:sp>
        <p:nvSpPr>
          <p:cNvPr id="16" name="Rectangle : coins arrondis 7">
            <a:extLst>
              <a:ext uri="{FF2B5EF4-FFF2-40B4-BE49-F238E27FC236}">
                <a16:creationId xmlns:a16="http://schemas.microsoft.com/office/drawing/2014/main" xmlns="" id="{48D66A32-89A8-1E36-4125-62DC3AAAECCB}"/>
              </a:ext>
            </a:extLst>
          </p:cNvPr>
          <p:cNvSpPr/>
          <p:nvPr/>
        </p:nvSpPr>
        <p:spPr>
          <a:xfrm>
            <a:off x="743267" y="1788220"/>
            <a:ext cx="6791389" cy="184194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Responsables pédagogiques du </a:t>
            </a:r>
            <a:r>
              <a:rPr lang="fr-FR" b="1" dirty="0" err="1"/>
              <a:t>LEnsE</a:t>
            </a:r>
            <a:endParaRPr lang="fr-FR" b="1" dirty="0"/>
          </a:p>
          <a:p>
            <a:pPr algn="ctr"/>
            <a:endParaRPr lang="fr-FR" sz="1200" b="1" dirty="0"/>
          </a:p>
          <a:p>
            <a:pPr algn="ctr"/>
            <a:r>
              <a:rPr lang="fr-FR" sz="2400" dirty="0"/>
              <a:t>Fabienne BERNARD</a:t>
            </a:r>
          </a:p>
          <a:p>
            <a:pPr algn="ctr"/>
            <a:r>
              <a:rPr lang="fr-FR" sz="2400" dirty="0"/>
              <a:t>Jeanne BERNARD</a:t>
            </a:r>
          </a:p>
          <a:p>
            <a:pPr algn="ctr"/>
            <a:r>
              <a:rPr lang="fr-FR" sz="2400" dirty="0"/>
              <a:t>Julien VILLEMEJANE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xmlns="" id="{0A514283-78F9-4477-F00F-B99BFE0716DF}"/>
              </a:ext>
            </a:extLst>
          </p:cNvPr>
          <p:cNvSpPr txBox="1"/>
          <p:nvPr/>
        </p:nvSpPr>
        <p:spPr>
          <a:xfrm>
            <a:off x="987106" y="5595053"/>
            <a:ext cx="6920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Garantir un </a:t>
            </a:r>
            <a:r>
              <a:rPr lang="fr-FR" b="1" dirty="0"/>
              <a:t>apprentissage égalitaire </a:t>
            </a:r>
            <a:r>
              <a:rPr lang="fr-FR" dirty="0"/>
              <a:t>pour toutes et tous</a:t>
            </a:r>
            <a:endParaRPr lang="fr-FR" sz="20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dirty="0"/>
          </a:p>
        </p:txBody>
      </p:sp>
      <p:pic>
        <p:nvPicPr>
          <p:cNvPr id="18" name="Image 17" descr="Une image contenant habits, personne, sourire, Visage humain&#10;&#10;Le contenu généré par l’IA peut être incorrect.">
            <a:extLst>
              <a:ext uri="{FF2B5EF4-FFF2-40B4-BE49-F238E27FC236}">
                <a16:creationId xmlns:a16="http://schemas.microsoft.com/office/drawing/2014/main" xmlns="" id="{BCF2D6B8-6942-1525-FD20-D5471AE648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998" y="4215384"/>
            <a:ext cx="2596896" cy="1947672"/>
          </a:xfrm>
          <a:prstGeom prst="rect">
            <a:avLst/>
          </a:prstGeom>
        </p:spPr>
      </p:pic>
      <p:pic>
        <p:nvPicPr>
          <p:cNvPr id="20" name="Image 19" descr="Une image contenant personne, sourire, intérieur, habits&#10;&#10;Le contenu généré par l’IA peut être incorrect.">
            <a:extLst>
              <a:ext uri="{FF2B5EF4-FFF2-40B4-BE49-F238E27FC236}">
                <a16:creationId xmlns:a16="http://schemas.microsoft.com/office/drawing/2014/main" xmlns="" id="{E8F0AD17-9C3F-6F46-8AAD-87D9D42CF62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998" y="2046656"/>
            <a:ext cx="2596896" cy="194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37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xmlns="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smtClean="0"/>
              <a:t>Travail attendu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xmlns="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26AE7ADF-BCF3-0A51-607F-E13D9F5B5966}"/>
              </a:ext>
            </a:extLst>
          </p:cNvPr>
          <p:cNvSpPr txBox="1"/>
          <p:nvPr/>
        </p:nvSpPr>
        <p:spPr>
          <a:xfrm>
            <a:off x="743267" y="2499982"/>
            <a:ext cx="483069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Réaliser des circuits et des mesures sur ces circuits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Tenir un </a:t>
            </a:r>
            <a:r>
              <a:rPr lang="fr-FR" b="1" dirty="0"/>
              <a:t>cahier de labo numérique partagé</a:t>
            </a:r>
            <a:r>
              <a:rPr lang="fr-FR" dirty="0"/>
              <a:t> contenant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/>
              <a:t>les descriptifs des conditions des mesures,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/>
              <a:t>les relevés des mesures, les copies d’écrans d’oscilloscope, etc.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/>
              <a:t>les analyses des résultats par quelques phrases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/>
              <a:t>les relevés et les analyses des erreurs commises et des difficultés rencontrées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Solliciter l’aide des </a:t>
            </a:r>
            <a:r>
              <a:rPr lang="fr-FR" dirty="0" err="1"/>
              <a:t>enseignant·es</a:t>
            </a:r>
            <a:r>
              <a:rPr lang="fr-FR" dirty="0"/>
              <a:t> avec des question précises</a:t>
            </a:r>
          </a:p>
        </p:txBody>
      </p:sp>
      <p:sp>
        <p:nvSpPr>
          <p:cNvPr id="14" name="Flèche : pentagone 11">
            <a:extLst>
              <a:ext uri="{FF2B5EF4-FFF2-40B4-BE49-F238E27FC236}">
                <a16:creationId xmlns:a16="http://schemas.microsoft.com/office/drawing/2014/main" xmlns="" id="{9D4F1CE8-F77A-A9C9-44F7-CF13D70E16FF}"/>
              </a:ext>
            </a:extLst>
          </p:cNvPr>
          <p:cNvSpPr/>
          <p:nvPr/>
        </p:nvSpPr>
        <p:spPr>
          <a:xfrm>
            <a:off x="619125" y="1982129"/>
            <a:ext cx="1548003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En TP</a:t>
            </a:r>
          </a:p>
        </p:txBody>
      </p:sp>
      <p:sp>
        <p:nvSpPr>
          <p:cNvPr id="21" name="Flèche : pentagone 21">
            <a:extLst>
              <a:ext uri="{FF2B5EF4-FFF2-40B4-BE49-F238E27FC236}">
                <a16:creationId xmlns:a16="http://schemas.microsoft.com/office/drawing/2014/main" xmlns="" id="{EE22E71C-A3F5-1A39-6EC9-16C5219EBA57}"/>
              </a:ext>
            </a:extLst>
          </p:cNvPr>
          <p:cNvSpPr/>
          <p:nvPr/>
        </p:nvSpPr>
        <p:spPr>
          <a:xfrm>
            <a:off x="6379844" y="1982129"/>
            <a:ext cx="1548003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En TD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C0C58C53-DB3A-89CF-609A-59CC0E4D88FA}"/>
              </a:ext>
            </a:extLst>
          </p:cNvPr>
          <p:cNvSpPr txBox="1"/>
          <p:nvPr/>
        </p:nvSpPr>
        <p:spPr>
          <a:xfrm>
            <a:off x="6494526" y="2499981"/>
            <a:ext cx="48306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Répondre aux problématiques proposées en lien avec des notions prédéfinies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Partager des idées avec les autres et profiter de l’expérience de </a:t>
            </a:r>
            <a:r>
              <a:rPr lang="fr-FR" dirty="0" err="1"/>
              <a:t>chacun·e</a:t>
            </a:r>
            <a:r>
              <a:rPr lang="fr-FR" dirty="0"/>
              <a:t> pour faire avancer l’ensemble du groupe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Solliciter l’aide des </a:t>
            </a:r>
            <a:r>
              <a:rPr lang="fr-FR" dirty="0" err="1"/>
              <a:t>enseignant·es</a:t>
            </a:r>
            <a:r>
              <a:rPr lang="fr-FR" dirty="0"/>
              <a:t> avec des question précises, pour clarifier ce que vous n’avez peut-être pas compris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xmlns="" id="{30783FE1-11AD-4641-DDAD-FF9B0FC66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8323" y="5752413"/>
            <a:ext cx="958882" cy="852339"/>
          </a:xfrm>
          <a:prstGeom prst="rect">
            <a:avLst/>
          </a:prstGeom>
        </p:spPr>
      </p:pic>
      <p:cxnSp>
        <p:nvCxnSpPr>
          <p:cNvPr id="24" name="Connecteur : en arc 5">
            <a:extLst>
              <a:ext uri="{FF2B5EF4-FFF2-40B4-BE49-F238E27FC236}">
                <a16:creationId xmlns:a16="http://schemas.microsoft.com/office/drawing/2014/main" xmlns="" id="{51F19D28-3D7D-4361-62B6-138C9F8B75E2}"/>
              </a:ext>
            </a:extLst>
          </p:cNvPr>
          <p:cNvCxnSpPr>
            <a:cxnSpLocks/>
          </p:cNvCxnSpPr>
          <p:nvPr/>
        </p:nvCxnSpPr>
        <p:spPr>
          <a:xfrm flipV="1">
            <a:off x="8697487" y="6181972"/>
            <a:ext cx="916476" cy="162116"/>
          </a:xfrm>
          <a:prstGeom prst="curvedConnector3">
            <a:avLst>
              <a:gd name="adj1" fmla="val 50000"/>
            </a:avLst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 24">
            <a:extLst>
              <a:ext uri="{FF2B5EF4-FFF2-40B4-BE49-F238E27FC236}">
                <a16:creationId xmlns:a16="http://schemas.microsoft.com/office/drawing/2014/main" xmlns="" id="{52F68540-755E-5E2D-4073-1189FB5339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985" y="5863155"/>
            <a:ext cx="960142" cy="76173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xmlns="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 smtClean="0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2654652694"/>
      </p:ext>
    </p:extLst>
  </p:cSld>
  <p:clrMapOvr>
    <a:masterClrMapping/>
  </p:clrMapOvr>
</p:sld>
</file>

<file path=ppt/theme/theme1.xml><?xml version="1.0" encoding="utf-8"?>
<a:theme xmlns:a="http://schemas.openxmlformats.org/drawingml/2006/main" name="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DRAFT PRES CA_IO_13-06-12</Template>
  <TotalTime>26442</TotalTime>
  <Words>598</Words>
  <Application>Microsoft Office PowerPoint</Application>
  <PresentationFormat>Grand écran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12</vt:i4>
      </vt:variant>
    </vt:vector>
  </HeadingPairs>
  <TitlesOfParts>
    <vt:vector size="23" baseType="lpstr">
      <vt:lpstr>MS PGothic</vt:lpstr>
      <vt:lpstr>MS PGothic</vt:lpstr>
      <vt:lpstr>Arial</vt:lpstr>
      <vt:lpstr>Bahnschrift SemiBold</vt:lpstr>
      <vt:lpstr>Century Gothic</vt:lpstr>
      <vt:lpstr>FreeSans</vt:lpstr>
      <vt:lpstr>IBM Plex Sans</vt:lpstr>
      <vt:lpstr>Liberation Sans</vt:lpstr>
      <vt:lpstr>Wingdings</vt:lpstr>
      <vt:lpstr>DRAFT PRES CA_IO_13-06-12</vt:lpstr>
      <vt:lpstr>1_DRAFT PRES CA_IO_13-06-12</vt:lpstr>
      <vt:lpstr>Opto-Electronique</vt:lpstr>
      <vt:lpstr>Ressources en ligne</vt:lpstr>
      <vt:lpstr>Photonique : un mélange de compétences techniques</vt:lpstr>
      <vt:lpstr>Photonique : un mélange de compétences techniques</vt:lpstr>
      <vt:lpstr>Contenue de l’UE</vt:lpstr>
      <vt:lpstr>Contenue de l’UE</vt:lpstr>
      <vt:lpstr>Approche par compétences</vt:lpstr>
      <vt:lpstr>Déroulement</vt:lpstr>
      <vt:lpstr>Déroulement</vt:lpstr>
      <vt:lpstr>Suivi / Règles du jeu</vt:lpstr>
      <vt:lpstr>En cas de soucis</vt:lpstr>
      <vt:lpstr>Travail attendu</vt:lpstr>
    </vt:vector>
  </TitlesOfParts>
  <Company>Institut d'Optique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Industrielle - Intro 1A</dc:title>
  <dc:creator>Institut d'Optique</dc:creator>
  <cp:lastModifiedBy>Utilisateur Windows</cp:lastModifiedBy>
  <cp:revision>1784</cp:revision>
  <cp:lastPrinted>2021-12-20T13:30:17Z</cp:lastPrinted>
  <dcterms:created xsi:type="dcterms:W3CDTF">2012-05-10T13:56:34Z</dcterms:created>
  <dcterms:modified xsi:type="dcterms:W3CDTF">2026-09-05T16:49:42Z</dcterms:modified>
</cp:coreProperties>
</file>