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22"/>
  </p:notesMasterIdLst>
  <p:handoutMasterIdLst>
    <p:handoutMasterId r:id="rId23"/>
  </p:handoutMasterIdLst>
  <p:sldIdLst>
    <p:sldId id="395" r:id="rId3"/>
    <p:sldId id="437" r:id="rId4"/>
    <p:sldId id="425" r:id="rId5"/>
    <p:sldId id="426" r:id="rId6"/>
    <p:sldId id="427" r:id="rId7"/>
    <p:sldId id="438" r:id="rId8"/>
    <p:sldId id="424" r:id="rId9"/>
    <p:sldId id="430" r:id="rId10"/>
    <p:sldId id="428" r:id="rId11"/>
    <p:sldId id="422" r:id="rId12"/>
    <p:sldId id="420" r:id="rId13"/>
    <p:sldId id="429" r:id="rId14"/>
    <p:sldId id="433" r:id="rId15"/>
    <p:sldId id="423" r:id="rId16"/>
    <p:sldId id="431" r:id="rId17"/>
    <p:sldId id="432" r:id="rId18"/>
    <p:sldId id="434" r:id="rId19"/>
    <p:sldId id="435" r:id="rId20"/>
    <p:sldId id="436" r:id="rId21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95"/>
            <p14:sldId id="437"/>
            <p14:sldId id="425"/>
            <p14:sldId id="426"/>
            <p14:sldId id="427"/>
            <p14:sldId id="438"/>
            <p14:sldId id="424"/>
            <p14:sldId id="430"/>
            <p14:sldId id="428"/>
            <p14:sldId id="422"/>
            <p14:sldId id="420"/>
            <p14:sldId id="429"/>
            <p14:sldId id="433"/>
            <p14:sldId id="423"/>
            <p14:sldId id="431"/>
            <p14:sldId id="432"/>
            <p14:sldId id="434"/>
            <p14:sldId id="435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F00"/>
    <a:srgbClr val="FA960A"/>
    <a:srgbClr val="D02D12"/>
    <a:srgbClr val="00B0F0"/>
    <a:srgbClr val="222268"/>
    <a:srgbClr val="CC7604"/>
    <a:srgbClr val="D9D9D9"/>
    <a:srgbClr val="6AB5D9"/>
    <a:srgbClr val="0A3250"/>
    <a:srgbClr val="CB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3" autoAdjust="0"/>
    <p:restoredTop sz="84504" autoAdjust="0"/>
  </p:normalViewPr>
  <p:slideViewPr>
    <p:cSldViewPr>
      <p:cViewPr varScale="1">
        <p:scale>
          <a:sx n="93" d="100"/>
          <a:sy n="93" d="100"/>
        </p:scale>
        <p:origin x="1404" y="114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08/09/2026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EE1D-A26C-FAD7-4E63-AD006091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D8A2C9-C093-B30E-F006-AC6BDEFC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5FD705-54D6-764B-F264-257EDFBF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239A3D-9B79-DC54-FFF9-27461A00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653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68F5-3753-7BD7-498B-91E1FD8E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2851C16-5097-6DE6-545B-D590E69C4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1358CC3-9DD6-9050-9B00-09BE1E24E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8A93CE-84C8-8C82-1493-FA8D25A2F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556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770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290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53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A9F6-A203-D77A-AC90-30BD28F8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DDBBC5-5984-4083-E219-9A8000B20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0ADE571-3FCF-77D1-E518-0CD6156F4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3F2C63-AB46-1A71-BC4B-5F8498014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024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514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351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EE1D-A26C-FAD7-4E63-AD006091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D8A2C9-C093-B30E-F006-AC6BDEFCE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5FD705-54D6-764B-F264-257EDFBF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239A3D-9B79-DC54-FFF9-27461A009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670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02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DE5-B7C3-6506-6D72-FCEDBA7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55F73A-B01D-CA0F-9A54-15C7CD77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A5293B-A178-6D24-2C77-F7898925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6D26BD-EFBE-8837-5343-E92469137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10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323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6BA6-46AF-7420-8009-717456F0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ECF67E-EE62-5BF5-C61A-7BC5CB3C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E857563-E25F-3CC4-07A9-A3B478301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B5B6C1-9D87-141A-F617-A3F3AE172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3337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CB4B-6BBE-2BB6-D016-0463A7D7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9956110-C452-177C-50CD-684A33EB7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4A1C8D8-C234-A5F6-336F-B982BFC32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BD87DB-523E-1110-5CFE-AF695BC89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3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C044-A16A-5D38-55FF-04334997B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91FB544-EAEC-AD4E-FE09-5A8917D10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BEDB9B3-00F7-6B76-37E0-30116F27B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4AE26B-84C1-D017-2D5F-B121F3D73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999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768B-6826-0BCF-7FC7-462B62144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47B819-8C2F-1698-E85C-5BCC9CFBA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6B7D9C8-7BCE-7AED-89C8-E47C5F81D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1C5FEB-7F61-E2B9-201A-02D889297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CFC6-2EE8-4043-8C44-71F3876B961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316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5" name="Image 4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83C2882-4408-CE09-DEC2-6856CAFD3C6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0"/>
            <a:ext cx="4343400" cy="1524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6" name="Image 5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8EBAC630-7DDC-F79A-67A7-A059B76493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35" y="116632"/>
            <a:ext cx="2070649" cy="127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.jp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6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3.jp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hyperlink" Target="https://tinyurl.com/APC-IOG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.jpg"/><Relationship Id="rId7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image" Target="../media/image6.png"/><Relationship Id="rId7" Type="http://schemas.openxmlformats.org/officeDocument/2006/relationships/image" Target="../media/image70.emf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emf"/><Relationship Id="rId11" Type="http://schemas.openxmlformats.org/officeDocument/2006/relationships/image" Target="../media/image67.png"/><Relationship Id="rId5" Type="http://schemas.openxmlformats.org/officeDocument/2006/relationships/image" Target="../media/image68.emf"/><Relationship Id="rId10" Type="http://schemas.openxmlformats.org/officeDocument/2006/relationships/image" Target="../media/image73.emf"/><Relationship Id="rId4" Type="http://schemas.openxmlformats.org/officeDocument/2006/relationships/image" Target="../media/image3.jpg"/><Relationship Id="rId9" Type="http://schemas.openxmlformats.org/officeDocument/2006/relationships/image" Target="../media/image7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jpeg"/><Relationship Id="rId4" Type="http://schemas.openxmlformats.org/officeDocument/2006/relationships/image" Target="../media/image3.jpg"/><Relationship Id="rId9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6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jpg"/><Relationship Id="rId5" Type="http://schemas.openxmlformats.org/officeDocument/2006/relationships/image" Target="../media/image67.png"/><Relationship Id="rId4" Type="http://schemas.openxmlformats.org/officeDocument/2006/relationships/image" Target="../media/image3.jpg"/><Relationship Id="rId9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05EC-A826-EC6D-55C4-4E5E0791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0F5709-2192-5660-DE19-0D133898DDEB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166C3-CA35-32A9-D474-6F1A6F6B0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>
                <a:latin typeface="IBM Plex Sans"/>
              </a:rPr>
              <a:t>Ingénieur·e</a:t>
            </a:r>
            <a:r>
              <a:rPr lang="fr-FR" dirty="0">
                <a:latin typeface="IBM Plex Sans"/>
              </a:rPr>
              <a:t> en photonique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Etre capable d’évoluer</a:t>
            </a:r>
          </a:p>
          <a:p>
            <a:r>
              <a:rPr lang="fr-FR" sz="2000" dirty="0"/>
              <a:t>Connecter des disciplines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CF7B6F-0795-01C8-9205-560B68EE3584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EB4C1-C32C-5C8F-51DE-4361F16DF7E5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7E99A-9869-3A9B-334C-964ABAE2EBEA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A35A-167D-8BB2-8E51-39D0F792563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44736B6-C889-86DA-7344-FCFEAC32C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16" y="2052012"/>
            <a:ext cx="3583630" cy="324919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583182" y="6455448"/>
            <a:ext cx="1540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10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10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1343472" y="5724479"/>
            <a:ext cx="51845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Julien VILLEMEJANE </a:t>
            </a:r>
            <a:br>
              <a:rPr lang="fr-FR" sz="1050" b="1" dirty="0">
                <a:solidFill>
                  <a:srgbClr val="EE7202"/>
                </a:solidFill>
              </a:rPr>
            </a:br>
            <a:endParaRPr lang="fr-FR" sz="1050" b="1" dirty="0">
              <a:solidFill>
                <a:srgbClr val="EE7202"/>
              </a:solidFill>
            </a:endParaRPr>
          </a:p>
          <a:p>
            <a:r>
              <a:rPr lang="fr-FR" sz="1800" dirty="0">
                <a:solidFill>
                  <a:srgbClr val="EE7202"/>
                </a:solidFill>
              </a:rPr>
              <a:t>julien.villemejane@institutoptique.fr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 txBox="1">
            <a:spLocks/>
          </p:cNvSpPr>
          <p:nvPr/>
        </p:nvSpPr>
        <p:spPr>
          <a:xfrm>
            <a:off x="5539749" y="5423184"/>
            <a:ext cx="5169376" cy="135972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kern="0" dirty="0">
                <a:latin typeface="IBM Plex Sans"/>
              </a:rPr>
              <a:t>Co-responsable </a:t>
            </a:r>
            <a:r>
              <a:rPr lang="fr-FR" sz="1400" kern="0" dirty="0" err="1">
                <a:latin typeface="IBM Plex Sans"/>
              </a:rPr>
              <a:t>LEnsE</a:t>
            </a:r>
            <a:r>
              <a:rPr lang="fr-FR" sz="1400" kern="0" dirty="0">
                <a:latin typeface="IBM Plex Sans"/>
              </a:rPr>
              <a:t> - TP Electronique</a:t>
            </a:r>
          </a:p>
          <a:p>
            <a:pPr algn="l"/>
            <a:r>
              <a:rPr lang="fr-FR" sz="1400" kern="0" dirty="0">
                <a:latin typeface="IBM Plex Sans"/>
              </a:rPr>
              <a:t>Responsable Enquête « jeunes </a:t>
            </a:r>
            <a:r>
              <a:rPr lang="fr-FR" sz="1400" kern="0" dirty="0" err="1">
                <a:latin typeface="IBM Plex Sans"/>
              </a:rPr>
              <a:t>diplômé·es</a:t>
            </a:r>
            <a:r>
              <a:rPr lang="fr-FR" sz="1400" kern="0" dirty="0">
                <a:latin typeface="IBM Plex Sans"/>
              </a:rPr>
              <a:t> »</a:t>
            </a:r>
          </a:p>
          <a:p>
            <a:pPr algn="l"/>
            <a:r>
              <a:rPr lang="fr-FR" sz="1400" kern="0" dirty="0">
                <a:latin typeface="IBM Plex Sans"/>
              </a:rPr>
              <a:t>Responsable Formation Professionnelle</a:t>
            </a:r>
          </a:p>
          <a:p>
            <a:pPr algn="l"/>
            <a:endParaRPr lang="fr-FR" sz="1400" kern="0" dirty="0">
              <a:latin typeface="IBM Plex Sans"/>
            </a:endParaRPr>
          </a:p>
          <a:p>
            <a:pPr algn="l"/>
            <a:r>
              <a:rPr lang="fr-FR" sz="1400" kern="0" dirty="0">
                <a:latin typeface="IBM Plex Sans"/>
              </a:rPr>
              <a:t>☑ Je ne suis pas un robot </a:t>
            </a:r>
          </a:p>
        </p:txBody>
      </p:sp>
    </p:spTree>
    <p:extLst>
      <p:ext uri="{BB962C8B-B14F-4D97-AF65-F5344CB8AC3E}">
        <p14:creationId xmlns:p14="http://schemas.microsoft.com/office/powerpoint/2010/main" val="302742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7B29-704D-30FA-A02F-8C49A188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>
            <a:extLst>
              <a:ext uri="{FF2B5EF4-FFF2-40B4-BE49-F238E27FC236}">
                <a16:creationId xmlns:a16="http://schemas.microsoft.com/office/drawing/2014/main" id="{FF51C766-AF44-87DE-1B02-67F20873E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49" y="1143864"/>
            <a:ext cx="4503080" cy="331931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C93DF3F-52CA-FACB-A0D1-EEC2D84897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130CB46-CA30-F12C-3E69-F44FC352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Systèmes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E8DE7-6A9B-4BB6-44C2-BA522DAB7111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2768EF-F244-9655-71B5-B93FB1556BF6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4DF75D7-38ED-FD74-249C-17DAFB7300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EBCFCB7E-4062-439C-719B-D021658B3BEF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66449C5-83ED-8F56-D660-E4869953A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440" y="4469247"/>
            <a:ext cx="6077942" cy="234113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92B18C10-B007-EFEA-9A8E-57EEBCCA1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205" y="2060848"/>
            <a:ext cx="4141706" cy="371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0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Projets 2A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12BA805-D6B7-DF43-C6D1-9946B3864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40" y="3973037"/>
            <a:ext cx="4629796" cy="229584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7CA2546-5015-F933-F896-536762C27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553" y="5043893"/>
            <a:ext cx="3708402" cy="166531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5138928" y="1673216"/>
            <a:ext cx="6967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Du laser industriel à la séance de travaux pratiques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1F1BF88-A429-C2B8-5BC3-DD1CDD6872B8}"/>
              </a:ext>
            </a:extLst>
          </p:cNvPr>
          <p:cNvSpPr txBox="1"/>
          <p:nvPr/>
        </p:nvSpPr>
        <p:spPr>
          <a:xfrm>
            <a:off x="743267" y="2163516"/>
            <a:ext cx="47803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b="1" dirty="0"/>
              <a:t>Objectif</a:t>
            </a:r>
            <a:r>
              <a:rPr lang="fr-FR" sz="1400" dirty="0"/>
              <a:t> : donner une seconde vie à deux lasers industriels </a:t>
            </a:r>
            <a:r>
              <a:rPr lang="fr-FR" sz="1400" b="1" i="1" dirty="0"/>
              <a:t>JADE2</a:t>
            </a:r>
            <a:r>
              <a:rPr lang="fr-FR" sz="1400" dirty="0"/>
              <a:t> en faisant d’eux le sujet d’étude de séances de travaux pratiques de troisième année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5B4468C0-055D-C71E-6277-DE4B3448F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225" y="3010877"/>
            <a:ext cx="3639058" cy="19243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6806519" y="2089783"/>
            <a:ext cx="4514617" cy="769831"/>
          </a:xfrm>
          <a:prstGeom prst="rect">
            <a:avLst/>
          </a:prstGeom>
          <a:solidFill>
            <a:srgbClr val="FF7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400" dirty="0" err="1">
                <a:solidFill>
                  <a:schemeClr val="bg1"/>
                </a:solidFill>
                <a:ea typeface="MS PGothic" pitchFamily="34" charset="-128"/>
              </a:rPr>
              <a:t>Ellyne</a:t>
            </a: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 LIEGIOIS, Félix KEIL, Ferdinand KOCI, 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Eliott HADDAD, Elisa JARRY – </a:t>
            </a:r>
            <a:r>
              <a:rPr lang="fr-FR" sz="1200" i="1" dirty="0" err="1">
                <a:solidFill>
                  <a:schemeClr val="bg1"/>
                </a:solidFill>
                <a:ea typeface="MS PGothic" pitchFamily="34" charset="-128"/>
              </a:rPr>
              <a:t>LEnsE</a:t>
            </a:r>
            <a:r>
              <a:rPr lang="fr-FR" sz="1200" i="1" dirty="0">
                <a:solidFill>
                  <a:schemeClr val="bg1"/>
                </a:solidFill>
                <a:ea typeface="MS PGothic" pitchFamily="34" charset="-128"/>
              </a:rPr>
              <a:t> 2024-2025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Encadrement : François </a:t>
            </a:r>
            <a:r>
              <a:rPr lang="fr-FR" sz="1400" dirty="0" err="1">
                <a:solidFill>
                  <a:schemeClr val="bg1"/>
                </a:solidFill>
                <a:ea typeface="MS PGothic" pitchFamily="34" charset="-128"/>
              </a:rPr>
              <a:t>Balembois</a:t>
            </a: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, Thierry Avignon</a:t>
            </a:r>
            <a:endParaRPr kumimoji="0" lang="fr-FR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456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Expériences de quantique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778728"/>
            <a:ext cx="8723256" cy="304650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7408" y="6223369"/>
            <a:ext cx="35157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SPCM = Single Photon </a:t>
            </a:r>
            <a:r>
              <a:rPr lang="fr-FR" sz="1400" dirty="0" err="1"/>
              <a:t>Counting</a:t>
            </a:r>
            <a:r>
              <a:rPr lang="fr-FR" sz="1400" dirty="0"/>
              <a:t> Modules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7408" y="6431850"/>
            <a:ext cx="3412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SPAD = Single-photon avalanche diodes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7408" y="5936264"/>
            <a:ext cx="26613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PBS = </a:t>
            </a:r>
            <a:r>
              <a:rPr lang="fr-FR" sz="1400" dirty="0" err="1"/>
              <a:t>Polarizing</a:t>
            </a:r>
            <a:r>
              <a:rPr lang="fr-FR" sz="1400" dirty="0"/>
              <a:t> </a:t>
            </a:r>
            <a:r>
              <a:rPr lang="fr-FR" sz="1400" dirty="0" err="1"/>
              <a:t>Beam</a:t>
            </a:r>
            <a:r>
              <a:rPr lang="fr-FR" sz="1400" dirty="0"/>
              <a:t> Splitter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408" y="5727783"/>
            <a:ext cx="22781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BBO = beta-</a:t>
            </a:r>
            <a:r>
              <a:rPr lang="fr-FR" sz="1400" dirty="0" err="1"/>
              <a:t>barium</a:t>
            </a:r>
            <a:r>
              <a:rPr lang="fr-FR" sz="1400" dirty="0"/>
              <a:t> borate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7248128" y="1673216"/>
            <a:ext cx="4858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Expérience des inégalités de Bell</a:t>
            </a:r>
          </a:p>
        </p:txBody>
      </p:sp>
    </p:spTree>
    <p:extLst>
      <p:ext uri="{BB962C8B-B14F-4D97-AF65-F5344CB8AC3E}">
        <p14:creationId xmlns:p14="http://schemas.microsoft.com/office/powerpoint/2010/main" val="404756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Projets 2A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7824192" y="1673216"/>
            <a:ext cx="42826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Distribution de clefs quantiques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107" y="3964435"/>
            <a:ext cx="7009335" cy="271951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3" y="1555814"/>
            <a:ext cx="6702921" cy="277192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6806519" y="2089783"/>
            <a:ext cx="4514617" cy="769831"/>
          </a:xfrm>
          <a:prstGeom prst="rect">
            <a:avLst/>
          </a:prstGeom>
          <a:solidFill>
            <a:srgbClr val="FF7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Amandine LAURET, Aurèle MONCEAU, 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Enzo GAUTHIER, Julia CHETRIT– </a:t>
            </a:r>
            <a:r>
              <a:rPr lang="fr-FR" sz="1200" i="1" dirty="0" err="1">
                <a:solidFill>
                  <a:schemeClr val="bg1"/>
                </a:solidFill>
                <a:ea typeface="MS PGothic" pitchFamily="34" charset="-128"/>
              </a:rPr>
              <a:t>LEnsE</a:t>
            </a:r>
            <a:r>
              <a:rPr lang="fr-FR" sz="1200" i="1" dirty="0">
                <a:solidFill>
                  <a:schemeClr val="bg1"/>
                </a:solidFill>
                <a:ea typeface="MS PGothic" pitchFamily="34" charset="-128"/>
              </a:rPr>
              <a:t> 2025-2026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Encadrement : Benjamin </a:t>
            </a:r>
            <a:r>
              <a:rPr lang="fr-FR" sz="1400" dirty="0" err="1">
                <a:solidFill>
                  <a:schemeClr val="bg1"/>
                </a:solidFill>
                <a:ea typeface="MS PGothic" pitchFamily="34" charset="-128"/>
              </a:rPr>
              <a:t>Vest</a:t>
            </a: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, Thierry Avignon</a:t>
            </a:r>
            <a:endParaRPr kumimoji="0" lang="fr-FR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00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8C3E-BC6C-A017-7CCF-5C2610A6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54D21FD6-7CFD-B980-FE00-B2DA4BA467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6CBA144-2635-5214-1B14-F49CD5A3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Projets 2A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3725F-9C46-D406-BBB3-5A80777C9254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4CD05-6C7D-0AFD-683E-57AC28148FBE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55ADAA14-E13D-D9C8-401A-4B6DF34D4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158B484-74EE-FB16-C5E8-96FBEE3EB5B3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FAC22D3-E289-C794-2787-AA487BA92898}"/>
              </a:ext>
            </a:extLst>
          </p:cNvPr>
          <p:cNvSpPr txBox="1"/>
          <p:nvPr/>
        </p:nvSpPr>
        <p:spPr>
          <a:xfrm>
            <a:off x="6456040" y="1673216"/>
            <a:ext cx="5650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Vision Industrielle / Acquisition d’Images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90D37-B4CC-C05D-7A7A-262B7BCED675}"/>
              </a:ext>
            </a:extLst>
          </p:cNvPr>
          <p:cNvSpPr/>
          <p:nvPr/>
        </p:nvSpPr>
        <p:spPr bwMode="auto">
          <a:xfrm>
            <a:off x="6744073" y="2089783"/>
            <a:ext cx="4577064" cy="769831"/>
          </a:xfrm>
          <a:prstGeom prst="rect">
            <a:avLst/>
          </a:prstGeom>
          <a:solidFill>
            <a:srgbClr val="FF7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Joséphine BECHU, Justine GABRIEL, Paul CHENEAU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200" i="1" dirty="0">
                <a:solidFill>
                  <a:schemeClr val="bg1"/>
                </a:solidFill>
                <a:ea typeface="MS PGothic" pitchFamily="34" charset="-128"/>
              </a:rPr>
              <a:t>LEnsE 2025-2026</a:t>
            </a:r>
            <a:br>
              <a:rPr lang="fr-FR" sz="1400" dirty="0">
                <a:solidFill>
                  <a:schemeClr val="bg1"/>
                </a:solidFill>
                <a:ea typeface="MS PGothic" pitchFamily="34" charset="-128"/>
              </a:rPr>
            </a:b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Encadrement : Julien </a:t>
            </a:r>
            <a:r>
              <a:rPr lang="fr-FR" sz="1400" dirty="0" err="1">
                <a:solidFill>
                  <a:schemeClr val="bg1"/>
                </a:solidFill>
                <a:ea typeface="MS PGothic" pitchFamily="34" charset="-128"/>
              </a:rPr>
              <a:t>Villemejane</a:t>
            </a:r>
            <a:r>
              <a:rPr lang="fr-FR" sz="1400" dirty="0">
                <a:solidFill>
                  <a:schemeClr val="bg1"/>
                </a:solidFill>
                <a:ea typeface="MS PGothic" pitchFamily="34" charset="-128"/>
              </a:rPr>
              <a:t>, Thierry Avignon</a:t>
            </a:r>
            <a:endParaRPr kumimoji="0" lang="fr-FR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MS PGothic" pitchFamily="34" charset="-128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DB67C6B-EFA2-9254-A912-0C677EA77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877" y="1858861"/>
            <a:ext cx="3713417" cy="156731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A4B32C1-B896-F22D-CA75-D2DD182C7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280" y="4758962"/>
            <a:ext cx="2350977" cy="156731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E685840-095F-31DA-CB51-B63F9D621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719" y="5085184"/>
            <a:ext cx="1998228" cy="134460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2AF2F1F-F533-2076-07E1-D53FE18ED0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9863" y="5085184"/>
            <a:ext cx="2023430" cy="134460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44FC5F5-7451-2AA8-0463-8B92E4CFA9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876" y="3845750"/>
            <a:ext cx="3713417" cy="91321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4D597A9-66C4-ED27-211C-306BBA5E0D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9497" y="3773286"/>
            <a:ext cx="2460264" cy="2384868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2688C4CD-B6E2-C87C-F420-5964631752B2}"/>
              </a:ext>
            </a:extLst>
          </p:cNvPr>
          <p:cNvSpPr txBox="1"/>
          <p:nvPr/>
        </p:nvSpPr>
        <p:spPr>
          <a:xfrm>
            <a:off x="8555888" y="4222882"/>
            <a:ext cx="1800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Basler </a:t>
            </a:r>
            <a:r>
              <a:rPr lang="fr-FR" sz="10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Sensor</a:t>
            </a:r>
            <a:r>
              <a:rPr lang="fr-F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/ Mouse</a:t>
            </a:r>
            <a:endParaRPr lang="fr-FR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E4A8F88B-77DE-C05A-2054-241515B2D3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6489" y="3087241"/>
            <a:ext cx="979494" cy="109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2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Dans 3 ans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C11D752-D3B5-46FE-1253-45B4DC1770A1}"/>
              </a:ext>
            </a:extLst>
          </p:cNvPr>
          <p:cNvSpPr txBox="1"/>
          <p:nvPr/>
        </p:nvSpPr>
        <p:spPr>
          <a:xfrm>
            <a:off x="-240704" y="2001396"/>
            <a:ext cx="22479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solidFill>
                  <a:srgbClr val="333333"/>
                </a:solidFill>
                <a:latin typeface="Calibri" panose="020F0502020204030204" pitchFamily="34" charset="0"/>
              </a:rPr>
              <a:t>Actifs</a:t>
            </a:r>
            <a:r>
              <a:rPr lang="fr-FR" sz="1400" b="0" i="0" dirty="0">
                <a:solidFill>
                  <a:srgbClr val="47474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Activ</a:t>
            </a:r>
            <a:r>
              <a:rPr lang="fr-FR" sz="1400" dirty="0">
                <a:solidFill>
                  <a:srgbClr val="333333"/>
                </a:solidFill>
                <a:latin typeface="Calibri" panose="020F0502020204030204" pitchFamily="34" charset="0"/>
              </a:rPr>
              <a:t>es</a:t>
            </a:r>
            <a:endParaRPr lang="fr-FR" sz="1400" dirty="0"/>
          </a:p>
        </p:txBody>
      </p:sp>
      <p:sp>
        <p:nvSpPr>
          <p:cNvPr id="15" name="Flèche : chevron 7">
            <a:extLst>
              <a:ext uri="{FF2B5EF4-FFF2-40B4-BE49-F238E27FC236}">
                <a16:creationId xmlns:a16="http://schemas.microsoft.com/office/drawing/2014/main" id="{5FCA9762-BD0A-B943-12CC-3CC498AAA5E2}"/>
              </a:ext>
            </a:extLst>
          </p:cNvPr>
          <p:cNvSpPr/>
          <p:nvPr/>
        </p:nvSpPr>
        <p:spPr bwMode="auto">
          <a:xfrm>
            <a:off x="767407" y="1720181"/>
            <a:ext cx="3312369" cy="307777"/>
          </a:xfrm>
          <a:prstGeom prst="chevron">
            <a:avLst/>
          </a:prstGeom>
          <a:solidFill>
            <a:srgbClr val="00305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Enquête 2026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0BFD7B0-A009-0640-A151-7F9FBFFD3DD0}"/>
              </a:ext>
            </a:extLst>
          </p:cNvPr>
          <p:cNvSpPr txBox="1"/>
          <p:nvPr/>
        </p:nvSpPr>
        <p:spPr>
          <a:xfrm>
            <a:off x="3287688" y="2139975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2026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Promo 2025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2B09F46-3B5A-23B3-21AE-F566686C20A7}"/>
              </a:ext>
            </a:extLst>
          </p:cNvPr>
          <p:cNvSpPr txBox="1"/>
          <p:nvPr/>
        </p:nvSpPr>
        <p:spPr>
          <a:xfrm>
            <a:off x="4727848" y="2120300"/>
            <a:ext cx="129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Enquête 2026</a:t>
            </a:r>
          </a:p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CGE 2025</a:t>
            </a:r>
            <a:endParaRPr lang="fr-FR" sz="12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70FDAB2-C9C3-1275-2807-A9A524A6CC95}"/>
              </a:ext>
            </a:extLst>
          </p:cNvPr>
          <p:cNvSpPr txBox="1"/>
          <p:nvPr/>
        </p:nvSpPr>
        <p:spPr>
          <a:xfrm>
            <a:off x="7085720" y="1556792"/>
            <a:ext cx="2754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333333"/>
                </a:solidFill>
                <a:latin typeface="Calibri" panose="020F0502020204030204" pitchFamily="34" charset="0"/>
              </a:rPr>
              <a:t>Salaires bruts / en France</a:t>
            </a:r>
            <a:endParaRPr lang="fr-FR" sz="1200" dirty="0"/>
          </a:p>
        </p:txBody>
      </p:sp>
      <p:sp>
        <p:nvSpPr>
          <p:cNvPr id="23" name="Rectangle : coins arrondis 16">
            <a:extLst>
              <a:ext uri="{FF2B5EF4-FFF2-40B4-BE49-F238E27FC236}">
                <a16:creationId xmlns:a16="http://schemas.microsoft.com/office/drawing/2014/main" id="{7786C6CC-5E5D-99D7-030D-8B19D232A002}"/>
              </a:ext>
            </a:extLst>
          </p:cNvPr>
          <p:cNvSpPr/>
          <p:nvPr/>
        </p:nvSpPr>
        <p:spPr bwMode="auto">
          <a:xfrm>
            <a:off x="5746762" y="6277530"/>
            <a:ext cx="6188936" cy="463838"/>
          </a:xfrm>
          <a:prstGeom prst="roundRect">
            <a:avLst>
              <a:gd name="adj" fmla="val 6735"/>
            </a:avLst>
          </a:prstGeom>
          <a:solidFill>
            <a:schemeClr val="bg1"/>
          </a:solidFill>
          <a:ln w="12700" cap="flat" cmpd="sng" algn="ctr">
            <a:solidFill>
              <a:srgbClr val="0A32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8B1B112-C552-CE94-3C3E-76091C531BEC}"/>
              </a:ext>
            </a:extLst>
          </p:cNvPr>
          <p:cNvSpPr txBox="1"/>
          <p:nvPr/>
        </p:nvSpPr>
        <p:spPr>
          <a:xfrm>
            <a:off x="5770551" y="6309320"/>
            <a:ext cx="6165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altLang="fr-FR" sz="1800" b="1" dirty="0">
                <a:solidFill>
                  <a:srgbClr val="0A3250"/>
                </a:solidFill>
              </a:rPr>
              <a:t>https://l</a:t>
            </a:r>
            <a:r>
              <a:rPr lang="fr-FR" altLang="fr-FR" sz="1800" b="1" dirty="0">
                <a:solidFill>
                  <a:srgbClr val="0A3250"/>
                </a:solidFill>
                <a:ea typeface="ＭＳ Ｐゴシック" panose="020B0600070205080204" pitchFamily="34" charset="-128"/>
              </a:rPr>
              <a:t>ense.institutoptique.fr/insertion</a:t>
            </a:r>
            <a:endParaRPr lang="fr-FR" sz="1800" dirty="0">
              <a:solidFill>
                <a:srgbClr val="0A3250"/>
              </a:solidFill>
            </a:endParaRPr>
          </a:p>
        </p:txBody>
      </p:sp>
      <p:sp>
        <p:nvSpPr>
          <p:cNvPr id="25" name="Flèche : pentagone 23">
            <a:extLst>
              <a:ext uri="{FF2B5EF4-FFF2-40B4-BE49-F238E27FC236}">
                <a16:creationId xmlns:a16="http://schemas.microsoft.com/office/drawing/2014/main" id="{06573829-5AAC-A6F4-248A-547097CC2516}"/>
              </a:ext>
            </a:extLst>
          </p:cNvPr>
          <p:cNvSpPr/>
          <p:nvPr/>
        </p:nvSpPr>
        <p:spPr bwMode="auto">
          <a:xfrm>
            <a:off x="467556" y="6376799"/>
            <a:ext cx="4116275" cy="334891"/>
          </a:xfrm>
          <a:prstGeom prst="homePlate">
            <a:avLst/>
          </a:prstGeom>
          <a:solidFill>
            <a:srgbClr val="0A32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Votre devenir professionnel nous intéresse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07" y="2590388"/>
            <a:ext cx="5191961" cy="348993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720" y="4490478"/>
            <a:ext cx="4849978" cy="1535827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720" y="1848148"/>
            <a:ext cx="4894252" cy="2042366"/>
          </a:xfrm>
          <a:prstGeom prst="rect">
            <a:avLst/>
          </a:prstGeom>
        </p:spPr>
      </p:pic>
      <p:pic>
        <p:nvPicPr>
          <p:cNvPr id="28" name="Picture 2" descr="upright=Article à illustrer Organisation">
            <a:extLst>
              <a:ext uri="{FF2B5EF4-FFF2-40B4-BE49-F238E27FC236}">
                <a16:creationId xmlns:a16="http://schemas.microsoft.com/office/drawing/2014/main" id="{DF805CC7-701F-73D6-89BE-D1F95FBA7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932" y="1596867"/>
            <a:ext cx="1224600" cy="40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Flèche : pentagone 23">
            <a:extLst>
              <a:ext uri="{FF2B5EF4-FFF2-40B4-BE49-F238E27FC236}">
                <a16:creationId xmlns:a16="http://schemas.microsoft.com/office/drawing/2014/main" id="{06573829-5AAC-A6F4-248A-547097CC2516}"/>
              </a:ext>
            </a:extLst>
          </p:cNvPr>
          <p:cNvSpPr/>
          <p:nvPr/>
        </p:nvSpPr>
        <p:spPr bwMode="auto">
          <a:xfrm>
            <a:off x="8646711" y="3976592"/>
            <a:ext cx="3271931" cy="330294"/>
          </a:xfrm>
          <a:prstGeom prst="homePlate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Quelques</a:t>
            </a:r>
            <a:r>
              <a:rPr kumimoji="0" lang="fr-FR" sz="1200" i="1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 postes dans la fonction publique</a:t>
            </a:r>
            <a:endParaRPr kumimoji="0" lang="fr-FR" sz="120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68642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Dans 5 ans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48" y="1700845"/>
            <a:ext cx="4095750" cy="40576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9376" y="6335235"/>
            <a:ext cx="19030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40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1240" y="3860680"/>
            <a:ext cx="1187738" cy="40539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489" y="5946212"/>
            <a:ext cx="1522859" cy="330678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495" y="1879144"/>
            <a:ext cx="1657350" cy="5334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655" y="2561002"/>
            <a:ext cx="1270298" cy="348923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5007" y="4303449"/>
            <a:ext cx="507576" cy="481208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5519" y="2894265"/>
            <a:ext cx="1312841" cy="412959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4041" y="2495158"/>
            <a:ext cx="1719844" cy="340189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1543" y="2150607"/>
            <a:ext cx="1538285" cy="261937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8723" y="3033915"/>
            <a:ext cx="1443608" cy="355889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7188" y="4797897"/>
            <a:ext cx="834168" cy="551628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8951" y="4739854"/>
            <a:ext cx="1270298" cy="26043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0941" y="5073711"/>
            <a:ext cx="1177278" cy="302729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899" y="4615952"/>
            <a:ext cx="1408461" cy="449509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46932" y="3584230"/>
            <a:ext cx="1257692" cy="240359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44288" y="4181584"/>
            <a:ext cx="1628775" cy="40005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0456" y="5458642"/>
            <a:ext cx="831700" cy="43039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7188" y="3002761"/>
            <a:ext cx="1132880" cy="322037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81264" y="2567354"/>
            <a:ext cx="1212527" cy="379338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2139" y="3349826"/>
            <a:ext cx="1905000" cy="428625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26396" y="6274640"/>
            <a:ext cx="1309687" cy="338137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25845" y="5521441"/>
            <a:ext cx="1243781" cy="479937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17609" y="6289332"/>
            <a:ext cx="941148" cy="353680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98255" y="6245896"/>
            <a:ext cx="485577" cy="464617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53628" y="6173294"/>
            <a:ext cx="499492" cy="4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3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Formation à </a:t>
            </a:r>
            <a:r>
              <a:rPr lang="fr-FR" dirty="0" err="1"/>
              <a:t>SupOptique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528C9B-3D07-DE1F-E31C-1BB771FDF4E0}"/>
              </a:ext>
            </a:extLst>
          </p:cNvPr>
          <p:cNvSpPr txBox="1"/>
          <p:nvPr/>
        </p:nvSpPr>
        <p:spPr>
          <a:xfrm>
            <a:off x="7896200" y="6165304"/>
            <a:ext cx="40204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u="sng" dirty="0">
                <a:effectLst/>
                <a:hlinkClick r:id="rId4"/>
              </a:rPr>
              <a:t>https://tinyurl.com/APC-IOGS</a:t>
            </a:r>
            <a:endParaRPr lang="fr-FR" sz="2000" b="1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AE92E1F-4E48-1401-5722-E407894C2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289" y="3054646"/>
            <a:ext cx="2194010" cy="219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D2883B5-1155-D3A2-65BB-C9C9D21E4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488" y="2564904"/>
            <a:ext cx="5758085" cy="347380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78BB9FF-8E3B-C33D-482F-EDD5D3C8920B}"/>
              </a:ext>
            </a:extLst>
          </p:cNvPr>
          <p:cNvSpPr txBox="1"/>
          <p:nvPr/>
        </p:nvSpPr>
        <p:spPr>
          <a:xfrm>
            <a:off x="7608168" y="1673216"/>
            <a:ext cx="44987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EE7202"/>
                </a:solidFill>
              </a:rPr>
              <a:t>Approche par compétences / APC</a:t>
            </a:r>
          </a:p>
        </p:txBody>
      </p:sp>
    </p:spTree>
    <p:extLst>
      <p:ext uri="{BB962C8B-B14F-4D97-AF65-F5344CB8AC3E}">
        <p14:creationId xmlns:p14="http://schemas.microsoft.com/office/powerpoint/2010/main" val="77424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err="1"/>
              <a:t>Etre</a:t>
            </a:r>
            <a:r>
              <a:rPr lang="fr-FR" dirty="0"/>
              <a:t> </a:t>
            </a:r>
            <a:r>
              <a:rPr lang="fr-FR" dirty="0" err="1"/>
              <a:t>ingénieur.e</a:t>
            </a:r>
            <a:r>
              <a:rPr lang="fr-FR" dirty="0"/>
              <a:t> aujourd’hui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Sous-titre 2">
            <a:extLst>
              <a:ext uri="{FF2B5EF4-FFF2-40B4-BE49-F238E27FC236}">
                <a16:creationId xmlns:a16="http://schemas.microsoft.com/office/drawing/2014/main" id="{DAD4C2F2-FB29-9E3F-3A88-19A9E35ADCE9}"/>
              </a:ext>
            </a:extLst>
          </p:cNvPr>
          <p:cNvSpPr txBox="1">
            <a:spLocks/>
          </p:cNvSpPr>
          <p:nvPr/>
        </p:nvSpPr>
        <p:spPr>
          <a:xfrm>
            <a:off x="1295817" y="1197364"/>
            <a:ext cx="5631903" cy="1054968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r>
              <a:rPr lang="fr-FR" sz="1600" b="1" kern="0" dirty="0"/>
              <a:t>Être capable d’évoluer</a:t>
            </a:r>
          </a:p>
          <a:p>
            <a:r>
              <a:rPr lang="fr-FR" sz="1600" b="1" kern="0" dirty="0"/>
              <a:t>S’approprier des compétences</a:t>
            </a:r>
          </a:p>
          <a:p>
            <a:r>
              <a:rPr lang="fr-FR" sz="1600" b="1" kern="0" dirty="0"/>
              <a:t>Adapter ses pratiques</a:t>
            </a:r>
          </a:p>
          <a:p>
            <a:r>
              <a:rPr lang="fr-FR" sz="1600" b="1" kern="0" dirty="0"/>
              <a:t>S’informer des possibilités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7897613-07E7-2B40-DEDF-618ECA50544C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Ingénieur·e</a:t>
            </a:r>
            <a:r>
              <a:rPr lang="fr-FR" b="1" dirty="0">
                <a:solidFill>
                  <a:srgbClr val="CC7604"/>
                </a:solidFill>
                <a:latin typeface="IBM Plex Sans"/>
              </a:rPr>
              <a:t> en photonique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5" name="Flèche : pentagone 14">
            <a:extLst>
              <a:ext uri="{FF2B5EF4-FFF2-40B4-BE49-F238E27FC236}">
                <a16:creationId xmlns:a16="http://schemas.microsoft.com/office/drawing/2014/main" id="{BE0EAB7B-3150-4ED9-CDBA-8A87F9EBECBC}"/>
              </a:ext>
            </a:extLst>
          </p:cNvPr>
          <p:cNvSpPr/>
          <p:nvPr/>
        </p:nvSpPr>
        <p:spPr>
          <a:xfrm>
            <a:off x="582032" y="2648649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Formation Sciences Humaines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49F5A0D-4580-AC20-0E9A-01642C043DAB}"/>
              </a:ext>
            </a:extLst>
          </p:cNvPr>
          <p:cNvSpPr txBox="1">
            <a:spLocks/>
          </p:cNvSpPr>
          <p:nvPr/>
        </p:nvSpPr>
        <p:spPr>
          <a:xfrm>
            <a:off x="582032" y="2987203"/>
            <a:ext cx="3351738" cy="369789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fr-FR" sz="1400" kern="0" dirty="0"/>
              <a:t>Responsable : Lydia MERLE</a:t>
            </a:r>
          </a:p>
        </p:txBody>
      </p:sp>
      <p:sp>
        <p:nvSpPr>
          <p:cNvPr id="21" name="Flèche : pentagone 20">
            <a:extLst>
              <a:ext uri="{FF2B5EF4-FFF2-40B4-BE49-F238E27FC236}">
                <a16:creationId xmlns:a16="http://schemas.microsoft.com/office/drawing/2014/main" id="{E037EA78-4415-FE24-9431-2FB79BA5053D}"/>
              </a:ext>
            </a:extLst>
          </p:cNvPr>
          <p:cNvSpPr/>
          <p:nvPr/>
        </p:nvSpPr>
        <p:spPr>
          <a:xfrm>
            <a:off x="6960096" y="2648649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Formation Professionnelle</a:t>
            </a:r>
          </a:p>
        </p:txBody>
      </p:sp>
      <p:sp>
        <p:nvSpPr>
          <p:cNvPr id="23" name="Sous-titre 2">
            <a:extLst>
              <a:ext uri="{FF2B5EF4-FFF2-40B4-BE49-F238E27FC236}">
                <a16:creationId xmlns:a16="http://schemas.microsoft.com/office/drawing/2014/main" id="{E1D3D9D2-EEC0-318B-F24D-CD047A6DA2C2}"/>
              </a:ext>
            </a:extLst>
          </p:cNvPr>
          <p:cNvSpPr txBox="1">
            <a:spLocks/>
          </p:cNvSpPr>
          <p:nvPr/>
        </p:nvSpPr>
        <p:spPr>
          <a:xfrm>
            <a:off x="6960096" y="2987203"/>
            <a:ext cx="3351738" cy="369789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fr-FR" sz="1400" kern="0" dirty="0"/>
              <a:t>Responsable : Julien VILLEMEJANE</a:t>
            </a:r>
          </a:p>
        </p:txBody>
      </p:sp>
      <p:sp>
        <p:nvSpPr>
          <p:cNvPr id="25" name="Sous-titre 2">
            <a:extLst>
              <a:ext uri="{FF2B5EF4-FFF2-40B4-BE49-F238E27FC236}">
                <a16:creationId xmlns:a16="http://schemas.microsoft.com/office/drawing/2014/main" id="{1628349C-2289-777B-1C4C-F0382A191FE1}"/>
              </a:ext>
            </a:extLst>
          </p:cNvPr>
          <p:cNvSpPr txBox="1">
            <a:spLocks/>
          </p:cNvSpPr>
          <p:nvPr/>
        </p:nvSpPr>
        <p:spPr>
          <a:xfrm>
            <a:off x="1073900" y="3406821"/>
            <a:ext cx="2736304" cy="2038403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kern="0" dirty="0">
                <a:latin typeface="IBM Plex Sans"/>
              </a:rPr>
              <a:t>Langues vivantes</a:t>
            </a:r>
            <a:br>
              <a:rPr lang="fr-FR" sz="1400" kern="0" dirty="0">
                <a:latin typeface="IBM Plex Sans"/>
              </a:rPr>
            </a:br>
            <a:r>
              <a:rPr lang="fr-FR" sz="1400" kern="0" dirty="0">
                <a:latin typeface="IBM Plex Sans"/>
              </a:rPr>
              <a:t>Projets d’ouverture</a:t>
            </a:r>
          </a:p>
          <a:p>
            <a:pPr algn="l"/>
            <a:r>
              <a:rPr lang="fr-FR" sz="1400" kern="0" dirty="0">
                <a:latin typeface="IBM Plex Sans"/>
              </a:rPr>
              <a:t>Climat / Transition</a:t>
            </a:r>
          </a:p>
          <a:p>
            <a:pPr algn="l"/>
            <a:r>
              <a:rPr lang="fr-FR" sz="1400" kern="0" dirty="0">
                <a:latin typeface="IBM Plex Sans"/>
              </a:rPr>
              <a:t>Diversité culturelle</a:t>
            </a:r>
          </a:p>
          <a:p>
            <a:pPr algn="l"/>
            <a:r>
              <a:rPr lang="fr-FR" sz="1400" kern="0" dirty="0">
                <a:latin typeface="IBM Plex Sans"/>
              </a:rPr>
              <a:t>Science et Société</a:t>
            </a:r>
          </a:p>
          <a:p>
            <a:pPr algn="l"/>
            <a:r>
              <a:rPr lang="fr-FR" sz="1400" kern="0" dirty="0">
                <a:latin typeface="IBM Plex Sans"/>
              </a:rPr>
              <a:t>Ethique</a:t>
            </a:r>
          </a:p>
        </p:txBody>
      </p:sp>
      <p:sp>
        <p:nvSpPr>
          <p:cNvPr id="27" name="Sous-titre 2">
            <a:extLst>
              <a:ext uri="{FF2B5EF4-FFF2-40B4-BE49-F238E27FC236}">
                <a16:creationId xmlns:a16="http://schemas.microsoft.com/office/drawing/2014/main" id="{B089CDFC-090B-09A5-24C6-5A1FB95203D2}"/>
              </a:ext>
            </a:extLst>
          </p:cNvPr>
          <p:cNvSpPr txBox="1">
            <a:spLocks/>
          </p:cNvSpPr>
          <p:nvPr/>
        </p:nvSpPr>
        <p:spPr>
          <a:xfrm>
            <a:off x="7575530" y="3406821"/>
            <a:ext cx="2736304" cy="2038403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kern="0" dirty="0">
                <a:latin typeface="IBM Plex Sans"/>
              </a:rPr>
              <a:t>Economie</a:t>
            </a:r>
          </a:p>
          <a:p>
            <a:pPr algn="l"/>
            <a:r>
              <a:rPr lang="fr-FR" sz="1400" kern="0" dirty="0">
                <a:latin typeface="IBM Plex Sans"/>
              </a:rPr>
              <a:t>Gestion de projet </a:t>
            </a:r>
          </a:p>
          <a:p>
            <a:pPr algn="l"/>
            <a:r>
              <a:rPr lang="fr-FR" sz="1400" kern="0" dirty="0">
                <a:latin typeface="IBM Plex Sans"/>
              </a:rPr>
              <a:t>Gestion </a:t>
            </a:r>
          </a:p>
          <a:p>
            <a:pPr algn="l"/>
            <a:r>
              <a:rPr lang="fr-FR" sz="1400" kern="0" dirty="0">
                <a:latin typeface="IBM Plex Sans"/>
              </a:rPr>
              <a:t>Jeu d’entreprise </a:t>
            </a:r>
          </a:p>
          <a:p>
            <a:pPr algn="l"/>
            <a:r>
              <a:rPr lang="fr-FR" sz="1400" kern="0" dirty="0">
                <a:latin typeface="IBM Plex Sans"/>
              </a:rPr>
              <a:t>Négociation</a:t>
            </a:r>
            <a:br>
              <a:rPr lang="fr-FR" sz="1400" kern="0" dirty="0">
                <a:latin typeface="IBM Plex Sans"/>
              </a:rPr>
            </a:br>
            <a:r>
              <a:rPr lang="fr-FR" sz="1400" kern="0" dirty="0">
                <a:latin typeface="IBM Plex Sans"/>
              </a:rPr>
              <a:t>Propriété industrielle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11094F2-D5A5-458D-D36F-FBAC4E48A43E}"/>
              </a:ext>
            </a:extLst>
          </p:cNvPr>
          <p:cNvSpPr txBox="1"/>
          <p:nvPr/>
        </p:nvSpPr>
        <p:spPr>
          <a:xfrm>
            <a:off x="7333975" y="5651956"/>
            <a:ext cx="3982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EE7202"/>
                </a:solidFill>
              </a:rPr>
              <a:t>julien.villemejane@institutoptique.fr</a:t>
            </a:r>
          </a:p>
        </p:txBody>
      </p:sp>
      <p:sp>
        <p:nvSpPr>
          <p:cNvPr id="31" name="Flèche : pentagone 30">
            <a:extLst>
              <a:ext uri="{FF2B5EF4-FFF2-40B4-BE49-F238E27FC236}">
                <a16:creationId xmlns:a16="http://schemas.microsoft.com/office/drawing/2014/main" id="{C89520A7-42A8-D00F-7805-7749F572EE34}"/>
              </a:ext>
            </a:extLst>
          </p:cNvPr>
          <p:cNvSpPr/>
          <p:nvPr/>
        </p:nvSpPr>
        <p:spPr>
          <a:xfrm>
            <a:off x="592619" y="5301208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Sites en 2A et 3A</a:t>
            </a:r>
          </a:p>
        </p:txBody>
      </p:sp>
      <p:sp>
        <p:nvSpPr>
          <p:cNvPr id="33" name="Sous-titre 2">
            <a:extLst>
              <a:ext uri="{FF2B5EF4-FFF2-40B4-BE49-F238E27FC236}">
                <a16:creationId xmlns:a16="http://schemas.microsoft.com/office/drawing/2014/main" id="{0E9044AB-11F8-2518-5712-BE81D095A449}"/>
              </a:ext>
            </a:extLst>
          </p:cNvPr>
          <p:cNvSpPr txBox="1">
            <a:spLocks/>
          </p:cNvSpPr>
          <p:nvPr/>
        </p:nvSpPr>
        <p:spPr>
          <a:xfrm>
            <a:off x="1055439" y="5754038"/>
            <a:ext cx="4528817" cy="768779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456425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91284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369266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182569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282113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6pPr>
            <a:lvl7pPr marL="2738534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7pPr>
            <a:lvl8pPr marL="3194959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8pPr>
            <a:lvl9pPr marL="3651381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algn="l"/>
            <a:r>
              <a:rPr lang="fr-FR" sz="1400" kern="0" dirty="0">
                <a:latin typeface="IBM Plex Sans"/>
              </a:rPr>
              <a:t>Pédagogies différentes</a:t>
            </a:r>
          </a:p>
          <a:p>
            <a:pPr algn="l"/>
            <a:r>
              <a:rPr lang="fr-FR" sz="1400" kern="0" dirty="0">
                <a:latin typeface="IBM Plex Sans"/>
              </a:rPr>
              <a:t>Coloration de votre formation </a:t>
            </a:r>
          </a:p>
        </p:txBody>
      </p:sp>
      <p:sp>
        <p:nvSpPr>
          <p:cNvPr id="35" name="Flèche : pentagone 34">
            <a:extLst>
              <a:ext uri="{FF2B5EF4-FFF2-40B4-BE49-F238E27FC236}">
                <a16:creationId xmlns:a16="http://schemas.microsoft.com/office/drawing/2014/main" id="{A51887FE-FBDA-4CA9-1948-383BA0FB2B7C}"/>
              </a:ext>
            </a:extLst>
          </p:cNvPr>
          <p:cNvSpPr/>
          <p:nvPr/>
        </p:nvSpPr>
        <p:spPr>
          <a:xfrm>
            <a:off x="6960096" y="5261399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Conseils sur votre parcours professionnel ?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52C5AD83-AE02-1E9F-2119-A76A847974B8}"/>
              </a:ext>
            </a:extLst>
          </p:cNvPr>
          <p:cNvSpPr txBox="1"/>
          <p:nvPr/>
        </p:nvSpPr>
        <p:spPr>
          <a:xfrm>
            <a:off x="7356606" y="6244910"/>
            <a:ext cx="3982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EE7202"/>
                </a:solidFill>
              </a:rPr>
              <a:t>Questionnaire d’ici fin septembre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8BEE1468-2EC9-C0FB-F096-E55ECD2D1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104" y="3416815"/>
            <a:ext cx="2568523" cy="144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9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05EC-A826-EC6D-55C4-4E5E0791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0F5709-2192-5660-DE19-0D133898DDEB}"/>
              </a:ext>
            </a:extLst>
          </p:cNvPr>
          <p:cNvSpPr/>
          <p:nvPr/>
        </p:nvSpPr>
        <p:spPr bwMode="auto">
          <a:xfrm>
            <a:off x="263352" y="133980"/>
            <a:ext cx="4464496" cy="13508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166C3-CA35-32A9-D474-6F1A6F6B0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41"/>
            <a:ext cx="6621760" cy="1470025"/>
          </a:xfrm>
        </p:spPr>
        <p:txBody>
          <a:bodyPr/>
          <a:lstStyle/>
          <a:p>
            <a:r>
              <a:rPr lang="fr-FR" dirty="0" err="1"/>
              <a:t>Opto-Electronique</a:t>
            </a:r>
            <a:br>
              <a:rPr lang="fr-FR" sz="1200" dirty="0"/>
            </a:br>
            <a:br>
              <a:rPr lang="fr-FR" sz="1200" dirty="0"/>
            </a:br>
            <a:r>
              <a:rPr lang="fr-FR" dirty="0"/>
              <a:t>Interfaçage Numérique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A8D8B-0215-8CF0-4D01-85AF8D9DE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86200"/>
            <a:ext cx="6621760" cy="1752600"/>
          </a:xfrm>
        </p:spPr>
        <p:txBody>
          <a:bodyPr/>
          <a:lstStyle/>
          <a:p>
            <a:r>
              <a:rPr lang="fr-FR" sz="2000" dirty="0"/>
              <a:t>Photons-Electrons / Traitement du signal</a:t>
            </a:r>
          </a:p>
          <a:p>
            <a:r>
              <a:rPr lang="fr-FR" sz="2000" dirty="0"/>
              <a:t>Acquisition de données / Images</a:t>
            </a:r>
          </a:p>
        </p:txBody>
      </p:sp>
      <p:pic>
        <p:nvPicPr>
          <p:cNvPr id="4" name="Image 3" descr="Une image contenant intérieur, électronique, équipement, projecteur&#10;&#10;Description générée automatiquement">
            <a:extLst>
              <a:ext uri="{FF2B5EF4-FFF2-40B4-BE49-F238E27FC236}">
                <a16:creationId xmlns:a16="http://schemas.microsoft.com/office/drawing/2014/main" id="{51EC4A98-337F-88F8-43D4-D7C44BD10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2294164"/>
            <a:ext cx="3909375" cy="260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CF7B6F-0795-01C8-9205-560B68EE3584}"/>
              </a:ext>
            </a:extLst>
          </p:cNvPr>
          <p:cNvSpPr/>
          <p:nvPr/>
        </p:nvSpPr>
        <p:spPr bwMode="auto">
          <a:xfrm>
            <a:off x="7873322" y="369121"/>
            <a:ext cx="4011764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EB4C1-C32C-5C8F-51DE-4361F16DF7E5}"/>
              </a:ext>
            </a:extLst>
          </p:cNvPr>
          <p:cNvSpPr/>
          <p:nvPr/>
        </p:nvSpPr>
        <p:spPr bwMode="auto">
          <a:xfrm>
            <a:off x="6960096" y="641136"/>
            <a:ext cx="5163892" cy="9112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7E99A-9869-3A9B-334C-964ABAE2EBEA}"/>
              </a:ext>
            </a:extLst>
          </p:cNvPr>
          <p:cNvSpPr/>
          <p:nvPr/>
        </p:nvSpPr>
        <p:spPr bwMode="auto">
          <a:xfrm>
            <a:off x="1487488" y="5434472"/>
            <a:ext cx="3744416" cy="204328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D1A35A-167D-8BB2-8E51-39D0F792563C}"/>
              </a:ext>
            </a:extLst>
          </p:cNvPr>
          <p:cNvSpPr/>
          <p:nvPr/>
        </p:nvSpPr>
        <p:spPr bwMode="auto">
          <a:xfrm>
            <a:off x="1267286" y="5301208"/>
            <a:ext cx="6124857" cy="66688"/>
          </a:xfrm>
          <a:prstGeom prst="rect">
            <a:avLst/>
          </a:prstGeom>
          <a:solidFill>
            <a:srgbClr val="22226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5" name="Image 14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44736B6-C889-86DA-7344-FCFEAC32C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57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0EBDA9F-024E-1644-4C77-64A4359F9D3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Systèmes imageants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6A7B7FF8-BE89-50A8-FB7F-2ADE998C9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93" y="5109217"/>
            <a:ext cx="967685" cy="830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 : carré corné 53">
            <a:extLst>
              <a:ext uri="{FF2B5EF4-FFF2-40B4-BE49-F238E27FC236}">
                <a16:creationId xmlns:a16="http://schemas.microsoft.com/office/drawing/2014/main" id="{4F5CB0A9-FCF6-3A53-C7E0-CA77DD7A4000}"/>
              </a:ext>
            </a:extLst>
          </p:cNvPr>
          <p:cNvSpPr/>
          <p:nvPr/>
        </p:nvSpPr>
        <p:spPr>
          <a:xfrm>
            <a:off x="3923645" y="4406180"/>
            <a:ext cx="701183" cy="417189"/>
          </a:xfrm>
          <a:prstGeom prst="foldedCorner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Image</a:t>
            </a: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A1A2128C-2636-B72C-26CF-08A0922FC6B7}"/>
              </a:ext>
            </a:extLst>
          </p:cNvPr>
          <p:cNvSpPr/>
          <p:nvPr/>
        </p:nvSpPr>
        <p:spPr>
          <a:xfrm>
            <a:off x="939322" y="4210561"/>
            <a:ext cx="771222" cy="480989"/>
          </a:xfrm>
          <a:prstGeom prst="cube">
            <a:avLst>
              <a:gd name="adj" fmla="val 17604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Objet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D53FF99-0639-89C2-61B2-7851D9196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869" y="4011461"/>
            <a:ext cx="1748290" cy="1397924"/>
          </a:xfrm>
          <a:prstGeom prst="rect">
            <a:avLst/>
          </a:prstGeom>
        </p:spPr>
      </p:pic>
      <p:sp>
        <p:nvSpPr>
          <p:cNvPr id="27" name="Flèche : pentagone 10">
            <a:extLst>
              <a:ext uri="{FF2B5EF4-FFF2-40B4-BE49-F238E27FC236}">
                <a16:creationId xmlns:a16="http://schemas.microsoft.com/office/drawing/2014/main" id="{D2262639-B397-9A1F-0EFF-B40C302146B9}"/>
              </a:ext>
            </a:extLst>
          </p:cNvPr>
          <p:cNvSpPr/>
          <p:nvPr/>
        </p:nvSpPr>
        <p:spPr>
          <a:xfrm>
            <a:off x="6369392" y="4418576"/>
            <a:ext cx="1352207" cy="443781"/>
          </a:xfrm>
          <a:prstGeom prst="homePlat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Signaux électriques</a:t>
            </a:r>
          </a:p>
        </p:txBody>
      </p:sp>
      <p:sp>
        <p:nvSpPr>
          <p:cNvPr id="29" name="Organigramme : Multidocument 28">
            <a:extLst>
              <a:ext uri="{FF2B5EF4-FFF2-40B4-BE49-F238E27FC236}">
                <a16:creationId xmlns:a16="http://schemas.microsoft.com/office/drawing/2014/main" id="{AA4A1DEB-43BA-6C8B-0919-C66C5DEA75F4}"/>
              </a:ext>
            </a:extLst>
          </p:cNvPr>
          <p:cNvSpPr/>
          <p:nvPr/>
        </p:nvSpPr>
        <p:spPr>
          <a:xfrm>
            <a:off x="9746206" y="4387417"/>
            <a:ext cx="1085850" cy="454713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Données</a:t>
            </a:r>
            <a:endParaRPr lang="fr-FR" sz="1400" b="1" dirty="0">
              <a:solidFill>
                <a:schemeClr val="bg1"/>
              </a:solidFill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C462FA9-8816-3E3B-5BCF-6363F5538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9032" y="4315328"/>
            <a:ext cx="993117" cy="1094057"/>
          </a:xfrm>
          <a:prstGeom prst="rect">
            <a:avLst/>
          </a:prstGeom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EDFFD55C-E80A-2797-0D5E-199DFC538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42" y="4289540"/>
            <a:ext cx="1228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278DCF96-87D6-4311-9264-86E742F47FFB}"/>
              </a:ext>
            </a:extLst>
          </p:cNvPr>
          <p:cNvSpPr txBox="1"/>
          <p:nvPr/>
        </p:nvSpPr>
        <p:spPr>
          <a:xfrm>
            <a:off x="5114099" y="1655033"/>
            <a:ext cx="60324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Génération de photons = Source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Conception optique / « Fabrication d’images »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Acquisition de données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Traitement des informations</a:t>
            </a:r>
          </a:p>
        </p:txBody>
      </p:sp>
      <p:sp>
        <p:nvSpPr>
          <p:cNvPr id="37" name="Flèche : pentagone 36">
            <a:extLst>
              <a:ext uri="{FF2B5EF4-FFF2-40B4-BE49-F238E27FC236}">
                <a16:creationId xmlns:a16="http://schemas.microsoft.com/office/drawing/2014/main" id="{D1AFDECF-1D61-3B5B-B3BE-3085A46D4C20}"/>
              </a:ext>
            </a:extLst>
          </p:cNvPr>
          <p:cNvSpPr/>
          <p:nvPr/>
        </p:nvSpPr>
        <p:spPr>
          <a:xfrm>
            <a:off x="618915" y="1610717"/>
            <a:ext cx="3687909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Système optique</a:t>
            </a:r>
          </a:p>
        </p:txBody>
      </p:sp>
    </p:spTree>
    <p:extLst>
      <p:ext uri="{BB962C8B-B14F-4D97-AF65-F5344CB8AC3E}">
        <p14:creationId xmlns:p14="http://schemas.microsoft.com/office/powerpoint/2010/main" val="348238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AEEA-23B9-3F7F-2E1F-74C79B9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D77F51F-2718-2E7C-BB45-3232C1F79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868D29-92DF-74A5-BA6B-838C9E5C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37810-9B50-A986-52A5-8A849C6A757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08EF9-390F-6CEF-AA1E-AA8D7F0FDCD5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B6B25349-C666-EB88-E53E-BDF383B3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C837638-40EA-7127-095C-E985C9989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184" y="1763931"/>
            <a:ext cx="3299975" cy="24324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D684162-8CF8-F614-83F7-93ABFCCEE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381" y="4453346"/>
            <a:ext cx="2125497" cy="190561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5C7AB1D-63D5-64A7-320A-7207F440D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3832" y="4502784"/>
            <a:ext cx="4478696" cy="18521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6F4CE3-987C-2AEB-A012-332CE70D63D1}"/>
              </a:ext>
            </a:extLst>
          </p:cNvPr>
          <p:cNvSpPr/>
          <p:nvPr/>
        </p:nvSpPr>
        <p:spPr bwMode="auto">
          <a:xfrm>
            <a:off x="4295800" y="4525453"/>
            <a:ext cx="2304256" cy="190561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45C88C5-6878-909F-981A-F6FAF8DC44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975" y="2060848"/>
            <a:ext cx="3781425" cy="3981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A158F3-4862-7056-98FD-D626E0810885}"/>
              </a:ext>
            </a:extLst>
          </p:cNvPr>
          <p:cNvSpPr/>
          <p:nvPr/>
        </p:nvSpPr>
        <p:spPr>
          <a:xfrm>
            <a:off x="407368" y="6528457"/>
            <a:ext cx="1540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6EE399-5D69-B808-4E47-46709C1A9FC8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57235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 err="1"/>
              <a:t>Photodétection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C815C94-B302-5897-2B24-6006B937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54" y="3887991"/>
            <a:ext cx="1392915" cy="19411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A9E6D40-A80D-F8D7-19A3-20BF0A05C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726" y="2076857"/>
            <a:ext cx="4642427" cy="41977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356DD07-CF70-6C82-FD2A-ADEE9A053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863" y="2710395"/>
            <a:ext cx="4911868" cy="253807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C7C9FDE-6C4D-8B93-67D3-0CD12C9BE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1976" y="4677652"/>
            <a:ext cx="2118965" cy="70214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4448BC6-7D1A-A4FA-CE44-0D6C3A9796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982" y="5663410"/>
            <a:ext cx="2876951" cy="5144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 err="1">
                <a:solidFill>
                  <a:srgbClr val="CC7604"/>
                </a:solidFill>
                <a:latin typeface="IBM Plex Sans"/>
              </a:rPr>
              <a:t>Opto-Electronique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765507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30D-5DE8-C5B3-ADFE-969EEA14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97">
            <a:extLst>
              <a:ext uri="{FF2B5EF4-FFF2-40B4-BE49-F238E27FC236}">
                <a16:creationId xmlns:a16="http://schemas.microsoft.com/office/drawing/2014/main" id="{4D1F7B9A-9547-ACD2-61CB-2305C078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167" y="3121725"/>
            <a:ext cx="4376161" cy="18030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6215188" y="3021127"/>
            <a:ext cx="1596446" cy="20196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C30805-7626-8D00-9D1E-A6B1B7B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Caméra CMOS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52F3A-F86F-1ED5-8267-82EDF736F186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CB2EDA-51E2-466E-A3E1-0ED7D01A8150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F760CCF5-BD36-992E-7F4E-5117BB46E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19488A31-B9C9-1361-DC82-249FD720E4A9}"/>
              </a:ext>
            </a:extLst>
          </p:cNvPr>
          <p:cNvSpPr txBox="1"/>
          <p:nvPr/>
        </p:nvSpPr>
        <p:spPr>
          <a:xfrm>
            <a:off x="7392144" y="1166533"/>
            <a:ext cx="4587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B31563C-CDB7-5214-5A0D-C2955E1ED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542" y="3861048"/>
            <a:ext cx="2035329" cy="161372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1AEFE9E-318E-F41C-9821-A3F9EB3EAB48}"/>
              </a:ext>
            </a:extLst>
          </p:cNvPr>
          <p:cNvSpPr txBox="1"/>
          <p:nvPr/>
        </p:nvSpPr>
        <p:spPr>
          <a:xfrm>
            <a:off x="1026481" y="5441293"/>
            <a:ext cx="1967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b="0" i="0" u="none" strike="noStrike" baseline="0" dirty="0">
                <a:latin typeface="ArialUnicodeMS"/>
              </a:rPr>
              <a:t>e2v </a:t>
            </a:r>
            <a:r>
              <a:rPr lang="fr-FR" sz="1000" b="0" i="0" u="none" strike="noStrike" baseline="0" dirty="0" err="1">
                <a:latin typeface="ArialUnicodeMS"/>
              </a:rPr>
              <a:t>sensor</a:t>
            </a:r>
            <a:r>
              <a:rPr lang="fr-FR" sz="1000" b="0" i="0" u="none" strike="noStrike" baseline="0" dirty="0">
                <a:latin typeface="ArialUnicodeMS"/>
              </a:rPr>
              <a:t> EV76C560ACT</a:t>
            </a:r>
            <a:endParaRPr lang="fr-FR" sz="24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A0BC006A-F241-AF71-67A2-597100ABA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26" y="1610790"/>
            <a:ext cx="1883381" cy="1883381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BDDD54F-26D0-1271-3B93-684129B94566}"/>
              </a:ext>
            </a:extLst>
          </p:cNvPr>
          <p:cNvSpPr txBox="1"/>
          <p:nvPr/>
        </p:nvSpPr>
        <p:spPr>
          <a:xfrm>
            <a:off x="448869" y="3494171"/>
            <a:ext cx="1561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0" i="0" u="none" strike="noStrike" baseline="0" dirty="0">
                <a:latin typeface="ArialUnicodeMS"/>
              </a:rPr>
              <a:t>IDS UI-1240SE-C-HQ</a:t>
            </a:r>
            <a:endParaRPr lang="fr-FR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BC6F2-867B-A610-DF62-4D4BCAC5BBBB}"/>
              </a:ext>
            </a:extLst>
          </p:cNvPr>
          <p:cNvSpPr>
            <a:spLocks/>
          </p:cNvSpPr>
          <p:nvPr/>
        </p:nvSpPr>
        <p:spPr>
          <a:xfrm>
            <a:off x="4468864" y="5229200"/>
            <a:ext cx="7271915" cy="13438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FEABAD-C542-32BA-8D50-1230F7489B73}"/>
              </a:ext>
            </a:extLst>
          </p:cNvPr>
          <p:cNvSpPr/>
          <p:nvPr/>
        </p:nvSpPr>
        <p:spPr>
          <a:xfrm>
            <a:off x="5446770" y="5502560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Sensor</a:t>
            </a:r>
            <a:endParaRPr lang="fr-FR" dirty="0"/>
          </a:p>
          <a:p>
            <a:pPr algn="ctr"/>
            <a:r>
              <a:rPr lang="fr-FR" sz="1050" dirty="0"/>
              <a:t>Photodiode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9382B12-8B89-86FD-0A7C-B5783C4F4830}"/>
              </a:ext>
            </a:extLst>
          </p:cNvPr>
          <p:cNvCxnSpPr>
            <a:cxnSpLocks/>
          </p:cNvCxnSpPr>
          <p:nvPr/>
        </p:nvCxnSpPr>
        <p:spPr>
          <a:xfrm>
            <a:off x="4938517" y="5843880"/>
            <a:ext cx="464338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7A605A14-AB7C-7961-A60C-479050FB31FD}"/>
              </a:ext>
            </a:extLst>
          </p:cNvPr>
          <p:cNvSpPr txBox="1"/>
          <p:nvPr/>
        </p:nvSpPr>
        <p:spPr>
          <a:xfrm>
            <a:off x="4474179" y="5363014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Light flux</a:t>
            </a: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E6ADF37-4E55-DDD9-2B7D-2EEDEEED609E}"/>
              </a:ext>
            </a:extLst>
          </p:cNvPr>
          <p:cNvCxnSpPr>
            <a:cxnSpLocks/>
          </p:cNvCxnSpPr>
          <p:nvPr/>
        </p:nvCxnSpPr>
        <p:spPr>
          <a:xfrm>
            <a:off x="6526525" y="5843879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6D784A0F-3CDE-5360-F88A-2FD58D64A694}"/>
              </a:ext>
            </a:extLst>
          </p:cNvPr>
          <p:cNvSpPr txBox="1"/>
          <p:nvPr/>
        </p:nvSpPr>
        <p:spPr>
          <a:xfrm>
            <a:off x="6439588" y="5377269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Charges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DCA128-977B-8784-075C-2608A1B02A42}"/>
              </a:ext>
            </a:extLst>
          </p:cNvPr>
          <p:cNvSpPr/>
          <p:nvPr/>
        </p:nvSpPr>
        <p:spPr>
          <a:xfrm>
            <a:off x="7417991" y="5503145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Capacitor</a:t>
            </a:r>
            <a:endParaRPr lang="fr-FR" sz="800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A33B03D-BE1B-DD70-035E-517245701CB9}"/>
              </a:ext>
            </a:extLst>
          </p:cNvPr>
          <p:cNvCxnSpPr>
            <a:cxnSpLocks/>
          </p:cNvCxnSpPr>
          <p:nvPr/>
        </p:nvCxnSpPr>
        <p:spPr>
          <a:xfrm>
            <a:off x="8489437" y="5843879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65F72A59-53B2-5584-77DD-A343C32D1D3F}"/>
              </a:ext>
            </a:extLst>
          </p:cNvPr>
          <p:cNvSpPr txBox="1"/>
          <p:nvPr/>
        </p:nvSpPr>
        <p:spPr>
          <a:xfrm>
            <a:off x="8404997" y="5402668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Voltage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248C7F-2463-2D4A-DDAF-3856E8354CCD}"/>
              </a:ext>
            </a:extLst>
          </p:cNvPr>
          <p:cNvSpPr>
            <a:spLocks/>
          </p:cNvSpPr>
          <p:nvPr/>
        </p:nvSpPr>
        <p:spPr>
          <a:xfrm>
            <a:off x="4868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0EC528-124A-90C7-1C0A-7EE2F7F7A3CA}"/>
              </a:ext>
            </a:extLst>
          </p:cNvPr>
          <p:cNvSpPr>
            <a:spLocks/>
          </p:cNvSpPr>
          <p:nvPr/>
        </p:nvSpPr>
        <p:spPr>
          <a:xfrm>
            <a:off x="5084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635BA8-CCEC-5BCA-8675-5C0338AEE21D}"/>
              </a:ext>
            </a:extLst>
          </p:cNvPr>
          <p:cNvSpPr>
            <a:spLocks/>
          </p:cNvSpPr>
          <p:nvPr/>
        </p:nvSpPr>
        <p:spPr>
          <a:xfrm>
            <a:off x="5300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08051D-0D3C-C612-4555-2CAC741991F4}"/>
              </a:ext>
            </a:extLst>
          </p:cNvPr>
          <p:cNvSpPr>
            <a:spLocks/>
          </p:cNvSpPr>
          <p:nvPr/>
        </p:nvSpPr>
        <p:spPr>
          <a:xfrm>
            <a:off x="5516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642C4A-BF6F-1318-6708-4F233F14EC39}"/>
              </a:ext>
            </a:extLst>
          </p:cNvPr>
          <p:cNvSpPr>
            <a:spLocks/>
          </p:cNvSpPr>
          <p:nvPr/>
        </p:nvSpPr>
        <p:spPr>
          <a:xfrm>
            <a:off x="5732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99DC2F-0368-27E9-6D87-C90F866D2543}"/>
              </a:ext>
            </a:extLst>
          </p:cNvPr>
          <p:cNvSpPr>
            <a:spLocks/>
          </p:cNvSpPr>
          <p:nvPr/>
        </p:nvSpPr>
        <p:spPr>
          <a:xfrm>
            <a:off x="5948571" y="1935340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C7864E-2B4A-3343-1383-290F1BBC25FE}"/>
              </a:ext>
            </a:extLst>
          </p:cNvPr>
          <p:cNvSpPr>
            <a:spLocks/>
          </p:cNvSpPr>
          <p:nvPr/>
        </p:nvSpPr>
        <p:spPr>
          <a:xfrm>
            <a:off x="4868571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843610-2AC4-267A-F58C-7F6DB9394F38}"/>
              </a:ext>
            </a:extLst>
          </p:cNvPr>
          <p:cNvSpPr>
            <a:spLocks/>
          </p:cNvSpPr>
          <p:nvPr/>
        </p:nvSpPr>
        <p:spPr>
          <a:xfrm>
            <a:off x="5300571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90F8CD-4EF2-1468-096A-63598C7CD5CC}"/>
              </a:ext>
            </a:extLst>
          </p:cNvPr>
          <p:cNvSpPr>
            <a:spLocks/>
          </p:cNvSpPr>
          <p:nvPr/>
        </p:nvSpPr>
        <p:spPr>
          <a:xfrm>
            <a:off x="5516571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648264-A763-B47B-E4E0-769C9BB26B86}"/>
              </a:ext>
            </a:extLst>
          </p:cNvPr>
          <p:cNvSpPr>
            <a:spLocks/>
          </p:cNvSpPr>
          <p:nvPr/>
        </p:nvSpPr>
        <p:spPr>
          <a:xfrm>
            <a:off x="5732571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223775B-9C80-E5F2-8326-5FC33BD0A0B9}"/>
              </a:ext>
            </a:extLst>
          </p:cNvPr>
          <p:cNvSpPr>
            <a:spLocks/>
          </p:cNvSpPr>
          <p:nvPr/>
        </p:nvSpPr>
        <p:spPr>
          <a:xfrm>
            <a:off x="5948571" y="2180686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81DA8F8-87F7-69CE-0B9A-D7231D367469}"/>
              </a:ext>
            </a:extLst>
          </p:cNvPr>
          <p:cNvSpPr>
            <a:spLocks/>
          </p:cNvSpPr>
          <p:nvPr/>
        </p:nvSpPr>
        <p:spPr>
          <a:xfrm>
            <a:off x="4868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01CD845-9B90-0439-F44E-53AE35260F1B}"/>
              </a:ext>
            </a:extLst>
          </p:cNvPr>
          <p:cNvSpPr>
            <a:spLocks/>
          </p:cNvSpPr>
          <p:nvPr/>
        </p:nvSpPr>
        <p:spPr>
          <a:xfrm>
            <a:off x="5084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5E0FF1-E3E5-D86A-8545-C62C2A94C0A6}"/>
              </a:ext>
            </a:extLst>
          </p:cNvPr>
          <p:cNvSpPr>
            <a:spLocks/>
          </p:cNvSpPr>
          <p:nvPr/>
        </p:nvSpPr>
        <p:spPr>
          <a:xfrm>
            <a:off x="5300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687654-6D4F-FB9B-80E0-A1249FDF24A3}"/>
              </a:ext>
            </a:extLst>
          </p:cNvPr>
          <p:cNvSpPr>
            <a:spLocks/>
          </p:cNvSpPr>
          <p:nvPr/>
        </p:nvSpPr>
        <p:spPr>
          <a:xfrm>
            <a:off x="5516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99DB01-7F10-0E7B-962B-54A47E56CD6F}"/>
              </a:ext>
            </a:extLst>
          </p:cNvPr>
          <p:cNvSpPr>
            <a:spLocks/>
          </p:cNvSpPr>
          <p:nvPr/>
        </p:nvSpPr>
        <p:spPr>
          <a:xfrm>
            <a:off x="5732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586DC5-6572-D30E-A24E-FA2A617B1DFE}"/>
              </a:ext>
            </a:extLst>
          </p:cNvPr>
          <p:cNvSpPr>
            <a:spLocks/>
          </p:cNvSpPr>
          <p:nvPr/>
        </p:nvSpPr>
        <p:spPr>
          <a:xfrm>
            <a:off x="5948571" y="2426032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A9829E-FCC6-E29E-E818-998B38E6D319}"/>
              </a:ext>
            </a:extLst>
          </p:cNvPr>
          <p:cNvSpPr>
            <a:spLocks/>
          </p:cNvSpPr>
          <p:nvPr/>
        </p:nvSpPr>
        <p:spPr>
          <a:xfrm>
            <a:off x="4868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AC27C9-B6B7-A2BA-B4D6-AA9CA7642A96}"/>
              </a:ext>
            </a:extLst>
          </p:cNvPr>
          <p:cNvSpPr>
            <a:spLocks/>
          </p:cNvSpPr>
          <p:nvPr/>
        </p:nvSpPr>
        <p:spPr>
          <a:xfrm>
            <a:off x="5084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0178AF-5899-1375-E35B-AE5862225454}"/>
              </a:ext>
            </a:extLst>
          </p:cNvPr>
          <p:cNvSpPr>
            <a:spLocks/>
          </p:cNvSpPr>
          <p:nvPr/>
        </p:nvSpPr>
        <p:spPr>
          <a:xfrm>
            <a:off x="5300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9BD961-EA4D-4E1B-F7D1-6C95919D0558}"/>
              </a:ext>
            </a:extLst>
          </p:cNvPr>
          <p:cNvSpPr>
            <a:spLocks/>
          </p:cNvSpPr>
          <p:nvPr/>
        </p:nvSpPr>
        <p:spPr>
          <a:xfrm>
            <a:off x="5516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5BC200-E364-6708-AE98-3EFD663F1EA6}"/>
              </a:ext>
            </a:extLst>
          </p:cNvPr>
          <p:cNvSpPr>
            <a:spLocks/>
          </p:cNvSpPr>
          <p:nvPr/>
        </p:nvSpPr>
        <p:spPr>
          <a:xfrm>
            <a:off x="5732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C2201BC-9EAD-4EF9-AE3C-AE8F0EE72C60}"/>
              </a:ext>
            </a:extLst>
          </p:cNvPr>
          <p:cNvSpPr>
            <a:spLocks/>
          </p:cNvSpPr>
          <p:nvPr/>
        </p:nvSpPr>
        <p:spPr>
          <a:xfrm>
            <a:off x="5948571" y="2669055"/>
            <a:ext cx="216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F8EA169B-32EC-7278-E79F-37CF736B8855}"/>
              </a:ext>
            </a:extLst>
          </p:cNvPr>
          <p:cNvSpPr txBox="1"/>
          <p:nvPr/>
        </p:nvSpPr>
        <p:spPr>
          <a:xfrm>
            <a:off x="4867934" y="1623751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Columns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2F9EE2B-1D1D-B13B-95E3-94802746E325}"/>
              </a:ext>
            </a:extLst>
          </p:cNvPr>
          <p:cNvSpPr txBox="1"/>
          <p:nvPr/>
        </p:nvSpPr>
        <p:spPr>
          <a:xfrm rot="16200000">
            <a:off x="4397328" y="2251403"/>
            <a:ext cx="54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Rows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EF07F7-3117-D2A2-FBDC-CA1E3CC88E5F}"/>
              </a:ext>
            </a:extLst>
          </p:cNvPr>
          <p:cNvSpPr>
            <a:spLocks/>
          </p:cNvSpPr>
          <p:nvPr/>
        </p:nvSpPr>
        <p:spPr>
          <a:xfrm>
            <a:off x="5084571" y="2180686"/>
            <a:ext cx="216000" cy="2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Flèche : droite 52">
            <a:extLst>
              <a:ext uri="{FF2B5EF4-FFF2-40B4-BE49-F238E27FC236}">
                <a16:creationId xmlns:a16="http://schemas.microsoft.com/office/drawing/2014/main" id="{29A15D34-4937-54F9-5982-64F3D587B886}"/>
              </a:ext>
            </a:extLst>
          </p:cNvPr>
          <p:cNvSpPr/>
          <p:nvPr/>
        </p:nvSpPr>
        <p:spPr>
          <a:xfrm rot="19072839">
            <a:off x="4749957" y="6157530"/>
            <a:ext cx="438912" cy="30666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Flèche : droite 53">
            <a:extLst>
              <a:ext uri="{FF2B5EF4-FFF2-40B4-BE49-F238E27FC236}">
                <a16:creationId xmlns:a16="http://schemas.microsoft.com/office/drawing/2014/main" id="{4D7DE774-F3DD-7BA1-6409-11D6037B642C}"/>
              </a:ext>
            </a:extLst>
          </p:cNvPr>
          <p:cNvSpPr/>
          <p:nvPr/>
        </p:nvSpPr>
        <p:spPr>
          <a:xfrm rot="19072839">
            <a:off x="6681564" y="6157529"/>
            <a:ext cx="438912" cy="30666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3EF1281-88A9-9BF1-1AD4-6474E8F6986B}"/>
              </a:ext>
            </a:extLst>
          </p:cNvPr>
          <p:cNvSpPr/>
          <p:nvPr/>
        </p:nvSpPr>
        <p:spPr>
          <a:xfrm>
            <a:off x="9393331" y="5502559"/>
            <a:ext cx="992818" cy="68263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ADC</a:t>
            </a:r>
            <a:endParaRPr lang="fr-FR" sz="900" dirty="0"/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B8E6A1D8-1FFC-CD8F-9F50-8B9E4098087C}"/>
              </a:ext>
            </a:extLst>
          </p:cNvPr>
          <p:cNvCxnSpPr>
            <a:cxnSpLocks/>
          </p:cNvCxnSpPr>
          <p:nvPr/>
        </p:nvCxnSpPr>
        <p:spPr>
          <a:xfrm>
            <a:off x="10459973" y="5843878"/>
            <a:ext cx="841739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395D5F1A-BAC1-9551-A73B-2A9B33CB0BDD}"/>
              </a:ext>
            </a:extLst>
          </p:cNvPr>
          <p:cNvSpPr txBox="1"/>
          <p:nvPr/>
        </p:nvSpPr>
        <p:spPr>
          <a:xfrm>
            <a:off x="10427791" y="5402667"/>
            <a:ext cx="13129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Digital Value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1EBA7F40-6373-C422-C18E-B59215258573}"/>
              </a:ext>
            </a:extLst>
          </p:cNvPr>
          <p:cNvCxnSpPr>
            <a:cxnSpLocks/>
          </p:cNvCxnSpPr>
          <p:nvPr/>
        </p:nvCxnSpPr>
        <p:spPr>
          <a:xfrm flipV="1">
            <a:off x="7110317" y="3212976"/>
            <a:ext cx="0" cy="17103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CC775FD5-46E3-DD02-14AD-ABC28ACE9744}"/>
              </a:ext>
            </a:extLst>
          </p:cNvPr>
          <p:cNvCxnSpPr>
            <a:cxnSpLocks/>
          </p:cNvCxnSpPr>
          <p:nvPr/>
        </p:nvCxnSpPr>
        <p:spPr>
          <a:xfrm>
            <a:off x="6945083" y="4771801"/>
            <a:ext cx="43566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CDAC3B2A-EA6A-8A83-F932-6630B846792C}"/>
              </a:ext>
            </a:extLst>
          </p:cNvPr>
          <p:cNvCxnSpPr>
            <a:cxnSpLocks/>
          </p:cNvCxnSpPr>
          <p:nvPr/>
        </p:nvCxnSpPr>
        <p:spPr>
          <a:xfrm flipV="1">
            <a:off x="7347137" y="4200338"/>
            <a:ext cx="776047" cy="54896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317E0804-063B-F0BB-14B7-23E2819C17D5}"/>
              </a:ext>
            </a:extLst>
          </p:cNvPr>
          <p:cNvCxnSpPr>
            <a:cxnSpLocks/>
          </p:cNvCxnSpPr>
          <p:nvPr/>
        </p:nvCxnSpPr>
        <p:spPr>
          <a:xfrm flipH="1">
            <a:off x="7368264" y="4866122"/>
            <a:ext cx="743878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D1A6B09-6ED1-6D8A-823B-A52541693A4D}"/>
              </a:ext>
            </a:extLst>
          </p:cNvPr>
          <p:cNvCxnSpPr>
            <a:cxnSpLocks/>
          </p:cNvCxnSpPr>
          <p:nvPr/>
        </p:nvCxnSpPr>
        <p:spPr>
          <a:xfrm flipH="1">
            <a:off x="7337766" y="352004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85E32139-1604-E2F8-8DBA-5D5E0094C423}"/>
              </a:ext>
            </a:extLst>
          </p:cNvPr>
          <p:cNvCxnSpPr>
            <a:cxnSpLocks/>
          </p:cNvCxnSpPr>
          <p:nvPr/>
        </p:nvCxnSpPr>
        <p:spPr>
          <a:xfrm flipH="1">
            <a:off x="8127670" y="353150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22AEAA9E-4D6D-6E88-84B4-F04BD7B66DA6}"/>
              </a:ext>
            </a:extLst>
          </p:cNvPr>
          <p:cNvCxnSpPr>
            <a:cxnSpLocks/>
          </p:cNvCxnSpPr>
          <p:nvPr/>
        </p:nvCxnSpPr>
        <p:spPr>
          <a:xfrm>
            <a:off x="8123184" y="4200338"/>
            <a:ext cx="47593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lèche : droite 124">
            <a:extLst>
              <a:ext uri="{FF2B5EF4-FFF2-40B4-BE49-F238E27FC236}">
                <a16:creationId xmlns:a16="http://schemas.microsoft.com/office/drawing/2014/main" id="{FF46D7AC-545F-8371-971A-EC2ADC7113F8}"/>
              </a:ext>
            </a:extLst>
          </p:cNvPr>
          <p:cNvSpPr/>
          <p:nvPr/>
        </p:nvSpPr>
        <p:spPr>
          <a:xfrm rot="19072839">
            <a:off x="8542274" y="6166317"/>
            <a:ext cx="438912" cy="306666"/>
          </a:xfrm>
          <a:prstGeom prst="rightArrow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2807DE80-7499-0B81-B0A4-0EC2F98FEF79}"/>
              </a:ext>
            </a:extLst>
          </p:cNvPr>
          <p:cNvCxnSpPr>
            <a:cxnSpLocks/>
          </p:cNvCxnSpPr>
          <p:nvPr/>
        </p:nvCxnSpPr>
        <p:spPr>
          <a:xfrm flipH="1">
            <a:off x="8599115" y="3544721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DCB0E8AB-7F07-A732-DF56-03D1D73003E3}"/>
              </a:ext>
            </a:extLst>
          </p:cNvPr>
          <p:cNvCxnSpPr>
            <a:cxnSpLocks/>
          </p:cNvCxnSpPr>
          <p:nvPr/>
        </p:nvCxnSpPr>
        <p:spPr>
          <a:xfrm flipH="1">
            <a:off x="8130748" y="4866122"/>
            <a:ext cx="475462" cy="0"/>
          </a:xfrm>
          <a:prstGeom prst="straightConnector1">
            <a:avLst/>
          </a:prstGeom>
          <a:ln w="28575">
            <a:solidFill>
              <a:srgbClr val="FA960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C69DA56B-E0C0-4887-748B-938D4A8C0504}"/>
              </a:ext>
            </a:extLst>
          </p:cNvPr>
          <p:cNvSpPr txBox="1"/>
          <p:nvPr/>
        </p:nvSpPr>
        <p:spPr>
          <a:xfrm>
            <a:off x="7318121" y="3456627"/>
            <a:ext cx="1535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integration</a:t>
            </a:r>
            <a:endParaRPr lang="fr-FR" sz="1050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7C0A787-1A3A-9FBD-0E51-E9B0D6D555EC}"/>
              </a:ext>
            </a:extLst>
          </p:cNvPr>
          <p:cNvSpPr txBox="1"/>
          <p:nvPr/>
        </p:nvSpPr>
        <p:spPr>
          <a:xfrm>
            <a:off x="8123184" y="3674006"/>
            <a:ext cx="7760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read</a:t>
            </a:r>
            <a:endParaRPr lang="fr-FR" sz="1050" dirty="0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F557C063-EFD6-4FA9-FFA8-A4173BBE9B25}"/>
              </a:ext>
            </a:extLst>
          </p:cNvPr>
          <p:cNvSpPr txBox="1"/>
          <p:nvPr/>
        </p:nvSpPr>
        <p:spPr>
          <a:xfrm rot="16200000">
            <a:off x="8282144" y="3258457"/>
            <a:ext cx="7760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u="none" strike="noStrike" dirty="0">
                <a:solidFill>
                  <a:prstClr val="black"/>
                </a:solidFill>
                <a:latin typeface="+mj-lt"/>
              </a:rPr>
              <a:t>reset</a:t>
            </a:r>
            <a:endParaRPr lang="fr-FR" sz="1050" dirty="0"/>
          </a:p>
        </p:txBody>
      </p: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B11125EB-CA13-9034-C6F7-A2E42B97DD7E}"/>
              </a:ext>
            </a:extLst>
          </p:cNvPr>
          <p:cNvCxnSpPr>
            <a:cxnSpLocks/>
          </p:cNvCxnSpPr>
          <p:nvPr/>
        </p:nvCxnSpPr>
        <p:spPr>
          <a:xfrm flipH="1">
            <a:off x="8742878" y="353993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359D1817-6B98-F336-2F8C-268B0BC21BA1}"/>
              </a:ext>
            </a:extLst>
          </p:cNvPr>
          <p:cNvCxnSpPr>
            <a:cxnSpLocks/>
          </p:cNvCxnSpPr>
          <p:nvPr/>
        </p:nvCxnSpPr>
        <p:spPr>
          <a:xfrm>
            <a:off x="8599115" y="4749302"/>
            <a:ext cx="14376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57B73220-922F-3938-71B4-1D2A993D0E06}"/>
              </a:ext>
            </a:extLst>
          </p:cNvPr>
          <p:cNvCxnSpPr>
            <a:cxnSpLocks/>
          </p:cNvCxnSpPr>
          <p:nvPr/>
        </p:nvCxnSpPr>
        <p:spPr>
          <a:xfrm flipV="1">
            <a:off x="8606210" y="4200338"/>
            <a:ext cx="0" cy="55989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54641962-1A69-9B8F-F60D-95E0856D3547}"/>
              </a:ext>
            </a:extLst>
          </p:cNvPr>
          <p:cNvCxnSpPr>
            <a:cxnSpLocks/>
          </p:cNvCxnSpPr>
          <p:nvPr/>
        </p:nvCxnSpPr>
        <p:spPr>
          <a:xfrm flipH="1">
            <a:off x="8761730" y="4866122"/>
            <a:ext cx="1410997" cy="1231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39E60739-A05C-7190-E078-5357730F31FF}"/>
              </a:ext>
            </a:extLst>
          </p:cNvPr>
          <p:cNvCxnSpPr>
            <a:cxnSpLocks/>
          </p:cNvCxnSpPr>
          <p:nvPr/>
        </p:nvCxnSpPr>
        <p:spPr>
          <a:xfrm flipV="1">
            <a:off x="8751381" y="4208975"/>
            <a:ext cx="776047" cy="54896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042E290A-9C31-97E2-55E9-47EC2A880E6F}"/>
              </a:ext>
            </a:extLst>
          </p:cNvPr>
          <p:cNvCxnSpPr>
            <a:cxnSpLocks/>
          </p:cNvCxnSpPr>
          <p:nvPr/>
        </p:nvCxnSpPr>
        <p:spPr>
          <a:xfrm flipH="1">
            <a:off x="10172727" y="3531505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5690FE64-D532-6D02-F652-D7EC4208D51C}"/>
              </a:ext>
            </a:extLst>
          </p:cNvPr>
          <p:cNvCxnSpPr>
            <a:cxnSpLocks/>
          </p:cNvCxnSpPr>
          <p:nvPr/>
        </p:nvCxnSpPr>
        <p:spPr>
          <a:xfrm flipH="1">
            <a:off x="10648886" y="3553358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2696790B-B3FF-C5C7-B330-F7C44445F10C}"/>
              </a:ext>
            </a:extLst>
          </p:cNvPr>
          <p:cNvCxnSpPr>
            <a:cxnSpLocks/>
          </p:cNvCxnSpPr>
          <p:nvPr/>
        </p:nvCxnSpPr>
        <p:spPr>
          <a:xfrm flipH="1">
            <a:off x="10792649" y="3548572"/>
            <a:ext cx="3078" cy="1453569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07D9FA65-0D93-2AD7-3CF6-3115952E5267}"/>
              </a:ext>
            </a:extLst>
          </p:cNvPr>
          <p:cNvCxnSpPr>
            <a:cxnSpLocks/>
          </p:cNvCxnSpPr>
          <p:nvPr/>
        </p:nvCxnSpPr>
        <p:spPr>
          <a:xfrm>
            <a:off x="10644541" y="4757939"/>
            <a:ext cx="14376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24779BBA-90CD-38D3-4403-6B2197A087A3}"/>
              </a:ext>
            </a:extLst>
          </p:cNvPr>
          <p:cNvCxnSpPr>
            <a:cxnSpLocks/>
          </p:cNvCxnSpPr>
          <p:nvPr/>
        </p:nvCxnSpPr>
        <p:spPr>
          <a:xfrm flipV="1">
            <a:off x="10651636" y="3718237"/>
            <a:ext cx="328" cy="105062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1AA7FE32-1707-854C-AAAD-9CDC764C650F}"/>
              </a:ext>
            </a:extLst>
          </p:cNvPr>
          <p:cNvCxnSpPr>
            <a:cxnSpLocks/>
          </p:cNvCxnSpPr>
          <p:nvPr/>
        </p:nvCxnSpPr>
        <p:spPr>
          <a:xfrm flipH="1">
            <a:off x="10173424" y="4866122"/>
            <a:ext cx="475462" cy="0"/>
          </a:xfrm>
          <a:prstGeom prst="straightConnector1">
            <a:avLst/>
          </a:prstGeom>
          <a:ln w="28575">
            <a:solidFill>
              <a:srgbClr val="FA960A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A08662E4-A829-98A4-747B-43A430167C6D}"/>
              </a:ext>
            </a:extLst>
          </p:cNvPr>
          <p:cNvCxnSpPr>
            <a:cxnSpLocks/>
          </p:cNvCxnSpPr>
          <p:nvPr/>
        </p:nvCxnSpPr>
        <p:spPr>
          <a:xfrm>
            <a:off x="6945083" y="2760531"/>
            <a:ext cx="3441066" cy="5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61CD58D0-82D9-B8E5-0E6F-9A067167E0C7}"/>
              </a:ext>
            </a:extLst>
          </p:cNvPr>
          <p:cNvCxnSpPr>
            <a:cxnSpLocks/>
          </p:cNvCxnSpPr>
          <p:nvPr/>
        </p:nvCxnSpPr>
        <p:spPr>
          <a:xfrm flipV="1">
            <a:off x="7109630" y="1935340"/>
            <a:ext cx="0" cy="9280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>
            <a:extLst>
              <a:ext uri="{FF2B5EF4-FFF2-40B4-BE49-F238E27FC236}">
                <a16:creationId xmlns:a16="http://schemas.microsoft.com/office/drawing/2014/main" id="{46AC216A-73A5-C4CC-C7A2-6EA76F13477F}"/>
              </a:ext>
            </a:extLst>
          </p:cNvPr>
          <p:cNvSpPr txBox="1"/>
          <p:nvPr/>
        </p:nvSpPr>
        <p:spPr>
          <a:xfrm>
            <a:off x="6526525" y="1643191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Light flux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F98AA2A3-584E-BCCF-053E-24249D127CD2}"/>
              </a:ext>
            </a:extLst>
          </p:cNvPr>
          <p:cNvSpPr txBox="1"/>
          <p:nvPr/>
        </p:nvSpPr>
        <p:spPr>
          <a:xfrm>
            <a:off x="6500663" y="2917995"/>
            <a:ext cx="928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Charges</a:t>
            </a:r>
          </a:p>
        </p:txBody>
      </p: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D469087-600B-0CD3-1D6B-803EA50DD6FF}"/>
              </a:ext>
            </a:extLst>
          </p:cNvPr>
          <p:cNvCxnSpPr>
            <a:cxnSpLocks/>
          </p:cNvCxnSpPr>
          <p:nvPr/>
        </p:nvCxnSpPr>
        <p:spPr>
          <a:xfrm>
            <a:off x="7109171" y="2534032"/>
            <a:ext cx="296245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ZoneTexte 93">
            <a:extLst>
              <a:ext uri="{FF2B5EF4-FFF2-40B4-BE49-F238E27FC236}">
                <a16:creationId xmlns:a16="http://schemas.microsoft.com/office/drawing/2014/main" id="{E4834E2B-48EC-1C46-C3F4-5FC167C74D69}"/>
              </a:ext>
            </a:extLst>
          </p:cNvPr>
          <p:cNvSpPr txBox="1"/>
          <p:nvPr/>
        </p:nvSpPr>
        <p:spPr>
          <a:xfrm>
            <a:off x="10169739" y="2812407"/>
            <a:ext cx="959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>
                <a:solidFill>
                  <a:prstClr val="black"/>
                </a:solidFill>
                <a:latin typeface="+mj-lt"/>
              </a:rPr>
              <a:t>time</a:t>
            </a:r>
            <a:endParaRPr lang="fr-FR" sz="1200" dirty="0"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52CC47C1-4A50-8ABF-A041-F657113D5EF0}"/>
              </a:ext>
            </a:extLst>
          </p:cNvPr>
          <p:cNvSpPr txBox="1"/>
          <p:nvPr/>
        </p:nvSpPr>
        <p:spPr>
          <a:xfrm>
            <a:off x="10825160" y="4792595"/>
            <a:ext cx="9594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>
                <a:solidFill>
                  <a:prstClr val="black"/>
                </a:solidFill>
                <a:latin typeface="+mj-lt"/>
              </a:rPr>
              <a:t>time</a:t>
            </a:r>
            <a:endParaRPr lang="fr-FR" sz="1200" dirty="0"/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B3B182DB-05CA-E315-7194-E3E6B0B443DF}"/>
              </a:ext>
            </a:extLst>
          </p:cNvPr>
          <p:cNvCxnSpPr>
            <a:cxnSpLocks/>
          </p:cNvCxnSpPr>
          <p:nvPr/>
        </p:nvCxnSpPr>
        <p:spPr>
          <a:xfrm flipV="1">
            <a:off x="9409609" y="3742011"/>
            <a:ext cx="776047" cy="54896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9161CE54-5406-A6C1-9BEB-D82D3551553F}"/>
              </a:ext>
            </a:extLst>
          </p:cNvPr>
          <p:cNvCxnSpPr>
            <a:cxnSpLocks/>
          </p:cNvCxnSpPr>
          <p:nvPr/>
        </p:nvCxnSpPr>
        <p:spPr>
          <a:xfrm>
            <a:off x="10172727" y="3744000"/>
            <a:ext cx="47593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3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71A5-EC96-EE38-2126-62ED7CDF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78F00D6C-2B74-32D1-8B46-CF287750C5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58B40F0-1429-01C3-BCCA-E2726BC5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5A645F-12BC-0655-09A3-47999908B8DB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3342F2-FC16-DDCA-C1DA-2FC87E569632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09AC7213-6061-9864-121A-7B6EF7C08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37158409-D14C-B844-C562-266FCEE965F6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05C10-4A6C-C7A3-7FBB-F2329259AC6B}"/>
              </a:ext>
            </a:extLst>
          </p:cNvPr>
          <p:cNvSpPr/>
          <p:nvPr/>
        </p:nvSpPr>
        <p:spPr>
          <a:xfrm>
            <a:off x="407368" y="6528457"/>
            <a:ext cx="15408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50" dirty="0">
                <a:solidFill>
                  <a:schemeClr val="bg1">
                    <a:lumMod val="65000"/>
                  </a:schemeClr>
                </a:solidFill>
              </a:rPr>
              <a:t>Visuel généré par </a:t>
            </a:r>
            <a:r>
              <a:rPr lang="fr-FR" sz="1050" dirty="0" err="1">
                <a:solidFill>
                  <a:schemeClr val="bg1">
                    <a:lumMod val="65000"/>
                  </a:schemeClr>
                </a:solidFill>
              </a:rPr>
              <a:t>IAg</a:t>
            </a:r>
            <a:endParaRPr lang="fr-FR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00A40DB-23E1-0D37-2A5C-6D53C73DE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1844824"/>
            <a:ext cx="3077566" cy="3240360"/>
          </a:xfrm>
          <a:prstGeom prst="rect">
            <a:avLst/>
          </a:prstGeom>
        </p:spPr>
      </p:pic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F3D07DC7-E5FB-85F2-67BC-64C29B5BEADA}"/>
              </a:ext>
            </a:extLst>
          </p:cNvPr>
          <p:cNvSpPr/>
          <p:nvPr/>
        </p:nvSpPr>
        <p:spPr>
          <a:xfrm>
            <a:off x="4352386" y="1916832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Electronique / Traitement du Signal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80F031A5-4E0F-CC88-5CB9-797E9086BE2B}"/>
              </a:ext>
            </a:extLst>
          </p:cNvPr>
          <p:cNvSpPr/>
          <p:nvPr/>
        </p:nvSpPr>
        <p:spPr>
          <a:xfrm>
            <a:off x="4364396" y="4582112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F755FB5-911B-F4B8-2377-080207264690}"/>
              </a:ext>
            </a:extLst>
          </p:cNvPr>
          <p:cNvSpPr/>
          <p:nvPr/>
        </p:nvSpPr>
        <p:spPr bwMode="auto">
          <a:xfrm rot="1704236">
            <a:off x="1522234" y="1924478"/>
            <a:ext cx="2431713" cy="1126522"/>
          </a:xfrm>
          <a:prstGeom prst="ellipse">
            <a:avLst/>
          </a:prstGeom>
          <a:noFill/>
          <a:ln w="38100" cap="flat" cmpd="sng" algn="ctr">
            <a:solidFill>
              <a:srgbClr val="22226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4B4DE05-2DF3-E585-3E01-F01A8E39E692}"/>
              </a:ext>
            </a:extLst>
          </p:cNvPr>
          <p:cNvSpPr/>
          <p:nvPr/>
        </p:nvSpPr>
        <p:spPr bwMode="auto">
          <a:xfrm rot="5650958">
            <a:off x="19873" y="2650446"/>
            <a:ext cx="2159472" cy="1126522"/>
          </a:xfrm>
          <a:prstGeom prst="ellipse">
            <a:avLst/>
          </a:prstGeom>
          <a:noFill/>
          <a:ln w="38100" cap="flat" cmpd="sng" algn="ctr">
            <a:solidFill>
              <a:srgbClr val="FF7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895DFD0-32D4-14F1-353E-0A002F5931D6}"/>
              </a:ext>
            </a:extLst>
          </p:cNvPr>
          <p:cNvSpPr/>
          <p:nvPr/>
        </p:nvSpPr>
        <p:spPr bwMode="auto">
          <a:xfrm rot="1704236">
            <a:off x="1855742" y="4399049"/>
            <a:ext cx="844566" cy="870375"/>
          </a:xfrm>
          <a:prstGeom prst="ellipse">
            <a:avLst/>
          </a:prstGeom>
          <a:noFill/>
          <a:ln w="38100" cap="flat" cmpd="sng" algn="ctr">
            <a:solidFill>
              <a:srgbClr val="D02D1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36D568-7DD2-26F2-06A4-5D34B5925C13}"/>
              </a:ext>
            </a:extLst>
          </p:cNvPr>
          <p:cNvSpPr/>
          <p:nvPr/>
        </p:nvSpPr>
        <p:spPr>
          <a:xfrm>
            <a:off x="4943872" y="5118489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STOCKER / CLASSER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2DB01-9BC0-5CD8-DB75-C66157FFC692}"/>
              </a:ext>
            </a:extLst>
          </p:cNvPr>
          <p:cNvSpPr/>
          <p:nvPr/>
        </p:nvSpPr>
        <p:spPr>
          <a:xfrm>
            <a:off x="4943872" y="5524070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83D6AC-EE74-4654-9FD1-36F11CD4383D}"/>
              </a:ext>
            </a:extLst>
          </p:cNvPr>
          <p:cNvSpPr/>
          <p:nvPr/>
        </p:nvSpPr>
        <p:spPr>
          <a:xfrm>
            <a:off x="4943872" y="5927438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ANALYSER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21C6ED-9512-B45C-64D1-8636E73E018C}"/>
              </a:ext>
            </a:extLst>
          </p:cNvPr>
          <p:cNvSpPr/>
          <p:nvPr/>
        </p:nvSpPr>
        <p:spPr>
          <a:xfrm>
            <a:off x="4943872" y="633080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AFFICHER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AE86DF-DBCD-9B55-B1FA-7FD4174019B9}"/>
              </a:ext>
            </a:extLst>
          </p:cNvPr>
          <p:cNvSpPr/>
          <p:nvPr/>
        </p:nvSpPr>
        <p:spPr>
          <a:xfrm>
            <a:off x="4943872" y="4162502"/>
            <a:ext cx="2304256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INTERFACER</a:t>
            </a:r>
          </a:p>
        </p:txBody>
      </p:sp>
      <p:sp>
        <p:nvSpPr>
          <p:cNvPr id="35" name="Flèche : chevron 34">
            <a:extLst>
              <a:ext uri="{FF2B5EF4-FFF2-40B4-BE49-F238E27FC236}">
                <a16:creationId xmlns:a16="http://schemas.microsoft.com/office/drawing/2014/main" id="{253D08C6-F3CF-E471-9F42-F3461B4C182C}"/>
              </a:ext>
            </a:extLst>
          </p:cNvPr>
          <p:cNvSpPr/>
          <p:nvPr/>
        </p:nvSpPr>
        <p:spPr>
          <a:xfrm>
            <a:off x="8785958" y="4595399"/>
            <a:ext cx="2638634" cy="325267"/>
          </a:xfrm>
          <a:prstGeom prst="chevron">
            <a:avLst/>
          </a:prstGeom>
          <a:solidFill>
            <a:srgbClr val="FA96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Modélisation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77C404-38BF-435E-D02D-69A8E8F0BC14}"/>
              </a:ext>
            </a:extLst>
          </p:cNvPr>
          <p:cNvSpPr/>
          <p:nvPr/>
        </p:nvSpPr>
        <p:spPr>
          <a:xfrm>
            <a:off x="9120336" y="5118489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VALIDER / VERIFIER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CF1188-5F0A-34E9-A0D3-10C3F2B502D2}"/>
              </a:ext>
            </a:extLst>
          </p:cNvPr>
          <p:cNvSpPr/>
          <p:nvPr/>
        </p:nvSpPr>
        <p:spPr>
          <a:xfrm>
            <a:off x="9120336" y="5524070"/>
            <a:ext cx="2304256" cy="338554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A960A"/>
                </a:solidFill>
              </a:rPr>
              <a:t>AJUSTER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24DE96-0D26-5ED8-B407-412B930E91ED}"/>
              </a:ext>
            </a:extLst>
          </p:cNvPr>
          <p:cNvSpPr/>
          <p:nvPr/>
        </p:nvSpPr>
        <p:spPr>
          <a:xfrm>
            <a:off x="4943872" y="2362427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DETECTER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2966CE-60D4-F191-90A7-1266CBF19876}"/>
              </a:ext>
            </a:extLst>
          </p:cNvPr>
          <p:cNvSpPr/>
          <p:nvPr/>
        </p:nvSpPr>
        <p:spPr>
          <a:xfrm>
            <a:off x="4943872" y="27680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AMPLIFIER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63EB52-5B89-3CCE-82A3-FDE6B4AC174C}"/>
              </a:ext>
            </a:extLst>
          </p:cNvPr>
          <p:cNvSpPr/>
          <p:nvPr/>
        </p:nvSpPr>
        <p:spPr>
          <a:xfrm>
            <a:off x="4943872" y="3171376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FILTRER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AD1DBE-6C2B-41EF-9FAD-C8737C92C633}"/>
              </a:ext>
            </a:extLst>
          </p:cNvPr>
          <p:cNvSpPr/>
          <p:nvPr/>
        </p:nvSpPr>
        <p:spPr>
          <a:xfrm>
            <a:off x="5163338" y="3582162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ALIMENTER / GENERER</a:t>
            </a:r>
          </a:p>
        </p:txBody>
      </p:sp>
      <p:sp>
        <p:nvSpPr>
          <p:cNvPr id="49" name="Flèche : chevron 48">
            <a:extLst>
              <a:ext uri="{FF2B5EF4-FFF2-40B4-BE49-F238E27FC236}">
                <a16:creationId xmlns:a16="http://schemas.microsoft.com/office/drawing/2014/main" id="{D8891EC7-DF0C-093C-CDC5-658DAD0ED038}"/>
              </a:ext>
            </a:extLst>
          </p:cNvPr>
          <p:cNvSpPr/>
          <p:nvPr/>
        </p:nvSpPr>
        <p:spPr>
          <a:xfrm>
            <a:off x="8785958" y="1937334"/>
            <a:ext cx="2638634" cy="325267"/>
          </a:xfrm>
          <a:prstGeom prst="chevron">
            <a:avLst/>
          </a:prstGeom>
          <a:solidFill>
            <a:srgbClr val="D02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Automatique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A07083-F836-105A-219A-E6031C996B7F}"/>
              </a:ext>
            </a:extLst>
          </p:cNvPr>
          <p:cNvSpPr/>
          <p:nvPr/>
        </p:nvSpPr>
        <p:spPr>
          <a:xfrm>
            <a:off x="8953147" y="2362427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CONTROLER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C0EFA1-BEA1-E4FD-030B-8DCBDFD0B1C9}"/>
              </a:ext>
            </a:extLst>
          </p:cNvPr>
          <p:cNvSpPr/>
          <p:nvPr/>
        </p:nvSpPr>
        <p:spPr>
          <a:xfrm>
            <a:off x="8953147" y="2781288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ASSERVIR</a:t>
            </a:r>
          </a:p>
        </p:txBody>
      </p:sp>
    </p:spTree>
    <p:extLst>
      <p:ext uri="{BB962C8B-B14F-4D97-AF65-F5344CB8AC3E}">
        <p14:creationId xmlns:p14="http://schemas.microsoft.com/office/powerpoint/2010/main" val="76834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0676-3C0D-9DD9-E1AA-25CEF98F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229D9D4E-FD7B-9A9E-83D5-1DE6DC8C59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C09F880-B3F6-BEF4-3EDF-12A7A7078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4B96E-62BA-31B5-AD6E-B45440D97B1D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9869C9-DA62-0C09-068F-76B98AAAD411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3D7D9B97-21E3-2E90-2D39-51605BD44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085F0AA-D3DA-5704-AF11-CA6E6C127BA5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9BA0E8EA-BF53-75FB-D510-B2878A87ADB5}"/>
              </a:ext>
            </a:extLst>
          </p:cNvPr>
          <p:cNvSpPr/>
          <p:nvPr/>
        </p:nvSpPr>
        <p:spPr>
          <a:xfrm>
            <a:off x="582032" y="1538007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Electronique / Traitement du Signal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3DD521-4E4A-17D3-7EE4-AB4D72DA0E33}"/>
              </a:ext>
            </a:extLst>
          </p:cNvPr>
          <p:cNvSpPr/>
          <p:nvPr/>
        </p:nvSpPr>
        <p:spPr>
          <a:xfrm>
            <a:off x="911424" y="19903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DETECTER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409F2D-3FDD-1EAA-A40F-B77AAEBD558E}"/>
              </a:ext>
            </a:extLst>
          </p:cNvPr>
          <p:cNvSpPr/>
          <p:nvPr/>
        </p:nvSpPr>
        <p:spPr>
          <a:xfrm>
            <a:off x="3431704" y="1997661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AMPLIFIER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51F032-72BB-0C0F-22C7-1A675F1C78B1}"/>
              </a:ext>
            </a:extLst>
          </p:cNvPr>
          <p:cNvSpPr/>
          <p:nvPr/>
        </p:nvSpPr>
        <p:spPr>
          <a:xfrm>
            <a:off x="5951984" y="19903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FILTRER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F93AC1-6E71-A0DF-4B8B-833C2F381ABE}"/>
              </a:ext>
            </a:extLst>
          </p:cNvPr>
          <p:cNvSpPr/>
          <p:nvPr/>
        </p:nvSpPr>
        <p:spPr>
          <a:xfrm>
            <a:off x="8976320" y="19903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002060"/>
                </a:solidFill>
              </a:rPr>
              <a:t>ALIMENTER / GENERER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854847-2F21-2921-74EC-1C209F7DD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92" y="2713040"/>
            <a:ext cx="1609933" cy="112954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B313DCB-820C-0420-6641-CB613A188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3294" y="2823033"/>
            <a:ext cx="1797282" cy="153974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F7B05BE-58E0-ACB2-69DA-3E2DA4E2D3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9395" y="4494030"/>
            <a:ext cx="2051975" cy="107222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91DA8C2-9939-48F2-EDE1-E7C17C0AA8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78" y="3818201"/>
            <a:ext cx="3243601" cy="150957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C0E52BC-7157-22B9-EC7A-445FAE39D8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9135" y="2821436"/>
            <a:ext cx="2731139" cy="1672594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C0531FC-1AF2-A880-5D0C-FF4E8D9199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6834" y="2821436"/>
            <a:ext cx="3521091" cy="165791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D037283-0533-A606-0068-EA08270A0C9D}"/>
              </a:ext>
            </a:extLst>
          </p:cNvPr>
          <p:cNvSpPr/>
          <p:nvPr/>
        </p:nvSpPr>
        <p:spPr>
          <a:xfrm>
            <a:off x="6701015" y="2530439"/>
            <a:ext cx="2304256" cy="252231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A960A"/>
                </a:solidFill>
              </a:rPr>
              <a:t>MODELISER</a:t>
            </a:r>
          </a:p>
        </p:txBody>
      </p:sp>
      <p:sp>
        <p:nvSpPr>
          <p:cNvPr id="36" name="Rectangle : coins arrondis 13">
            <a:extLst>
              <a:ext uri="{FF2B5EF4-FFF2-40B4-BE49-F238E27FC236}">
                <a16:creationId xmlns:a16="http://schemas.microsoft.com/office/drawing/2014/main" id="{B78E20A0-9237-32ED-F8C0-BF2E58776B9A}"/>
              </a:ext>
            </a:extLst>
          </p:cNvPr>
          <p:cNvSpPr/>
          <p:nvPr/>
        </p:nvSpPr>
        <p:spPr>
          <a:xfrm>
            <a:off x="4272681" y="4822514"/>
            <a:ext cx="3848306" cy="369789"/>
          </a:xfrm>
          <a:prstGeom prst="roundRect">
            <a:avLst>
              <a:gd name="adj" fmla="val 31103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UE Opto-Electronique / S5</a:t>
            </a:r>
            <a:endParaRPr lang="fr-FR" sz="2400" dirty="0"/>
          </a:p>
        </p:txBody>
      </p:sp>
      <p:sp>
        <p:nvSpPr>
          <p:cNvPr id="40" name="Flèche : pentagone 39">
            <a:extLst>
              <a:ext uri="{FF2B5EF4-FFF2-40B4-BE49-F238E27FC236}">
                <a16:creationId xmlns:a16="http://schemas.microsoft.com/office/drawing/2014/main" id="{10125CD1-5F83-14E2-4468-EAB7514EB30D}"/>
              </a:ext>
            </a:extLst>
          </p:cNvPr>
          <p:cNvSpPr/>
          <p:nvPr/>
        </p:nvSpPr>
        <p:spPr>
          <a:xfrm>
            <a:off x="581526" y="5656263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A6BFF8-D589-8B97-A51D-BB657DBF09B1}"/>
              </a:ext>
            </a:extLst>
          </p:cNvPr>
          <p:cNvSpPr/>
          <p:nvPr/>
        </p:nvSpPr>
        <p:spPr>
          <a:xfrm>
            <a:off x="911424" y="609438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E9DFEA-012D-CA7E-911A-57653BA62C64}"/>
              </a:ext>
            </a:extLst>
          </p:cNvPr>
          <p:cNvSpPr/>
          <p:nvPr/>
        </p:nvSpPr>
        <p:spPr>
          <a:xfrm>
            <a:off x="3412030" y="609438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AFFICHER</a:t>
            </a:r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59174393-FCF3-83A0-508B-5293EFFD06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8093" y="5701039"/>
            <a:ext cx="854378" cy="854378"/>
          </a:xfrm>
          <a:prstGeom prst="rect">
            <a:avLst/>
          </a:prstGeom>
        </p:spPr>
      </p:pic>
      <p:pic>
        <p:nvPicPr>
          <p:cNvPr id="55" name="Image 54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D2D64F9F-3019-F172-9FBD-0208EED382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92144" y="5462927"/>
            <a:ext cx="1913429" cy="1280826"/>
          </a:xfrm>
          <a:prstGeom prst="rect">
            <a:avLst/>
          </a:prstGeom>
        </p:spPr>
      </p:pic>
      <p:sp>
        <p:nvSpPr>
          <p:cNvPr id="57" name="Sous-titre 2">
            <a:extLst>
              <a:ext uri="{FF2B5EF4-FFF2-40B4-BE49-F238E27FC236}">
                <a16:creationId xmlns:a16="http://schemas.microsoft.com/office/drawing/2014/main" id="{D8B71FDB-80AC-50B9-5C19-D163B3643DD8}"/>
              </a:ext>
            </a:extLst>
          </p:cNvPr>
          <p:cNvSpPr txBox="1">
            <a:spLocks/>
          </p:cNvSpPr>
          <p:nvPr/>
        </p:nvSpPr>
        <p:spPr>
          <a:xfrm>
            <a:off x="4328438" y="5196537"/>
            <a:ext cx="3351738" cy="369789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fr-FR" sz="1400" kern="0" dirty="0"/>
              <a:t>Responsable : Julien VILLEMEJANE</a:t>
            </a:r>
          </a:p>
        </p:txBody>
      </p:sp>
      <p:sp>
        <p:nvSpPr>
          <p:cNvPr id="59" name="Flèche : chevron 58">
            <a:extLst>
              <a:ext uri="{FF2B5EF4-FFF2-40B4-BE49-F238E27FC236}">
                <a16:creationId xmlns:a16="http://schemas.microsoft.com/office/drawing/2014/main" id="{1D176B39-AB7B-0251-42B2-D421C3EA2FC7}"/>
              </a:ext>
            </a:extLst>
          </p:cNvPr>
          <p:cNvSpPr/>
          <p:nvPr/>
        </p:nvSpPr>
        <p:spPr>
          <a:xfrm>
            <a:off x="9476799" y="5832183"/>
            <a:ext cx="2638634" cy="325267"/>
          </a:xfrm>
          <a:prstGeom prst="chevron">
            <a:avLst/>
          </a:prstGeom>
          <a:solidFill>
            <a:srgbClr val="D02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Automatique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E9729D-9D79-FE82-94DF-E5D63C445602}"/>
              </a:ext>
            </a:extLst>
          </p:cNvPr>
          <p:cNvSpPr/>
          <p:nvPr/>
        </p:nvSpPr>
        <p:spPr>
          <a:xfrm>
            <a:off x="9691226" y="6215822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ASSERVIR</a:t>
            </a:r>
          </a:p>
        </p:txBody>
      </p:sp>
    </p:spTree>
    <p:extLst>
      <p:ext uri="{BB962C8B-B14F-4D97-AF65-F5344CB8AC3E}">
        <p14:creationId xmlns:p14="http://schemas.microsoft.com/office/powerpoint/2010/main" val="226066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D7D8-F7A5-A0D8-91E8-A8E87FE8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id="{66F1DDB0-2750-AC30-AA65-5A6D81C9D881}"/>
              </a:ext>
            </a:extLst>
          </p:cNvPr>
          <p:cNvSpPr/>
          <p:nvPr/>
        </p:nvSpPr>
        <p:spPr>
          <a:xfrm>
            <a:off x="582032" y="1534988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3C86C-F55F-E8EB-7514-5C189F49C53D}"/>
              </a:ext>
            </a:extLst>
          </p:cNvPr>
          <p:cNvSpPr/>
          <p:nvPr/>
        </p:nvSpPr>
        <p:spPr>
          <a:xfrm>
            <a:off x="911930" y="1973111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CE70F54-CF41-1B11-46D4-323421404D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1A187D8-7F53-D3B6-BCF2-7EA03143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C9145-83BB-0BFC-661A-F0D93185795F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41CF8-EDA7-F641-C88F-0B467F5D22F3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7ED91077-6D2A-269F-A100-A168C24A48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740C0569-DF35-08BB-F938-61699955B312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36" name="Rectangle : coins arrondis 13">
            <a:extLst>
              <a:ext uri="{FF2B5EF4-FFF2-40B4-BE49-F238E27FC236}">
                <a16:creationId xmlns:a16="http://schemas.microsoft.com/office/drawing/2014/main" id="{7C69D06A-1C0B-E6E3-02DD-FA4051DB3142}"/>
              </a:ext>
            </a:extLst>
          </p:cNvPr>
          <p:cNvSpPr/>
          <p:nvPr/>
        </p:nvSpPr>
        <p:spPr>
          <a:xfrm>
            <a:off x="4333733" y="5319993"/>
            <a:ext cx="3848306" cy="369789"/>
          </a:xfrm>
          <a:prstGeom prst="roundRect">
            <a:avLst>
              <a:gd name="adj" fmla="val 31103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UC ONIP-1 / S5 et  ONIP-2 </a:t>
            </a:r>
            <a:endParaRPr lang="fr-FR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AB7CA3-3023-F43D-9704-46504F2F964B}"/>
              </a:ext>
            </a:extLst>
          </p:cNvPr>
          <p:cNvSpPr/>
          <p:nvPr/>
        </p:nvSpPr>
        <p:spPr>
          <a:xfrm>
            <a:off x="3412536" y="1973111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AFFICHER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4E84B1-4805-B79D-F56D-466E39EAE1E2}"/>
              </a:ext>
            </a:extLst>
          </p:cNvPr>
          <p:cNvSpPr/>
          <p:nvPr/>
        </p:nvSpPr>
        <p:spPr>
          <a:xfrm>
            <a:off x="6701015" y="2530439"/>
            <a:ext cx="2304256" cy="252231"/>
          </a:xfrm>
          <a:prstGeom prst="rect">
            <a:avLst/>
          </a:prstGeom>
          <a:noFill/>
          <a:ln>
            <a:solidFill>
              <a:srgbClr val="FA96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A960A"/>
                </a:solidFill>
              </a:rPr>
              <a:t>MODELISER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25E12-EE25-DEE0-5D20-7A70D471B6E6}"/>
              </a:ext>
            </a:extLst>
          </p:cNvPr>
          <p:cNvSpPr/>
          <p:nvPr/>
        </p:nvSpPr>
        <p:spPr>
          <a:xfrm>
            <a:off x="5915678" y="1973111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ANALYSER</a:t>
            </a:r>
          </a:p>
        </p:txBody>
      </p:sp>
      <p:pic>
        <p:nvPicPr>
          <p:cNvPr id="29" name="Picture 2" descr="https://i.stack.imgur.com/zRFh2.jpg">
            <a:extLst>
              <a:ext uri="{FF2B5EF4-FFF2-40B4-BE49-F238E27FC236}">
                <a16:creationId xmlns:a16="http://schemas.microsoft.com/office/drawing/2014/main" id="{012B6701-B9D9-605D-05D5-51F9D966E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673" y="2451946"/>
            <a:ext cx="2448272" cy="180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28417AAF-3FB0-4767-57C2-0054A9A70A4E}"/>
              </a:ext>
            </a:extLst>
          </p:cNvPr>
          <p:cNvGrpSpPr/>
          <p:nvPr/>
        </p:nvGrpSpPr>
        <p:grpSpPr>
          <a:xfrm>
            <a:off x="950031" y="3107632"/>
            <a:ext cx="1868737" cy="1215569"/>
            <a:chOff x="2308078" y="1757542"/>
            <a:chExt cx="4710901" cy="3759356"/>
          </a:xfrm>
        </p:grpSpPr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C43D59F7-5C89-79AF-EF7B-A897088F4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448" y="3129131"/>
              <a:ext cx="3603625" cy="2198687"/>
            </a:xfrm>
            <a:custGeom>
              <a:avLst/>
              <a:gdLst>
                <a:gd name="T0" fmla="*/ 2147483646 w 2848"/>
                <a:gd name="T1" fmla="*/ 2147483646 h 1738"/>
                <a:gd name="T2" fmla="*/ 2147483646 w 2848"/>
                <a:gd name="T3" fmla="*/ 2147483646 h 1738"/>
                <a:gd name="T4" fmla="*/ 2147483646 w 2848"/>
                <a:gd name="T5" fmla="*/ 2147483646 h 1738"/>
                <a:gd name="T6" fmla="*/ 2147483646 w 2848"/>
                <a:gd name="T7" fmla="*/ 2147483646 h 1738"/>
                <a:gd name="T8" fmla="*/ 2147483646 w 2848"/>
                <a:gd name="T9" fmla="*/ 2147483646 h 1738"/>
                <a:gd name="T10" fmla="*/ 2147483646 w 2848"/>
                <a:gd name="T11" fmla="*/ 2147483646 h 1738"/>
                <a:gd name="T12" fmla="*/ 2147483646 w 2848"/>
                <a:gd name="T13" fmla="*/ 2147483646 h 1738"/>
                <a:gd name="T14" fmla="*/ 2147483646 w 2848"/>
                <a:gd name="T15" fmla="*/ 2147483646 h 1738"/>
                <a:gd name="T16" fmla="*/ 2147483646 w 2848"/>
                <a:gd name="T17" fmla="*/ 2147483646 h 1738"/>
                <a:gd name="T18" fmla="*/ 2147483646 w 2848"/>
                <a:gd name="T19" fmla="*/ 2147483646 h 1738"/>
                <a:gd name="T20" fmla="*/ 2147483646 w 2848"/>
                <a:gd name="T21" fmla="*/ 2147483646 h 1738"/>
                <a:gd name="T22" fmla="*/ 2147483646 w 2848"/>
                <a:gd name="T23" fmla="*/ 2147483646 h 1738"/>
                <a:gd name="T24" fmla="*/ 2147483646 w 2848"/>
                <a:gd name="T25" fmla="*/ 2147483646 h 1738"/>
                <a:gd name="T26" fmla="*/ 2147483646 w 2848"/>
                <a:gd name="T27" fmla="*/ 2147483646 h 1738"/>
                <a:gd name="T28" fmla="*/ 2147483646 w 2848"/>
                <a:gd name="T29" fmla="*/ 2147483646 h 1738"/>
                <a:gd name="T30" fmla="*/ 2147483646 w 2848"/>
                <a:gd name="T31" fmla="*/ 2147483646 h 1738"/>
                <a:gd name="T32" fmla="*/ 2147483646 w 2848"/>
                <a:gd name="T33" fmla="*/ 2147483646 h 1738"/>
                <a:gd name="T34" fmla="*/ 2147483646 w 2848"/>
                <a:gd name="T35" fmla="*/ 2147483646 h 1738"/>
                <a:gd name="T36" fmla="*/ 2147483646 w 2848"/>
                <a:gd name="T37" fmla="*/ 2147483646 h 1738"/>
                <a:gd name="T38" fmla="*/ 2147483646 w 2848"/>
                <a:gd name="T39" fmla="*/ 2147483646 h 1738"/>
                <a:gd name="T40" fmla="*/ 2147483646 w 2848"/>
                <a:gd name="T41" fmla="*/ 2147483646 h 1738"/>
                <a:gd name="T42" fmla="*/ 2147483646 w 2848"/>
                <a:gd name="T43" fmla="*/ 2147483646 h 1738"/>
                <a:gd name="T44" fmla="*/ 2147483646 w 2848"/>
                <a:gd name="T45" fmla="*/ 2147483646 h 1738"/>
                <a:gd name="T46" fmla="*/ 2147483646 w 2848"/>
                <a:gd name="T47" fmla="*/ 2147483646 h 1738"/>
                <a:gd name="T48" fmla="*/ 2147483646 w 2848"/>
                <a:gd name="T49" fmla="*/ 0 h 1738"/>
                <a:gd name="T50" fmla="*/ 2147483646 w 2848"/>
                <a:gd name="T51" fmla="*/ 2147483646 h 1738"/>
                <a:gd name="T52" fmla="*/ 2147483646 w 2848"/>
                <a:gd name="T53" fmla="*/ 2147483646 h 1738"/>
                <a:gd name="T54" fmla="*/ 2147483646 w 2848"/>
                <a:gd name="T55" fmla="*/ 2147483646 h 1738"/>
                <a:gd name="T56" fmla="*/ 2147483646 w 2848"/>
                <a:gd name="T57" fmla="*/ 2147483646 h 1738"/>
                <a:gd name="T58" fmla="*/ 2147483646 w 2848"/>
                <a:gd name="T59" fmla="*/ 2147483646 h 1738"/>
                <a:gd name="T60" fmla="*/ 2147483646 w 2848"/>
                <a:gd name="T61" fmla="*/ 2147483646 h 1738"/>
                <a:gd name="T62" fmla="*/ 2147483646 w 2848"/>
                <a:gd name="T63" fmla="*/ 2147483646 h 1738"/>
                <a:gd name="T64" fmla="*/ 2147483646 w 2848"/>
                <a:gd name="T65" fmla="*/ 2147483646 h 1738"/>
                <a:gd name="T66" fmla="*/ 2147483646 w 2848"/>
                <a:gd name="T67" fmla="*/ 2147483646 h 1738"/>
                <a:gd name="T68" fmla="*/ 2147483646 w 2848"/>
                <a:gd name="T69" fmla="*/ 2147483646 h 1738"/>
                <a:gd name="T70" fmla="*/ 2147483646 w 2848"/>
                <a:gd name="T71" fmla="*/ 2147483646 h 1738"/>
                <a:gd name="T72" fmla="*/ 2147483646 w 2848"/>
                <a:gd name="T73" fmla="*/ 2147483646 h 1738"/>
                <a:gd name="T74" fmla="*/ 2147483646 w 2848"/>
                <a:gd name="T75" fmla="*/ 2147483646 h 1738"/>
                <a:gd name="T76" fmla="*/ 2147483646 w 2848"/>
                <a:gd name="T77" fmla="*/ 2147483646 h 1738"/>
                <a:gd name="T78" fmla="*/ 2147483646 w 2848"/>
                <a:gd name="T79" fmla="*/ 2147483646 h 1738"/>
                <a:gd name="T80" fmla="*/ 2147483646 w 2848"/>
                <a:gd name="T81" fmla="*/ 2147483646 h 1738"/>
                <a:gd name="T82" fmla="*/ 2147483646 w 2848"/>
                <a:gd name="T83" fmla="*/ 2147483646 h 1738"/>
                <a:gd name="T84" fmla="*/ 2147483646 w 2848"/>
                <a:gd name="T85" fmla="*/ 2147483646 h 1738"/>
                <a:gd name="T86" fmla="*/ 2147483646 w 2848"/>
                <a:gd name="T87" fmla="*/ 2147483646 h 1738"/>
                <a:gd name="T88" fmla="*/ 2147483646 w 2848"/>
                <a:gd name="T89" fmla="*/ 2147483646 h 1738"/>
                <a:gd name="T90" fmla="*/ 2147483646 w 2848"/>
                <a:gd name="T91" fmla="*/ 2147483646 h 1738"/>
                <a:gd name="T92" fmla="*/ 2147483646 w 2848"/>
                <a:gd name="T93" fmla="*/ 2147483646 h 1738"/>
                <a:gd name="T94" fmla="*/ 2147483646 w 2848"/>
                <a:gd name="T95" fmla="*/ 2147483646 h 1738"/>
                <a:gd name="T96" fmla="*/ 2147483646 w 2848"/>
                <a:gd name="T97" fmla="*/ 2147483646 h 1738"/>
                <a:gd name="T98" fmla="*/ 2147483646 w 2848"/>
                <a:gd name="T99" fmla="*/ 2147483646 h 173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2848"/>
                <a:gd name="T151" fmla="*/ 0 h 1738"/>
                <a:gd name="T152" fmla="*/ 2848 w 2848"/>
                <a:gd name="T153" fmla="*/ 1738 h 173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2848" h="1738">
                  <a:moveTo>
                    <a:pt x="0" y="1738"/>
                  </a:moveTo>
                  <a:lnTo>
                    <a:pt x="13" y="1738"/>
                  </a:lnTo>
                  <a:lnTo>
                    <a:pt x="27" y="1738"/>
                  </a:lnTo>
                  <a:lnTo>
                    <a:pt x="42" y="1738"/>
                  </a:lnTo>
                  <a:lnTo>
                    <a:pt x="56" y="1738"/>
                  </a:lnTo>
                  <a:lnTo>
                    <a:pt x="71" y="1738"/>
                  </a:lnTo>
                  <a:lnTo>
                    <a:pt x="84" y="1738"/>
                  </a:lnTo>
                  <a:lnTo>
                    <a:pt x="100" y="1738"/>
                  </a:lnTo>
                  <a:lnTo>
                    <a:pt x="113" y="1738"/>
                  </a:lnTo>
                  <a:lnTo>
                    <a:pt x="129" y="1738"/>
                  </a:lnTo>
                  <a:lnTo>
                    <a:pt x="142" y="1738"/>
                  </a:lnTo>
                  <a:lnTo>
                    <a:pt x="157" y="1738"/>
                  </a:lnTo>
                  <a:lnTo>
                    <a:pt x="171" y="1738"/>
                  </a:lnTo>
                  <a:lnTo>
                    <a:pt x="184" y="1738"/>
                  </a:lnTo>
                  <a:lnTo>
                    <a:pt x="200" y="1738"/>
                  </a:lnTo>
                  <a:lnTo>
                    <a:pt x="213" y="1738"/>
                  </a:lnTo>
                  <a:lnTo>
                    <a:pt x="228" y="1738"/>
                  </a:lnTo>
                  <a:lnTo>
                    <a:pt x="242" y="1737"/>
                  </a:lnTo>
                  <a:lnTo>
                    <a:pt x="257" y="1737"/>
                  </a:lnTo>
                  <a:lnTo>
                    <a:pt x="271" y="1737"/>
                  </a:lnTo>
                  <a:lnTo>
                    <a:pt x="286" y="1737"/>
                  </a:lnTo>
                  <a:lnTo>
                    <a:pt x="300" y="1737"/>
                  </a:lnTo>
                  <a:lnTo>
                    <a:pt x="315" y="1737"/>
                  </a:lnTo>
                  <a:lnTo>
                    <a:pt x="328" y="1737"/>
                  </a:lnTo>
                  <a:lnTo>
                    <a:pt x="342" y="1735"/>
                  </a:lnTo>
                  <a:lnTo>
                    <a:pt x="357" y="1735"/>
                  </a:lnTo>
                  <a:lnTo>
                    <a:pt x="371" y="1735"/>
                  </a:lnTo>
                  <a:lnTo>
                    <a:pt x="386" y="1733"/>
                  </a:lnTo>
                  <a:lnTo>
                    <a:pt x="399" y="1733"/>
                  </a:lnTo>
                  <a:lnTo>
                    <a:pt x="415" y="1731"/>
                  </a:lnTo>
                  <a:lnTo>
                    <a:pt x="428" y="1729"/>
                  </a:lnTo>
                  <a:lnTo>
                    <a:pt x="444" y="1729"/>
                  </a:lnTo>
                  <a:lnTo>
                    <a:pt x="457" y="1727"/>
                  </a:lnTo>
                  <a:lnTo>
                    <a:pt x="472" y="1725"/>
                  </a:lnTo>
                  <a:lnTo>
                    <a:pt x="486" y="1723"/>
                  </a:lnTo>
                  <a:lnTo>
                    <a:pt x="499" y="1719"/>
                  </a:lnTo>
                  <a:lnTo>
                    <a:pt x="515" y="1717"/>
                  </a:lnTo>
                  <a:lnTo>
                    <a:pt x="528" y="1714"/>
                  </a:lnTo>
                  <a:lnTo>
                    <a:pt x="543" y="1712"/>
                  </a:lnTo>
                  <a:lnTo>
                    <a:pt x="557" y="1706"/>
                  </a:lnTo>
                  <a:lnTo>
                    <a:pt x="572" y="1702"/>
                  </a:lnTo>
                  <a:lnTo>
                    <a:pt x="586" y="1696"/>
                  </a:lnTo>
                  <a:lnTo>
                    <a:pt x="601" y="1692"/>
                  </a:lnTo>
                  <a:lnTo>
                    <a:pt x="614" y="1685"/>
                  </a:lnTo>
                  <a:lnTo>
                    <a:pt x="630" y="1679"/>
                  </a:lnTo>
                  <a:lnTo>
                    <a:pt x="643" y="1671"/>
                  </a:lnTo>
                  <a:lnTo>
                    <a:pt x="657" y="1662"/>
                  </a:lnTo>
                  <a:lnTo>
                    <a:pt x="672" y="1652"/>
                  </a:lnTo>
                  <a:lnTo>
                    <a:pt x="685" y="1642"/>
                  </a:lnTo>
                  <a:lnTo>
                    <a:pt x="701" y="1631"/>
                  </a:lnTo>
                  <a:lnTo>
                    <a:pt x="714" y="1618"/>
                  </a:lnTo>
                  <a:lnTo>
                    <a:pt x="730" y="1604"/>
                  </a:lnTo>
                  <a:lnTo>
                    <a:pt x="743" y="1589"/>
                  </a:lnTo>
                  <a:lnTo>
                    <a:pt x="758" y="1573"/>
                  </a:lnTo>
                  <a:lnTo>
                    <a:pt x="772" y="1556"/>
                  </a:lnTo>
                  <a:lnTo>
                    <a:pt x="787" y="1537"/>
                  </a:lnTo>
                  <a:lnTo>
                    <a:pt x="801" y="1516"/>
                  </a:lnTo>
                  <a:lnTo>
                    <a:pt x="814" y="1495"/>
                  </a:lnTo>
                  <a:lnTo>
                    <a:pt x="829" y="1470"/>
                  </a:lnTo>
                  <a:lnTo>
                    <a:pt x="843" y="1445"/>
                  </a:lnTo>
                  <a:lnTo>
                    <a:pt x="858" y="1418"/>
                  </a:lnTo>
                  <a:lnTo>
                    <a:pt x="872" y="1389"/>
                  </a:lnTo>
                  <a:lnTo>
                    <a:pt x="887" y="1358"/>
                  </a:lnTo>
                  <a:lnTo>
                    <a:pt x="901" y="1328"/>
                  </a:lnTo>
                  <a:lnTo>
                    <a:pt x="916" y="1293"/>
                  </a:lnTo>
                  <a:lnTo>
                    <a:pt x="929" y="1256"/>
                  </a:lnTo>
                  <a:lnTo>
                    <a:pt x="945" y="1220"/>
                  </a:lnTo>
                  <a:lnTo>
                    <a:pt x="958" y="1182"/>
                  </a:lnTo>
                  <a:lnTo>
                    <a:pt x="972" y="1141"/>
                  </a:lnTo>
                  <a:lnTo>
                    <a:pt x="987" y="1099"/>
                  </a:lnTo>
                  <a:lnTo>
                    <a:pt x="1000" y="1057"/>
                  </a:lnTo>
                  <a:lnTo>
                    <a:pt x="1016" y="1011"/>
                  </a:lnTo>
                  <a:lnTo>
                    <a:pt x="1029" y="965"/>
                  </a:lnTo>
                  <a:lnTo>
                    <a:pt x="1045" y="918"/>
                  </a:lnTo>
                  <a:lnTo>
                    <a:pt x="1058" y="870"/>
                  </a:lnTo>
                  <a:lnTo>
                    <a:pt x="1073" y="822"/>
                  </a:lnTo>
                  <a:lnTo>
                    <a:pt x="1087" y="772"/>
                  </a:lnTo>
                  <a:lnTo>
                    <a:pt x="1102" y="723"/>
                  </a:lnTo>
                  <a:lnTo>
                    <a:pt x="1116" y="675"/>
                  </a:lnTo>
                  <a:lnTo>
                    <a:pt x="1129" y="625"/>
                  </a:lnTo>
                  <a:lnTo>
                    <a:pt x="1144" y="575"/>
                  </a:lnTo>
                  <a:lnTo>
                    <a:pt x="1158" y="527"/>
                  </a:lnTo>
                  <a:lnTo>
                    <a:pt x="1173" y="479"/>
                  </a:lnTo>
                  <a:lnTo>
                    <a:pt x="1187" y="431"/>
                  </a:lnTo>
                  <a:lnTo>
                    <a:pt x="1202" y="385"/>
                  </a:lnTo>
                  <a:lnTo>
                    <a:pt x="1215" y="340"/>
                  </a:lnTo>
                  <a:lnTo>
                    <a:pt x="1231" y="298"/>
                  </a:lnTo>
                  <a:lnTo>
                    <a:pt x="1244" y="258"/>
                  </a:lnTo>
                  <a:lnTo>
                    <a:pt x="1260" y="219"/>
                  </a:lnTo>
                  <a:lnTo>
                    <a:pt x="1273" y="183"/>
                  </a:lnTo>
                  <a:lnTo>
                    <a:pt x="1286" y="150"/>
                  </a:lnTo>
                  <a:lnTo>
                    <a:pt x="1302" y="120"/>
                  </a:lnTo>
                  <a:lnTo>
                    <a:pt x="1315" y="93"/>
                  </a:lnTo>
                  <a:lnTo>
                    <a:pt x="1331" y="68"/>
                  </a:lnTo>
                  <a:lnTo>
                    <a:pt x="1344" y="48"/>
                  </a:lnTo>
                  <a:lnTo>
                    <a:pt x="1359" y="31"/>
                  </a:lnTo>
                  <a:lnTo>
                    <a:pt x="1373" y="18"/>
                  </a:lnTo>
                  <a:lnTo>
                    <a:pt x="1388" y="8"/>
                  </a:lnTo>
                  <a:lnTo>
                    <a:pt x="1402" y="2"/>
                  </a:lnTo>
                  <a:lnTo>
                    <a:pt x="1417" y="0"/>
                  </a:lnTo>
                  <a:lnTo>
                    <a:pt x="1430" y="2"/>
                  </a:lnTo>
                  <a:lnTo>
                    <a:pt x="1444" y="8"/>
                  </a:lnTo>
                  <a:lnTo>
                    <a:pt x="1459" y="18"/>
                  </a:lnTo>
                  <a:lnTo>
                    <a:pt x="1473" y="31"/>
                  </a:lnTo>
                  <a:lnTo>
                    <a:pt x="1488" y="48"/>
                  </a:lnTo>
                  <a:lnTo>
                    <a:pt x="1502" y="68"/>
                  </a:lnTo>
                  <a:lnTo>
                    <a:pt x="1517" y="93"/>
                  </a:lnTo>
                  <a:lnTo>
                    <a:pt x="1530" y="120"/>
                  </a:lnTo>
                  <a:lnTo>
                    <a:pt x="1546" y="150"/>
                  </a:lnTo>
                  <a:lnTo>
                    <a:pt x="1559" y="183"/>
                  </a:lnTo>
                  <a:lnTo>
                    <a:pt x="1573" y="219"/>
                  </a:lnTo>
                  <a:lnTo>
                    <a:pt x="1588" y="258"/>
                  </a:lnTo>
                  <a:lnTo>
                    <a:pt x="1601" y="298"/>
                  </a:lnTo>
                  <a:lnTo>
                    <a:pt x="1617" y="340"/>
                  </a:lnTo>
                  <a:lnTo>
                    <a:pt x="1630" y="385"/>
                  </a:lnTo>
                  <a:lnTo>
                    <a:pt x="1646" y="431"/>
                  </a:lnTo>
                  <a:lnTo>
                    <a:pt x="1659" y="479"/>
                  </a:lnTo>
                  <a:lnTo>
                    <a:pt x="1674" y="527"/>
                  </a:lnTo>
                  <a:lnTo>
                    <a:pt x="1688" y="575"/>
                  </a:lnTo>
                  <a:lnTo>
                    <a:pt x="1703" y="625"/>
                  </a:lnTo>
                  <a:lnTo>
                    <a:pt x="1717" y="675"/>
                  </a:lnTo>
                  <a:lnTo>
                    <a:pt x="1730" y="723"/>
                  </a:lnTo>
                  <a:lnTo>
                    <a:pt x="1745" y="772"/>
                  </a:lnTo>
                  <a:lnTo>
                    <a:pt x="1759" y="822"/>
                  </a:lnTo>
                  <a:lnTo>
                    <a:pt x="1774" y="870"/>
                  </a:lnTo>
                  <a:lnTo>
                    <a:pt x="1788" y="918"/>
                  </a:lnTo>
                  <a:lnTo>
                    <a:pt x="1803" y="965"/>
                  </a:lnTo>
                  <a:lnTo>
                    <a:pt x="1816" y="1011"/>
                  </a:lnTo>
                  <a:lnTo>
                    <a:pt x="1832" y="1057"/>
                  </a:lnTo>
                  <a:lnTo>
                    <a:pt x="1845" y="1099"/>
                  </a:lnTo>
                  <a:lnTo>
                    <a:pt x="1861" y="1141"/>
                  </a:lnTo>
                  <a:lnTo>
                    <a:pt x="1874" y="1182"/>
                  </a:lnTo>
                  <a:lnTo>
                    <a:pt x="1887" y="1220"/>
                  </a:lnTo>
                  <a:lnTo>
                    <a:pt x="1903" y="1256"/>
                  </a:lnTo>
                  <a:lnTo>
                    <a:pt x="1916" y="1293"/>
                  </a:lnTo>
                  <a:lnTo>
                    <a:pt x="1932" y="1328"/>
                  </a:lnTo>
                  <a:lnTo>
                    <a:pt x="1945" y="1358"/>
                  </a:lnTo>
                  <a:lnTo>
                    <a:pt x="1960" y="1389"/>
                  </a:lnTo>
                  <a:lnTo>
                    <a:pt x="1974" y="1418"/>
                  </a:lnTo>
                  <a:lnTo>
                    <a:pt x="1989" y="1445"/>
                  </a:lnTo>
                  <a:lnTo>
                    <a:pt x="2003" y="1470"/>
                  </a:lnTo>
                  <a:lnTo>
                    <a:pt x="2018" y="1495"/>
                  </a:lnTo>
                  <a:lnTo>
                    <a:pt x="2032" y="1516"/>
                  </a:lnTo>
                  <a:lnTo>
                    <a:pt x="2045" y="1537"/>
                  </a:lnTo>
                  <a:lnTo>
                    <a:pt x="2060" y="1556"/>
                  </a:lnTo>
                  <a:lnTo>
                    <a:pt x="2074" y="1573"/>
                  </a:lnTo>
                  <a:lnTo>
                    <a:pt x="2089" y="1589"/>
                  </a:lnTo>
                  <a:lnTo>
                    <a:pt x="2103" y="1604"/>
                  </a:lnTo>
                  <a:lnTo>
                    <a:pt x="2118" y="1618"/>
                  </a:lnTo>
                  <a:lnTo>
                    <a:pt x="2131" y="1631"/>
                  </a:lnTo>
                  <a:lnTo>
                    <a:pt x="2147" y="1642"/>
                  </a:lnTo>
                  <a:lnTo>
                    <a:pt x="2160" y="1652"/>
                  </a:lnTo>
                  <a:lnTo>
                    <a:pt x="2176" y="1662"/>
                  </a:lnTo>
                  <a:lnTo>
                    <a:pt x="2189" y="1671"/>
                  </a:lnTo>
                  <a:lnTo>
                    <a:pt x="2202" y="1679"/>
                  </a:lnTo>
                  <a:lnTo>
                    <a:pt x="2218" y="1685"/>
                  </a:lnTo>
                  <a:lnTo>
                    <a:pt x="2231" y="1692"/>
                  </a:lnTo>
                  <a:lnTo>
                    <a:pt x="2247" y="1696"/>
                  </a:lnTo>
                  <a:lnTo>
                    <a:pt x="2260" y="1702"/>
                  </a:lnTo>
                  <a:lnTo>
                    <a:pt x="2275" y="1706"/>
                  </a:lnTo>
                  <a:lnTo>
                    <a:pt x="2289" y="1712"/>
                  </a:lnTo>
                  <a:lnTo>
                    <a:pt x="2304" y="1714"/>
                  </a:lnTo>
                  <a:lnTo>
                    <a:pt x="2318" y="1717"/>
                  </a:lnTo>
                  <a:lnTo>
                    <a:pt x="2333" y="1719"/>
                  </a:lnTo>
                  <a:lnTo>
                    <a:pt x="2346" y="1723"/>
                  </a:lnTo>
                  <a:lnTo>
                    <a:pt x="2360" y="1725"/>
                  </a:lnTo>
                  <a:lnTo>
                    <a:pt x="2375" y="1727"/>
                  </a:lnTo>
                  <a:lnTo>
                    <a:pt x="2389" y="1729"/>
                  </a:lnTo>
                  <a:lnTo>
                    <a:pt x="2404" y="1729"/>
                  </a:lnTo>
                  <a:lnTo>
                    <a:pt x="2417" y="1731"/>
                  </a:lnTo>
                  <a:lnTo>
                    <a:pt x="2433" y="1733"/>
                  </a:lnTo>
                  <a:lnTo>
                    <a:pt x="2446" y="1733"/>
                  </a:lnTo>
                  <a:lnTo>
                    <a:pt x="2462" y="1735"/>
                  </a:lnTo>
                  <a:lnTo>
                    <a:pt x="2475" y="1735"/>
                  </a:lnTo>
                  <a:lnTo>
                    <a:pt x="2490" y="1735"/>
                  </a:lnTo>
                  <a:lnTo>
                    <a:pt x="2504" y="1737"/>
                  </a:lnTo>
                  <a:lnTo>
                    <a:pt x="2517" y="1737"/>
                  </a:lnTo>
                  <a:lnTo>
                    <a:pt x="2533" y="1737"/>
                  </a:lnTo>
                  <a:lnTo>
                    <a:pt x="2546" y="1737"/>
                  </a:lnTo>
                  <a:lnTo>
                    <a:pt x="2561" y="1737"/>
                  </a:lnTo>
                  <a:lnTo>
                    <a:pt x="2575" y="1737"/>
                  </a:lnTo>
                  <a:lnTo>
                    <a:pt x="2590" y="1737"/>
                  </a:lnTo>
                  <a:lnTo>
                    <a:pt x="2604" y="1738"/>
                  </a:lnTo>
                  <a:lnTo>
                    <a:pt x="2619" y="1738"/>
                  </a:lnTo>
                  <a:lnTo>
                    <a:pt x="2633" y="1738"/>
                  </a:lnTo>
                  <a:lnTo>
                    <a:pt x="2648" y="1738"/>
                  </a:lnTo>
                  <a:lnTo>
                    <a:pt x="2661" y="1738"/>
                  </a:lnTo>
                  <a:lnTo>
                    <a:pt x="2675" y="1738"/>
                  </a:lnTo>
                  <a:lnTo>
                    <a:pt x="2690" y="1738"/>
                  </a:lnTo>
                  <a:lnTo>
                    <a:pt x="2704" y="1738"/>
                  </a:lnTo>
                  <a:lnTo>
                    <a:pt x="2719" y="1738"/>
                  </a:lnTo>
                  <a:lnTo>
                    <a:pt x="2732" y="1738"/>
                  </a:lnTo>
                  <a:lnTo>
                    <a:pt x="2748" y="1738"/>
                  </a:lnTo>
                  <a:lnTo>
                    <a:pt x="2761" y="1738"/>
                  </a:lnTo>
                  <a:lnTo>
                    <a:pt x="2777" y="1738"/>
                  </a:lnTo>
                  <a:lnTo>
                    <a:pt x="2790" y="1738"/>
                  </a:lnTo>
                  <a:lnTo>
                    <a:pt x="2805" y="1738"/>
                  </a:lnTo>
                  <a:lnTo>
                    <a:pt x="2819" y="1738"/>
                  </a:lnTo>
                  <a:lnTo>
                    <a:pt x="2832" y="1738"/>
                  </a:lnTo>
                  <a:lnTo>
                    <a:pt x="2848" y="1738"/>
                  </a:lnTo>
                </a:path>
              </a:pathLst>
            </a:custGeom>
            <a:noFill/>
            <a:ln w="23813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48">
              <a:extLst>
                <a:ext uri="{FF2B5EF4-FFF2-40B4-BE49-F238E27FC236}">
                  <a16:creationId xmlns:a16="http://schemas.microsoft.com/office/drawing/2014/main" id="{76C05396-AA75-956C-61E8-A766C0994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5229" y="2871537"/>
              <a:ext cx="0" cy="24825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Line 48">
              <a:extLst>
                <a:ext uri="{FF2B5EF4-FFF2-40B4-BE49-F238E27FC236}">
                  <a16:creationId xmlns:a16="http://schemas.microsoft.com/office/drawing/2014/main" id="{8F907929-156C-BB6F-00B0-0CF8A393F1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55229" y="3000886"/>
              <a:ext cx="0" cy="4694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024CDD19-8FE3-6714-1649-F2656C44A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8485" y="5017168"/>
              <a:ext cx="1545725" cy="1"/>
            </a:xfrm>
            <a:prstGeom prst="line">
              <a:avLst/>
            </a:prstGeom>
            <a:ln w="38100">
              <a:solidFill>
                <a:srgbClr val="00B050"/>
              </a:solidFill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4FD63F0-9D7E-1628-35F8-D97A210AABFD}"/>
                </a:ext>
              </a:extLst>
            </p:cNvPr>
            <p:cNvSpPr txBox="1"/>
            <p:nvPr/>
          </p:nvSpPr>
          <p:spPr>
            <a:xfrm>
              <a:off x="5473256" y="2349272"/>
              <a:ext cx="1545723" cy="1065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Ι</a:t>
              </a:r>
              <a:r>
                <a:rPr lang="fr-FR" baseline="-25000" dirty="0">
                  <a:solidFill>
                    <a:srgbClr val="00B050"/>
                  </a:solidFill>
                </a:rPr>
                <a:t>0</a:t>
              </a:r>
              <a:r>
                <a:rPr lang="fr-FR" dirty="0">
                  <a:solidFill>
                    <a:srgbClr val="00B050"/>
                  </a:solidFill>
                </a:rPr>
                <a:t>(z)</a:t>
              </a:r>
              <a:endParaRPr lang="fr-FR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38" name="Line 48">
              <a:extLst>
                <a:ext uri="{FF2B5EF4-FFF2-40B4-BE49-F238E27FC236}">
                  <a16:creationId xmlns:a16="http://schemas.microsoft.com/office/drawing/2014/main" id="{422C0EE5-3184-117A-E279-1E6C38539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1259" y="1773583"/>
              <a:ext cx="0" cy="35764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dirty="0"/>
            </a:p>
          </p:txBody>
        </p:sp>
        <p:sp>
          <p:nvSpPr>
            <p:cNvPr id="39" name="Line 48">
              <a:extLst>
                <a:ext uri="{FF2B5EF4-FFF2-40B4-BE49-F238E27FC236}">
                  <a16:creationId xmlns:a16="http://schemas.microsoft.com/office/drawing/2014/main" id="{8FAF8F68-6873-E99B-C6DA-85DDADCA6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085" y="1757542"/>
              <a:ext cx="0" cy="35764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 dirty="0"/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4B1158C5-67F2-07AC-5CE9-B9841DFD07C7}"/>
                </a:ext>
              </a:extLst>
            </p:cNvPr>
            <p:cNvSpPr txBox="1"/>
            <p:nvPr/>
          </p:nvSpPr>
          <p:spPr>
            <a:xfrm>
              <a:off x="3996817" y="4660231"/>
              <a:ext cx="465689" cy="856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baseline="30000" dirty="0">
                <a:solidFill>
                  <a:srgbClr val="008000"/>
                </a:solidFill>
              </a:endParaRPr>
            </a:p>
          </p:txBody>
        </p:sp>
      </p:grpSp>
      <p:pic>
        <p:nvPicPr>
          <p:cNvPr id="42" name="Image 41">
            <a:extLst>
              <a:ext uri="{FF2B5EF4-FFF2-40B4-BE49-F238E27FC236}">
                <a16:creationId xmlns:a16="http://schemas.microsoft.com/office/drawing/2014/main" id="{68FEECC6-E31E-1BA5-E470-31317890659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242" t="12493" r="67799" b="63205"/>
          <a:stretch/>
        </p:blipFill>
        <p:spPr>
          <a:xfrm>
            <a:off x="1517964" y="2627924"/>
            <a:ext cx="718639" cy="747503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741981D6-BC1A-C961-70C0-79E72C0261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782" y="3001676"/>
            <a:ext cx="3257966" cy="1683057"/>
          </a:xfrm>
          <a:prstGeom prst="rect">
            <a:avLst/>
          </a:prstGeom>
        </p:spPr>
      </p:pic>
      <p:sp>
        <p:nvSpPr>
          <p:cNvPr id="46" name="Sous-titre 2">
            <a:extLst>
              <a:ext uri="{FF2B5EF4-FFF2-40B4-BE49-F238E27FC236}">
                <a16:creationId xmlns:a16="http://schemas.microsoft.com/office/drawing/2014/main" id="{0DBFB117-7EFD-FB29-84C6-6E2DEEDFDD15}"/>
              </a:ext>
            </a:extLst>
          </p:cNvPr>
          <p:cNvSpPr txBox="1">
            <a:spLocks/>
          </p:cNvSpPr>
          <p:nvPr/>
        </p:nvSpPr>
        <p:spPr>
          <a:xfrm>
            <a:off x="4391115" y="5688448"/>
            <a:ext cx="2651354" cy="369789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fr-FR" sz="1400" kern="0" dirty="0"/>
              <a:t>Responsable : Xavier DELEN</a:t>
            </a:r>
          </a:p>
        </p:txBody>
      </p:sp>
      <p:pic>
        <p:nvPicPr>
          <p:cNvPr id="49" name="Picture 2" descr="@numpy">
            <a:extLst>
              <a:ext uri="{FF2B5EF4-FFF2-40B4-BE49-F238E27FC236}">
                <a16:creationId xmlns:a16="http://schemas.microsoft.com/office/drawing/2014/main" id="{C07CF2E7-3C3A-E5FE-BEA5-45EFEDF17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507" y="5011846"/>
            <a:ext cx="1086029" cy="108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FECF58E5-C5F9-DB1B-8F40-94A1ED6FF8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46" y="4976039"/>
            <a:ext cx="1190939" cy="12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43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DDE1-DA9F-BD22-60C6-F9ABEA29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C7DA9566-681A-4CFD-2D60-196DF1980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04" y="-83914"/>
            <a:ext cx="1379153" cy="125044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2F5EB99-53AC-A6AB-9D54-40CE3632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329" y="274536"/>
            <a:ext cx="6836893" cy="685800"/>
          </a:xfrm>
        </p:spPr>
        <p:txBody>
          <a:bodyPr/>
          <a:lstStyle/>
          <a:p>
            <a:r>
              <a:rPr lang="fr-FR" dirty="0"/>
              <a:t>Photonique : un mélange de compétences techniques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52594-041C-F2F4-5365-2FBE33400FBE}"/>
              </a:ext>
            </a:extLst>
          </p:cNvPr>
          <p:cNvSpPr/>
          <p:nvPr/>
        </p:nvSpPr>
        <p:spPr bwMode="auto">
          <a:xfrm>
            <a:off x="335360" y="67933"/>
            <a:ext cx="4248472" cy="127283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19F57F-F75C-91B0-5BAA-635C35956223}"/>
              </a:ext>
            </a:extLst>
          </p:cNvPr>
          <p:cNvSpPr/>
          <p:nvPr/>
        </p:nvSpPr>
        <p:spPr bwMode="auto">
          <a:xfrm>
            <a:off x="6960096" y="1052736"/>
            <a:ext cx="5163892" cy="91128"/>
          </a:xfrm>
          <a:prstGeom prst="rect">
            <a:avLst/>
          </a:prstGeom>
          <a:solidFill>
            <a:srgbClr val="FA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pic>
        <p:nvPicPr>
          <p:cNvPr id="8" name="Image 7" descr="Une image contenant texte, Police, capture d’écran, logo&#10;&#10;Le contenu généré par l’IA peut être incorrect.">
            <a:extLst>
              <a:ext uri="{FF2B5EF4-FFF2-40B4-BE49-F238E27FC236}">
                <a16:creationId xmlns:a16="http://schemas.microsoft.com/office/drawing/2014/main" id="{8D3C9B35-F036-7868-2805-4507934A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4162"/>
            <a:ext cx="2880320" cy="118320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D3ABF37-C0DA-5E7E-B2A1-D20B7BF91E23}"/>
              </a:ext>
            </a:extLst>
          </p:cNvPr>
          <p:cNvSpPr txBox="1"/>
          <p:nvPr/>
        </p:nvSpPr>
        <p:spPr>
          <a:xfrm>
            <a:off x="5015880" y="1166533"/>
            <a:ext cx="69640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rgbClr val="CC7604"/>
                </a:solidFill>
                <a:latin typeface="IBM Plex Sans"/>
              </a:rPr>
              <a:t>Opto-Electronique, Interfaçage Numérique, Outils Numériques</a:t>
            </a:r>
            <a:endParaRPr lang="fr-FR" dirty="0">
              <a:solidFill>
                <a:srgbClr val="CC7604"/>
              </a:solidFill>
              <a:latin typeface="IBM Plex Sans"/>
            </a:endParaRPr>
          </a:p>
        </p:txBody>
      </p:sp>
      <p:sp>
        <p:nvSpPr>
          <p:cNvPr id="6" name="Rectangle : coins arrondis 13">
            <a:extLst>
              <a:ext uri="{FF2B5EF4-FFF2-40B4-BE49-F238E27FC236}">
                <a16:creationId xmlns:a16="http://schemas.microsoft.com/office/drawing/2014/main" id="{98EE0B90-C895-490D-9D62-709DBA33E559}"/>
              </a:ext>
            </a:extLst>
          </p:cNvPr>
          <p:cNvSpPr/>
          <p:nvPr/>
        </p:nvSpPr>
        <p:spPr>
          <a:xfrm>
            <a:off x="4272681" y="4822514"/>
            <a:ext cx="3848306" cy="369789"/>
          </a:xfrm>
          <a:prstGeom prst="roundRect">
            <a:avLst>
              <a:gd name="adj" fmla="val 31103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UE Interfaçage Numérique / S6</a:t>
            </a:r>
            <a:endParaRPr lang="fr-FR" sz="2400" dirty="0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B05BB28-AD41-7EFC-B298-0687D1754481}"/>
              </a:ext>
            </a:extLst>
          </p:cNvPr>
          <p:cNvSpPr txBox="1">
            <a:spLocks/>
          </p:cNvSpPr>
          <p:nvPr/>
        </p:nvSpPr>
        <p:spPr>
          <a:xfrm>
            <a:off x="4328438" y="5196537"/>
            <a:ext cx="3351738" cy="369789"/>
          </a:xfrm>
          <a:prstGeom prst="rect">
            <a:avLst/>
          </a:prstGeom>
        </p:spPr>
        <p:txBody>
          <a:bodyPr lIns="91284" tIns="45645" rIns="91284" bIns="45645"/>
          <a:lstStyle>
            <a:lvl1pPr marL="339404" indent="-33940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rgbClr val="0A3250"/>
                </a:solidFill>
                <a:latin typeface="+mn-lt"/>
                <a:ea typeface="ＭＳ Ｐゴシック" charset="0"/>
                <a:cs typeface="+mn-cs"/>
              </a:defRPr>
            </a:lvl1pPr>
            <a:lvl2pPr marL="739064" indent="-28230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A3250"/>
                </a:solidFill>
                <a:latin typeface="+mn-lt"/>
                <a:ea typeface="ＭＳ Ｐゴシック" charset="0"/>
              </a:defRPr>
            </a:lvl2pPr>
            <a:lvl3pPr marL="113873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A3250"/>
                </a:solidFill>
                <a:latin typeface="+mn-lt"/>
                <a:ea typeface="ＭＳ Ｐゴシック" charset="0"/>
              </a:defRPr>
            </a:lvl3pPr>
            <a:lvl4pPr marL="1595491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4pPr>
            <a:lvl5pPr marL="2052252" indent="-2252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A3250"/>
                </a:solidFill>
                <a:latin typeface="+mn-lt"/>
                <a:ea typeface="ＭＳ Ｐゴシック" charset="0"/>
              </a:defRPr>
            </a:lvl5pPr>
            <a:lvl6pPr marL="2510322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6pPr>
            <a:lvl7pPr marL="2966747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7pPr>
            <a:lvl8pPr marL="342316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8pPr>
            <a:lvl9pPr marL="3879589" indent="-22821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A325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fr-FR" sz="1400" kern="0" dirty="0"/>
              <a:t>Responsable : Julien VILLEMEJANE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DDEAE9D7-08A9-7FFE-115E-8577C4BBD6C8}"/>
              </a:ext>
            </a:extLst>
          </p:cNvPr>
          <p:cNvSpPr/>
          <p:nvPr/>
        </p:nvSpPr>
        <p:spPr>
          <a:xfrm>
            <a:off x="582032" y="1538007"/>
            <a:ext cx="3982632" cy="338554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Electronique / Traitement du Signal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417281-E1AC-3A7E-2C72-DE82488990DC}"/>
              </a:ext>
            </a:extLst>
          </p:cNvPr>
          <p:cNvSpPr/>
          <p:nvPr/>
        </p:nvSpPr>
        <p:spPr>
          <a:xfrm>
            <a:off x="911424" y="1990308"/>
            <a:ext cx="2304256" cy="33855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2060"/>
                </a:solidFill>
              </a:rPr>
              <a:t>DETECTER</a:t>
            </a:r>
          </a:p>
        </p:txBody>
      </p:sp>
      <p:sp>
        <p:nvSpPr>
          <p:cNvPr id="16" name="Flèche : pentagone 15">
            <a:extLst>
              <a:ext uri="{FF2B5EF4-FFF2-40B4-BE49-F238E27FC236}">
                <a16:creationId xmlns:a16="http://schemas.microsoft.com/office/drawing/2014/main" id="{8F3C8DDA-5D65-F601-ECFB-A820FB8527FD}"/>
              </a:ext>
            </a:extLst>
          </p:cNvPr>
          <p:cNvSpPr/>
          <p:nvPr/>
        </p:nvSpPr>
        <p:spPr>
          <a:xfrm>
            <a:off x="581526" y="5656263"/>
            <a:ext cx="3982632" cy="338554"/>
          </a:xfrm>
          <a:prstGeom prst="homePlate">
            <a:avLst/>
          </a:prstGeom>
          <a:solidFill>
            <a:srgbClr val="FF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Outils Numériques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251800-2F20-E4F3-E039-A067D0B527A4}"/>
              </a:ext>
            </a:extLst>
          </p:cNvPr>
          <p:cNvSpPr/>
          <p:nvPr/>
        </p:nvSpPr>
        <p:spPr>
          <a:xfrm>
            <a:off x="911424" y="6094386"/>
            <a:ext cx="2304256" cy="338554"/>
          </a:xfrm>
          <a:prstGeom prst="rect">
            <a:avLst/>
          </a:prstGeom>
          <a:noFill/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7F00"/>
                </a:solidFill>
              </a:rPr>
              <a:t>TRAITER</a:t>
            </a:r>
          </a:p>
        </p:txBody>
      </p:sp>
      <p:sp>
        <p:nvSpPr>
          <p:cNvPr id="24" name="Flèche : chevron 23">
            <a:extLst>
              <a:ext uri="{FF2B5EF4-FFF2-40B4-BE49-F238E27FC236}">
                <a16:creationId xmlns:a16="http://schemas.microsoft.com/office/drawing/2014/main" id="{5380CDFC-4B68-F745-AE9E-9CBE028B31E4}"/>
              </a:ext>
            </a:extLst>
          </p:cNvPr>
          <p:cNvSpPr/>
          <p:nvPr/>
        </p:nvSpPr>
        <p:spPr>
          <a:xfrm>
            <a:off x="4776683" y="5671373"/>
            <a:ext cx="2638634" cy="325267"/>
          </a:xfrm>
          <a:prstGeom prst="chevron">
            <a:avLst/>
          </a:prstGeom>
          <a:solidFill>
            <a:srgbClr val="D02D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Automatique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61464-CE70-DFE2-E569-EBBB398144D3}"/>
              </a:ext>
            </a:extLst>
          </p:cNvPr>
          <p:cNvSpPr/>
          <p:nvPr/>
        </p:nvSpPr>
        <p:spPr>
          <a:xfrm>
            <a:off x="4991110" y="6055012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ASSERVIR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874AC77E-F220-EA1B-9E56-B4B252F3E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440" y="4036948"/>
            <a:ext cx="1130633" cy="1130633"/>
          </a:xfrm>
          <a:prstGeom prst="rect">
            <a:avLst/>
          </a:prstGeom>
        </p:spPr>
      </p:pic>
      <p:pic>
        <p:nvPicPr>
          <p:cNvPr id="45" name="Image 44" descr="Une image contenant roue, Pièce auto, pneu, Véhicule de jouet&#10;&#10;Description générée automatiquement">
            <a:extLst>
              <a:ext uri="{FF2B5EF4-FFF2-40B4-BE49-F238E27FC236}">
                <a16:creationId xmlns:a16="http://schemas.microsoft.com/office/drawing/2014/main" id="{F460AFD7-D6EB-70BB-E6B4-9AA364FFDC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09" y="2469755"/>
            <a:ext cx="1799338" cy="1428675"/>
          </a:xfrm>
          <a:prstGeom prst="rect">
            <a:avLst/>
          </a:prstGeom>
        </p:spPr>
      </p:pic>
      <p:pic>
        <p:nvPicPr>
          <p:cNvPr id="48" name="Image 47" descr="Une image contenant ligne, diagramme, Tracé, texte&#10;&#10;Description générée automatiquement">
            <a:extLst>
              <a:ext uri="{FF2B5EF4-FFF2-40B4-BE49-F238E27FC236}">
                <a16:creationId xmlns:a16="http://schemas.microsoft.com/office/drawing/2014/main" id="{F2732EA9-824A-C979-C6B1-B1035D1BB5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908" y="2808685"/>
            <a:ext cx="2856184" cy="1652606"/>
          </a:xfrm>
          <a:prstGeom prst="rect">
            <a:avLst/>
          </a:prstGeom>
        </p:spPr>
      </p:pic>
      <p:pic>
        <p:nvPicPr>
          <p:cNvPr id="52" name="Image 51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C5200234-0CA9-4179-4DAF-900D7A8A8F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78" y="3948215"/>
            <a:ext cx="2226240" cy="1487596"/>
          </a:xfrm>
          <a:prstGeom prst="rect">
            <a:avLst/>
          </a:prstGeom>
        </p:spPr>
      </p:pic>
      <p:pic>
        <p:nvPicPr>
          <p:cNvPr id="54" name="Image 53" descr="Une image contenant texte, capture d’écran, Post-it, Rectangle&#10;&#10;Le contenu généré par l’IA peut être incorrect.">
            <a:extLst>
              <a:ext uri="{FF2B5EF4-FFF2-40B4-BE49-F238E27FC236}">
                <a16:creationId xmlns:a16="http://schemas.microsoft.com/office/drawing/2014/main" id="{AD856BCF-AF8A-2060-947B-9D90FCF4D3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296" y="2206708"/>
            <a:ext cx="3322525" cy="145851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9B2C72A7-55B5-CBF7-1044-6F3480C6F8BB}"/>
              </a:ext>
            </a:extLst>
          </p:cNvPr>
          <p:cNvSpPr/>
          <p:nvPr/>
        </p:nvSpPr>
        <p:spPr>
          <a:xfrm>
            <a:off x="3515780" y="1990308"/>
            <a:ext cx="2304256" cy="3385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INTERFACER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7575B13-489D-0D68-017E-622379168EA0}"/>
              </a:ext>
            </a:extLst>
          </p:cNvPr>
          <p:cNvSpPr/>
          <p:nvPr/>
        </p:nvSpPr>
        <p:spPr>
          <a:xfrm>
            <a:off x="7524092" y="6055012"/>
            <a:ext cx="2304256" cy="338554"/>
          </a:xfrm>
          <a:prstGeom prst="rect">
            <a:avLst/>
          </a:prstGeom>
          <a:noFill/>
          <a:ln>
            <a:solidFill>
              <a:srgbClr val="D0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D02D12"/>
                </a:solidFill>
              </a:rPr>
              <a:t>CONTROLER</a:t>
            </a:r>
          </a:p>
        </p:txBody>
      </p:sp>
    </p:spTree>
    <p:extLst>
      <p:ext uri="{BB962C8B-B14F-4D97-AF65-F5344CB8AC3E}">
        <p14:creationId xmlns:p14="http://schemas.microsoft.com/office/powerpoint/2010/main" val="2570312768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26443</TotalTime>
  <Words>664</Words>
  <Application>Microsoft Office PowerPoint</Application>
  <PresentationFormat>Grand écran</PresentationFormat>
  <Paragraphs>192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19</vt:i4>
      </vt:variant>
    </vt:vector>
  </HeadingPairs>
  <TitlesOfParts>
    <vt:vector size="30" baseType="lpstr">
      <vt:lpstr>ＭＳ Ｐゴシック</vt:lpstr>
      <vt:lpstr>ＭＳ Ｐゴシック</vt:lpstr>
      <vt:lpstr>Arial</vt:lpstr>
      <vt:lpstr>ArialUnicodeMS</vt:lpstr>
      <vt:lpstr>Calibri</vt:lpstr>
      <vt:lpstr>Cambria Math</vt:lpstr>
      <vt:lpstr>Century Gothic</vt:lpstr>
      <vt:lpstr>IBM Plex Sans</vt:lpstr>
      <vt:lpstr>Wingdings</vt:lpstr>
      <vt:lpstr>DRAFT PRES CA_IO_13-06-12</vt:lpstr>
      <vt:lpstr>1_DRAFT PRES CA_IO_13-06-12</vt:lpstr>
      <vt:lpstr>Ingénieur·e en photonique</vt:lpstr>
      <vt:lpstr>Systèmes</vt:lpstr>
      <vt:lpstr>Projets 2A</vt:lpstr>
      <vt:lpstr>Expériences de quantique</vt:lpstr>
      <vt:lpstr>Projets 2A</vt:lpstr>
      <vt:lpstr>Projets 2A</vt:lpstr>
      <vt:lpstr>Dans 3 ans ?</vt:lpstr>
      <vt:lpstr>Dans 5 ans ?</vt:lpstr>
      <vt:lpstr>Formation à SupOptique</vt:lpstr>
      <vt:lpstr>Etre ingénieur.e aujourd’hui</vt:lpstr>
      <vt:lpstr>Opto-Electronique  Interfaçage Numérique</vt:lpstr>
      <vt:lpstr>Photonique : un mélange de compétences techniques</vt:lpstr>
      <vt:lpstr>Photonique : un mélange de compétences techniques</vt:lpstr>
      <vt:lpstr>Photodétection</vt:lpstr>
      <vt:lpstr>Caméra CMOS</vt:lpstr>
      <vt:lpstr>Photonique : un mélange de compétences techniques</vt:lpstr>
      <vt:lpstr>Photonique : un mélange de compétences techniques</vt:lpstr>
      <vt:lpstr>Photonique : un mélange de compétences techniques</vt:lpstr>
      <vt:lpstr>Photonique : un mélange de compétences techniques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OptoElectronique - Intro 26</dc:title>
  <dc:creator>Institut d'Optique</dc:creator>
  <cp:lastModifiedBy>Julien VILLEMEJANE</cp:lastModifiedBy>
  <cp:revision>1779</cp:revision>
  <cp:lastPrinted>2021-12-20T13:30:17Z</cp:lastPrinted>
  <dcterms:created xsi:type="dcterms:W3CDTF">2012-05-10T13:56:34Z</dcterms:created>
  <dcterms:modified xsi:type="dcterms:W3CDTF">2026-09-08T18:26:41Z</dcterms:modified>
</cp:coreProperties>
</file>