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21"/>
  </p:notesMasterIdLst>
  <p:handoutMasterIdLst>
    <p:handoutMasterId r:id="rId22"/>
  </p:handoutMasterIdLst>
  <p:sldIdLst>
    <p:sldId id="395" r:id="rId3"/>
    <p:sldId id="416" r:id="rId4"/>
    <p:sldId id="425" r:id="rId5"/>
    <p:sldId id="426" r:id="rId6"/>
    <p:sldId id="427" r:id="rId7"/>
    <p:sldId id="424" r:id="rId8"/>
    <p:sldId id="430" r:id="rId9"/>
    <p:sldId id="428" r:id="rId10"/>
    <p:sldId id="422" r:id="rId11"/>
    <p:sldId id="420" r:id="rId12"/>
    <p:sldId id="429" r:id="rId13"/>
    <p:sldId id="423" r:id="rId14"/>
    <p:sldId id="431" r:id="rId15"/>
    <p:sldId id="419" r:id="rId16"/>
    <p:sldId id="421" r:id="rId17"/>
    <p:sldId id="398" r:id="rId18"/>
    <p:sldId id="400" r:id="rId19"/>
    <p:sldId id="396" r:id="rId20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95"/>
            <p14:sldId id="416"/>
            <p14:sldId id="425"/>
            <p14:sldId id="426"/>
            <p14:sldId id="427"/>
            <p14:sldId id="424"/>
            <p14:sldId id="430"/>
            <p14:sldId id="428"/>
            <p14:sldId id="422"/>
            <p14:sldId id="420"/>
            <p14:sldId id="429"/>
            <p14:sldId id="423"/>
            <p14:sldId id="431"/>
            <p14:sldId id="419"/>
            <p14:sldId id="421"/>
            <p14:sldId id="398"/>
            <p14:sldId id="400"/>
            <p14:sldId id="3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7F00"/>
    <a:srgbClr val="CC7604"/>
    <a:srgbClr val="FA960A"/>
    <a:srgbClr val="D02D12"/>
    <a:srgbClr val="222268"/>
    <a:srgbClr val="00B0F0"/>
    <a:srgbClr val="D9D9D9"/>
    <a:srgbClr val="6AB5D9"/>
    <a:srgbClr val="0A3250"/>
    <a:srgbClr val="CBE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83" autoAdjust="0"/>
    <p:restoredTop sz="84504" autoAdjust="0"/>
  </p:normalViewPr>
  <p:slideViewPr>
    <p:cSldViewPr>
      <p:cViewPr varScale="1">
        <p:scale>
          <a:sx n="75" d="100"/>
          <a:sy n="75" d="100"/>
        </p:scale>
        <p:origin x="336" y="62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31/08/2026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8653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5007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1770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1290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5535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514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9351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16701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002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63237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619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xmlns="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xmlns="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xmlns="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xmlns="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xmlns="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xmlns="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xmlns="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xmlns="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xmlns="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xmlns="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xmlns="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xmlns="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xmlns="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5" name="Image 4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xmlns="" id="{E83C2882-4408-CE09-DEC2-6856CAFD3C6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0"/>
            <a:ext cx="4343400" cy="1524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xmlns="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6" name="Image 5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xmlns="" id="{8EBAC630-7DDC-F79A-67A7-A059B76493E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35" y="116632"/>
            <a:ext cx="2070649" cy="127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6.png"/><Relationship Id="rId21" Type="http://schemas.openxmlformats.org/officeDocument/2006/relationships/image" Target="../media/image35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24" Type="http://schemas.openxmlformats.org/officeDocument/2006/relationships/image" Target="../media/image38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28" Type="http://schemas.openxmlformats.org/officeDocument/2006/relationships/image" Target="../media/image42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3.jpg"/><Relationship Id="rId9" Type="http://schemas.openxmlformats.org/officeDocument/2006/relationships/image" Target="../media/image23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Relationship Id="rId27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hyperlink" Target="https://tinyurl.com/APC-IOG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7.png"/><Relationship Id="rId4" Type="http://schemas.openxmlformats.org/officeDocument/2006/relationships/image" Target="../media/image3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3.jpg"/><Relationship Id="rId7" Type="http://schemas.openxmlformats.org/officeDocument/2006/relationships/image" Target="../media/image5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4.png"/><Relationship Id="rId5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63.pn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3.jpg"/><Relationship Id="rId7" Type="http://schemas.openxmlformats.org/officeDocument/2006/relationships/image" Target="../media/image65.png"/><Relationship Id="rId12" Type="http://schemas.openxmlformats.org/officeDocument/2006/relationships/image" Target="../media/image19.sv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4.png"/><Relationship Id="rId11" Type="http://schemas.openxmlformats.org/officeDocument/2006/relationships/image" Target="../media/image68.png"/><Relationship Id="rId5" Type="http://schemas.openxmlformats.org/officeDocument/2006/relationships/image" Target="../media/image63.png"/><Relationship Id="rId10" Type="http://schemas.openxmlformats.org/officeDocument/2006/relationships/image" Target="../media/image17.svg"/><Relationship Id="rId4" Type="http://schemas.openxmlformats.org/officeDocument/2006/relationships/image" Target="../media/image60.png"/><Relationship Id="rId9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err="1" smtClean="0">
                <a:latin typeface="IBM Plex Sans"/>
              </a:rPr>
              <a:t>Ingénieur·e</a:t>
            </a:r>
            <a:r>
              <a:rPr lang="fr-FR" dirty="0" smtClean="0">
                <a:latin typeface="IBM Plex Sans"/>
              </a:rPr>
              <a:t> en photonique</a:t>
            </a:r>
            <a:endParaRPr lang="fr-FR" dirty="0">
              <a:latin typeface="IBM Plex Sans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 smtClean="0"/>
              <a:t>Etre capable d’évoluer</a:t>
            </a:r>
          </a:p>
          <a:p>
            <a:r>
              <a:rPr lang="fr-FR" sz="2000" dirty="0" smtClean="0"/>
              <a:t>Connecter des disciplines</a:t>
            </a:r>
            <a:endParaRPr lang="fr-FR" sz="2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0216" y="2052012"/>
            <a:ext cx="3583630" cy="32491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583182" y="6455448"/>
            <a:ext cx="154080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100" dirty="0" smtClean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100" dirty="0" err="1" smtClean="0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xmlns="" id="{778BB9FF-8E3B-C33D-482F-EDD5D3C8920B}"/>
              </a:ext>
            </a:extLst>
          </p:cNvPr>
          <p:cNvSpPr txBox="1"/>
          <p:nvPr/>
        </p:nvSpPr>
        <p:spPr>
          <a:xfrm>
            <a:off x="1343472" y="5724479"/>
            <a:ext cx="518457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 smtClean="0">
                <a:solidFill>
                  <a:srgbClr val="EE7202"/>
                </a:solidFill>
              </a:rPr>
              <a:t>Julien VILLEMEJANE </a:t>
            </a:r>
            <a:r>
              <a:rPr lang="fr-FR" sz="1050" b="1" dirty="0" smtClean="0">
                <a:solidFill>
                  <a:srgbClr val="EE7202"/>
                </a:solidFill>
              </a:rPr>
              <a:t/>
            </a:r>
            <a:br>
              <a:rPr lang="fr-FR" sz="1050" b="1" dirty="0" smtClean="0">
                <a:solidFill>
                  <a:srgbClr val="EE7202"/>
                </a:solidFill>
              </a:rPr>
            </a:br>
            <a:endParaRPr lang="fr-FR" sz="1050" b="1" dirty="0" smtClean="0">
              <a:solidFill>
                <a:srgbClr val="EE7202"/>
              </a:solidFill>
            </a:endParaRPr>
          </a:p>
          <a:p>
            <a:r>
              <a:rPr lang="fr-FR" sz="1800" dirty="0" smtClean="0">
                <a:solidFill>
                  <a:srgbClr val="EE7202"/>
                </a:solidFill>
              </a:rPr>
              <a:t>julien.villemejane@institutoptique.fr</a:t>
            </a:r>
            <a:endParaRPr lang="fr-FR" sz="1800" dirty="0">
              <a:solidFill>
                <a:srgbClr val="EE7202"/>
              </a:solidFill>
            </a:endParaRP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xmlns="" id="{018A8D8B-0215-8CF0-4D01-85AF8D9DE8F9}"/>
              </a:ext>
            </a:extLst>
          </p:cNvPr>
          <p:cNvSpPr txBox="1">
            <a:spLocks/>
          </p:cNvSpPr>
          <p:nvPr/>
        </p:nvSpPr>
        <p:spPr>
          <a:xfrm>
            <a:off x="5539749" y="5423184"/>
            <a:ext cx="5169376" cy="135972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456425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8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91284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369266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182569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28211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6pPr>
            <a:lvl7pPr marL="2738534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7pPr>
            <a:lvl8pPr marL="3194959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8pPr>
            <a:lvl9pPr marL="365138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algn="l"/>
            <a:r>
              <a:rPr lang="fr-FR" sz="1400" kern="0" dirty="0" smtClean="0">
                <a:latin typeface="IBM Plex Sans"/>
              </a:rPr>
              <a:t>Co-responsable </a:t>
            </a:r>
            <a:r>
              <a:rPr lang="fr-FR" sz="1400" kern="0" dirty="0" err="1" smtClean="0">
                <a:latin typeface="IBM Plex Sans"/>
              </a:rPr>
              <a:t>LEnsE</a:t>
            </a:r>
            <a:r>
              <a:rPr lang="fr-FR" sz="1400" kern="0" dirty="0" smtClean="0">
                <a:latin typeface="IBM Plex Sans"/>
              </a:rPr>
              <a:t> - TP Electronique</a:t>
            </a:r>
          </a:p>
          <a:p>
            <a:pPr algn="l"/>
            <a:r>
              <a:rPr lang="fr-FR" sz="1400" kern="0" dirty="0" smtClean="0">
                <a:latin typeface="IBM Plex Sans"/>
              </a:rPr>
              <a:t>Responsable Enquête « jeunes </a:t>
            </a:r>
            <a:r>
              <a:rPr lang="fr-FR" sz="1400" kern="0" dirty="0" err="1" smtClean="0">
                <a:latin typeface="IBM Plex Sans"/>
              </a:rPr>
              <a:t>diplômé·es</a:t>
            </a:r>
            <a:r>
              <a:rPr lang="fr-FR" sz="1400" kern="0" dirty="0" smtClean="0">
                <a:latin typeface="IBM Plex Sans"/>
              </a:rPr>
              <a:t> »</a:t>
            </a:r>
          </a:p>
          <a:p>
            <a:pPr algn="l"/>
            <a:r>
              <a:rPr lang="fr-FR" sz="1400" kern="0" dirty="0" smtClean="0">
                <a:latin typeface="IBM Plex Sans"/>
              </a:rPr>
              <a:t>Responsable Formation Professionnelle</a:t>
            </a:r>
          </a:p>
          <a:p>
            <a:pPr algn="l"/>
            <a:endParaRPr lang="fr-FR" sz="1400" kern="0" dirty="0" smtClean="0">
              <a:latin typeface="IBM Plex Sans"/>
            </a:endParaRPr>
          </a:p>
          <a:p>
            <a:pPr algn="l"/>
            <a:r>
              <a:rPr lang="fr-FR" sz="1400" kern="0" dirty="0" smtClean="0">
                <a:latin typeface="IBM Plex Sans"/>
              </a:rPr>
              <a:t>☑ Je ne suis pas un robot </a:t>
            </a:r>
            <a:endParaRPr lang="fr-FR" sz="1400" kern="0" dirty="0"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3027426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49" y="1143864"/>
            <a:ext cx="4503080" cy="3319311"/>
          </a:xfrm>
          <a:prstGeom prst="rect">
            <a:avLst/>
          </a:prstGeom>
        </p:spPr>
      </p:pic>
      <p:pic>
        <p:nvPicPr>
          <p:cNvPr id="19" name="Image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Systèmes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21" name="Imag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440" y="4469247"/>
            <a:ext cx="6077942" cy="2341134"/>
          </a:xfrm>
          <a:prstGeom prst="rect">
            <a:avLst/>
          </a:prstGeom>
        </p:spPr>
      </p:pic>
      <p:pic>
        <p:nvPicPr>
          <p:cNvPr id="24" name="Image 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5205" y="2060848"/>
            <a:ext cx="4141706" cy="371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409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Projets 2A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xmlns="" id="{E12BA805-D6B7-DF43-C6D1-9946B3864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340" y="3973037"/>
            <a:ext cx="4629796" cy="229584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xmlns="" id="{B7CA2546-5015-F933-F896-536762C27B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553" y="5043893"/>
            <a:ext cx="3708402" cy="166531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xmlns="" id="{778BB9FF-8E3B-C33D-482F-EDD5D3C8920B}"/>
              </a:ext>
            </a:extLst>
          </p:cNvPr>
          <p:cNvSpPr txBox="1"/>
          <p:nvPr/>
        </p:nvSpPr>
        <p:spPr>
          <a:xfrm>
            <a:off x="5138928" y="1673216"/>
            <a:ext cx="69679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Du laser industriel à la séance de travaux pratiques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xmlns="" id="{91F1BF88-A429-C2B8-5BC3-DD1CDD6872B8}"/>
              </a:ext>
            </a:extLst>
          </p:cNvPr>
          <p:cNvSpPr txBox="1"/>
          <p:nvPr/>
        </p:nvSpPr>
        <p:spPr>
          <a:xfrm>
            <a:off x="743267" y="2163516"/>
            <a:ext cx="478034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400" b="1" dirty="0"/>
              <a:t>Objectif</a:t>
            </a:r>
            <a:r>
              <a:rPr lang="fr-FR" sz="1400" dirty="0"/>
              <a:t> : donner une seconde vie à deux lasers industriels </a:t>
            </a:r>
            <a:r>
              <a:rPr lang="fr-FR" sz="1400" b="1" i="1" dirty="0"/>
              <a:t>JADE2</a:t>
            </a:r>
            <a:r>
              <a:rPr lang="fr-FR" sz="1400" dirty="0"/>
              <a:t> en faisant d’eux le sujet d’étude de séances de travaux pratiques de troisième année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xmlns="" id="{5B4468C0-055D-C71E-6277-DE4B3448F4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225" y="3010877"/>
            <a:ext cx="3639058" cy="192431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 bwMode="auto">
          <a:xfrm>
            <a:off x="6806519" y="2089783"/>
            <a:ext cx="4514617" cy="769831"/>
          </a:xfrm>
          <a:prstGeom prst="rect">
            <a:avLst/>
          </a:prstGeom>
          <a:solidFill>
            <a:srgbClr val="FF7F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sz="1400" dirty="0" err="1" smtClean="0">
                <a:solidFill>
                  <a:schemeClr val="bg1"/>
                </a:solidFill>
                <a:ea typeface="MS PGothic" pitchFamily="34" charset="-128"/>
              </a:rPr>
              <a:t>Ellyne</a:t>
            </a: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> LIEGIOIS, Félix KEIL, Ferdinand KOCI, </a:t>
            </a:r>
            <a:b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>Eliott HADDAD, Elisa JARRY – </a:t>
            </a:r>
            <a:r>
              <a:rPr lang="fr-FR" sz="1200" i="1" dirty="0" err="1" smtClean="0">
                <a:solidFill>
                  <a:schemeClr val="bg1"/>
                </a:solidFill>
                <a:ea typeface="MS PGothic" pitchFamily="34" charset="-128"/>
              </a:rPr>
              <a:t>LEnsE</a:t>
            </a:r>
            <a:r>
              <a:rPr lang="fr-FR" sz="1200" i="1" dirty="0" smtClean="0">
                <a:solidFill>
                  <a:schemeClr val="bg1"/>
                </a:solidFill>
                <a:ea typeface="MS PGothic" pitchFamily="34" charset="-128"/>
              </a:rPr>
              <a:t> 2024-2025</a:t>
            </a: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/>
            </a:r>
            <a:b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>Encadrement : François </a:t>
            </a:r>
            <a:r>
              <a:rPr lang="fr-FR" sz="1400" dirty="0" err="1" smtClean="0">
                <a:solidFill>
                  <a:schemeClr val="bg1"/>
                </a:solidFill>
                <a:ea typeface="MS PGothic" pitchFamily="34" charset="-128"/>
              </a:rPr>
              <a:t>Balembois</a:t>
            </a: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>, Thierry Avignon</a:t>
            </a:r>
            <a:endParaRPr kumimoji="0" lang="fr-FR" sz="14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74566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Expériences de quantique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92" y="1778728"/>
            <a:ext cx="8723256" cy="3046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7408" y="6223369"/>
            <a:ext cx="35157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/>
              <a:t>SPCM = Single </a:t>
            </a:r>
            <a:r>
              <a:rPr lang="fr-FR" sz="1400" dirty="0"/>
              <a:t>Photon </a:t>
            </a:r>
            <a:r>
              <a:rPr lang="fr-FR" sz="1400" dirty="0" err="1"/>
              <a:t>Counting</a:t>
            </a:r>
            <a:r>
              <a:rPr lang="fr-FR" sz="1400" dirty="0"/>
              <a:t> Modules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7408" y="6431850"/>
            <a:ext cx="34126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/>
              <a:t>SPAD = Single-photon </a:t>
            </a:r>
            <a:r>
              <a:rPr lang="fr-FR" sz="1400" dirty="0"/>
              <a:t>avalanche diodes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7408" y="5936264"/>
            <a:ext cx="26613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/>
              <a:t>PBS = </a:t>
            </a:r>
            <a:r>
              <a:rPr lang="fr-FR" sz="1400" dirty="0" err="1" smtClean="0"/>
              <a:t>Polarizing</a:t>
            </a:r>
            <a:r>
              <a:rPr lang="fr-FR" sz="1400" dirty="0" smtClean="0"/>
              <a:t> </a:t>
            </a:r>
            <a:r>
              <a:rPr lang="fr-FR" sz="1400" dirty="0" err="1"/>
              <a:t>Beam</a:t>
            </a:r>
            <a:r>
              <a:rPr lang="fr-FR" sz="1400" dirty="0"/>
              <a:t> Splitter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408" y="5727783"/>
            <a:ext cx="22781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/>
              <a:t>BBO = beta-</a:t>
            </a:r>
            <a:r>
              <a:rPr lang="fr-FR" sz="1400" dirty="0" err="1" smtClean="0"/>
              <a:t>barium</a:t>
            </a:r>
            <a:r>
              <a:rPr lang="fr-FR" sz="1400" dirty="0" smtClean="0"/>
              <a:t> </a:t>
            </a:r>
            <a:r>
              <a:rPr lang="fr-FR" sz="1400" dirty="0"/>
              <a:t>borate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xmlns="" id="{778BB9FF-8E3B-C33D-482F-EDD5D3C8920B}"/>
              </a:ext>
            </a:extLst>
          </p:cNvPr>
          <p:cNvSpPr txBox="1"/>
          <p:nvPr/>
        </p:nvSpPr>
        <p:spPr>
          <a:xfrm>
            <a:off x="7248128" y="1673216"/>
            <a:ext cx="48587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 smtClean="0">
                <a:solidFill>
                  <a:srgbClr val="EE7202"/>
                </a:solidFill>
              </a:rPr>
              <a:t>Expérience des inégalités de Bell</a:t>
            </a:r>
            <a:endParaRPr lang="fr-FR" sz="2000" b="1" dirty="0">
              <a:solidFill>
                <a:srgbClr val="EE72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56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Expériences de quantique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xmlns="" id="{778BB9FF-8E3B-C33D-482F-EDD5D3C8920B}"/>
              </a:ext>
            </a:extLst>
          </p:cNvPr>
          <p:cNvSpPr txBox="1"/>
          <p:nvPr/>
        </p:nvSpPr>
        <p:spPr>
          <a:xfrm>
            <a:off x="7824192" y="1673216"/>
            <a:ext cx="42826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 smtClean="0">
                <a:solidFill>
                  <a:srgbClr val="EE7202"/>
                </a:solidFill>
              </a:rPr>
              <a:t>Distribution de clefs quantiques</a:t>
            </a:r>
            <a:endParaRPr lang="fr-FR" sz="2000" b="1" dirty="0">
              <a:solidFill>
                <a:srgbClr val="EE7202"/>
              </a:solidFill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2107" y="3964435"/>
            <a:ext cx="7009335" cy="2719517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23" y="1555814"/>
            <a:ext cx="6702921" cy="277192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auto">
          <a:xfrm>
            <a:off x="6806519" y="2089783"/>
            <a:ext cx="4514617" cy="769831"/>
          </a:xfrm>
          <a:prstGeom prst="rect">
            <a:avLst/>
          </a:prstGeom>
          <a:solidFill>
            <a:srgbClr val="FF7F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hangingPunct="0"/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>Amandine </a:t>
            </a: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LAURET, Aurèle MONCEAU, </a:t>
            </a: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/>
            </a:r>
            <a:b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>Enzo GAUTHIER, Julia </a:t>
            </a: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CHETRIT– </a:t>
            </a:r>
            <a:r>
              <a:rPr lang="fr-FR" sz="1200" i="1" dirty="0" err="1" smtClean="0">
                <a:solidFill>
                  <a:schemeClr val="bg1"/>
                </a:solidFill>
                <a:ea typeface="MS PGothic" pitchFamily="34" charset="-128"/>
              </a:rPr>
              <a:t>LEnsE</a:t>
            </a:r>
            <a:r>
              <a:rPr lang="fr-FR" sz="1200" i="1" dirty="0" smtClean="0">
                <a:solidFill>
                  <a:schemeClr val="bg1"/>
                </a:solidFill>
                <a:ea typeface="MS PGothic" pitchFamily="34" charset="-128"/>
              </a:rPr>
              <a:t> 2025-2026</a:t>
            </a: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/>
            </a:r>
            <a:b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>Encadrement : Benjamin </a:t>
            </a:r>
            <a:r>
              <a:rPr lang="fr-FR" sz="1400" dirty="0" err="1" smtClean="0">
                <a:solidFill>
                  <a:schemeClr val="bg1"/>
                </a:solidFill>
                <a:ea typeface="MS PGothic" pitchFamily="34" charset="-128"/>
              </a:rPr>
              <a:t>Vest</a:t>
            </a:r>
            <a:r>
              <a:rPr lang="fr-FR" sz="1400" dirty="0" smtClean="0">
                <a:solidFill>
                  <a:schemeClr val="bg1"/>
                </a:solidFill>
                <a:ea typeface="MS PGothic" pitchFamily="34" charset="-128"/>
              </a:rPr>
              <a:t>, Thierry Avignon</a:t>
            </a:r>
            <a:endParaRPr kumimoji="0" lang="fr-FR" sz="14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000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Dans 3 ans</a:t>
            </a:r>
            <a:r>
              <a:rPr lang="fr-FR" dirty="0" smtClean="0"/>
              <a:t> ?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xmlns="" id="{CC11D752-D3B5-46FE-1253-45B4DC1770A1}"/>
              </a:ext>
            </a:extLst>
          </p:cNvPr>
          <p:cNvSpPr txBox="1"/>
          <p:nvPr/>
        </p:nvSpPr>
        <p:spPr>
          <a:xfrm>
            <a:off x="-240704" y="2001396"/>
            <a:ext cx="22479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Actifs</a:t>
            </a:r>
            <a:r>
              <a:rPr lang="fr-FR" sz="1400" b="0" i="0" dirty="0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et Activ</a:t>
            </a:r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endParaRPr lang="fr-FR" sz="1400" dirty="0"/>
          </a:p>
        </p:txBody>
      </p:sp>
      <p:sp>
        <p:nvSpPr>
          <p:cNvPr id="15" name="Flèche : chevron 7">
            <a:extLst>
              <a:ext uri="{FF2B5EF4-FFF2-40B4-BE49-F238E27FC236}">
                <a16:creationId xmlns:a16="http://schemas.microsoft.com/office/drawing/2014/main" xmlns="" id="{5FCA9762-BD0A-B943-12CC-3CC498AAA5E2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Enquête 2026</a:t>
            </a:r>
            <a:endParaRPr kumimoji="0" lang="fr-FR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xmlns="" id="{D0BFD7B0-A009-0640-A151-7F9FBFFD3DD0}"/>
              </a:ext>
            </a:extLst>
          </p:cNvPr>
          <p:cNvSpPr txBox="1"/>
          <p:nvPr/>
        </p:nvSpPr>
        <p:spPr>
          <a:xfrm>
            <a:off x="3287688" y="2139975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</a:t>
            </a:r>
            <a:r>
              <a:rPr lang="fr-FR" sz="1200" dirty="0" smtClean="0">
                <a:solidFill>
                  <a:srgbClr val="333333"/>
                </a:solidFill>
                <a:latin typeface="Calibri" panose="020F0502020204030204" pitchFamily="34" charset="0"/>
              </a:rPr>
              <a:t>2026</a:t>
            </a:r>
            <a:endParaRPr lang="fr-FR" sz="1200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</a:t>
            </a:r>
            <a:r>
              <a:rPr lang="fr-FR" sz="1200" dirty="0" smtClean="0">
                <a:solidFill>
                  <a:srgbClr val="333333"/>
                </a:solidFill>
                <a:latin typeface="Calibri" panose="020F0502020204030204" pitchFamily="34" charset="0"/>
              </a:rPr>
              <a:t>2025</a:t>
            </a:r>
            <a:endParaRPr lang="fr-FR" sz="12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xmlns="" id="{B2B09F46-3B5A-23B3-21AE-F566686C20A7}"/>
              </a:ext>
            </a:extLst>
          </p:cNvPr>
          <p:cNvSpPr txBox="1"/>
          <p:nvPr/>
        </p:nvSpPr>
        <p:spPr>
          <a:xfrm>
            <a:off x="4727848" y="2120300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</a:t>
            </a:r>
            <a:r>
              <a:rPr lang="fr-FR" sz="1200" dirty="0" smtClean="0">
                <a:solidFill>
                  <a:srgbClr val="333333"/>
                </a:solidFill>
                <a:latin typeface="Calibri" panose="020F0502020204030204" pitchFamily="34" charset="0"/>
              </a:rPr>
              <a:t>2026</a:t>
            </a:r>
            <a:endParaRPr lang="fr-FR" sz="1200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CGE </a:t>
            </a:r>
            <a:r>
              <a:rPr lang="fr-FR" sz="1200" dirty="0" smtClean="0">
                <a:solidFill>
                  <a:srgbClr val="333333"/>
                </a:solidFill>
                <a:latin typeface="Calibri" panose="020F0502020204030204" pitchFamily="34" charset="0"/>
              </a:rPr>
              <a:t>2025</a:t>
            </a:r>
            <a:endParaRPr lang="fr-FR" sz="12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xmlns="" id="{E70FDAB2-C9C3-1275-2807-A9A524A6CC95}"/>
              </a:ext>
            </a:extLst>
          </p:cNvPr>
          <p:cNvSpPr txBox="1"/>
          <p:nvPr/>
        </p:nvSpPr>
        <p:spPr>
          <a:xfrm>
            <a:off x="7085720" y="1556792"/>
            <a:ext cx="27546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Salaires bruts / en France</a:t>
            </a:r>
            <a:endParaRPr lang="fr-FR" sz="1200" dirty="0"/>
          </a:p>
        </p:txBody>
      </p:sp>
      <p:sp>
        <p:nvSpPr>
          <p:cNvPr id="23" name="Rectangle : coins arrondis 16">
            <a:extLst>
              <a:ext uri="{FF2B5EF4-FFF2-40B4-BE49-F238E27FC236}">
                <a16:creationId xmlns:a16="http://schemas.microsoft.com/office/drawing/2014/main" xmlns="" id="{7786C6CC-5E5D-99D7-030D-8B19D232A002}"/>
              </a:ext>
            </a:extLst>
          </p:cNvPr>
          <p:cNvSpPr/>
          <p:nvPr/>
        </p:nvSpPr>
        <p:spPr bwMode="auto">
          <a:xfrm>
            <a:off x="5746762" y="6277530"/>
            <a:ext cx="6188936" cy="463838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0A325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xmlns="" id="{68B1B112-C552-CE94-3C3E-76091C531BEC}"/>
              </a:ext>
            </a:extLst>
          </p:cNvPr>
          <p:cNvSpPr txBox="1"/>
          <p:nvPr/>
        </p:nvSpPr>
        <p:spPr>
          <a:xfrm>
            <a:off x="5770551" y="6309320"/>
            <a:ext cx="6165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altLang="fr-FR" sz="1800" b="1" dirty="0">
                <a:solidFill>
                  <a:srgbClr val="0A3250"/>
                </a:solidFill>
              </a:rPr>
              <a:t>https://l</a:t>
            </a:r>
            <a:r>
              <a:rPr lang="fr-FR" altLang="fr-FR" sz="1800" b="1" dirty="0">
                <a:solidFill>
                  <a:srgbClr val="0A3250"/>
                </a:solidFill>
                <a:ea typeface="ＭＳ Ｐゴシック" panose="020B0600070205080204" pitchFamily="34" charset="-128"/>
              </a:rPr>
              <a:t>ense.institutoptique.fr/insertion</a:t>
            </a:r>
            <a:endParaRPr lang="fr-FR" sz="1800" dirty="0">
              <a:solidFill>
                <a:srgbClr val="0A3250"/>
              </a:solidFill>
            </a:endParaRPr>
          </a:p>
        </p:txBody>
      </p:sp>
      <p:sp>
        <p:nvSpPr>
          <p:cNvPr id="25" name="Flèche : pentagone 23">
            <a:extLst>
              <a:ext uri="{FF2B5EF4-FFF2-40B4-BE49-F238E27FC236}">
                <a16:creationId xmlns:a16="http://schemas.microsoft.com/office/drawing/2014/main" xmlns="" id="{06573829-5AAC-A6F4-248A-547097CC2516}"/>
              </a:ext>
            </a:extLst>
          </p:cNvPr>
          <p:cNvSpPr/>
          <p:nvPr/>
        </p:nvSpPr>
        <p:spPr bwMode="auto">
          <a:xfrm>
            <a:off x="467556" y="6376799"/>
            <a:ext cx="4116275" cy="334891"/>
          </a:xfrm>
          <a:prstGeom prst="homePlate">
            <a:avLst/>
          </a:prstGeom>
          <a:solidFill>
            <a:srgbClr val="0A32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Votre devenir professionnel nous intéresse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707" y="2590388"/>
            <a:ext cx="5191961" cy="3489935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5720" y="4490478"/>
            <a:ext cx="4849978" cy="1535827"/>
          </a:xfrm>
          <a:prstGeom prst="rect">
            <a:avLst/>
          </a:prstGeom>
        </p:spPr>
      </p:pic>
      <p:pic>
        <p:nvPicPr>
          <p:cNvPr id="27" name="Image 2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5720" y="1848148"/>
            <a:ext cx="4894252" cy="2042366"/>
          </a:xfrm>
          <a:prstGeom prst="rect">
            <a:avLst/>
          </a:prstGeom>
        </p:spPr>
      </p:pic>
      <p:pic>
        <p:nvPicPr>
          <p:cNvPr id="28" name="Picture 2" descr="upright=Article à illustrer Organisation">
            <a:extLst>
              <a:ext uri="{FF2B5EF4-FFF2-40B4-BE49-F238E27FC236}">
                <a16:creationId xmlns:a16="http://schemas.microsoft.com/office/drawing/2014/main" xmlns="" id="{DF805CC7-701F-73D6-89BE-D1F95FBA7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1932" y="1596867"/>
            <a:ext cx="1224600" cy="406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Flèche : pentagone 23">
            <a:extLst>
              <a:ext uri="{FF2B5EF4-FFF2-40B4-BE49-F238E27FC236}">
                <a16:creationId xmlns:a16="http://schemas.microsoft.com/office/drawing/2014/main" xmlns="" id="{06573829-5AAC-A6F4-248A-547097CC2516}"/>
              </a:ext>
            </a:extLst>
          </p:cNvPr>
          <p:cNvSpPr/>
          <p:nvPr/>
        </p:nvSpPr>
        <p:spPr bwMode="auto">
          <a:xfrm>
            <a:off x="8646711" y="3976592"/>
            <a:ext cx="3271931" cy="330294"/>
          </a:xfrm>
          <a:prstGeom prst="homePlate">
            <a:avLst/>
          </a:prstGeom>
          <a:solidFill>
            <a:schemeClr val="bg2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i="1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Quelques</a:t>
            </a:r>
            <a:r>
              <a:rPr kumimoji="0" lang="fr-FR" sz="1200" i="1" u="none" strike="noStrike" cap="none" normalizeH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 postes dans la fonction publique</a:t>
            </a:r>
            <a:endParaRPr kumimoji="0" lang="fr-FR" sz="1200" i="1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3686429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Dans 5 ans ?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48" y="1700845"/>
            <a:ext cx="4095750" cy="40576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79376" y="6335235"/>
            <a:ext cx="19030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400" dirty="0" err="1" smtClean="0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1240" y="3860680"/>
            <a:ext cx="1187738" cy="40539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489" y="5946212"/>
            <a:ext cx="1522859" cy="330678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8495" y="1879144"/>
            <a:ext cx="1657350" cy="533400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3655" y="2561002"/>
            <a:ext cx="1270298" cy="348923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5007" y="4303449"/>
            <a:ext cx="507576" cy="481208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5519" y="2894265"/>
            <a:ext cx="1312841" cy="412959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94041" y="2495158"/>
            <a:ext cx="1719844" cy="340189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1543" y="2150607"/>
            <a:ext cx="1538285" cy="261937"/>
          </a:xfrm>
          <a:prstGeom prst="rect">
            <a:avLst/>
          </a:prstGeom>
        </p:spPr>
      </p:pic>
      <p:pic>
        <p:nvPicPr>
          <p:cNvPr id="23" name="Image 2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88723" y="3033915"/>
            <a:ext cx="1443608" cy="355889"/>
          </a:xfrm>
          <a:prstGeom prst="rect">
            <a:avLst/>
          </a:prstGeom>
        </p:spPr>
      </p:pic>
      <p:pic>
        <p:nvPicPr>
          <p:cNvPr id="24" name="Imag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87188" y="4797897"/>
            <a:ext cx="834168" cy="551628"/>
          </a:xfrm>
          <a:prstGeom prst="rect">
            <a:avLst/>
          </a:prstGeom>
        </p:spPr>
      </p:pic>
      <p:pic>
        <p:nvPicPr>
          <p:cNvPr id="25" name="Imag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8951" y="4739854"/>
            <a:ext cx="1270298" cy="26043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40941" y="5073711"/>
            <a:ext cx="1177278" cy="302729"/>
          </a:xfrm>
          <a:prstGeom prst="rect">
            <a:avLst/>
          </a:prstGeom>
        </p:spPr>
      </p:pic>
      <p:pic>
        <p:nvPicPr>
          <p:cNvPr id="27" name="Image 2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9899" y="4615952"/>
            <a:ext cx="1408461" cy="449509"/>
          </a:xfrm>
          <a:prstGeom prst="rect">
            <a:avLst/>
          </a:prstGeom>
        </p:spPr>
      </p:pic>
      <p:pic>
        <p:nvPicPr>
          <p:cNvPr id="28" name="Image 2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46932" y="3584230"/>
            <a:ext cx="1257692" cy="240359"/>
          </a:xfrm>
          <a:prstGeom prst="rect">
            <a:avLst/>
          </a:prstGeom>
        </p:spPr>
      </p:pic>
      <p:pic>
        <p:nvPicPr>
          <p:cNvPr id="29" name="Image 2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44288" y="4181584"/>
            <a:ext cx="1628775" cy="400050"/>
          </a:xfrm>
          <a:prstGeom prst="rect">
            <a:avLst/>
          </a:prstGeom>
        </p:spPr>
      </p:pic>
      <p:pic>
        <p:nvPicPr>
          <p:cNvPr id="30" name="Image 2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00456" y="5458642"/>
            <a:ext cx="831700" cy="430390"/>
          </a:xfrm>
          <a:prstGeom prst="rect">
            <a:avLst/>
          </a:prstGeom>
        </p:spPr>
      </p:pic>
      <p:pic>
        <p:nvPicPr>
          <p:cNvPr id="31" name="Image 3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87188" y="3002761"/>
            <a:ext cx="1132880" cy="322037"/>
          </a:xfrm>
          <a:prstGeom prst="rect">
            <a:avLst/>
          </a:prstGeom>
        </p:spPr>
      </p:pic>
      <p:pic>
        <p:nvPicPr>
          <p:cNvPr id="32" name="Image 31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81264" y="2567354"/>
            <a:ext cx="1212527" cy="379338"/>
          </a:xfrm>
          <a:prstGeom prst="rect">
            <a:avLst/>
          </a:prstGeom>
        </p:spPr>
      </p:pic>
      <p:pic>
        <p:nvPicPr>
          <p:cNvPr id="33" name="Image 32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822139" y="3349826"/>
            <a:ext cx="1905000" cy="428625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726396" y="6274640"/>
            <a:ext cx="1309687" cy="338137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025845" y="5521441"/>
            <a:ext cx="1243781" cy="479937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117609" y="6289332"/>
            <a:ext cx="941148" cy="353680"/>
          </a:xfrm>
          <a:prstGeom prst="rect">
            <a:avLst/>
          </a:prstGeom>
        </p:spPr>
      </p:pic>
      <p:pic>
        <p:nvPicPr>
          <p:cNvPr id="37" name="Image 36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098255" y="6245896"/>
            <a:ext cx="485577" cy="464617"/>
          </a:xfrm>
          <a:prstGeom prst="rect">
            <a:avLst/>
          </a:prstGeom>
        </p:spPr>
      </p:pic>
      <p:pic>
        <p:nvPicPr>
          <p:cNvPr id="38" name="Image 37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253628" y="6173294"/>
            <a:ext cx="499492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837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Formation à </a:t>
            </a:r>
            <a:r>
              <a:rPr lang="fr-FR" dirty="0" err="1" smtClean="0"/>
              <a:t>SupOptique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xmlns="" id="{AB528C9B-3D07-DE1F-E31C-1BB771FDF4E0}"/>
              </a:ext>
            </a:extLst>
          </p:cNvPr>
          <p:cNvSpPr txBox="1"/>
          <p:nvPr/>
        </p:nvSpPr>
        <p:spPr>
          <a:xfrm>
            <a:off x="7896200" y="6165304"/>
            <a:ext cx="40204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u="sng" dirty="0">
                <a:effectLst/>
                <a:hlinkClick r:id="rId4"/>
              </a:rPr>
              <a:t>https://tinyurl.com/APC-IOGS</a:t>
            </a:r>
            <a:endParaRPr lang="fr-FR" sz="2000" b="1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xmlns="" id="{3AE92E1F-4E48-1401-5722-E407894C2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7289" y="3054646"/>
            <a:ext cx="2194010" cy="2194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xmlns="" id="{6D2883B5-1155-D3A2-65BB-C9C9D21E4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7488" y="2564904"/>
            <a:ext cx="5758085" cy="3473808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xmlns="" id="{778BB9FF-8E3B-C33D-482F-EDD5D3C8920B}"/>
              </a:ext>
            </a:extLst>
          </p:cNvPr>
          <p:cNvSpPr txBox="1"/>
          <p:nvPr/>
        </p:nvSpPr>
        <p:spPr>
          <a:xfrm>
            <a:off x="7608168" y="1673216"/>
            <a:ext cx="44987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 smtClean="0">
                <a:solidFill>
                  <a:srgbClr val="EE7202"/>
                </a:solidFill>
              </a:rPr>
              <a:t>Approche par compétences / APC</a:t>
            </a:r>
            <a:endParaRPr lang="fr-FR" sz="2000" b="1" dirty="0">
              <a:solidFill>
                <a:srgbClr val="EE72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248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Etre </a:t>
            </a:r>
            <a:r>
              <a:rPr lang="fr-FR" dirty="0" err="1" smtClean="0"/>
              <a:t>ingénieur.e</a:t>
            </a:r>
            <a:r>
              <a:rPr lang="fr-FR" dirty="0" smtClean="0"/>
              <a:t> aujourd’hui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08775" y="5517232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dirty="0"/>
              <a:t>Mais votre véritable compétence d'ingénieur sera surtout de pouvoir apprendre ce qui n'existe pas encore aujourd'hui.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3760" y="3789040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dirty="0"/>
              <a:t>Etre capable d’évoluer</a:t>
            </a:r>
          </a:p>
          <a:p>
            <a:r>
              <a:rPr lang="fr-FR" dirty="0"/>
              <a:t>Connecter des disciplines</a:t>
            </a:r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2451098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err="1" smtClean="0"/>
              <a:t>Opto-Electronique</a:t>
            </a:r>
            <a:r>
              <a:rPr lang="fr-FR" sz="1200" dirty="0" smtClean="0"/>
              <a:t/>
            </a:r>
            <a:br>
              <a:rPr lang="fr-FR" sz="1200" dirty="0" smtClean="0"/>
            </a:br>
            <a:r>
              <a:rPr lang="fr-FR" sz="1200" dirty="0" smtClean="0"/>
              <a:t/>
            </a:r>
            <a:br>
              <a:rPr lang="fr-FR" sz="1200" dirty="0" smtClean="0"/>
            </a:br>
            <a:r>
              <a:rPr lang="fr-FR" dirty="0" smtClean="0"/>
              <a:t>Interfaçage Numérique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 smtClean="0"/>
              <a:t>Photons-Electrons / Traitement du signal</a:t>
            </a:r>
          </a:p>
          <a:p>
            <a:r>
              <a:rPr lang="fr-FR" sz="2000" dirty="0" smtClean="0"/>
              <a:t>Acquisition de données / Images</a:t>
            </a:r>
            <a:endParaRPr lang="fr-FR" sz="2000" dirty="0"/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xmlns="" id="{51EC4A98-337F-88F8-43D4-D7C44BD106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357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Photonique : un mélange de compétences techniques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 smtClean="0">
                <a:solidFill>
                  <a:srgbClr val="CC7604"/>
                </a:solidFill>
                <a:latin typeface="IBM Plex Sans"/>
              </a:rPr>
              <a:t>Opto-Electronique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6975" y="2060848"/>
            <a:ext cx="3781425" cy="39814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79376" y="6335235"/>
            <a:ext cx="19030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400" dirty="0" err="1" smtClean="0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622" y="1906859"/>
            <a:ext cx="2909585" cy="2144714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9415" y="4898962"/>
            <a:ext cx="1628463" cy="1460001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2054" y="4404387"/>
            <a:ext cx="3434004" cy="14200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auto">
          <a:xfrm>
            <a:off x="6059996" y="4404387"/>
            <a:ext cx="1800200" cy="151216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82384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err="1" smtClean="0"/>
              <a:t>Photodétection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xmlns="" id="{3C815C94-B302-5897-2B24-6006B9371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54" y="3887991"/>
            <a:ext cx="1392915" cy="194119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xmlns="" id="{1A9E6D40-A80D-F8D7-19A3-20BF0A05CA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6726" y="2076857"/>
            <a:ext cx="4642427" cy="41977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xmlns="" id="{2356DD07-CF70-6C82-FD2A-ADEE9A053C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2863" y="2710395"/>
            <a:ext cx="4911868" cy="2538072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xmlns="" id="{0C7C9FDE-6C4D-8B93-67D3-0CD12C9BE2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1976" y="4677652"/>
            <a:ext cx="2118965" cy="702142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xmlns="" id="{F4448BC6-7D1A-A4FA-CE44-0D6C3A9796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9982" y="5663410"/>
            <a:ext cx="2876951" cy="5144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 smtClean="0">
                <a:solidFill>
                  <a:srgbClr val="CC7604"/>
                </a:solidFill>
                <a:latin typeface="IBM Plex Sans"/>
              </a:rPr>
              <a:t>Opto-Electronique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1765507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Image 97">
            <a:extLst>
              <a:ext uri="{FF2B5EF4-FFF2-40B4-BE49-F238E27FC236}">
                <a16:creationId xmlns:a16="http://schemas.microsoft.com/office/drawing/2014/main" xmlns="" id="{4D1F7B9A-9547-ACD2-61CB-2305C0784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167" y="3121725"/>
            <a:ext cx="4376161" cy="180306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 bwMode="auto">
          <a:xfrm>
            <a:off x="6215188" y="3021127"/>
            <a:ext cx="1596446" cy="201967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Caméra CMOS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 smtClean="0">
                <a:solidFill>
                  <a:srgbClr val="CC7604"/>
                </a:solidFill>
                <a:latin typeface="IBM Plex Sans"/>
              </a:rPr>
              <a:t>Opto-Electronique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xmlns="" id="{5B31563C-CDB7-5214-5A0D-C2955E1ED8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542" y="3861048"/>
            <a:ext cx="2035329" cy="1613725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xmlns="" id="{11AEFE9E-318E-F41C-9821-A3F9EB3EAB48}"/>
              </a:ext>
            </a:extLst>
          </p:cNvPr>
          <p:cNvSpPr txBox="1"/>
          <p:nvPr/>
        </p:nvSpPr>
        <p:spPr>
          <a:xfrm>
            <a:off x="1026481" y="5441293"/>
            <a:ext cx="1967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0" i="0" u="none" strike="noStrike" baseline="0" dirty="0">
                <a:latin typeface="ArialUnicodeMS"/>
              </a:rPr>
              <a:t>e2v </a:t>
            </a:r>
            <a:r>
              <a:rPr lang="fr-FR" sz="1000" b="0" i="0" u="none" strike="noStrike" baseline="0" dirty="0" err="1">
                <a:latin typeface="ArialUnicodeMS"/>
              </a:rPr>
              <a:t>sensor</a:t>
            </a:r>
            <a:r>
              <a:rPr lang="fr-FR" sz="1000" b="0" i="0" u="none" strike="noStrike" baseline="0" dirty="0">
                <a:latin typeface="ArialUnicodeMS"/>
              </a:rPr>
              <a:t> EV76C560ACT</a:t>
            </a:r>
            <a:endParaRPr lang="fr-FR" sz="24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xmlns="" id="{A0BC006A-F241-AF71-67A2-597100ABAF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826" y="1610790"/>
            <a:ext cx="1883381" cy="1883381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xmlns="" id="{6BDDD54F-26D0-1271-3B93-684129B94566}"/>
              </a:ext>
            </a:extLst>
          </p:cNvPr>
          <p:cNvSpPr txBox="1"/>
          <p:nvPr/>
        </p:nvSpPr>
        <p:spPr>
          <a:xfrm>
            <a:off x="448869" y="3494171"/>
            <a:ext cx="15613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0" u="none" strike="noStrike" baseline="0" dirty="0">
                <a:latin typeface="ArialUnicodeMS"/>
              </a:rPr>
              <a:t>IDS UI-1240SE-C-HQ</a:t>
            </a:r>
            <a:endParaRPr lang="fr-FR" sz="11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35FBC6F2-867B-A610-DF62-4D4BCAC5BBBB}"/>
              </a:ext>
            </a:extLst>
          </p:cNvPr>
          <p:cNvSpPr>
            <a:spLocks/>
          </p:cNvSpPr>
          <p:nvPr/>
        </p:nvSpPr>
        <p:spPr>
          <a:xfrm>
            <a:off x="4468864" y="5229200"/>
            <a:ext cx="7271915" cy="134380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xmlns="" id="{DCFEABAD-C542-32BA-8D50-1230F7489B73}"/>
              </a:ext>
            </a:extLst>
          </p:cNvPr>
          <p:cNvSpPr/>
          <p:nvPr/>
        </p:nvSpPr>
        <p:spPr>
          <a:xfrm>
            <a:off x="5446770" y="5502560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Sensor</a:t>
            </a:r>
            <a:endParaRPr lang="fr-FR" dirty="0"/>
          </a:p>
          <a:p>
            <a:pPr algn="ctr"/>
            <a:r>
              <a:rPr lang="fr-FR" sz="1050" dirty="0"/>
              <a:t>Photodiode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xmlns="" id="{49382B12-8B89-86FD-0A7C-B5783C4F4830}"/>
              </a:ext>
            </a:extLst>
          </p:cNvPr>
          <p:cNvCxnSpPr>
            <a:cxnSpLocks/>
          </p:cNvCxnSpPr>
          <p:nvPr/>
        </p:nvCxnSpPr>
        <p:spPr>
          <a:xfrm>
            <a:off x="4938517" y="5843880"/>
            <a:ext cx="464338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xmlns="" id="{7A605A14-AB7C-7961-A60C-479050FB31FD}"/>
              </a:ext>
            </a:extLst>
          </p:cNvPr>
          <p:cNvSpPr txBox="1"/>
          <p:nvPr/>
        </p:nvSpPr>
        <p:spPr>
          <a:xfrm>
            <a:off x="4474179" y="5363014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Light flux</a:t>
            </a: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xmlns="" id="{0E6ADF37-4E55-DDD9-2B7D-2EEDEEED609E}"/>
              </a:ext>
            </a:extLst>
          </p:cNvPr>
          <p:cNvCxnSpPr>
            <a:cxnSpLocks/>
          </p:cNvCxnSpPr>
          <p:nvPr/>
        </p:nvCxnSpPr>
        <p:spPr>
          <a:xfrm>
            <a:off x="6526525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xmlns="" id="{6D784A0F-3CDE-5360-F88A-2FD58D64A694}"/>
              </a:ext>
            </a:extLst>
          </p:cNvPr>
          <p:cNvSpPr txBox="1"/>
          <p:nvPr/>
        </p:nvSpPr>
        <p:spPr>
          <a:xfrm>
            <a:off x="6439588" y="5377269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F5DCA128-977B-8784-075C-2608A1B02A42}"/>
              </a:ext>
            </a:extLst>
          </p:cNvPr>
          <p:cNvSpPr/>
          <p:nvPr/>
        </p:nvSpPr>
        <p:spPr>
          <a:xfrm>
            <a:off x="7417991" y="5503145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 err="1"/>
              <a:t>Capacitor</a:t>
            </a:r>
            <a:endParaRPr lang="fr-FR" sz="800" dirty="0"/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xmlns="" id="{2A33B03D-BE1B-DD70-035E-517245701CB9}"/>
              </a:ext>
            </a:extLst>
          </p:cNvPr>
          <p:cNvCxnSpPr>
            <a:cxnSpLocks/>
          </p:cNvCxnSpPr>
          <p:nvPr/>
        </p:nvCxnSpPr>
        <p:spPr>
          <a:xfrm>
            <a:off x="8489437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ZoneTexte 32">
            <a:extLst>
              <a:ext uri="{FF2B5EF4-FFF2-40B4-BE49-F238E27FC236}">
                <a16:creationId xmlns:a16="http://schemas.microsoft.com/office/drawing/2014/main" xmlns="" id="{65F72A59-53B2-5584-77DD-A343C32D1D3F}"/>
              </a:ext>
            </a:extLst>
          </p:cNvPr>
          <p:cNvSpPr txBox="1"/>
          <p:nvPr/>
        </p:nvSpPr>
        <p:spPr>
          <a:xfrm>
            <a:off x="8404997" y="5402668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Voltage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xmlns="" id="{D2248C7F-2463-2D4A-DDAF-3856E8354CCD}"/>
              </a:ext>
            </a:extLst>
          </p:cNvPr>
          <p:cNvSpPr>
            <a:spLocks/>
          </p:cNvSpPr>
          <p:nvPr/>
        </p:nvSpPr>
        <p:spPr>
          <a:xfrm>
            <a:off x="4868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xmlns="" id="{240EC528-124A-90C7-1C0A-7EE2F7F7A3CA}"/>
              </a:ext>
            </a:extLst>
          </p:cNvPr>
          <p:cNvSpPr>
            <a:spLocks/>
          </p:cNvSpPr>
          <p:nvPr/>
        </p:nvSpPr>
        <p:spPr>
          <a:xfrm>
            <a:off x="5084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5F635BA8-CCEC-5BCA-8675-5C0338AEE21D}"/>
              </a:ext>
            </a:extLst>
          </p:cNvPr>
          <p:cNvSpPr>
            <a:spLocks/>
          </p:cNvSpPr>
          <p:nvPr/>
        </p:nvSpPr>
        <p:spPr>
          <a:xfrm>
            <a:off x="5300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xmlns="" id="{3F08051D-0D3C-C612-4555-2CAC741991F4}"/>
              </a:ext>
            </a:extLst>
          </p:cNvPr>
          <p:cNvSpPr>
            <a:spLocks/>
          </p:cNvSpPr>
          <p:nvPr/>
        </p:nvSpPr>
        <p:spPr>
          <a:xfrm>
            <a:off x="5516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A0642C4A-BF6F-1318-6708-4F233F14EC39}"/>
              </a:ext>
            </a:extLst>
          </p:cNvPr>
          <p:cNvSpPr>
            <a:spLocks/>
          </p:cNvSpPr>
          <p:nvPr/>
        </p:nvSpPr>
        <p:spPr>
          <a:xfrm>
            <a:off x="5732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xmlns="" id="{DC99DC2F-0368-27E9-6D87-C90F866D2543}"/>
              </a:ext>
            </a:extLst>
          </p:cNvPr>
          <p:cNvSpPr>
            <a:spLocks/>
          </p:cNvSpPr>
          <p:nvPr/>
        </p:nvSpPr>
        <p:spPr>
          <a:xfrm>
            <a:off x="5948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xmlns="" id="{A1C7864E-2B4A-3343-1383-290F1BBC25FE}"/>
              </a:ext>
            </a:extLst>
          </p:cNvPr>
          <p:cNvSpPr>
            <a:spLocks/>
          </p:cNvSpPr>
          <p:nvPr/>
        </p:nvSpPr>
        <p:spPr>
          <a:xfrm>
            <a:off x="4868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xmlns="" id="{B1843610-2AC4-267A-F58C-7F6DB9394F38}"/>
              </a:ext>
            </a:extLst>
          </p:cNvPr>
          <p:cNvSpPr>
            <a:spLocks/>
          </p:cNvSpPr>
          <p:nvPr/>
        </p:nvSpPr>
        <p:spPr>
          <a:xfrm>
            <a:off x="5300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xmlns="" id="{0890F8CD-4EF2-1468-096A-63598C7CD5CC}"/>
              </a:ext>
            </a:extLst>
          </p:cNvPr>
          <p:cNvSpPr>
            <a:spLocks/>
          </p:cNvSpPr>
          <p:nvPr/>
        </p:nvSpPr>
        <p:spPr>
          <a:xfrm>
            <a:off x="5516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62648264-A763-B47B-E4E0-769C9BB26B86}"/>
              </a:ext>
            </a:extLst>
          </p:cNvPr>
          <p:cNvSpPr>
            <a:spLocks/>
          </p:cNvSpPr>
          <p:nvPr/>
        </p:nvSpPr>
        <p:spPr>
          <a:xfrm>
            <a:off x="5732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xmlns="" id="{A223775B-9C80-E5F2-8326-5FC33BD0A0B9}"/>
              </a:ext>
            </a:extLst>
          </p:cNvPr>
          <p:cNvSpPr>
            <a:spLocks/>
          </p:cNvSpPr>
          <p:nvPr/>
        </p:nvSpPr>
        <p:spPr>
          <a:xfrm>
            <a:off x="5948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xmlns="" id="{781DA8F8-87F7-69CE-0B9A-D7231D367469}"/>
              </a:ext>
            </a:extLst>
          </p:cNvPr>
          <p:cNvSpPr>
            <a:spLocks/>
          </p:cNvSpPr>
          <p:nvPr/>
        </p:nvSpPr>
        <p:spPr>
          <a:xfrm>
            <a:off x="4868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xmlns="" id="{F01CD845-9B90-0439-F44E-53AE35260F1B}"/>
              </a:ext>
            </a:extLst>
          </p:cNvPr>
          <p:cNvSpPr>
            <a:spLocks/>
          </p:cNvSpPr>
          <p:nvPr/>
        </p:nvSpPr>
        <p:spPr>
          <a:xfrm>
            <a:off x="5084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xmlns="" id="{CC5E0FF1-E3E5-D86A-8545-C62C2A94C0A6}"/>
              </a:ext>
            </a:extLst>
          </p:cNvPr>
          <p:cNvSpPr>
            <a:spLocks/>
          </p:cNvSpPr>
          <p:nvPr/>
        </p:nvSpPr>
        <p:spPr>
          <a:xfrm>
            <a:off x="5300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xmlns="" id="{CC687654-6D4F-FB9B-80E0-A1249FDF24A3}"/>
              </a:ext>
            </a:extLst>
          </p:cNvPr>
          <p:cNvSpPr>
            <a:spLocks/>
          </p:cNvSpPr>
          <p:nvPr/>
        </p:nvSpPr>
        <p:spPr>
          <a:xfrm>
            <a:off x="5516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xmlns="" id="{B599DB01-7F10-0E7B-962B-54A47E56CD6F}"/>
              </a:ext>
            </a:extLst>
          </p:cNvPr>
          <p:cNvSpPr>
            <a:spLocks/>
          </p:cNvSpPr>
          <p:nvPr/>
        </p:nvSpPr>
        <p:spPr>
          <a:xfrm>
            <a:off x="5732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xmlns="" id="{7B586DC5-6572-D30E-A24E-FA2A617B1DFE}"/>
              </a:ext>
            </a:extLst>
          </p:cNvPr>
          <p:cNvSpPr>
            <a:spLocks/>
          </p:cNvSpPr>
          <p:nvPr/>
        </p:nvSpPr>
        <p:spPr>
          <a:xfrm>
            <a:off x="5948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xmlns="" id="{C1A9829E-FCC6-E29E-E818-998B38E6D319}"/>
              </a:ext>
            </a:extLst>
          </p:cNvPr>
          <p:cNvSpPr>
            <a:spLocks/>
          </p:cNvSpPr>
          <p:nvPr/>
        </p:nvSpPr>
        <p:spPr>
          <a:xfrm>
            <a:off x="4868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xmlns="" id="{96AC27C9-B6B7-A2BA-B4D6-AA9CA7642A96}"/>
              </a:ext>
            </a:extLst>
          </p:cNvPr>
          <p:cNvSpPr>
            <a:spLocks/>
          </p:cNvSpPr>
          <p:nvPr/>
        </p:nvSpPr>
        <p:spPr>
          <a:xfrm>
            <a:off x="5084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xmlns="" id="{310178AF-5899-1375-E35B-AE5862225454}"/>
              </a:ext>
            </a:extLst>
          </p:cNvPr>
          <p:cNvSpPr>
            <a:spLocks/>
          </p:cNvSpPr>
          <p:nvPr/>
        </p:nvSpPr>
        <p:spPr>
          <a:xfrm>
            <a:off x="5300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xmlns="" id="{1B9BD961-EA4D-4E1B-F7D1-6C95919D0558}"/>
              </a:ext>
            </a:extLst>
          </p:cNvPr>
          <p:cNvSpPr>
            <a:spLocks/>
          </p:cNvSpPr>
          <p:nvPr/>
        </p:nvSpPr>
        <p:spPr>
          <a:xfrm>
            <a:off x="5516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xmlns="" id="{BB5BC200-E364-6708-AE98-3EFD663F1EA6}"/>
              </a:ext>
            </a:extLst>
          </p:cNvPr>
          <p:cNvSpPr>
            <a:spLocks/>
          </p:cNvSpPr>
          <p:nvPr/>
        </p:nvSpPr>
        <p:spPr>
          <a:xfrm>
            <a:off x="5732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xmlns="" id="{7C2201BC-9EAD-4EF9-AE3C-AE8F0EE72C60}"/>
              </a:ext>
            </a:extLst>
          </p:cNvPr>
          <p:cNvSpPr>
            <a:spLocks/>
          </p:cNvSpPr>
          <p:nvPr/>
        </p:nvSpPr>
        <p:spPr>
          <a:xfrm>
            <a:off x="5948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xmlns="" id="{F8EA169B-32EC-7278-E79F-37CF736B8855}"/>
              </a:ext>
            </a:extLst>
          </p:cNvPr>
          <p:cNvSpPr txBox="1"/>
          <p:nvPr/>
        </p:nvSpPr>
        <p:spPr>
          <a:xfrm>
            <a:off x="4867934" y="1623751"/>
            <a:ext cx="7938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Columns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xmlns="" id="{22F9EE2B-1D1D-B13B-95E3-94802746E325}"/>
              </a:ext>
            </a:extLst>
          </p:cNvPr>
          <p:cNvSpPr txBox="1"/>
          <p:nvPr/>
        </p:nvSpPr>
        <p:spPr>
          <a:xfrm rot="16200000">
            <a:off x="4397328" y="2251403"/>
            <a:ext cx="546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Rows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xmlns="" id="{99EF07F7-3117-D2A2-FBDC-CA1E3CC88E5F}"/>
              </a:ext>
            </a:extLst>
          </p:cNvPr>
          <p:cNvSpPr>
            <a:spLocks/>
          </p:cNvSpPr>
          <p:nvPr/>
        </p:nvSpPr>
        <p:spPr>
          <a:xfrm>
            <a:off x="5084571" y="2180686"/>
            <a:ext cx="216000" cy="2160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Flèche : droite 52">
            <a:extLst>
              <a:ext uri="{FF2B5EF4-FFF2-40B4-BE49-F238E27FC236}">
                <a16:creationId xmlns:a16="http://schemas.microsoft.com/office/drawing/2014/main" xmlns="" id="{29A15D34-4937-54F9-5982-64F3D587B886}"/>
              </a:ext>
            </a:extLst>
          </p:cNvPr>
          <p:cNvSpPr/>
          <p:nvPr/>
        </p:nvSpPr>
        <p:spPr>
          <a:xfrm rot="19072839">
            <a:off x="4749957" y="6157530"/>
            <a:ext cx="438912" cy="306666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Flèche : droite 53">
            <a:extLst>
              <a:ext uri="{FF2B5EF4-FFF2-40B4-BE49-F238E27FC236}">
                <a16:creationId xmlns:a16="http://schemas.microsoft.com/office/drawing/2014/main" xmlns="" id="{4D7DE774-F3DD-7BA1-6409-11D6037B642C}"/>
              </a:ext>
            </a:extLst>
          </p:cNvPr>
          <p:cNvSpPr/>
          <p:nvPr/>
        </p:nvSpPr>
        <p:spPr>
          <a:xfrm rot="19072839">
            <a:off x="6681564" y="6157529"/>
            <a:ext cx="438912" cy="30666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xmlns="" id="{73EF1281-88A9-9BF1-1AD4-6474E8F6986B}"/>
              </a:ext>
            </a:extLst>
          </p:cNvPr>
          <p:cNvSpPr/>
          <p:nvPr/>
        </p:nvSpPr>
        <p:spPr>
          <a:xfrm>
            <a:off x="9393331" y="5502559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ADC</a:t>
            </a:r>
            <a:endParaRPr lang="fr-FR" sz="900" dirty="0"/>
          </a:p>
        </p:txBody>
      </p: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xmlns="" id="{B8E6A1D8-1FFC-CD8F-9F50-8B9E4098087C}"/>
              </a:ext>
            </a:extLst>
          </p:cNvPr>
          <p:cNvCxnSpPr>
            <a:cxnSpLocks/>
          </p:cNvCxnSpPr>
          <p:nvPr/>
        </p:nvCxnSpPr>
        <p:spPr>
          <a:xfrm>
            <a:off x="10459973" y="5843878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xmlns="" id="{395D5F1A-BAC1-9551-A73B-2A9B33CB0BDD}"/>
              </a:ext>
            </a:extLst>
          </p:cNvPr>
          <p:cNvSpPr txBox="1"/>
          <p:nvPr/>
        </p:nvSpPr>
        <p:spPr>
          <a:xfrm>
            <a:off x="10427791" y="5402667"/>
            <a:ext cx="13129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Digital Value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xmlns="" id="{1EBA7F40-6373-C422-C18E-B59215258573}"/>
              </a:ext>
            </a:extLst>
          </p:cNvPr>
          <p:cNvCxnSpPr>
            <a:cxnSpLocks/>
          </p:cNvCxnSpPr>
          <p:nvPr/>
        </p:nvCxnSpPr>
        <p:spPr>
          <a:xfrm flipV="1">
            <a:off x="7110317" y="3212976"/>
            <a:ext cx="0" cy="17103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xmlns="" id="{CC775FD5-46E3-DD02-14AD-ABC28ACE9744}"/>
              </a:ext>
            </a:extLst>
          </p:cNvPr>
          <p:cNvCxnSpPr>
            <a:cxnSpLocks/>
          </p:cNvCxnSpPr>
          <p:nvPr/>
        </p:nvCxnSpPr>
        <p:spPr>
          <a:xfrm>
            <a:off x="6945083" y="4771801"/>
            <a:ext cx="435662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xmlns="" id="{CDAC3B2A-EA6A-8A83-F932-6630B846792C}"/>
              </a:ext>
            </a:extLst>
          </p:cNvPr>
          <p:cNvCxnSpPr>
            <a:cxnSpLocks/>
          </p:cNvCxnSpPr>
          <p:nvPr/>
        </p:nvCxnSpPr>
        <p:spPr>
          <a:xfrm flipV="1">
            <a:off x="7347137" y="4200338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xmlns="" id="{317E0804-063B-F0BB-14B7-23E2819C17D5}"/>
              </a:ext>
            </a:extLst>
          </p:cNvPr>
          <p:cNvCxnSpPr>
            <a:cxnSpLocks/>
          </p:cNvCxnSpPr>
          <p:nvPr/>
        </p:nvCxnSpPr>
        <p:spPr>
          <a:xfrm flipH="1">
            <a:off x="7368264" y="4866122"/>
            <a:ext cx="743878" cy="0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xmlns="" id="{8D1A6B09-6ED1-6D8A-823B-A52541693A4D}"/>
              </a:ext>
            </a:extLst>
          </p:cNvPr>
          <p:cNvCxnSpPr>
            <a:cxnSpLocks/>
          </p:cNvCxnSpPr>
          <p:nvPr/>
        </p:nvCxnSpPr>
        <p:spPr>
          <a:xfrm flipH="1">
            <a:off x="7337766" y="352004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xmlns="" id="{85E32139-1604-E2F8-8DBA-5D5E0094C423}"/>
              </a:ext>
            </a:extLst>
          </p:cNvPr>
          <p:cNvCxnSpPr>
            <a:cxnSpLocks/>
          </p:cNvCxnSpPr>
          <p:nvPr/>
        </p:nvCxnSpPr>
        <p:spPr>
          <a:xfrm flipH="1">
            <a:off x="8127670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xmlns="" id="{22AEAA9E-4D6D-6E88-84B4-F04BD7B66DA6}"/>
              </a:ext>
            </a:extLst>
          </p:cNvPr>
          <p:cNvCxnSpPr>
            <a:cxnSpLocks/>
          </p:cNvCxnSpPr>
          <p:nvPr/>
        </p:nvCxnSpPr>
        <p:spPr>
          <a:xfrm>
            <a:off x="8123184" y="4200338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lèche : droite 124">
            <a:extLst>
              <a:ext uri="{FF2B5EF4-FFF2-40B4-BE49-F238E27FC236}">
                <a16:creationId xmlns:a16="http://schemas.microsoft.com/office/drawing/2014/main" xmlns="" id="{FF46D7AC-545F-8371-971A-EC2ADC7113F8}"/>
              </a:ext>
            </a:extLst>
          </p:cNvPr>
          <p:cNvSpPr/>
          <p:nvPr/>
        </p:nvSpPr>
        <p:spPr>
          <a:xfrm rot="19072839">
            <a:off x="8542274" y="6166317"/>
            <a:ext cx="438912" cy="306666"/>
          </a:xfrm>
          <a:prstGeom prst="rightArrow">
            <a:avLst/>
          </a:prstGeom>
          <a:solidFill>
            <a:srgbClr val="FA96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3" name="Connecteur droit 72">
            <a:extLst>
              <a:ext uri="{FF2B5EF4-FFF2-40B4-BE49-F238E27FC236}">
                <a16:creationId xmlns:a16="http://schemas.microsoft.com/office/drawing/2014/main" xmlns="" id="{2807DE80-7499-0B81-B0A4-0EC2F98FEF79}"/>
              </a:ext>
            </a:extLst>
          </p:cNvPr>
          <p:cNvCxnSpPr>
            <a:cxnSpLocks/>
          </p:cNvCxnSpPr>
          <p:nvPr/>
        </p:nvCxnSpPr>
        <p:spPr>
          <a:xfrm flipH="1">
            <a:off x="8599115" y="3544721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xmlns="" id="{DCB0E8AB-7F07-A732-DF56-03D1D73003E3}"/>
              </a:ext>
            </a:extLst>
          </p:cNvPr>
          <p:cNvCxnSpPr>
            <a:cxnSpLocks/>
          </p:cNvCxnSpPr>
          <p:nvPr/>
        </p:nvCxnSpPr>
        <p:spPr>
          <a:xfrm flipH="1">
            <a:off x="8130748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ZoneTexte 74">
            <a:extLst>
              <a:ext uri="{FF2B5EF4-FFF2-40B4-BE49-F238E27FC236}">
                <a16:creationId xmlns:a16="http://schemas.microsoft.com/office/drawing/2014/main" xmlns="" id="{C69DA56B-E0C0-4887-748B-938D4A8C0504}"/>
              </a:ext>
            </a:extLst>
          </p:cNvPr>
          <p:cNvSpPr txBox="1"/>
          <p:nvPr/>
        </p:nvSpPr>
        <p:spPr>
          <a:xfrm>
            <a:off x="7318121" y="3456627"/>
            <a:ext cx="1535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integration</a:t>
            </a:r>
            <a:endParaRPr lang="fr-FR" sz="1050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xmlns="" id="{87C0A787-1A3A-9FBD-0E51-E9B0D6D555EC}"/>
              </a:ext>
            </a:extLst>
          </p:cNvPr>
          <p:cNvSpPr txBox="1"/>
          <p:nvPr/>
        </p:nvSpPr>
        <p:spPr>
          <a:xfrm>
            <a:off x="8123184" y="3674006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read</a:t>
            </a:r>
            <a:endParaRPr lang="fr-FR" sz="1050" dirty="0"/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xmlns="" id="{F557C063-EFD6-4FA9-FFA8-A4173BBE9B25}"/>
              </a:ext>
            </a:extLst>
          </p:cNvPr>
          <p:cNvSpPr txBox="1"/>
          <p:nvPr/>
        </p:nvSpPr>
        <p:spPr>
          <a:xfrm rot="16200000">
            <a:off x="8282144" y="3258457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reset</a:t>
            </a:r>
            <a:endParaRPr lang="fr-FR" sz="1050" dirty="0"/>
          </a:p>
        </p:txBody>
      </p:sp>
      <p:cxnSp>
        <p:nvCxnSpPr>
          <p:cNvPr id="78" name="Connecteur droit 77">
            <a:extLst>
              <a:ext uri="{FF2B5EF4-FFF2-40B4-BE49-F238E27FC236}">
                <a16:creationId xmlns:a16="http://schemas.microsoft.com/office/drawing/2014/main" xmlns="" id="{B11125EB-CA13-9034-C6F7-A2E42B97DD7E}"/>
              </a:ext>
            </a:extLst>
          </p:cNvPr>
          <p:cNvCxnSpPr>
            <a:cxnSpLocks/>
          </p:cNvCxnSpPr>
          <p:nvPr/>
        </p:nvCxnSpPr>
        <p:spPr>
          <a:xfrm flipH="1">
            <a:off x="8742878" y="353993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xmlns="" id="{359D1817-6B98-F336-2F8C-268B0BC21BA1}"/>
              </a:ext>
            </a:extLst>
          </p:cNvPr>
          <p:cNvCxnSpPr>
            <a:cxnSpLocks/>
          </p:cNvCxnSpPr>
          <p:nvPr/>
        </p:nvCxnSpPr>
        <p:spPr>
          <a:xfrm>
            <a:off x="8599115" y="4749302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xmlns="" id="{57B73220-922F-3938-71B4-1D2A993D0E06}"/>
              </a:ext>
            </a:extLst>
          </p:cNvPr>
          <p:cNvCxnSpPr>
            <a:cxnSpLocks/>
          </p:cNvCxnSpPr>
          <p:nvPr/>
        </p:nvCxnSpPr>
        <p:spPr>
          <a:xfrm flipV="1">
            <a:off x="8606210" y="4200338"/>
            <a:ext cx="0" cy="559891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xmlns="" id="{54641962-1A69-9B8F-F60D-95E0856D3547}"/>
              </a:ext>
            </a:extLst>
          </p:cNvPr>
          <p:cNvCxnSpPr>
            <a:cxnSpLocks/>
          </p:cNvCxnSpPr>
          <p:nvPr/>
        </p:nvCxnSpPr>
        <p:spPr>
          <a:xfrm flipH="1">
            <a:off x="8761730" y="4866122"/>
            <a:ext cx="1410997" cy="1231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xmlns="" id="{39E60739-A05C-7190-E078-5357730F31FF}"/>
              </a:ext>
            </a:extLst>
          </p:cNvPr>
          <p:cNvCxnSpPr>
            <a:cxnSpLocks/>
          </p:cNvCxnSpPr>
          <p:nvPr/>
        </p:nvCxnSpPr>
        <p:spPr>
          <a:xfrm flipV="1">
            <a:off x="8751381" y="4208975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xmlns="" id="{042E290A-9C31-97E2-55E9-47EC2A880E6F}"/>
              </a:ext>
            </a:extLst>
          </p:cNvPr>
          <p:cNvCxnSpPr>
            <a:cxnSpLocks/>
          </p:cNvCxnSpPr>
          <p:nvPr/>
        </p:nvCxnSpPr>
        <p:spPr>
          <a:xfrm flipH="1">
            <a:off x="10172727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xmlns="" id="{5690FE64-D532-6D02-F652-D7EC4208D51C}"/>
              </a:ext>
            </a:extLst>
          </p:cNvPr>
          <p:cNvCxnSpPr>
            <a:cxnSpLocks/>
          </p:cNvCxnSpPr>
          <p:nvPr/>
        </p:nvCxnSpPr>
        <p:spPr>
          <a:xfrm flipH="1">
            <a:off x="10648886" y="3553358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84">
            <a:extLst>
              <a:ext uri="{FF2B5EF4-FFF2-40B4-BE49-F238E27FC236}">
                <a16:creationId xmlns:a16="http://schemas.microsoft.com/office/drawing/2014/main" xmlns="" id="{2696790B-B3FF-C5C7-B330-F7C44445F10C}"/>
              </a:ext>
            </a:extLst>
          </p:cNvPr>
          <p:cNvCxnSpPr>
            <a:cxnSpLocks/>
          </p:cNvCxnSpPr>
          <p:nvPr/>
        </p:nvCxnSpPr>
        <p:spPr>
          <a:xfrm flipH="1">
            <a:off x="10792649" y="3548572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xmlns="" id="{07D9FA65-0D93-2AD7-3CF6-3115952E5267}"/>
              </a:ext>
            </a:extLst>
          </p:cNvPr>
          <p:cNvCxnSpPr>
            <a:cxnSpLocks/>
          </p:cNvCxnSpPr>
          <p:nvPr/>
        </p:nvCxnSpPr>
        <p:spPr>
          <a:xfrm>
            <a:off x="10644541" y="4757939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xmlns="" id="{24779BBA-90CD-38D3-4403-6B2197A087A3}"/>
              </a:ext>
            </a:extLst>
          </p:cNvPr>
          <p:cNvCxnSpPr>
            <a:cxnSpLocks/>
          </p:cNvCxnSpPr>
          <p:nvPr/>
        </p:nvCxnSpPr>
        <p:spPr>
          <a:xfrm flipV="1">
            <a:off x="10651636" y="3718237"/>
            <a:ext cx="328" cy="1050629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xmlns="" id="{1AA7FE32-1707-854C-AAAD-9CDC764C650F}"/>
              </a:ext>
            </a:extLst>
          </p:cNvPr>
          <p:cNvCxnSpPr>
            <a:cxnSpLocks/>
          </p:cNvCxnSpPr>
          <p:nvPr/>
        </p:nvCxnSpPr>
        <p:spPr>
          <a:xfrm flipH="1">
            <a:off x="10173424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avec flèche 88">
            <a:extLst>
              <a:ext uri="{FF2B5EF4-FFF2-40B4-BE49-F238E27FC236}">
                <a16:creationId xmlns:a16="http://schemas.microsoft.com/office/drawing/2014/main" xmlns="" id="{A08662E4-A829-98A4-747B-43A430167C6D}"/>
              </a:ext>
            </a:extLst>
          </p:cNvPr>
          <p:cNvCxnSpPr>
            <a:cxnSpLocks/>
          </p:cNvCxnSpPr>
          <p:nvPr/>
        </p:nvCxnSpPr>
        <p:spPr>
          <a:xfrm>
            <a:off x="6945083" y="2760531"/>
            <a:ext cx="3441066" cy="50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avec flèche 89">
            <a:extLst>
              <a:ext uri="{FF2B5EF4-FFF2-40B4-BE49-F238E27FC236}">
                <a16:creationId xmlns:a16="http://schemas.microsoft.com/office/drawing/2014/main" xmlns="" id="{61CD58D0-82D9-B8E5-0E6F-9A067167E0C7}"/>
              </a:ext>
            </a:extLst>
          </p:cNvPr>
          <p:cNvCxnSpPr>
            <a:cxnSpLocks/>
          </p:cNvCxnSpPr>
          <p:nvPr/>
        </p:nvCxnSpPr>
        <p:spPr>
          <a:xfrm flipV="1">
            <a:off x="7109630" y="1935340"/>
            <a:ext cx="0" cy="9280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>
            <a:extLst>
              <a:ext uri="{FF2B5EF4-FFF2-40B4-BE49-F238E27FC236}">
                <a16:creationId xmlns:a16="http://schemas.microsoft.com/office/drawing/2014/main" xmlns="" id="{46AC216A-73A5-C4CC-C7A2-6EA76F13477F}"/>
              </a:ext>
            </a:extLst>
          </p:cNvPr>
          <p:cNvSpPr txBox="1"/>
          <p:nvPr/>
        </p:nvSpPr>
        <p:spPr>
          <a:xfrm>
            <a:off x="6526525" y="1643191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Light flux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xmlns="" id="{F98AA2A3-584E-BCCF-053E-24249D127CD2}"/>
              </a:ext>
            </a:extLst>
          </p:cNvPr>
          <p:cNvSpPr txBox="1"/>
          <p:nvPr/>
        </p:nvSpPr>
        <p:spPr>
          <a:xfrm>
            <a:off x="6500663" y="2917995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xmlns="" id="{ED469087-600B-0CD3-1D6B-803EA50DD6FF}"/>
              </a:ext>
            </a:extLst>
          </p:cNvPr>
          <p:cNvCxnSpPr>
            <a:cxnSpLocks/>
          </p:cNvCxnSpPr>
          <p:nvPr/>
        </p:nvCxnSpPr>
        <p:spPr>
          <a:xfrm>
            <a:off x="7109171" y="2534032"/>
            <a:ext cx="2962453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ZoneTexte 93">
            <a:extLst>
              <a:ext uri="{FF2B5EF4-FFF2-40B4-BE49-F238E27FC236}">
                <a16:creationId xmlns:a16="http://schemas.microsoft.com/office/drawing/2014/main" xmlns="" id="{E4834E2B-48EC-1C46-C3F4-5FC167C74D69}"/>
              </a:ext>
            </a:extLst>
          </p:cNvPr>
          <p:cNvSpPr txBox="1"/>
          <p:nvPr/>
        </p:nvSpPr>
        <p:spPr>
          <a:xfrm>
            <a:off x="10169739" y="2812407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time</a:t>
            </a:r>
            <a:endParaRPr lang="fr-FR" sz="1200" dirty="0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xmlns="" id="{52CC47C1-4A50-8ABF-A041-F657113D5EF0}"/>
              </a:ext>
            </a:extLst>
          </p:cNvPr>
          <p:cNvSpPr txBox="1"/>
          <p:nvPr/>
        </p:nvSpPr>
        <p:spPr>
          <a:xfrm>
            <a:off x="10825160" y="4792595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time</a:t>
            </a:r>
            <a:endParaRPr lang="fr-FR" sz="1200" dirty="0"/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xmlns="" id="{B3B182DB-05CA-E315-7194-E3E6B0B443DF}"/>
              </a:ext>
            </a:extLst>
          </p:cNvPr>
          <p:cNvCxnSpPr>
            <a:cxnSpLocks/>
          </p:cNvCxnSpPr>
          <p:nvPr/>
        </p:nvCxnSpPr>
        <p:spPr>
          <a:xfrm flipV="1">
            <a:off x="9409609" y="3742011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xmlns="" id="{9161CE54-5406-A6C1-9BEB-D82D3551553F}"/>
              </a:ext>
            </a:extLst>
          </p:cNvPr>
          <p:cNvCxnSpPr>
            <a:cxnSpLocks/>
          </p:cNvCxnSpPr>
          <p:nvPr/>
        </p:nvCxnSpPr>
        <p:spPr>
          <a:xfrm>
            <a:off x="10172727" y="3744000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736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smtClean="0"/>
              <a:t>Systèmes imageants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 smtClean="0"/>
              <a:t>Prise d’image / Traitement d’image</a:t>
            </a:r>
            <a:endParaRPr lang="fr-FR" sz="2000" dirty="0"/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xmlns="" id="{51EC4A98-337F-88F8-43D4-D7C44BD106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136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xmlns="" id="{176A3E8F-B002-56A0-2F1F-1A0B8E451B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xmlns="" id="{61685C15-7EBD-34CD-26CF-CA73EA18C424}"/>
              </a:ext>
            </a:extLst>
          </p:cNvPr>
          <p:cNvSpPr txBox="1"/>
          <p:nvPr/>
        </p:nvSpPr>
        <p:spPr>
          <a:xfrm>
            <a:off x="323088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brute ‘RAW’ / Caméra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b="1" dirty="0"/>
              <a:t>Bruitée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Mauvais contraste</a:t>
            </a:r>
          </a:p>
          <a:p>
            <a:pPr marL="285750" indent="-285750">
              <a:buFontTx/>
              <a:buChar char="-"/>
            </a:pPr>
            <a:r>
              <a:rPr lang="fr-FR" dirty="0"/>
              <a:t>Eclairage non uniforme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xmlns="" id="{668D151D-9DFC-5E4F-BEAC-FE9032BAA8F0}"/>
              </a:ext>
            </a:extLst>
          </p:cNvPr>
          <p:cNvSpPr txBox="1"/>
          <p:nvPr/>
        </p:nvSpPr>
        <p:spPr>
          <a:xfrm>
            <a:off x="8631936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souhaitée / Contours bien définis</a:t>
            </a:r>
            <a:endParaRPr lang="fr-FR" b="1" dirty="0"/>
          </a:p>
          <a:p>
            <a:endParaRPr lang="fr-FR" b="1" dirty="0"/>
          </a:p>
          <a:p>
            <a:pPr marL="285750" indent="-285750">
              <a:buFontTx/>
              <a:buChar char="-"/>
            </a:pPr>
            <a:r>
              <a:rPr lang="fr-FR" dirty="0"/>
              <a:t>Zones homogènes</a:t>
            </a:r>
          </a:p>
          <a:p>
            <a:pPr marL="285750" indent="-285750">
              <a:buFontTx/>
              <a:buChar char="-"/>
            </a:pPr>
            <a:r>
              <a:rPr lang="fr-FR" dirty="0"/>
              <a:t>Transitions nettes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xmlns="" id="{1277343A-1448-38D7-2E14-0AF65D7FC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611" y="1704660"/>
            <a:ext cx="2076740" cy="206721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xmlns="" id="{2BE5B496-B2F7-F63A-8D82-02FA88E2C8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0606" y="1637975"/>
            <a:ext cx="2114845" cy="213389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xmlns="" id="{7EF5B4F9-C67E-1BA4-0D01-FBBBE79B51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616" y="1704661"/>
            <a:ext cx="2076740" cy="206721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xmlns="" id="{19488A31-B9C9-1361-DC82-249FD720E4A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Objectif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96852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9406682-2326-BAF9-ED5E-40C349EE5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BD31ACB4-07B5-74D4-EE69-031D4FDA2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46A36A83-74BF-AFB8-BF1D-46C39D7D64A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xmlns="" id="{84640E7C-08D8-95CB-4969-A1C95B3525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DB0584D9-F03B-8AB7-86E0-C68C164D822C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87ED8E26-0FC9-8B46-A1A6-C01EBF549B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xmlns="" id="{1799342F-1C27-2E46-07AB-E078221312B0}"/>
              </a:ext>
            </a:extLst>
          </p:cNvPr>
          <p:cNvSpPr txBox="1"/>
          <p:nvPr/>
        </p:nvSpPr>
        <p:spPr>
          <a:xfrm>
            <a:off x="323088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brute ‘RAW’ / Caméra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b="1" dirty="0"/>
              <a:t>Bruitée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Mauvais contraste</a:t>
            </a:r>
          </a:p>
          <a:p>
            <a:pPr marL="285750" indent="-285750">
              <a:buFontTx/>
              <a:buChar char="-"/>
            </a:pPr>
            <a:r>
              <a:rPr lang="fr-FR" dirty="0"/>
              <a:t>Eclairage non uniforme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xmlns="" id="{1FBD9F48-91B7-CB17-31D9-E7D0B15BCC2D}"/>
              </a:ext>
            </a:extLst>
          </p:cNvPr>
          <p:cNvSpPr txBox="1"/>
          <p:nvPr/>
        </p:nvSpPr>
        <p:spPr>
          <a:xfrm>
            <a:off x="8631936" y="4325341"/>
            <a:ext cx="32369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Image souhaitée / Contours bien définis</a:t>
            </a:r>
            <a:endParaRPr lang="fr-FR" b="1" dirty="0"/>
          </a:p>
          <a:p>
            <a:endParaRPr lang="fr-FR" b="1" dirty="0"/>
          </a:p>
          <a:p>
            <a:pPr marL="285750" indent="-285750">
              <a:buFontTx/>
              <a:buChar char="-"/>
            </a:pPr>
            <a:r>
              <a:rPr lang="fr-FR" dirty="0"/>
              <a:t>Zones homogènes</a:t>
            </a:r>
          </a:p>
          <a:p>
            <a:pPr marL="285750" indent="-285750">
              <a:buFontTx/>
              <a:buChar char="-"/>
            </a:pPr>
            <a:r>
              <a:rPr lang="fr-FR" dirty="0"/>
              <a:t>Transitions nettes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pic>
        <p:nvPicPr>
          <p:cNvPr id="15" name="Image 14" descr="Une image contenant noir et blanc, monochrome, papier&#10;&#10;Le contenu généré par l’IA peut être incorrect.">
            <a:extLst>
              <a:ext uri="{FF2B5EF4-FFF2-40B4-BE49-F238E27FC236}">
                <a16:creationId xmlns:a16="http://schemas.microsoft.com/office/drawing/2014/main" xmlns="" id="{5106BB0B-A3A6-BB73-2E1A-86C017C62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4" y="1831753"/>
            <a:ext cx="2862487" cy="1916114"/>
          </a:xfrm>
          <a:prstGeom prst="rect">
            <a:avLst/>
          </a:prstGeom>
        </p:spPr>
      </p:pic>
      <p:pic>
        <p:nvPicPr>
          <p:cNvPr id="17" name="Image 16" descr="Une image contenant cercle, Graphique, conception&#10;&#10;Le contenu généré par l’IA peut être incorrect.">
            <a:extLst>
              <a:ext uri="{FF2B5EF4-FFF2-40B4-BE49-F238E27FC236}">
                <a16:creationId xmlns:a16="http://schemas.microsoft.com/office/drawing/2014/main" xmlns="" id="{3144A1E4-3DEA-F203-B578-2D2928054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598" y="1831753"/>
            <a:ext cx="2850804" cy="1916114"/>
          </a:xfrm>
          <a:prstGeom prst="rect">
            <a:avLst/>
          </a:prstGeom>
        </p:spPr>
      </p:pic>
      <p:pic>
        <p:nvPicPr>
          <p:cNvPr id="19" name="Image 18" descr="Une image contenant croquis, cercle, noir et blanc, Graphique&#10;&#10;Le contenu généré par l’IA peut être incorrect.">
            <a:extLst>
              <a:ext uri="{FF2B5EF4-FFF2-40B4-BE49-F238E27FC236}">
                <a16:creationId xmlns:a16="http://schemas.microsoft.com/office/drawing/2014/main" xmlns="" id="{F394682F-3B77-5FC2-45CE-0769723D1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129" y="1835668"/>
            <a:ext cx="2850915" cy="1912199"/>
          </a:xfrm>
          <a:prstGeom prst="rect">
            <a:avLst/>
          </a:prstGeom>
        </p:spPr>
      </p:pic>
      <p:pic>
        <p:nvPicPr>
          <p:cNvPr id="21" name="Image 20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xmlns="" id="{9ADE955F-EAB7-683F-0313-8A43582F0F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1981" y="4231633"/>
            <a:ext cx="3698539" cy="247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916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B9D29C4-F855-04E0-2B57-28314FB66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A736FA54-336E-B91B-06E2-7E432309D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61AD19F3-DF22-75F1-7EE5-E16DDB619BB0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xmlns="" id="{15C8C4CD-E1F0-E258-6876-CF946E9BC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E74088B2-8905-E250-88B2-A5040B6DBF0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55397473-F8BE-9042-CC0B-D300D598DC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5" name="Image 14" descr="Une image contenant noir et blanc, monochrome, papier&#10;&#10;Le contenu généré par l’IA peut être incorrect.">
            <a:extLst>
              <a:ext uri="{FF2B5EF4-FFF2-40B4-BE49-F238E27FC236}">
                <a16:creationId xmlns:a16="http://schemas.microsoft.com/office/drawing/2014/main" xmlns="" id="{ED8E8FC2-75DA-27A3-FDCA-BE4A34A7A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84" y="1831753"/>
            <a:ext cx="2862487" cy="1916114"/>
          </a:xfrm>
          <a:prstGeom prst="rect">
            <a:avLst/>
          </a:prstGeom>
        </p:spPr>
      </p:pic>
      <p:pic>
        <p:nvPicPr>
          <p:cNvPr id="21" name="Image 20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xmlns="" id="{719E82BF-5E0B-D92F-B032-0C273D9CBC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84" y="4725144"/>
            <a:ext cx="2862487" cy="1916114"/>
          </a:xfrm>
          <a:prstGeom prst="rect">
            <a:avLst/>
          </a:prstGeom>
        </p:spPr>
      </p:pic>
      <p:pic>
        <p:nvPicPr>
          <p:cNvPr id="10" name="Image 9" descr="Une image contenant art, cercle, noir et blanc, étoile&#10;&#10;Le contenu généré par l’IA peut être incorrect.">
            <a:extLst>
              <a:ext uri="{FF2B5EF4-FFF2-40B4-BE49-F238E27FC236}">
                <a16:creationId xmlns:a16="http://schemas.microsoft.com/office/drawing/2014/main" xmlns="" id="{4B3A6477-0482-C687-B336-03843DC05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3688" y="1340768"/>
            <a:ext cx="3816424" cy="2549464"/>
          </a:xfrm>
          <a:prstGeom prst="rect">
            <a:avLst/>
          </a:prstGeom>
        </p:spPr>
      </p:pic>
      <p:pic>
        <p:nvPicPr>
          <p:cNvPr id="12" name="Image 11" descr="Une image contenant cercle, astronomie, art, étoile&#10;&#10;Le contenu généré par l’IA peut être incorrect.">
            <a:extLst>
              <a:ext uri="{FF2B5EF4-FFF2-40B4-BE49-F238E27FC236}">
                <a16:creationId xmlns:a16="http://schemas.microsoft.com/office/drawing/2014/main" xmlns="" id="{BD06199B-3FB9-87D9-63DD-E332AE0A8B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3688" y="4023573"/>
            <a:ext cx="3816424" cy="2559892"/>
          </a:xfrm>
          <a:prstGeom prst="rect">
            <a:avLst/>
          </a:prstGeom>
        </p:spPr>
      </p:pic>
      <p:pic>
        <p:nvPicPr>
          <p:cNvPr id="14" name="Image 13" descr="Une image contenant vert, Caractère coloré&#10;&#10;Le contenu généré par l’IA peut être incorrect.">
            <a:extLst>
              <a:ext uri="{FF2B5EF4-FFF2-40B4-BE49-F238E27FC236}">
                <a16:creationId xmlns:a16="http://schemas.microsoft.com/office/drawing/2014/main" xmlns="" id="{DAD68C5F-E787-9C4D-66A4-FA59FCC6A7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9747" y="4023572"/>
            <a:ext cx="3824229" cy="2559892"/>
          </a:xfrm>
          <a:prstGeom prst="rect">
            <a:avLst/>
          </a:prstGeom>
        </p:spPr>
      </p:pic>
      <p:sp>
        <p:nvSpPr>
          <p:cNvPr id="16" name="Flèche : chevron 15">
            <a:extLst>
              <a:ext uri="{FF2B5EF4-FFF2-40B4-BE49-F238E27FC236}">
                <a16:creationId xmlns:a16="http://schemas.microsoft.com/office/drawing/2014/main" xmlns="" id="{CA8D2383-6331-84BB-22CB-02DFA78B4AE9}"/>
              </a:ext>
            </a:extLst>
          </p:cNvPr>
          <p:cNvSpPr/>
          <p:nvPr/>
        </p:nvSpPr>
        <p:spPr bwMode="auto">
          <a:xfrm>
            <a:off x="3559236" y="2517480"/>
            <a:ext cx="219086" cy="544660"/>
          </a:xfrm>
          <a:prstGeom prst="chevron">
            <a:avLst/>
          </a:prstGeom>
          <a:solidFill>
            <a:schemeClr val="bg2">
              <a:alpha val="67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MS PGothic" pitchFamily="34" charset="-128"/>
            </a:endParaRPr>
          </a:p>
        </p:txBody>
      </p:sp>
      <p:sp>
        <p:nvSpPr>
          <p:cNvPr id="18" name="Flèche : chevron 17">
            <a:extLst>
              <a:ext uri="{FF2B5EF4-FFF2-40B4-BE49-F238E27FC236}">
                <a16:creationId xmlns:a16="http://schemas.microsoft.com/office/drawing/2014/main" xmlns="" id="{8B33D483-08AB-0DB7-1B78-2745ED9DBABB}"/>
              </a:ext>
            </a:extLst>
          </p:cNvPr>
          <p:cNvSpPr/>
          <p:nvPr/>
        </p:nvSpPr>
        <p:spPr bwMode="auto">
          <a:xfrm>
            <a:off x="7780386" y="5031188"/>
            <a:ext cx="219086" cy="544660"/>
          </a:xfrm>
          <a:prstGeom prst="chevron">
            <a:avLst/>
          </a:prstGeom>
          <a:solidFill>
            <a:schemeClr val="bg2">
              <a:alpha val="67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MS PGothic" pitchFamily="34" charset="-128"/>
            </a:endParaRPr>
          </a:p>
        </p:txBody>
      </p:sp>
      <p:pic>
        <p:nvPicPr>
          <p:cNvPr id="22" name="Graphique 21" descr="Badge croix contour">
            <a:extLst>
              <a:ext uri="{FF2B5EF4-FFF2-40B4-BE49-F238E27FC236}">
                <a16:creationId xmlns:a16="http://schemas.microsoft.com/office/drawing/2014/main" xmlns="" id="{C45C187F-CFD0-D29D-B43B-9A4BAC0CA9A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11575612" y="3616044"/>
            <a:ext cx="548376" cy="548376"/>
          </a:xfrm>
          <a:prstGeom prst="rect">
            <a:avLst/>
          </a:prstGeom>
        </p:spPr>
      </p:pic>
      <p:pic>
        <p:nvPicPr>
          <p:cNvPr id="24" name="Graphique 23" descr="Badge Tick1 contour">
            <a:extLst>
              <a:ext uri="{FF2B5EF4-FFF2-40B4-BE49-F238E27FC236}">
                <a16:creationId xmlns:a16="http://schemas.microsoft.com/office/drawing/2014/main" xmlns="" id="{D776C9E3-567F-212E-C7B9-63A4710DF7E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278086" y="4365104"/>
            <a:ext cx="466048" cy="466048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xmlns="" id="{71EB2E63-3F64-C7E1-366E-701097ACE11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Mauvais traitement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388256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BFDD3D-CBE4-E017-97D3-CF4E7193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AD62BF5D-9EB2-9BB9-E85B-E3F7E121E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Traitement d’images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8DCFD2F-12A4-CBFB-7763-D8AAA58E423F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xmlns="" id="{9AB30AC6-B5A9-CA77-59D1-E1A9AC25D6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9409" y="150610"/>
            <a:ext cx="1379153" cy="91943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819733F5-2ED7-B404-3B32-11A461ED357D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E58FCD9-0D9A-073C-099F-56544E82EC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xmlns="" id="{CF9304CD-028B-2A49-1670-ADBE51AFC1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768" y="1483518"/>
            <a:ext cx="10272464" cy="50999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xmlns="" id="{2F348E32-EDB7-BCD2-8EE4-E00D5901BE19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+mj-lt"/>
              </a:rPr>
              <a:t>Exemple industriel</a:t>
            </a:r>
            <a:endParaRPr lang="fr-F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4470226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26319</TotalTime>
  <Words>347</Words>
  <Application>Microsoft Office PowerPoint</Application>
  <PresentationFormat>Grand écran</PresentationFormat>
  <Paragraphs>122</Paragraphs>
  <Slides>18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18</vt:i4>
      </vt:variant>
    </vt:vector>
  </HeadingPairs>
  <TitlesOfParts>
    <vt:vector size="27" baseType="lpstr">
      <vt:lpstr>MS PGothic</vt:lpstr>
      <vt:lpstr>MS PGothic</vt:lpstr>
      <vt:lpstr>Arial</vt:lpstr>
      <vt:lpstr>ArialUnicodeMS</vt:lpstr>
      <vt:lpstr>Calibri</vt:lpstr>
      <vt:lpstr>Century Gothic</vt:lpstr>
      <vt:lpstr>IBM Plex Sans</vt:lpstr>
      <vt:lpstr>DRAFT PRES CA_IO_13-06-12</vt:lpstr>
      <vt:lpstr>1_DRAFT PRES CA_IO_13-06-12</vt:lpstr>
      <vt:lpstr>Ingénieur·e en photonique</vt:lpstr>
      <vt:lpstr>Systèmes</vt:lpstr>
      <vt:lpstr>Projets 2A</vt:lpstr>
      <vt:lpstr>Expériences de quantique</vt:lpstr>
      <vt:lpstr>Expériences de quantique</vt:lpstr>
      <vt:lpstr>Dans 3 ans ?</vt:lpstr>
      <vt:lpstr>Dans 5 ans ?</vt:lpstr>
      <vt:lpstr>Formation à SupOptique</vt:lpstr>
      <vt:lpstr>Etre ingénieur.e aujourd’hui</vt:lpstr>
      <vt:lpstr>Opto-Electronique  Interfaçage Numérique</vt:lpstr>
      <vt:lpstr>Photonique : un mélange de compétences techniques</vt:lpstr>
      <vt:lpstr>Photodétection</vt:lpstr>
      <vt:lpstr>Caméra CMOS</vt:lpstr>
      <vt:lpstr>Systèmes imageants</vt:lpstr>
      <vt:lpstr>Traitement d’images</vt:lpstr>
      <vt:lpstr>Traitement d’images</vt:lpstr>
      <vt:lpstr>Traitement d’images</vt:lpstr>
      <vt:lpstr>Traitement d’images</vt:lpstr>
    </vt:vector>
  </TitlesOfParts>
  <Company>Institut d'Optique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Industrielle - Intro 1A</dc:title>
  <dc:creator>Institut d'Optique</dc:creator>
  <cp:lastModifiedBy>Utilisateur Windows</cp:lastModifiedBy>
  <cp:revision>1711</cp:revision>
  <cp:lastPrinted>2021-12-20T13:30:17Z</cp:lastPrinted>
  <dcterms:created xsi:type="dcterms:W3CDTF">2012-05-10T13:56:34Z</dcterms:created>
  <dcterms:modified xsi:type="dcterms:W3CDTF">2026-08-31T08:33:59Z</dcterms:modified>
</cp:coreProperties>
</file>