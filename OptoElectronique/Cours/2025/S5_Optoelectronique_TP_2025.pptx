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5"/>
  </p:notesMasterIdLst>
  <p:sldIdLst>
    <p:sldId id="267" r:id="rId2"/>
    <p:sldId id="319" r:id="rId3"/>
    <p:sldId id="330" r:id="rId4"/>
    <p:sldId id="336" r:id="rId5"/>
    <p:sldId id="337" r:id="rId6"/>
    <p:sldId id="285" r:id="rId7"/>
    <p:sldId id="278" r:id="rId8"/>
    <p:sldId id="281" r:id="rId9"/>
    <p:sldId id="282" r:id="rId10"/>
    <p:sldId id="286" r:id="rId11"/>
    <p:sldId id="283" r:id="rId12"/>
    <p:sldId id="295" r:id="rId13"/>
    <p:sldId id="29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60" autoAdjust="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C724E-499D-43AC-8699-CF969D2466FC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C53D4-8BF5-4FDD-81EC-7AC957B0D2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625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644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140196-B8E4-07BB-C98C-8BE008D8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1682B5E4-5A20-6F25-64BE-48D7A80BE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xmlns="" id="{9B70F146-880C-B278-856E-D1CD7CD3B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063008D2-D9AC-6381-391C-C7DCE4144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093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83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0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9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xmlns="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5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6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9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526E0BFB-CDF1-4990-8C11-AC849311E0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C72F330-992B-B125-739B-F8303ED3A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069A1F8-9BEB-4786-9694-FC48B2D75D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CF8D1EB8-F6E7-EB54-1CC8-28472070B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fr-FR" sz="4400" dirty="0">
                <a:latin typeface="Bahnschrift SemiBold" panose="020B0502040204020203" pitchFamily="34" charset="0"/>
              </a:rPr>
              <a:t>UE </a:t>
            </a:r>
            <a:r>
              <a:rPr lang="fr-FR" sz="4400" dirty="0" err="1">
                <a:latin typeface="Bahnschrift SemiBold" panose="020B0502040204020203" pitchFamily="34" charset="0"/>
              </a:rPr>
              <a:t>Opto</a:t>
            </a:r>
            <a:r>
              <a:rPr lang="fr-FR" sz="4400" dirty="0">
                <a:latin typeface="Bahnschrift SemiBold" panose="020B0502040204020203" pitchFamily="34" charset="0"/>
              </a:rPr>
              <a:t/>
            </a:r>
            <a:br>
              <a:rPr lang="fr-FR" sz="4400" dirty="0">
                <a:latin typeface="Bahnschrift SemiBold" panose="020B0502040204020203" pitchFamily="34" charset="0"/>
              </a:rPr>
            </a:br>
            <a:r>
              <a:rPr lang="fr-FR" sz="4400" dirty="0">
                <a:latin typeface="Bahnschrift SemiBold" panose="020B0502040204020203" pitchFamily="34" charset="0"/>
              </a:rPr>
              <a:t>électronique</a:t>
            </a:r>
            <a:br>
              <a:rPr lang="fr-FR" sz="4400" dirty="0">
                <a:latin typeface="Bahnschrift SemiBold" panose="020B0502040204020203" pitchFamily="34" charset="0"/>
              </a:rPr>
            </a:br>
            <a:r>
              <a:rPr lang="fr-FR" sz="4400" dirty="0">
                <a:latin typeface="Bahnschrift SemiBold" panose="020B0502040204020203" pitchFamily="34" charset="0"/>
              </a:rPr>
              <a:t>		</a:t>
            </a:r>
            <a:r>
              <a:rPr lang="fr-FR" sz="3200" dirty="0">
                <a:latin typeface="Bahnschrift SemiBold" panose="020B0502040204020203" pitchFamily="34" charset="0"/>
              </a:rPr>
              <a:t>TD et TP</a:t>
            </a:r>
            <a:endParaRPr lang="fr-FR" sz="4400" dirty="0">
              <a:latin typeface="Bahnschrift SemiBold" panose="020B0502040204020203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BDFEFAEF-AB6A-BE8F-01E7-845FB609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 err="1">
                <a:latin typeface="Bahnschrift Light" panose="020B0502040204020203" pitchFamily="34" charset="0"/>
              </a:rPr>
              <a:t>OpE</a:t>
            </a:r>
            <a:r>
              <a:rPr lang="fr-FR" sz="2000" dirty="0">
                <a:latin typeface="Bahnschrift Light" panose="020B0502040204020203" pitchFamily="34" charset="0"/>
              </a:rPr>
              <a:t> / Semestre 5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  <a:p>
            <a:r>
              <a:rPr lang="fr-FR" sz="1400" dirty="0">
                <a:latin typeface="Bahnschrift Light" panose="020B0502040204020203" pitchFamily="34" charset="0"/>
              </a:rPr>
              <a:t>Julien VILLEMEJANE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1" y="145408"/>
            <a:ext cx="2694463" cy="11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62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xmlns="" id="{4BFD9744-0876-5047-18DF-17BB5AA72CFD}"/>
              </a:ext>
            </a:extLst>
          </p:cNvPr>
          <p:cNvSpPr/>
          <p:nvPr/>
        </p:nvSpPr>
        <p:spPr>
          <a:xfrm>
            <a:off x="9008724" y="269104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TD</a:t>
            </a:r>
          </a:p>
        </p:txBody>
      </p:sp>
      <p:sp>
        <p:nvSpPr>
          <p:cNvPr id="13" name="Flèche : pentagone 12">
            <a:extLst>
              <a:ext uri="{FF2B5EF4-FFF2-40B4-BE49-F238E27FC236}">
                <a16:creationId xmlns:a16="http://schemas.microsoft.com/office/drawing/2014/main" xmlns="" id="{2F01100B-DA0A-03DB-8881-9744D6158B2F}"/>
              </a:ext>
            </a:extLst>
          </p:cNvPr>
          <p:cNvSpPr/>
          <p:nvPr/>
        </p:nvSpPr>
        <p:spPr>
          <a:xfrm>
            <a:off x="9008724" y="3941959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2 séances de TD Machine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BE614CFB-345A-A05F-31A8-899F09B08114}"/>
              </a:ext>
            </a:extLst>
          </p:cNvPr>
          <p:cNvSpPr txBox="1"/>
          <p:nvPr/>
        </p:nvSpPr>
        <p:spPr>
          <a:xfrm>
            <a:off x="9458592" y="4552607"/>
            <a:ext cx="19381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Découverte du langage C++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D4A82AA-5EA4-6EB3-63EC-257B2C083A72}"/>
              </a:ext>
            </a:extLst>
          </p:cNvPr>
          <p:cNvSpPr/>
          <p:nvPr/>
        </p:nvSpPr>
        <p:spPr>
          <a:xfrm>
            <a:off x="9280277" y="4552607"/>
            <a:ext cx="149912" cy="2539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xmlns="" id="{862561DF-5E53-4B2F-2083-D2A26DEB7A9C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3C9D3F52-E1BA-B42F-CF7D-2C54A262BFB9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7BDFE3A8-516A-719B-9836-7966508F83B9}"/>
              </a:ext>
            </a:extLst>
          </p:cNvPr>
          <p:cNvSpPr txBox="1"/>
          <p:nvPr/>
        </p:nvSpPr>
        <p:spPr>
          <a:xfrm>
            <a:off x="9320308" y="310325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83913704-F055-41D9-4440-C55B75D5144C}"/>
              </a:ext>
            </a:extLst>
          </p:cNvPr>
          <p:cNvSpPr txBox="1"/>
          <p:nvPr/>
        </p:nvSpPr>
        <p:spPr>
          <a:xfrm>
            <a:off x="9320308" y="4311291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6F4D2A82-CA7C-D137-200C-91B9E50DB9C5}"/>
              </a:ext>
            </a:extLst>
          </p:cNvPr>
          <p:cNvSpPr txBox="1"/>
          <p:nvPr/>
        </p:nvSpPr>
        <p:spPr>
          <a:xfrm>
            <a:off x="9132923" y="1354539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2628BA60-A8EC-4AA1-00CA-85A39DAE9194}"/>
              </a:ext>
            </a:extLst>
          </p:cNvPr>
          <p:cNvSpPr txBox="1"/>
          <p:nvPr/>
        </p:nvSpPr>
        <p:spPr>
          <a:xfrm>
            <a:off x="907225" y="3132056"/>
            <a:ext cx="688346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Module d’enseignement s’inscrivant dans le </a:t>
            </a:r>
            <a:br>
              <a:rPr lang="fr-FR" dirty="0"/>
            </a:br>
            <a:r>
              <a:rPr lang="fr-FR" sz="2400" b="1" dirty="0">
                <a:solidFill>
                  <a:srgbClr val="002060"/>
                </a:solidFill>
              </a:rPr>
              <a:t>déploiement de l’approche par compétences </a:t>
            </a:r>
            <a:endParaRPr lang="fr-FR" dirty="0">
              <a:solidFill>
                <a:srgbClr val="002060"/>
              </a:solidFill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400" dirty="0"/>
              <a:t>Vous serez </a:t>
            </a:r>
            <a:r>
              <a:rPr lang="fr-FR" sz="1400" dirty="0" err="1"/>
              <a:t>encouragé·e</a:t>
            </a:r>
            <a:r>
              <a:rPr lang="fr-FR" sz="1400" dirty="0"/>
              <a:t> à 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b="1" dirty="0"/>
              <a:t>analyser votre progression personnelle</a:t>
            </a:r>
            <a:r>
              <a:rPr lang="fr-FR" dirty="0"/>
              <a:t> 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400" dirty="0"/>
              <a:t>dans l’acquisition de savoirs et savoir-faire</a:t>
            </a:r>
            <a:endParaRPr lang="fr-FR" sz="1600" dirty="0"/>
          </a:p>
          <a:p>
            <a:endParaRPr lang="fr-FR" sz="1600" dirty="0"/>
          </a:p>
          <a:p>
            <a:r>
              <a:rPr lang="fr-FR" sz="1400" dirty="0"/>
              <a:t>Vous serez </a:t>
            </a:r>
            <a:r>
              <a:rPr lang="fr-FR" sz="1400" dirty="0" err="1"/>
              <a:t>amené·e</a:t>
            </a:r>
            <a:r>
              <a:rPr lang="fr-FR" sz="1400" dirty="0"/>
              <a:t> en particulier à </a:t>
            </a:r>
            <a:br>
              <a:rPr lang="fr-FR" sz="1400" dirty="0"/>
            </a:br>
            <a:r>
              <a:rPr lang="fr-FR" b="1" dirty="0"/>
              <a:t>repérer de façon explicite les erreurs 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400" dirty="0"/>
              <a:t>et les maladresses commises</a:t>
            </a:r>
            <a:endParaRPr lang="fr-FR" sz="1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77201329-58DA-613B-87D6-838BFF5FC419}"/>
              </a:ext>
            </a:extLst>
          </p:cNvPr>
          <p:cNvSpPr txBox="1"/>
          <p:nvPr/>
        </p:nvSpPr>
        <p:spPr>
          <a:xfrm>
            <a:off x="933498" y="1765148"/>
            <a:ext cx="4781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/>
              <a:t>Volume horaire de 42h </a:t>
            </a:r>
            <a:r>
              <a:rPr lang="fr-FR" dirty="0"/>
              <a:t>pour </a:t>
            </a:r>
            <a:r>
              <a:rPr lang="fr-FR" b="1" dirty="0"/>
              <a:t>4 ECTS</a:t>
            </a:r>
            <a:r>
              <a:rPr lang="fr-FR" dirty="0"/>
              <a:t> </a:t>
            </a:r>
            <a:br>
              <a:rPr lang="fr-FR" dirty="0"/>
            </a:br>
            <a:r>
              <a:rPr lang="fr-FR" sz="1400" dirty="0"/>
              <a:t>(</a:t>
            </a:r>
            <a:r>
              <a:rPr lang="fr-FR" sz="1400" i="1" dirty="0" err="1"/>
              <a:t>European</a:t>
            </a:r>
            <a:r>
              <a:rPr lang="fr-FR" sz="1400" i="1" dirty="0"/>
              <a:t> </a:t>
            </a:r>
            <a:r>
              <a:rPr lang="fr-FR" sz="1400" i="1" dirty="0" err="1"/>
              <a:t>Credit</a:t>
            </a:r>
            <a:r>
              <a:rPr lang="fr-FR" sz="1400" i="1" dirty="0"/>
              <a:t> Transfer and Accumulation System</a:t>
            </a:r>
            <a:r>
              <a:rPr lang="fr-FR" sz="1400" dirty="0"/>
              <a:t>) </a:t>
            </a:r>
            <a:endParaRPr lang="fr-FR" dirty="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xmlns="" id="{86DAA1EA-4AC5-8DDB-3DF5-D340B4C083DA}"/>
              </a:ext>
            </a:extLst>
          </p:cNvPr>
          <p:cNvSpPr/>
          <p:nvPr/>
        </p:nvSpPr>
        <p:spPr>
          <a:xfrm>
            <a:off x="5715000" y="1832187"/>
            <a:ext cx="1481328" cy="36933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13 % du S5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xmlns="" id="{237980B8-414A-9B48-1996-2D348DCB3EDC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05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xmlns="" id="{0D3C9DC1-6176-93E4-0236-C834BE8949CB}"/>
              </a:ext>
            </a:extLst>
          </p:cNvPr>
          <p:cNvSpPr txBox="1"/>
          <p:nvPr/>
        </p:nvSpPr>
        <p:spPr>
          <a:xfrm>
            <a:off x="5324954" y="3095011"/>
            <a:ext cx="562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AOP</a:t>
            </a:r>
          </a:p>
        </p:txBody>
      </p:sp>
      <p:sp>
        <p:nvSpPr>
          <p:cNvPr id="8" name="Triangle isocèle 7">
            <a:extLst>
              <a:ext uri="{FF2B5EF4-FFF2-40B4-BE49-F238E27FC236}">
                <a16:creationId xmlns:a16="http://schemas.microsoft.com/office/drawing/2014/main" xmlns="" id="{ABA8BA54-B2C6-AF33-9B9D-2B2E3C4CDF4D}"/>
              </a:ext>
            </a:extLst>
          </p:cNvPr>
          <p:cNvSpPr/>
          <p:nvPr/>
        </p:nvSpPr>
        <p:spPr>
          <a:xfrm rot="5400000">
            <a:off x="1070940" y="1664580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CB5A13C3-E4AA-292F-E183-6A505B516243}"/>
              </a:ext>
            </a:extLst>
          </p:cNvPr>
          <p:cNvSpPr txBox="1"/>
          <p:nvPr/>
        </p:nvSpPr>
        <p:spPr>
          <a:xfrm>
            <a:off x="1370266" y="1594943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 l’issue de cette UE, les </a:t>
            </a:r>
            <a:r>
              <a:rPr lang="fr-FR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étudiant</a:t>
            </a:r>
            <a:r>
              <a:rPr lang="fr-FR" i="0" dirty="0" err="1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·es</a:t>
            </a:r>
            <a:r>
              <a:rPr lang="fr-FR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seront capable de :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xmlns="" id="{4BFD9744-0876-5047-18DF-17BB5AA72CFD}"/>
              </a:ext>
            </a:extLst>
          </p:cNvPr>
          <p:cNvSpPr/>
          <p:nvPr/>
        </p:nvSpPr>
        <p:spPr>
          <a:xfrm>
            <a:off x="9008724" y="269104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TD</a:t>
            </a:r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xmlns="" id="{862561DF-5E53-4B2F-2083-D2A26DEB7A9C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3C9D3F52-E1BA-B42F-CF7D-2C54A262BFB9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7BDFE3A8-516A-719B-9836-7966508F83B9}"/>
              </a:ext>
            </a:extLst>
          </p:cNvPr>
          <p:cNvSpPr txBox="1"/>
          <p:nvPr/>
        </p:nvSpPr>
        <p:spPr>
          <a:xfrm>
            <a:off x="9320308" y="310325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24347B33-9E6D-CA2C-C405-1F1F49326184}"/>
              </a:ext>
            </a:extLst>
          </p:cNvPr>
          <p:cNvSpPr txBox="1"/>
          <p:nvPr/>
        </p:nvSpPr>
        <p:spPr>
          <a:xfrm>
            <a:off x="1793072" y="2264690"/>
            <a:ext cx="6064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caractériser un dipôle </a:t>
            </a:r>
            <a:r>
              <a:rPr lang="fr-FR" sz="2000" dirty="0"/>
              <a:t>(linéaire ou non-linéaire) </a:t>
            </a:r>
            <a:r>
              <a:rPr lang="fr-FR" sz="2000" b="1" dirty="0"/>
              <a:t>statiquement</a:t>
            </a:r>
            <a:r>
              <a:rPr lang="fr-FR" sz="2000" dirty="0"/>
              <a:t> et en </a:t>
            </a:r>
            <a:r>
              <a:rPr lang="fr-FR" sz="2000" b="1" dirty="0"/>
              <a:t>déduire ses zones de fonctionnement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725D4FA-47CC-696E-1C6A-AD6B24FCD8F8}"/>
              </a:ext>
            </a:extLst>
          </p:cNvPr>
          <p:cNvSpPr/>
          <p:nvPr/>
        </p:nvSpPr>
        <p:spPr>
          <a:xfrm>
            <a:off x="1104900" y="2308674"/>
            <a:ext cx="501003" cy="9217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923462BA-E8A0-D3C0-9722-1B7BCD561485}"/>
              </a:ext>
            </a:extLst>
          </p:cNvPr>
          <p:cNvSpPr txBox="1"/>
          <p:nvPr/>
        </p:nvSpPr>
        <p:spPr>
          <a:xfrm>
            <a:off x="1802596" y="3468526"/>
            <a:ext cx="6064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caractériser un système linéaire </a:t>
            </a:r>
            <a:r>
              <a:rPr lang="fr-FR" sz="2000" dirty="0"/>
              <a:t>dans les domaines temporel et fréquentiel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12CA0C4C-24DC-C940-BCE0-4FBE38E80D4F}"/>
              </a:ext>
            </a:extLst>
          </p:cNvPr>
          <p:cNvSpPr txBox="1"/>
          <p:nvPr/>
        </p:nvSpPr>
        <p:spPr>
          <a:xfrm>
            <a:off x="1802596" y="4454202"/>
            <a:ext cx="6064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mettre en œuvre des montages de photodétection </a:t>
            </a:r>
            <a:r>
              <a:rPr lang="fr-FR" sz="2000" dirty="0"/>
              <a:t>et de </a:t>
            </a:r>
            <a:r>
              <a:rPr lang="fr-FR" sz="2000" b="1" dirty="0"/>
              <a:t>comparer leurs performances fréquentielles et temporelles</a:t>
            </a:r>
            <a:endParaRPr lang="fr-FR" sz="2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99E0D320-27B1-2881-C88A-4FAF3A582B44}"/>
              </a:ext>
            </a:extLst>
          </p:cNvPr>
          <p:cNvSpPr txBox="1"/>
          <p:nvPr/>
        </p:nvSpPr>
        <p:spPr>
          <a:xfrm>
            <a:off x="1793072" y="5862178"/>
            <a:ext cx="6064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documenter un travail scientifique/technique </a:t>
            </a:r>
            <a:endParaRPr lang="fr-FR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A7CBEDD8-B7C6-A06C-9A4C-6CDC26EE0CA9}"/>
              </a:ext>
            </a:extLst>
          </p:cNvPr>
          <p:cNvSpPr/>
          <p:nvPr/>
        </p:nvSpPr>
        <p:spPr>
          <a:xfrm>
            <a:off x="1104899" y="3393061"/>
            <a:ext cx="501003" cy="9375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B3132CA9-7C9C-77BB-9BB0-003B765DA2D8}"/>
              </a:ext>
            </a:extLst>
          </p:cNvPr>
          <p:cNvSpPr/>
          <p:nvPr/>
        </p:nvSpPr>
        <p:spPr>
          <a:xfrm>
            <a:off x="1104899" y="4493260"/>
            <a:ext cx="501003" cy="9375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386AAE56-B1FA-1500-D223-06F9119EF02E}"/>
              </a:ext>
            </a:extLst>
          </p:cNvPr>
          <p:cNvSpPr/>
          <p:nvPr/>
        </p:nvSpPr>
        <p:spPr>
          <a:xfrm>
            <a:off x="1104898" y="5593459"/>
            <a:ext cx="501003" cy="9375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4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6F4D2A82-CA7C-D137-200C-91B9E50DB9C5}"/>
              </a:ext>
            </a:extLst>
          </p:cNvPr>
          <p:cNvSpPr txBox="1"/>
          <p:nvPr/>
        </p:nvSpPr>
        <p:spPr>
          <a:xfrm>
            <a:off x="9132923" y="1354539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xmlns="" id="{F1F31EA0-5A9F-854B-0EC1-704BF008075E}"/>
              </a:ext>
            </a:extLst>
          </p:cNvPr>
          <p:cNvSpPr/>
          <p:nvPr/>
        </p:nvSpPr>
        <p:spPr>
          <a:xfrm>
            <a:off x="9008724" y="3941959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2 séances de TD Machine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1F620E63-2A6E-A82A-1371-5A6D9C56B9C3}"/>
              </a:ext>
            </a:extLst>
          </p:cNvPr>
          <p:cNvSpPr txBox="1"/>
          <p:nvPr/>
        </p:nvSpPr>
        <p:spPr>
          <a:xfrm>
            <a:off x="9458592" y="4552607"/>
            <a:ext cx="19381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Découverte du langage C++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DB86F53F-C290-2366-6D07-BD0AD9140140}"/>
              </a:ext>
            </a:extLst>
          </p:cNvPr>
          <p:cNvSpPr/>
          <p:nvPr/>
        </p:nvSpPr>
        <p:spPr>
          <a:xfrm>
            <a:off x="9280277" y="4552607"/>
            <a:ext cx="149912" cy="2539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465BA28B-4862-56EB-AC6C-0BB81190BE7A}"/>
              </a:ext>
            </a:extLst>
          </p:cNvPr>
          <p:cNvSpPr txBox="1"/>
          <p:nvPr/>
        </p:nvSpPr>
        <p:spPr>
          <a:xfrm>
            <a:off x="9320308" y="4311291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xmlns="" id="{D7A7DF3E-2BB9-FB41-E59B-DF9B319E7F15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9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TP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xmlns="" id="{3831B6A5-6289-648D-2669-16CD74D6055A}"/>
              </a:ext>
            </a:extLst>
          </p:cNvPr>
          <p:cNvSpPr/>
          <p:nvPr/>
        </p:nvSpPr>
        <p:spPr>
          <a:xfrm>
            <a:off x="743267" y="1977914"/>
            <a:ext cx="6680759" cy="19534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 : pentagone 8">
            <a:extLst>
              <a:ext uri="{FF2B5EF4-FFF2-40B4-BE49-F238E27FC236}">
                <a16:creationId xmlns:a16="http://schemas.microsoft.com/office/drawing/2014/main" xmlns="" id="{28ADF0A4-E77B-DA03-EB3A-CFBDCE0AC872}"/>
              </a:ext>
            </a:extLst>
          </p:cNvPr>
          <p:cNvSpPr/>
          <p:nvPr/>
        </p:nvSpPr>
        <p:spPr>
          <a:xfrm>
            <a:off x="907226" y="2997843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Photodétecteur</a:t>
            </a:r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xmlns="" id="{ACF27571-268A-478D-3B8F-50DB98195AE4}"/>
              </a:ext>
            </a:extLst>
          </p:cNvPr>
          <p:cNvSpPr/>
          <p:nvPr/>
        </p:nvSpPr>
        <p:spPr>
          <a:xfrm>
            <a:off x="907225" y="2146140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Source / LED</a:t>
            </a:r>
          </a:p>
        </p:txBody>
      </p:sp>
      <p:sp>
        <p:nvSpPr>
          <p:cNvPr id="11" name="Flèche : chevron 10">
            <a:extLst>
              <a:ext uri="{FF2B5EF4-FFF2-40B4-BE49-F238E27FC236}">
                <a16:creationId xmlns:a16="http://schemas.microsoft.com/office/drawing/2014/main" xmlns="" id="{AA4B21F1-4161-655B-5767-E5C2B69D21BD}"/>
              </a:ext>
            </a:extLst>
          </p:cNvPr>
          <p:cNvSpPr/>
          <p:nvPr/>
        </p:nvSpPr>
        <p:spPr>
          <a:xfrm>
            <a:off x="2863346" y="2146139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Emetteur</a:t>
            </a:r>
          </a:p>
        </p:txBody>
      </p:sp>
      <p:sp>
        <p:nvSpPr>
          <p:cNvPr id="12" name="Flèche : chevron 11">
            <a:extLst>
              <a:ext uri="{FF2B5EF4-FFF2-40B4-BE49-F238E27FC236}">
                <a16:creationId xmlns:a16="http://schemas.microsoft.com/office/drawing/2014/main" xmlns="" id="{2B851135-06CF-594A-7450-17DA7231C110}"/>
              </a:ext>
            </a:extLst>
          </p:cNvPr>
          <p:cNvSpPr/>
          <p:nvPr/>
        </p:nvSpPr>
        <p:spPr>
          <a:xfrm>
            <a:off x="2863346" y="2997843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Récepteur</a:t>
            </a:r>
          </a:p>
        </p:txBody>
      </p:sp>
      <p:sp>
        <p:nvSpPr>
          <p:cNvPr id="13" name="Flèche : chevron 12">
            <a:extLst>
              <a:ext uri="{FF2B5EF4-FFF2-40B4-BE49-F238E27FC236}">
                <a16:creationId xmlns:a16="http://schemas.microsoft.com/office/drawing/2014/main" xmlns="" id="{DC1BC409-5367-BFD5-A3BF-E35BF1856B9D}"/>
              </a:ext>
            </a:extLst>
          </p:cNvPr>
          <p:cNvSpPr/>
          <p:nvPr/>
        </p:nvSpPr>
        <p:spPr>
          <a:xfrm>
            <a:off x="4877341" y="2997842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Optimisation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xmlns="" id="{39864482-9753-290A-3835-55F6858709FA}"/>
              </a:ext>
            </a:extLst>
          </p:cNvPr>
          <p:cNvSpPr txBox="1"/>
          <p:nvPr/>
        </p:nvSpPr>
        <p:spPr>
          <a:xfrm>
            <a:off x="907225" y="1611430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 séances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xmlns="" id="{BCFB3284-2C30-3921-B88B-1AF38A707C71}"/>
              </a:ext>
            </a:extLst>
          </p:cNvPr>
          <p:cNvSpPr txBox="1"/>
          <p:nvPr/>
        </p:nvSpPr>
        <p:spPr>
          <a:xfrm>
            <a:off x="1105420" y="2578439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xmlns="" id="{37368C82-75E3-A542-2D81-1A0BF6062A6C}"/>
              </a:ext>
            </a:extLst>
          </p:cNvPr>
          <p:cNvSpPr txBox="1"/>
          <p:nvPr/>
        </p:nvSpPr>
        <p:spPr>
          <a:xfrm>
            <a:off x="1105420" y="3397875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xmlns="" id="{49486859-C02B-5896-180E-13B456B499CB}"/>
              </a:ext>
            </a:extLst>
          </p:cNvPr>
          <p:cNvSpPr txBox="1"/>
          <p:nvPr/>
        </p:nvSpPr>
        <p:spPr>
          <a:xfrm>
            <a:off x="3234071" y="3413569"/>
            <a:ext cx="1165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Réponse freq.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xmlns="" id="{D427008F-58E6-4057-4D4E-F9D3B8AE3B8A}"/>
              </a:ext>
            </a:extLst>
          </p:cNvPr>
          <p:cNvSpPr txBox="1"/>
          <p:nvPr/>
        </p:nvSpPr>
        <p:spPr>
          <a:xfrm>
            <a:off x="5239229" y="3429000"/>
            <a:ext cx="510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AOP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080B1FE2-421C-C3F3-8759-5747F26B6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336" y="4546385"/>
            <a:ext cx="1562434" cy="1388830"/>
          </a:xfrm>
          <a:prstGeom prst="rect">
            <a:avLst/>
          </a:prstGeom>
        </p:spPr>
      </p:pic>
      <p:cxnSp>
        <p:nvCxnSpPr>
          <p:cNvPr id="16" name="Connecteur : en arc 15">
            <a:extLst>
              <a:ext uri="{FF2B5EF4-FFF2-40B4-BE49-F238E27FC236}">
                <a16:creationId xmlns:a16="http://schemas.microsoft.com/office/drawing/2014/main" xmlns="" id="{1B56CF65-8D49-354F-2607-F55BD67DA5DC}"/>
              </a:ext>
            </a:extLst>
          </p:cNvPr>
          <p:cNvCxnSpPr>
            <a:cxnSpLocks/>
          </p:cNvCxnSpPr>
          <p:nvPr/>
        </p:nvCxnSpPr>
        <p:spPr>
          <a:xfrm flipV="1">
            <a:off x="4998436" y="5082876"/>
            <a:ext cx="1349785" cy="320040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362C3312-9CD4-773B-546E-C01121CB6607}"/>
              </a:ext>
            </a:extLst>
          </p:cNvPr>
          <p:cNvSpPr txBox="1"/>
          <p:nvPr/>
        </p:nvSpPr>
        <p:spPr>
          <a:xfrm>
            <a:off x="375547" y="6550223"/>
            <a:ext cx="464973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Images : </a:t>
            </a:r>
            <a:r>
              <a:rPr lang="fr-FR" sz="700" dirty="0" err="1">
                <a:solidFill>
                  <a:prstClr val="black"/>
                </a:solidFill>
                <a:latin typeface="Liberation Sans" panose="020B0604020202020204" pitchFamily="34" charset="0"/>
              </a:rPr>
              <a:t>Radiospares</a:t>
            </a:r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 / rs-online.com</a:t>
            </a:r>
            <a:endParaRPr lang="fr-FR" sz="1000" b="0" i="0" u="none" strike="noStrike" dirty="0">
              <a:solidFill>
                <a:prstClr val="black"/>
              </a:solidFill>
              <a:latin typeface="FreeSans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xmlns="" id="{D289D4E5-09E8-AD42-73C0-C8471D6E7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071" y="4692766"/>
            <a:ext cx="1381556" cy="1096068"/>
          </a:xfrm>
          <a:prstGeom prst="rect">
            <a:avLst/>
          </a:prstGeom>
        </p:spPr>
      </p:pic>
      <p:sp>
        <p:nvSpPr>
          <p:cNvPr id="5" name="Flèche : pentagone 4">
            <a:extLst>
              <a:ext uri="{FF2B5EF4-FFF2-40B4-BE49-F238E27FC236}">
                <a16:creationId xmlns:a16="http://schemas.microsoft.com/office/drawing/2014/main" xmlns="" id="{DE014027-48F6-3532-BE99-567152928E09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790C9144-7864-D612-F57A-71B9E80D5AF4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AD251406-607D-E333-192F-46CA14B165F6}"/>
              </a:ext>
            </a:extLst>
          </p:cNvPr>
          <p:cNvSpPr txBox="1"/>
          <p:nvPr/>
        </p:nvSpPr>
        <p:spPr>
          <a:xfrm>
            <a:off x="9132923" y="1354539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xmlns="" id="{0965991B-443A-8521-04F6-031FFAD9C80E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1C01F19-DB31-8668-339C-8F75B95B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2B949E1-8372-8FFA-6559-408F990036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A08FEDDA-5C1C-F219-1E35-D5CAE8BB273E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TP Intro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6AFDFE1-050E-F7A2-21B9-DF298279DADE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xmlns="" id="{0C249914-0AD1-5D97-4D19-F96E9F8B41BF}"/>
              </a:ext>
            </a:extLst>
          </p:cNvPr>
          <p:cNvSpPr/>
          <p:nvPr/>
        </p:nvSpPr>
        <p:spPr>
          <a:xfrm>
            <a:off x="2559835" y="2216556"/>
            <a:ext cx="4282014" cy="11504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 : pentagone 8">
            <a:extLst>
              <a:ext uri="{FF2B5EF4-FFF2-40B4-BE49-F238E27FC236}">
                <a16:creationId xmlns:a16="http://schemas.microsoft.com/office/drawing/2014/main" xmlns="" id="{89B6E3ED-08B2-F068-665C-DBF5FBA1F6F4}"/>
              </a:ext>
            </a:extLst>
          </p:cNvPr>
          <p:cNvSpPr/>
          <p:nvPr/>
        </p:nvSpPr>
        <p:spPr>
          <a:xfrm>
            <a:off x="2723793" y="2433493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Photodétecteur</a:t>
            </a:r>
          </a:p>
        </p:txBody>
      </p:sp>
      <p:sp>
        <p:nvSpPr>
          <p:cNvPr id="12" name="Flèche : chevron 11">
            <a:extLst>
              <a:ext uri="{FF2B5EF4-FFF2-40B4-BE49-F238E27FC236}">
                <a16:creationId xmlns:a16="http://schemas.microsoft.com/office/drawing/2014/main" xmlns="" id="{7078CD77-4923-553C-3E61-84FC1E8A3EF3}"/>
              </a:ext>
            </a:extLst>
          </p:cNvPr>
          <p:cNvSpPr/>
          <p:nvPr/>
        </p:nvSpPr>
        <p:spPr>
          <a:xfrm>
            <a:off x="4679913" y="2433493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Récepteur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47FAD1C9-D6DF-0E14-8595-7ADDD48CE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431" y="2303260"/>
            <a:ext cx="1074313" cy="954945"/>
          </a:xfrm>
          <a:prstGeom prst="rect">
            <a:avLst/>
          </a:prstGeom>
        </p:spPr>
      </p:pic>
      <p:sp>
        <p:nvSpPr>
          <p:cNvPr id="5" name="Triangle isocèle 4">
            <a:extLst>
              <a:ext uri="{FF2B5EF4-FFF2-40B4-BE49-F238E27FC236}">
                <a16:creationId xmlns:a16="http://schemas.microsoft.com/office/drawing/2014/main" xmlns="" id="{AD7EF57F-0014-F875-5DB5-0087A302908A}"/>
              </a:ext>
            </a:extLst>
          </p:cNvPr>
          <p:cNvSpPr/>
          <p:nvPr/>
        </p:nvSpPr>
        <p:spPr>
          <a:xfrm rot="5400000">
            <a:off x="1070940" y="1664580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6B0F9197-1F82-CDE0-0FCE-AD6F4CA945F1}"/>
              </a:ext>
            </a:extLst>
          </p:cNvPr>
          <p:cNvSpPr txBox="1"/>
          <p:nvPr/>
        </p:nvSpPr>
        <p:spPr>
          <a:xfrm>
            <a:off x="1370266" y="1594943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TP Introduction / </a:t>
            </a:r>
            <a:r>
              <a:rPr lang="fr-FR" dirty="0"/>
              <a:t>Découverte de la photodétection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xmlns="" id="{604D5A3B-217F-4C60-A09F-75DAA65F2B53}"/>
              </a:ext>
            </a:extLst>
          </p:cNvPr>
          <p:cNvSpPr/>
          <p:nvPr/>
        </p:nvSpPr>
        <p:spPr>
          <a:xfrm>
            <a:off x="1089253" y="3490974"/>
            <a:ext cx="2370384" cy="11504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pentagone 16">
            <a:extLst>
              <a:ext uri="{FF2B5EF4-FFF2-40B4-BE49-F238E27FC236}">
                <a16:creationId xmlns:a16="http://schemas.microsoft.com/office/drawing/2014/main" xmlns="" id="{7DBD2D8E-FA37-9F11-2173-32AC5F3DED3B}"/>
              </a:ext>
            </a:extLst>
          </p:cNvPr>
          <p:cNvSpPr/>
          <p:nvPr/>
        </p:nvSpPr>
        <p:spPr>
          <a:xfrm>
            <a:off x="1253211" y="3707911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ALI</a:t>
            </a:r>
          </a:p>
        </p:txBody>
      </p:sp>
      <p:pic>
        <p:nvPicPr>
          <p:cNvPr id="1026" name="Picture 2" descr="LOT DE 10 AMPLI. OP. TL081">
            <a:extLst>
              <a:ext uri="{FF2B5EF4-FFF2-40B4-BE49-F238E27FC236}">
                <a16:creationId xmlns:a16="http://schemas.microsoft.com/office/drawing/2014/main" xmlns="" id="{EC4D0EAD-0478-C136-FC7F-86F0C5CF4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274" y="3419253"/>
            <a:ext cx="1191278" cy="1191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ADC80A34-FBBA-7CF9-EDCB-C1FE7B28E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678" y="5124164"/>
            <a:ext cx="1559191" cy="115047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xmlns="" id="{F3274D28-0407-5741-4699-8D87031DB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106" y="5141122"/>
            <a:ext cx="1532052" cy="139433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xmlns="" id="{8414F22A-B7DA-F6E8-4121-7C012E88C4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113" y="5263057"/>
            <a:ext cx="2195219" cy="1033422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A97C856A-F235-F89E-F309-BAFEA5024AA3}"/>
              </a:ext>
            </a:extLst>
          </p:cNvPr>
          <p:cNvSpPr txBox="1"/>
          <p:nvPr/>
        </p:nvSpPr>
        <p:spPr>
          <a:xfrm>
            <a:off x="8436993" y="3176724"/>
            <a:ext cx="33609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découvrir le matériel d’instrumentation </a:t>
            </a:r>
            <a:r>
              <a:rPr lang="fr-FR" sz="2000" dirty="0"/>
              <a:t>à disposition en salle de TP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1088310E-1DE1-C585-A697-0063D7E414E7}"/>
              </a:ext>
            </a:extLst>
          </p:cNvPr>
          <p:cNvSpPr/>
          <p:nvPr/>
        </p:nvSpPr>
        <p:spPr>
          <a:xfrm>
            <a:off x="7836528" y="3176724"/>
            <a:ext cx="501003" cy="1015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FR" sz="1600" b="1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xmlns="" id="{73581FE1-00B3-FF87-FCCC-BFFC6FCDE75A}"/>
              </a:ext>
            </a:extLst>
          </p:cNvPr>
          <p:cNvSpPr txBox="1"/>
          <p:nvPr/>
        </p:nvSpPr>
        <p:spPr>
          <a:xfrm>
            <a:off x="8436993" y="4419449"/>
            <a:ext cx="3360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se familiariser avec </a:t>
            </a:r>
            <a:r>
              <a:rPr lang="fr-FR" sz="2000" b="1" dirty="0"/>
              <a:t>les photodiodes</a:t>
            </a:r>
            <a:endParaRPr lang="fr-FR" sz="2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4DE831EF-C141-16C6-9C54-545A90113FCB}"/>
              </a:ext>
            </a:extLst>
          </p:cNvPr>
          <p:cNvSpPr/>
          <p:nvPr/>
        </p:nvSpPr>
        <p:spPr>
          <a:xfrm>
            <a:off x="7836528" y="4419450"/>
            <a:ext cx="501003" cy="70788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FR" sz="1600" b="1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xmlns="" id="{337CAB5D-9646-D562-CE47-61DCFA881DDD}"/>
              </a:ext>
            </a:extLst>
          </p:cNvPr>
          <p:cNvSpPr txBox="1"/>
          <p:nvPr/>
        </p:nvSpPr>
        <p:spPr>
          <a:xfrm>
            <a:off x="8436992" y="5354397"/>
            <a:ext cx="33609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câbler des montages avec des </a:t>
            </a:r>
            <a:r>
              <a:rPr lang="fr-FR" sz="2000" b="1" dirty="0"/>
              <a:t>amplificateurs linéaires intégrés </a:t>
            </a:r>
            <a:r>
              <a:rPr lang="fr-FR" sz="2000" dirty="0"/>
              <a:t>(ALI)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49474BC5-9CB7-6F10-7E18-EA14F761F32D}"/>
              </a:ext>
            </a:extLst>
          </p:cNvPr>
          <p:cNvSpPr/>
          <p:nvPr/>
        </p:nvSpPr>
        <p:spPr>
          <a:xfrm>
            <a:off x="7836527" y="5354398"/>
            <a:ext cx="501003" cy="10156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FR" sz="1600" b="1" dirty="0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526E0BFB-CDF1-4990-8C11-AC849311E0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C72F330-992B-B125-739B-F8303ED3A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069A1F8-9BEB-4786-9694-FC48B2D75D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CF8D1EB8-F6E7-EB54-1CC8-28472070B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fr-FR" sz="4400" dirty="0" err="1">
                <a:latin typeface="Bahnschrift SemiBold" panose="020B0502040204020203" pitchFamily="34" charset="0"/>
              </a:rPr>
              <a:t>Photodétection</a:t>
            </a:r>
            <a:endParaRPr lang="fr-FR" sz="4400" dirty="0">
              <a:latin typeface="Bahnschrift SemiBold" panose="020B0502040204020203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BDFEFAEF-AB6A-BE8F-01E7-845FB609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Bahnschrift Light" panose="020B0502040204020203" pitchFamily="34" charset="0"/>
              </a:rPr>
              <a:t>Opto-Electronique / Semestre 5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  <a:p>
            <a:r>
              <a:rPr lang="fr-FR" sz="1400" dirty="0">
                <a:latin typeface="Bahnschrift Light" panose="020B0502040204020203" pitchFamily="34" charset="0"/>
              </a:rPr>
              <a:t>Julien VILLEMEJANE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1" y="145408"/>
            <a:ext cx="2694463" cy="11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7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93DE99D-D7A2-89F5-4CDD-A4230BF0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Caractéristiques électriques d’une diode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D25615BA-E509-3273-4031-675E8C0E5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67" y="2096655"/>
            <a:ext cx="5116071" cy="268194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11B8BE14-FBFA-B232-3834-FF44C178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90" y="6431396"/>
            <a:ext cx="2060773" cy="21330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183A1C47-7B34-F7B7-DB23-43C79D86D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90" y="2034333"/>
            <a:ext cx="4314146" cy="427185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3DF17ACC-61F6-EA66-87AE-E1FB2798F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590" y="6091679"/>
            <a:ext cx="1035395" cy="27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70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438" y="461838"/>
            <a:ext cx="1693258" cy="119660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A71C9A66-FD84-0971-7D7A-C122064CE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06" y="2089944"/>
            <a:ext cx="6524359" cy="303984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693DE99D-D7A2-89F5-4CDD-A4230BF0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Photodiode, une diode mais…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05D91B67-991B-E3AC-CDD3-0514D8351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97" y="5029212"/>
            <a:ext cx="2219567" cy="168512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xmlns="" id="{16039821-AF07-B8AA-D4AD-AD1473AAF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256" y="2601151"/>
            <a:ext cx="4158328" cy="266079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E3D999F0-1CE6-BDB7-A59E-7965B1770FEE}"/>
              </a:ext>
            </a:extLst>
          </p:cNvPr>
          <p:cNvSpPr txBox="1"/>
          <p:nvPr/>
        </p:nvSpPr>
        <p:spPr>
          <a:xfrm>
            <a:off x="4341067" y="63720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https://www.youtube.com/watch?v=rNoHLOumplk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84354B60-386D-4DA1-893C-60C9648C6B6A}"/>
              </a:ext>
            </a:extLst>
          </p:cNvPr>
          <p:cNvSpPr txBox="1"/>
          <p:nvPr/>
        </p:nvSpPr>
        <p:spPr>
          <a:xfrm>
            <a:off x="4341067" y="60027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https://www.youtube.com/watch?v=KgKcbW77txY</a:t>
            </a:r>
          </a:p>
        </p:txBody>
      </p:sp>
    </p:spTree>
    <p:extLst>
      <p:ext uri="{BB962C8B-B14F-4D97-AF65-F5344CB8AC3E}">
        <p14:creationId xmlns:p14="http://schemas.microsoft.com/office/powerpoint/2010/main" val="231160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438" y="461838"/>
            <a:ext cx="1693258" cy="119660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693DE99D-D7A2-89F5-4CDD-A4230BF0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Photodiode, une diode mais…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20239FE2-0D87-6889-76B9-152D65A8D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97" y="5029212"/>
            <a:ext cx="2219567" cy="168512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9DF2C12-21C1-B5E2-C1B9-386CE83CC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366" y="2132813"/>
            <a:ext cx="3533775" cy="45815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1082A5FF-57A8-5065-4A64-96E48AD404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06" y="2089944"/>
            <a:ext cx="6524359" cy="303984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60849CB4-5BF0-FF65-BA19-AC02E67EA2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3234" y="2132813"/>
            <a:ext cx="3038521" cy="435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80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526E0BFB-CDF1-4990-8C11-AC849311E0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C72F330-992B-B125-739B-F8303ED3A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069A1F8-9BEB-4786-9694-FC48B2D75D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CF8D1EB8-F6E7-EB54-1CC8-28472070B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fr-FR" sz="4400" dirty="0" err="1">
                <a:latin typeface="Bahnschrift SemiBold" panose="020B0502040204020203" pitchFamily="34" charset="0"/>
              </a:rPr>
              <a:t>Photodétection</a:t>
            </a:r>
            <a:r>
              <a:rPr lang="fr-FR" sz="4400" dirty="0">
                <a:latin typeface="Bahnschrift SemiBold" panose="020B0502040204020203" pitchFamily="34" charset="0"/>
              </a:rPr>
              <a:t/>
            </a:r>
            <a:br>
              <a:rPr lang="fr-FR" sz="4400" dirty="0">
                <a:latin typeface="Bahnschrift SemiBold" panose="020B0502040204020203" pitchFamily="34" charset="0"/>
              </a:rPr>
            </a:br>
            <a:r>
              <a:rPr lang="fr-FR" sz="4400" dirty="0">
                <a:latin typeface="Bahnschrift SemiBold" panose="020B0502040204020203" pitchFamily="34" charset="0"/>
              </a:rPr>
              <a:t/>
            </a:r>
            <a:br>
              <a:rPr lang="fr-FR" sz="4400" dirty="0">
                <a:latin typeface="Bahnschrift SemiBold" panose="020B0502040204020203" pitchFamily="34" charset="0"/>
              </a:rPr>
            </a:br>
            <a:r>
              <a:rPr lang="fr-FR" sz="4400" dirty="0">
                <a:latin typeface="Bahnschrift SemiBold" panose="020B0502040204020203" pitchFamily="34" charset="0"/>
              </a:rPr>
              <a:t>Montage simple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BDFEFAEF-AB6A-BE8F-01E7-845FB609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Bahnschrift Light" panose="020B0502040204020203" pitchFamily="34" charset="0"/>
              </a:rPr>
              <a:t>Opto-Electronique / Semestre 5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  <a:p>
            <a:r>
              <a:rPr lang="fr-FR" sz="1400" dirty="0">
                <a:latin typeface="Bahnschrift Light" panose="020B0502040204020203" pitchFamily="34" charset="0"/>
              </a:rPr>
              <a:t>Julien VILLEMEJANE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1" y="145408"/>
            <a:ext cx="2694463" cy="11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87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438" y="461838"/>
            <a:ext cx="1693258" cy="119660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693DE99D-D7A2-89F5-4CDD-A4230BF0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281F139D-B54B-7C7A-6CB5-AF27F925A3C2}"/>
              </a:ext>
            </a:extLst>
          </p:cNvPr>
          <p:cNvSpPr txBox="1"/>
          <p:nvPr/>
        </p:nvSpPr>
        <p:spPr>
          <a:xfrm>
            <a:off x="9282896" y="5410110"/>
            <a:ext cx="2617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V</a:t>
            </a:r>
            <a:r>
              <a:rPr lang="fr-FR" sz="2400" b="1" baseline="-25000" dirty="0"/>
              <a:t>S</a:t>
            </a:r>
            <a:r>
              <a:rPr lang="fr-FR" sz="2400" b="1" dirty="0"/>
              <a:t> = R</a:t>
            </a:r>
            <a:r>
              <a:rPr lang="fr-FR" sz="2400" b="1" baseline="-25000" dirty="0"/>
              <a:t>PHD</a:t>
            </a:r>
            <a:r>
              <a:rPr lang="fr-FR" sz="2400" b="1" dirty="0"/>
              <a:t> . </a:t>
            </a:r>
            <a:r>
              <a:rPr lang="fr-FR" sz="2400" b="1" dirty="0" err="1"/>
              <a:t>I</a:t>
            </a:r>
            <a:r>
              <a:rPr lang="fr-FR" sz="2400" b="1" baseline="-25000" dirty="0" err="1"/>
              <a:t>photo</a:t>
            </a:r>
            <a:endParaRPr lang="fr-FR" sz="2400" b="1" baseline="-25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56F5300C-80EA-8D56-BEB2-0E236C673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97" y="5029212"/>
            <a:ext cx="2219567" cy="168512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A80E7F5E-3491-DD54-A447-218B0553A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06" y="2089944"/>
            <a:ext cx="6524359" cy="30398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D45C889-C661-58C3-BFFA-E496108B4DDE}"/>
              </a:ext>
            </a:extLst>
          </p:cNvPr>
          <p:cNvSpPr/>
          <p:nvPr/>
        </p:nvSpPr>
        <p:spPr>
          <a:xfrm>
            <a:off x="6006478" y="2186872"/>
            <a:ext cx="1481560" cy="1088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9D24501-07DC-9B8F-BEE2-E57E41221B63}"/>
              </a:ext>
            </a:extLst>
          </p:cNvPr>
          <p:cNvSpPr/>
          <p:nvPr/>
        </p:nvSpPr>
        <p:spPr>
          <a:xfrm>
            <a:off x="6006478" y="4315853"/>
            <a:ext cx="1481560" cy="1088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9933810D-9EFB-D7AD-C192-C2D1749BB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289" y="3330574"/>
            <a:ext cx="3399207" cy="16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71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AB73770-127F-410F-7D44-3AEA449E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438" y="461838"/>
            <a:ext cx="1693258" cy="119660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693DE99D-D7A2-89F5-4CDD-A4230BF0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Montage de </a:t>
            </a:r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281F139D-B54B-7C7A-6CB5-AF27F925A3C2}"/>
              </a:ext>
            </a:extLst>
          </p:cNvPr>
          <p:cNvSpPr txBox="1"/>
          <p:nvPr/>
        </p:nvSpPr>
        <p:spPr>
          <a:xfrm>
            <a:off x="9282896" y="5410110"/>
            <a:ext cx="2617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V</a:t>
            </a:r>
            <a:r>
              <a:rPr lang="fr-FR" sz="2400" b="1" baseline="-25000" dirty="0"/>
              <a:t>S</a:t>
            </a:r>
            <a:r>
              <a:rPr lang="fr-FR" sz="2400" b="1" dirty="0"/>
              <a:t> = R</a:t>
            </a:r>
            <a:r>
              <a:rPr lang="fr-FR" sz="2400" b="1" baseline="-25000" dirty="0"/>
              <a:t>PHD</a:t>
            </a:r>
            <a:r>
              <a:rPr lang="fr-FR" sz="2400" b="1" dirty="0"/>
              <a:t> . </a:t>
            </a:r>
            <a:r>
              <a:rPr lang="fr-FR" sz="2400" b="1" dirty="0" err="1"/>
              <a:t>I</a:t>
            </a:r>
            <a:r>
              <a:rPr lang="fr-FR" sz="2400" b="1" baseline="-25000" dirty="0" err="1"/>
              <a:t>photo</a:t>
            </a:r>
            <a:endParaRPr lang="fr-FR" sz="2400" b="1" baseline="-25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56F5300C-80EA-8D56-BEB2-0E236C673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97" y="5029212"/>
            <a:ext cx="2219567" cy="168512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A80E7F5E-3491-DD54-A447-218B0553A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06" y="2089944"/>
            <a:ext cx="6524359" cy="30398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D45C889-C661-58C3-BFFA-E496108B4DDE}"/>
              </a:ext>
            </a:extLst>
          </p:cNvPr>
          <p:cNvSpPr/>
          <p:nvPr/>
        </p:nvSpPr>
        <p:spPr>
          <a:xfrm>
            <a:off x="6006478" y="2186872"/>
            <a:ext cx="1481560" cy="1088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9D24501-07DC-9B8F-BEE2-E57E41221B63}"/>
              </a:ext>
            </a:extLst>
          </p:cNvPr>
          <p:cNvSpPr/>
          <p:nvPr/>
        </p:nvSpPr>
        <p:spPr>
          <a:xfrm>
            <a:off x="6006478" y="4315853"/>
            <a:ext cx="1481560" cy="1088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xmlns="" id="{78C9C485-2033-2105-8303-3D4A9E4A0F72}"/>
              </a:ext>
            </a:extLst>
          </p:cNvPr>
          <p:cNvCxnSpPr>
            <a:cxnSpLocks/>
          </p:cNvCxnSpPr>
          <p:nvPr/>
        </p:nvCxnSpPr>
        <p:spPr>
          <a:xfrm>
            <a:off x="2685595" y="3381861"/>
            <a:ext cx="1506263" cy="1839068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F24CBD64-90CE-DFB1-86FA-1191618B4004}"/>
              </a:ext>
            </a:extLst>
          </p:cNvPr>
          <p:cNvSpPr/>
          <p:nvPr/>
        </p:nvSpPr>
        <p:spPr>
          <a:xfrm>
            <a:off x="3190979" y="3985889"/>
            <a:ext cx="108155" cy="13987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xmlns="" id="{83B44C3E-5E1E-D02B-90E8-79958DC2C4E6}"/>
              </a:ext>
            </a:extLst>
          </p:cNvPr>
          <p:cNvSpPr/>
          <p:nvPr/>
        </p:nvSpPr>
        <p:spPr>
          <a:xfrm>
            <a:off x="3651311" y="4557125"/>
            <a:ext cx="108155" cy="13987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xmlns="" id="{7EA4F1BA-DEF0-1A17-8BBA-D98612DA7586}"/>
              </a:ext>
            </a:extLst>
          </p:cNvPr>
          <p:cNvSpPr/>
          <p:nvPr/>
        </p:nvSpPr>
        <p:spPr>
          <a:xfrm>
            <a:off x="2830318" y="3539925"/>
            <a:ext cx="108155" cy="13987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EEC7C10D-7D55-AC26-4887-6A565105EC8B}"/>
              </a:ext>
            </a:extLst>
          </p:cNvPr>
          <p:cNvSpPr txBox="1"/>
          <p:nvPr/>
        </p:nvSpPr>
        <p:spPr>
          <a:xfrm>
            <a:off x="4650657" y="6308540"/>
            <a:ext cx="448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Tension de polarisation non constante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F39D4A0B-CC75-EB5C-DB24-FC537125B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289" y="3330574"/>
            <a:ext cx="3399207" cy="16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04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1FE1944-10EE-8B45-724B-99FDCFAF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CB15E950-4ED7-A83A-649B-5AF2EED00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438" y="461838"/>
            <a:ext cx="1693258" cy="119660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A6E2F921-DF3A-8ABE-427E-B6C109BB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ADA2F06C-7D0F-2639-7689-73CFB0F4D0BC}"/>
              </a:ext>
            </a:extLst>
          </p:cNvPr>
          <p:cNvSpPr txBox="1"/>
          <p:nvPr/>
        </p:nvSpPr>
        <p:spPr>
          <a:xfrm>
            <a:off x="584506" y="6309360"/>
            <a:ext cx="605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Bande passante réduite (à cause du système de mesure)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B55DCAE4-D6FE-6834-12A8-9822CF61A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821" y="2343656"/>
            <a:ext cx="7697274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436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2E8E6"/>
      </a:lt2>
      <a:accent1>
        <a:srgbClr val="C696A7"/>
      </a:accent1>
      <a:accent2>
        <a:srgbClr val="BA827F"/>
      </a:accent2>
      <a:accent3>
        <a:srgbClr val="BC9E83"/>
      </a:accent3>
      <a:accent4>
        <a:srgbClr val="ABA575"/>
      </a:accent4>
      <a:accent5>
        <a:srgbClr val="9CA87F"/>
      </a:accent5>
      <a:accent6>
        <a:srgbClr val="85AD76"/>
      </a:accent6>
      <a:hlink>
        <a:srgbClr val="568F7B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TM03457452[[fn=Céleste]]</Template>
  <TotalTime>628</TotalTime>
  <Words>309</Words>
  <Application>Microsoft Office PowerPoint</Application>
  <PresentationFormat>Grand écran</PresentationFormat>
  <Paragraphs>95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Arial</vt:lpstr>
      <vt:lpstr>Avenir Next LT Pro</vt:lpstr>
      <vt:lpstr>Bahnschrift Light</vt:lpstr>
      <vt:lpstr>Bahnschrift SemiBold</vt:lpstr>
      <vt:lpstr>Calibri</vt:lpstr>
      <vt:lpstr>FreeSans</vt:lpstr>
      <vt:lpstr>Liberation Sans</vt:lpstr>
      <vt:lpstr>AccentBoxVTI</vt:lpstr>
      <vt:lpstr>UE Opto électronique   TD et TP</vt:lpstr>
      <vt:lpstr>Présentation PowerPoint</vt:lpstr>
      <vt:lpstr>Présentation PowerPoint</vt:lpstr>
      <vt:lpstr>Présentation PowerPoint</vt:lpstr>
      <vt:lpstr>Présentation PowerPoint</vt:lpstr>
      <vt:lpstr>Photodétection</vt:lpstr>
      <vt:lpstr>Caractéristiques électriques d’une diode</vt:lpstr>
      <vt:lpstr>Photodiode, une diode mais…</vt:lpstr>
      <vt:lpstr>Photodiode, une diode mais…</vt:lpstr>
      <vt:lpstr>Photodétection  Montage simple</vt:lpstr>
      <vt:lpstr>Montage de photodétection</vt:lpstr>
      <vt:lpstr>Montage de photodétection</vt:lpstr>
      <vt:lpstr>Modélisation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Outils Numériques - Méthodes et Outils</dc:title>
  <dc:creator>Julien VILLEMEJANE</dc:creator>
  <cp:lastModifiedBy>Utilisateur Windows</cp:lastModifiedBy>
  <cp:revision>246</cp:revision>
  <dcterms:created xsi:type="dcterms:W3CDTF">2023-04-08T12:37:13Z</dcterms:created>
  <dcterms:modified xsi:type="dcterms:W3CDTF">2026-03-20T14:41:46Z</dcterms:modified>
</cp:coreProperties>
</file>