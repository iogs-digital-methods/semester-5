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4" r:id="rId2"/>
  </p:sldMasterIdLst>
  <p:notesMasterIdLst>
    <p:notesMasterId r:id="rId44"/>
  </p:notesMasterIdLst>
  <p:handoutMasterIdLst>
    <p:handoutMasterId r:id="rId45"/>
  </p:handoutMasterIdLst>
  <p:sldIdLst>
    <p:sldId id="317" r:id="rId3"/>
    <p:sldId id="318" r:id="rId4"/>
    <p:sldId id="354" r:id="rId5"/>
    <p:sldId id="357" r:id="rId6"/>
    <p:sldId id="358" r:id="rId7"/>
    <p:sldId id="359" r:id="rId8"/>
    <p:sldId id="362" r:id="rId9"/>
    <p:sldId id="365" r:id="rId10"/>
    <p:sldId id="369" r:id="rId11"/>
    <p:sldId id="366" r:id="rId12"/>
    <p:sldId id="377" r:id="rId13"/>
    <p:sldId id="379" r:id="rId14"/>
    <p:sldId id="378" r:id="rId15"/>
    <p:sldId id="380" r:id="rId16"/>
    <p:sldId id="403" r:id="rId17"/>
    <p:sldId id="370" r:id="rId18"/>
    <p:sldId id="371" r:id="rId19"/>
    <p:sldId id="372" r:id="rId20"/>
    <p:sldId id="361" r:id="rId21"/>
    <p:sldId id="329" r:id="rId22"/>
    <p:sldId id="367" r:id="rId23"/>
    <p:sldId id="368" r:id="rId24"/>
    <p:sldId id="376" r:id="rId25"/>
    <p:sldId id="373" r:id="rId26"/>
    <p:sldId id="374" r:id="rId27"/>
    <p:sldId id="375" r:id="rId28"/>
    <p:sldId id="381" r:id="rId29"/>
    <p:sldId id="383" r:id="rId30"/>
    <p:sldId id="384" r:id="rId31"/>
    <p:sldId id="386" r:id="rId32"/>
    <p:sldId id="388" r:id="rId33"/>
    <p:sldId id="390" r:id="rId34"/>
    <p:sldId id="389" r:id="rId35"/>
    <p:sldId id="391" r:id="rId36"/>
    <p:sldId id="396" r:id="rId37"/>
    <p:sldId id="385" r:id="rId38"/>
    <p:sldId id="392" r:id="rId39"/>
    <p:sldId id="393" r:id="rId40"/>
    <p:sldId id="394" r:id="rId41"/>
    <p:sldId id="395" r:id="rId42"/>
    <p:sldId id="397" r:id="rId43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1pPr>
    <a:lvl2pPr marL="45358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2pPr>
    <a:lvl3pPr marL="91034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3pPr>
    <a:lvl4pPr marL="13671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4pPr>
    <a:lvl5pPr marL="182387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5pPr>
    <a:lvl6pPr marL="2283805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6pPr>
    <a:lvl7pPr marL="274056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7pPr>
    <a:lvl8pPr marL="319732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8pPr>
    <a:lvl9pPr marL="3654091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A6AAF0A-6CDB-6A4B-A404-BE18D9B0BA16}">
          <p14:sldIdLst>
            <p14:sldId id="317"/>
            <p14:sldId id="318"/>
            <p14:sldId id="354"/>
            <p14:sldId id="357"/>
            <p14:sldId id="358"/>
            <p14:sldId id="359"/>
            <p14:sldId id="362"/>
            <p14:sldId id="365"/>
            <p14:sldId id="369"/>
            <p14:sldId id="366"/>
            <p14:sldId id="377"/>
            <p14:sldId id="379"/>
            <p14:sldId id="378"/>
            <p14:sldId id="380"/>
            <p14:sldId id="403"/>
            <p14:sldId id="370"/>
            <p14:sldId id="371"/>
            <p14:sldId id="372"/>
            <p14:sldId id="361"/>
            <p14:sldId id="329"/>
            <p14:sldId id="367"/>
            <p14:sldId id="368"/>
            <p14:sldId id="376"/>
            <p14:sldId id="373"/>
            <p14:sldId id="374"/>
            <p14:sldId id="375"/>
            <p14:sldId id="381"/>
            <p14:sldId id="383"/>
            <p14:sldId id="384"/>
            <p14:sldId id="386"/>
            <p14:sldId id="388"/>
            <p14:sldId id="390"/>
            <p14:sldId id="389"/>
            <p14:sldId id="391"/>
            <p14:sldId id="396"/>
            <p14:sldId id="385"/>
            <p14:sldId id="392"/>
            <p14:sldId id="393"/>
            <p14:sldId id="394"/>
            <p14:sldId id="395"/>
            <p14:sldId id="3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lvie Retailleau" initials="SR" lastIdx="9" clrIdx="0"/>
  <p:cmAuthor id="2" name="Claire LARTIGUE" initials="CL" lastIdx="10" clrIdx="1"/>
  <p:cmAuthor id="3" name="Bouye Clementine" initials="BC" lastIdx="1" clrIdx="2">
    <p:extLst>
      <p:ext uri="{19B8F6BF-5375-455C-9EA6-DF929625EA0E}">
        <p15:presenceInfo xmlns:p15="http://schemas.microsoft.com/office/powerpoint/2012/main" userId="S-1-5-21-2844717677-1882146966-2427725951-285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60A"/>
    <a:srgbClr val="222268"/>
    <a:srgbClr val="002060"/>
    <a:srgbClr val="00B0F0"/>
    <a:srgbClr val="FA960A"/>
    <a:srgbClr val="D9D9D9"/>
    <a:srgbClr val="6AB5D9"/>
    <a:srgbClr val="0A3250"/>
    <a:srgbClr val="CBE5F9"/>
    <a:srgbClr val="9E1B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3" autoAdjust="0"/>
    <p:restoredTop sz="93220" autoAdjust="0"/>
  </p:normalViewPr>
  <p:slideViewPr>
    <p:cSldViewPr>
      <p:cViewPr varScale="1">
        <p:scale>
          <a:sx n="81" d="100"/>
          <a:sy n="81" d="100"/>
        </p:scale>
        <p:origin x="1044" y="96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56" d="100"/>
          <a:sy n="156" d="100"/>
        </p:scale>
        <p:origin x="7648" y="19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05200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E5C97D-F4A4-3148-9D69-08ACA8026603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0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r>
              <a:rPr lang="fr-FR" dirty="0"/>
              <a:t>CA IOGS 20 décembre 2018</a:t>
            </a:r>
          </a:p>
        </p:txBody>
      </p:sp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510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202EF97-A5BF-E644-B5D7-99A720C3808E}" type="datetimeFigureOut">
              <a:rPr lang="fr-FR"/>
              <a:pPr/>
              <a:t>01/10/2026</a:t>
            </a:fld>
            <a:endParaRPr lang="fr-FR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D8CFC6-2EE8-4043-8C44-71F3876B96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8540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1pPr>
    <a:lvl2pPr marL="45358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2pPr>
    <a:lvl3pPr marL="91034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3pPr>
    <a:lvl4pPr marL="13671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4pPr>
    <a:lvl5pPr marL="182387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5pPr>
    <a:lvl6pPr marL="2282113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8534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4959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1381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6973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839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4979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5019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34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22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06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8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4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58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76049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9703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78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07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116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79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547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62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5" name="Image 4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83C2882-4408-CE09-DEC2-6856CAFD3C6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7" y="0"/>
            <a:ext cx="4343400" cy="1524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6" name="Image 5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8EBAC630-7DDC-F79A-67A7-A059B76493E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35" y="116632"/>
            <a:ext cx="2070649" cy="127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8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0.png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7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Bases de la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Module OPTO-ELECTRONIQUE</a:t>
            </a:r>
            <a:endParaRPr lang="fr-FR" dirty="0"/>
          </a:p>
          <a:p>
            <a:endParaRPr lang="fr-FR" sz="2000" dirty="0"/>
          </a:p>
          <a:p>
            <a:r>
              <a:rPr lang="fr-FR" sz="1600" dirty="0"/>
              <a:t>Julien VILLEMEJANE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FC07010-60CC-0F51-321B-2AEC004C2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275" y="5035788"/>
            <a:ext cx="1346761" cy="151308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875D335-1D18-FB0A-5718-530BDA1B0943}"/>
              </a:ext>
            </a:extLst>
          </p:cNvPr>
          <p:cNvSpPr txBox="1"/>
          <p:nvPr/>
        </p:nvSpPr>
        <p:spPr>
          <a:xfrm>
            <a:off x="10527274" y="6553442"/>
            <a:ext cx="1617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Basler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/ </a:t>
            </a:r>
            <a:r>
              <a:rPr lang="fr-FR" sz="1000" dirty="0" err="1"/>
              <a:t>Mouser</a:t>
            </a:r>
            <a:endParaRPr lang="fr-FR" sz="1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36684"/>
            <a:ext cx="3528392" cy="144942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AB73770-127F-410F-7D44-3AEA449E7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368" y="2408321"/>
            <a:ext cx="1693258" cy="119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8F62-2BA7-5433-D3F9-0B932A38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La lumière et la photonique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F7749-22D3-3F7F-7083-A3D1AA47EF6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1C4F08E-F65F-6CFF-9C78-39625F5CB94A}"/>
              </a:ext>
            </a:extLst>
          </p:cNvPr>
          <p:cNvSpPr txBox="1"/>
          <p:nvPr/>
        </p:nvSpPr>
        <p:spPr>
          <a:xfrm>
            <a:off x="5324954" y="3095011"/>
            <a:ext cx="562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AOP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5" name="Connecteur droit 14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Lumière : vecteur d’informations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F10AE76-94A2-EB4F-46C3-6E6B20701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238" y="1662176"/>
            <a:ext cx="4074980" cy="263250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C5CF76B-1077-5027-1C1E-6BF93F00D805}"/>
              </a:ext>
            </a:extLst>
          </p:cNvPr>
          <p:cNvSpPr txBox="1"/>
          <p:nvPr/>
        </p:nvSpPr>
        <p:spPr>
          <a:xfrm>
            <a:off x="860214" y="2321996"/>
            <a:ext cx="58118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/>
              <a:t>La lumière est une </a:t>
            </a:r>
            <a:r>
              <a:rPr lang="fr-FR" b="1" dirty="0"/>
              <a:t>onde électromagnétique transversale </a:t>
            </a:r>
            <a:r>
              <a:rPr lang="fr-FR" dirty="0"/>
              <a:t>définie par sa </a:t>
            </a:r>
            <a:r>
              <a:rPr lang="fr-FR" b="1" dirty="0"/>
              <a:t>longueur d’onde </a:t>
            </a:r>
            <a:r>
              <a:rPr lang="fr-FR" dirty="0"/>
              <a:t>et sa </a:t>
            </a:r>
            <a:r>
              <a:rPr lang="fr-FR" b="1" dirty="0"/>
              <a:t>polarisation</a:t>
            </a:r>
            <a:endParaRPr lang="fr-FR" sz="20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18" name="Rectangle : coins arrondis 8">
            <a:extLst>
              <a:ext uri="{FF2B5EF4-FFF2-40B4-BE49-F238E27FC236}">
                <a16:creationId xmlns:a16="http://schemas.microsoft.com/office/drawing/2014/main" id="{D61C715A-5949-C7C8-D3E7-D1E5ABF4EF33}"/>
              </a:ext>
            </a:extLst>
          </p:cNvPr>
          <p:cNvSpPr/>
          <p:nvPr/>
        </p:nvSpPr>
        <p:spPr>
          <a:xfrm>
            <a:off x="695399" y="1792224"/>
            <a:ext cx="6217463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Lumière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AE8C7B6-44F1-95F7-8D61-B3DC064D0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56" y="4494123"/>
            <a:ext cx="2767680" cy="2046217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894AD082-2B8E-5622-0E34-B2ECA6750AB1}"/>
              </a:ext>
            </a:extLst>
          </p:cNvPr>
          <p:cNvSpPr txBox="1"/>
          <p:nvPr/>
        </p:nvSpPr>
        <p:spPr>
          <a:xfrm>
            <a:off x="6392784" y="1316516"/>
            <a:ext cx="5247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sz="1200" i="1" dirty="0" err="1">
                <a:solidFill>
                  <a:prstClr val="black"/>
                </a:solidFill>
                <a:latin typeface="+mj-lt"/>
              </a:rPr>
              <a:t>Schémas</a:t>
            </a:r>
            <a:r>
              <a:rPr lang="en-US" sz="1200" i="1" dirty="0">
                <a:solidFill>
                  <a:prstClr val="black"/>
                </a:solidFill>
                <a:latin typeface="+mj-lt"/>
              </a:rPr>
              <a:t> et image </a:t>
            </a:r>
            <a:r>
              <a:rPr lang="en-US" sz="1200" i="1" dirty="0" err="1">
                <a:solidFill>
                  <a:prstClr val="black"/>
                </a:solidFill>
                <a:latin typeface="+mj-lt"/>
              </a:rPr>
              <a:t>empruntés</a:t>
            </a:r>
            <a:r>
              <a:rPr lang="en-US" sz="1200" i="1" dirty="0">
                <a:solidFill>
                  <a:prstClr val="black"/>
                </a:solidFill>
                <a:latin typeface="+mj-lt"/>
              </a:rPr>
              <a:t> au </a:t>
            </a:r>
            <a:r>
              <a:rPr lang="en-US" sz="1200" i="1" dirty="0" err="1">
                <a:solidFill>
                  <a:prstClr val="black"/>
                </a:solidFill>
                <a:latin typeface="+mj-lt"/>
              </a:rPr>
              <a:t>cours</a:t>
            </a:r>
            <a:r>
              <a:rPr lang="en-US" sz="1200" i="1" dirty="0">
                <a:solidFill>
                  <a:prstClr val="black"/>
                </a:solidFill>
                <a:latin typeface="+mj-lt"/>
              </a:rPr>
              <a:t> </a:t>
            </a:r>
            <a:r>
              <a:rPr lang="en-US" sz="1200" i="1" dirty="0" err="1">
                <a:solidFill>
                  <a:prstClr val="black"/>
                </a:solidFill>
                <a:latin typeface="+mj-lt"/>
              </a:rPr>
              <a:t>d’optique</a:t>
            </a:r>
            <a:r>
              <a:rPr lang="en-US" sz="1200" i="1" dirty="0">
                <a:solidFill>
                  <a:prstClr val="black"/>
                </a:solidFill>
                <a:latin typeface="+mj-lt"/>
              </a:rPr>
              <a:t> </a:t>
            </a:r>
            <a:r>
              <a:rPr lang="en-US" sz="1200" i="1" dirty="0" err="1">
                <a:solidFill>
                  <a:prstClr val="black"/>
                </a:solidFill>
                <a:latin typeface="+mj-lt"/>
              </a:rPr>
              <a:t>instrumentale</a:t>
            </a:r>
            <a:r>
              <a:rPr lang="en-US" sz="1200" i="1" dirty="0">
                <a:solidFill>
                  <a:prstClr val="black"/>
                </a:solidFill>
                <a:latin typeface="+mj-lt"/>
              </a:rPr>
              <a:t> (SC19) de Sébastien de ROSSI</a:t>
            </a:r>
            <a:endParaRPr lang="fr-FR" sz="1200" i="1" u="none" strike="noStrike" dirty="0">
              <a:solidFill>
                <a:prstClr val="black"/>
              </a:solidFill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DBE268-3972-9025-6AE0-17D17AD3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42" y="4124332"/>
            <a:ext cx="3471471" cy="243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 : coins arrondis 8">
            <a:extLst>
              <a:ext uri="{FF2B5EF4-FFF2-40B4-BE49-F238E27FC236}">
                <a16:creationId xmlns:a16="http://schemas.microsoft.com/office/drawing/2014/main" id="{7DA35075-E953-2874-7CE3-21A2E0D6FC40}"/>
              </a:ext>
            </a:extLst>
          </p:cNvPr>
          <p:cNvSpPr/>
          <p:nvPr/>
        </p:nvSpPr>
        <p:spPr>
          <a:xfrm>
            <a:off x="695399" y="3260282"/>
            <a:ext cx="6217463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Transmission d’informations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FA71A25-D606-B457-2743-531438651E2E}"/>
              </a:ext>
            </a:extLst>
          </p:cNvPr>
          <p:cNvSpPr txBox="1"/>
          <p:nvPr/>
        </p:nvSpPr>
        <p:spPr>
          <a:xfrm>
            <a:off x="4412875" y="3818745"/>
            <a:ext cx="23870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dirty="0"/>
              <a:t>Modification des propriétés de la lumière pour porter une information</a:t>
            </a:r>
            <a:endParaRPr lang="fr-FR" sz="18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A89CAA4-5F92-5724-BF14-9A5792EC3944}"/>
              </a:ext>
            </a:extLst>
          </p:cNvPr>
          <p:cNvSpPr txBox="1"/>
          <p:nvPr/>
        </p:nvSpPr>
        <p:spPr>
          <a:xfrm>
            <a:off x="4902466" y="4901678"/>
            <a:ext cx="238706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fr-FR" sz="1400" dirty="0"/>
              <a:t>Polarisation</a:t>
            </a:r>
          </a:p>
          <a:p>
            <a:pPr marL="285750" indent="-285750" algn="just">
              <a:buFontTx/>
              <a:buChar char="-"/>
            </a:pPr>
            <a:r>
              <a:rPr lang="fr-FR" sz="1400" dirty="0"/>
              <a:t>Amplitude (modulation)</a:t>
            </a:r>
          </a:p>
          <a:p>
            <a:pPr marL="285750" indent="-285750" algn="just">
              <a:buFontTx/>
              <a:buChar char="-"/>
            </a:pPr>
            <a:r>
              <a:rPr lang="fr-FR" sz="1400" dirty="0"/>
              <a:t>Phase</a:t>
            </a:r>
          </a:p>
          <a:p>
            <a:pPr marL="285750" indent="-285750" algn="just">
              <a:buFontTx/>
              <a:buChar char="-"/>
            </a:pPr>
            <a:r>
              <a:rPr lang="fr-FR" sz="1400" dirty="0"/>
              <a:t>Intrication</a:t>
            </a:r>
          </a:p>
          <a:p>
            <a:pPr algn="just"/>
            <a:endParaRPr lang="fr-FR" sz="18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0FA8E40-6508-567D-35AB-BC9FF40EA46D}"/>
              </a:ext>
            </a:extLst>
          </p:cNvPr>
          <p:cNvSpPr txBox="1"/>
          <p:nvPr/>
        </p:nvSpPr>
        <p:spPr>
          <a:xfrm>
            <a:off x="335360" y="6332903"/>
            <a:ext cx="4248472" cy="38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700"/>
              </a:lnSpc>
              <a:buNone/>
            </a:pPr>
            <a:r>
              <a:rPr lang="fr-FR" sz="1050" b="1" i="0" dirty="0" err="1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</a:rPr>
              <a:t>TPs</a:t>
            </a:r>
            <a:r>
              <a:rPr lang="fr-FR" sz="1050" b="1" i="0" dirty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</a:rPr>
              <a:t> Optique cohérente / </a:t>
            </a:r>
            <a:r>
              <a:rPr lang="fr-FR" sz="1050" b="1" i="0" dirty="0" err="1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</a:rPr>
              <a:t>LEnsE</a:t>
            </a:r>
            <a:r>
              <a:rPr lang="fr-FR" sz="1050" b="1" i="0" dirty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</a:rPr>
              <a:t> – 3A</a:t>
            </a:r>
          </a:p>
        </p:txBody>
      </p:sp>
    </p:spTree>
    <p:extLst>
      <p:ext uri="{BB962C8B-B14F-4D97-AF65-F5344CB8AC3E}">
        <p14:creationId xmlns:p14="http://schemas.microsoft.com/office/powerpoint/2010/main" val="301465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err="1"/>
              <a:t>Photodétection</a:t>
            </a:r>
            <a:r>
              <a:rPr lang="fr-FR" dirty="0"/>
              <a:t> / Exemples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Application de la </a:t>
            </a:r>
            <a:r>
              <a:rPr lang="fr-FR" dirty="0" err="1">
                <a:latin typeface="Bahnschrift SemiBold" panose="020B0502040204020203" pitchFamily="34" charset="0"/>
              </a:rPr>
              <a:t>photodétection</a:t>
            </a:r>
            <a:endParaRPr lang="fr-FR" dirty="0"/>
          </a:p>
          <a:p>
            <a:endParaRPr lang="fr-FR" sz="2000" dirty="0"/>
          </a:p>
        </p:txBody>
      </p:sp>
      <p:pic>
        <p:nvPicPr>
          <p:cNvPr id="4" name="Image 3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68974E28-E8E5-A2D3-2FA4-80DBF0426D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2294164"/>
            <a:ext cx="3909375" cy="26062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73EAD93-EC04-E6B8-DFA9-6F2579C63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232" y="5035788"/>
            <a:ext cx="1694972" cy="15073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FC07010-60CC-0F51-321B-2AEC004C2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7275" y="5035788"/>
            <a:ext cx="1346761" cy="151308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4B3C565-073B-8D22-06F4-BA1E9315683E}"/>
              </a:ext>
            </a:extLst>
          </p:cNvPr>
          <p:cNvSpPr txBox="1"/>
          <p:nvPr/>
        </p:nvSpPr>
        <p:spPr>
          <a:xfrm>
            <a:off x="8180236" y="6527409"/>
            <a:ext cx="1248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IDS </a:t>
            </a:r>
            <a:r>
              <a:rPr lang="fr-FR" sz="1000" dirty="0" err="1"/>
              <a:t>Sensor</a:t>
            </a:r>
            <a:endParaRPr lang="fr-FR" sz="1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875D335-1D18-FB0A-5718-530BDA1B0943}"/>
              </a:ext>
            </a:extLst>
          </p:cNvPr>
          <p:cNvSpPr txBox="1"/>
          <p:nvPr/>
        </p:nvSpPr>
        <p:spPr>
          <a:xfrm>
            <a:off x="10527274" y="6553442"/>
            <a:ext cx="1617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Basler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/ </a:t>
            </a:r>
            <a:r>
              <a:rPr lang="fr-FR" sz="1000" dirty="0" err="1"/>
              <a:t>Mouser</a:t>
            </a:r>
            <a:endParaRPr lang="fr-FR" sz="1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36684"/>
            <a:ext cx="3528392" cy="14494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F39537-C4EF-EB4A-CF6A-A860440D86E3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B84B51-2511-1AA1-8DF5-712332F65841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776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8F62-2BA7-5433-D3F9-0B932A38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 err="1"/>
              <a:t>Photodétection</a:t>
            </a:r>
            <a:r>
              <a:rPr lang="fr-FR" dirty="0"/>
              <a:t> / Exemples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F7749-22D3-3F7F-7083-A3D1AA47EF6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5" name="Connecteur droit 14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Applications en photonique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B0A98EB-DDF5-B761-C978-8F745643582B}"/>
              </a:ext>
            </a:extLst>
          </p:cNvPr>
          <p:cNvSpPr txBox="1"/>
          <p:nvPr/>
        </p:nvSpPr>
        <p:spPr>
          <a:xfrm>
            <a:off x="7279676" y="2305755"/>
            <a:ext cx="4097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fr-FR" b="1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Groupe </a:t>
            </a:r>
            <a:r>
              <a:rPr lang="fr-F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Gaz Quantiques</a:t>
            </a:r>
            <a:r>
              <a:rPr lang="fr-FR" b="1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LCF 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B190438-D96A-F301-B6AF-D2366626D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57" y="3716770"/>
            <a:ext cx="7323749" cy="3040047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3BE17C6-7C71-2115-47EE-737F0B82ED84}"/>
              </a:ext>
            </a:extLst>
          </p:cNvPr>
          <p:cNvSpPr txBox="1"/>
          <p:nvPr/>
        </p:nvSpPr>
        <p:spPr>
          <a:xfrm>
            <a:off x="6621580" y="1618029"/>
            <a:ext cx="4933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5"/>
              </a:spcAft>
            </a:pPr>
            <a:r>
              <a:rPr lang="fr-FR" b="1" dirty="0">
                <a:solidFill>
                  <a:srgbClr val="ED6A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Interféromètre à atomes froids piégés sur puce avec séparation spatiale</a:t>
            </a:r>
            <a:endParaRPr lang="fr-FR" b="1" i="0" dirty="0">
              <a:solidFill>
                <a:srgbClr val="ED6A17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BC51A3E-7134-2CAA-8CCD-FAE24C4662F9}"/>
              </a:ext>
            </a:extLst>
          </p:cNvPr>
          <p:cNvSpPr txBox="1"/>
          <p:nvPr/>
        </p:nvSpPr>
        <p:spPr>
          <a:xfrm>
            <a:off x="8617105" y="4653136"/>
            <a:ext cx="30872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b="0" i="1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Représentation d’un interféromètre de </a:t>
            </a:r>
            <a:r>
              <a:rPr lang="fr-FR" sz="1600" b="1" i="1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Mach-Zehnder</a:t>
            </a:r>
            <a:r>
              <a:rPr lang="fr-FR" sz="1600" b="0" i="1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(a) en optique, et (b) en version atomique, aussi appelé Ramsey-Bordé.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4902473-78ED-B9C3-60A2-82C710D3A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212360"/>
            <a:ext cx="3076488" cy="1732549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D70F79D7-7EFD-9C0E-6951-8B90FB7C6855}"/>
              </a:ext>
            </a:extLst>
          </p:cNvPr>
          <p:cNvSpPr txBox="1"/>
          <p:nvPr/>
        </p:nvSpPr>
        <p:spPr>
          <a:xfrm>
            <a:off x="695400" y="1606995"/>
            <a:ext cx="3816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b="0" i="1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Représentation d’un interféromètre de </a:t>
            </a:r>
            <a:r>
              <a:rPr lang="fr-FR" sz="1400" b="1" i="1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Michelson</a:t>
            </a:r>
            <a:endParaRPr lang="fr-FR" sz="1400" b="1" dirty="0"/>
          </a:p>
        </p:txBody>
      </p:sp>
      <p:pic>
        <p:nvPicPr>
          <p:cNvPr id="1026" name="Picture 2" descr="https://www.lcf.institutoptique.fr/sites/default/files/2019-08/Logo%20LCF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6710" y="2603776"/>
            <a:ext cx="1731342" cy="991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2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8F62-2BA7-5433-D3F9-0B932A38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 err="1"/>
              <a:t>Photodétection</a:t>
            </a:r>
            <a:r>
              <a:rPr lang="fr-FR" dirty="0"/>
              <a:t> / Exemples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F7749-22D3-3F7F-7083-A3D1AA47EF6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5" name="Connecteur droit 14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Applications en photonique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0F70001B-76E8-B2F0-1F0B-180A6A803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76" y="2603776"/>
            <a:ext cx="4278428" cy="3911705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8E5E1013-B5DB-4C50-C544-1E56C05D0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3" y="3573599"/>
            <a:ext cx="3755203" cy="3284402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E26558A2-8B91-DA35-34E2-EF643E7A9BDA}"/>
              </a:ext>
            </a:extLst>
          </p:cNvPr>
          <p:cNvSpPr txBox="1"/>
          <p:nvPr/>
        </p:nvSpPr>
        <p:spPr>
          <a:xfrm>
            <a:off x="5622927" y="32793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D6A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Single-plasmon interferences</a:t>
            </a:r>
            <a:endParaRPr lang="fr-FR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7B8EB63-604E-96F3-00EE-2AED970DB465}"/>
              </a:ext>
            </a:extLst>
          </p:cNvPr>
          <p:cNvSpPr txBox="1"/>
          <p:nvPr/>
        </p:nvSpPr>
        <p:spPr>
          <a:xfrm>
            <a:off x="624876" y="2133292"/>
            <a:ext cx="4933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5"/>
              </a:spcAft>
            </a:pPr>
            <a:r>
              <a:rPr lang="en-US" b="1" dirty="0">
                <a:solidFill>
                  <a:srgbClr val="ED6A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Anti-coalescence of bosons on a lossy beamsplitter</a:t>
            </a:r>
            <a:endParaRPr lang="fr-FR" b="1" i="0" dirty="0">
              <a:solidFill>
                <a:srgbClr val="ED6A17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B0A98EB-DDF5-B761-C978-8F745643582B}"/>
              </a:ext>
            </a:extLst>
          </p:cNvPr>
          <p:cNvSpPr txBox="1"/>
          <p:nvPr/>
        </p:nvSpPr>
        <p:spPr>
          <a:xfrm>
            <a:off x="7279676" y="2305755"/>
            <a:ext cx="4097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5"/>
              </a:spcAft>
            </a:pPr>
            <a:r>
              <a:rPr lang="fr-F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Groupe </a:t>
            </a:r>
            <a:r>
              <a:rPr lang="fr-FR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Nanophotonique</a:t>
            </a:r>
            <a:r>
              <a:rPr lang="fr-F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LCF </a:t>
            </a:r>
          </a:p>
        </p:txBody>
      </p:sp>
      <p:pic>
        <p:nvPicPr>
          <p:cNvPr id="34" name="Picture 2" descr="https://www.lcf.institutoptique.fr/sites/default/files/2019-08/Logo%20LCF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6710" y="2603776"/>
            <a:ext cx="1731342" cy="991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8F62-2BA7-5433-D3F9-0B932A38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>
            <a:extLst>
              <a:ext uri="{FF2B5EF4-FFF2-40B4-BE49-F238E27FC236}">
                <a16:creationId xmlns:a16="http://schemas.microsoft.com/office/drawing/2014/main" id="{348F1667-A9B5-0118-FCEA-1F98C2CBB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654070"/>
            <a:ext cx="7035659" cy="423642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 err="1"/>
              <a:t>Photodétection</a:t>
            </a:r>
            <a:r>
              <a:rPr lang="fr-FR" dirty="0"/>
              <a:t> / Exemples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F7749-22D3-3F7F-7083-A3D1AA47EF6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5" name="Connecteur droit 14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Applications en photonique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B0A98EB-DDF5-B761-C978-8F745643582B}"/>
              </a:ext>
            </a:extLst>
          </p:cNvPr>
          <p:cNvSpPr txBox="1"/>
          <p:nvPr/>
        </p:nvSpPr>
        <p:spPr>
          <a:xfrm>
            <a:off x="7279676" y="2305755"/>
            <a:ext cx="4097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5"/>
              </a:spcAft>
            </a:pPr>
            <a:r>
              <a:rPr lang="fr-F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Groupe Laser / LCF </a:t>
            </a:r>
          </a:p>
        </p:txBody>
      </p:sp>
      <p:pic>
        <p:nvPicPr>
          <p:cNvPr id="34" name="Picture 2" descr="https://www.lcf.institutoptique.fr/sites/default/files/2019-08/Logo%20LCF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6710" y="2603776"/>
            <a:ext cx="1731342" cy="991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9AF92B67-596B-C77B-9730-2FCED219A4BB}"/>
              </a:ext>
            </a:extLst>
          </p:cNvPr>
          <p:cNvSpPr txBox="1"/>
          <p:nvPr/>
        </p:nvSpPr>
        <p:spPr>
          <a:xfrm>
            <a:off x="6467002" y="1649107"/>
            <a:ext cx="4933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5"/>
              </a:spcAft>
            </a:pPr>
            <a:r>
              <a:rPr lang="fr-FR" b="1" dirty="0">
                <a:solidFill>
                  <a:srgbClr val="ED6A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Combinaison cohérente de diodes laser de puissance</a:t>
            </a:r>
            <a:endParaRPr lang="fr-FR" b="1" i="0" dirty="0">
              <a:solidFill>
                <a:srgbClr val="ED6A17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077BB882-9723-7D7C-08AA-CD3A823A8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305" y="4053870"/>
            <a:ext cx="3851607" cy="243501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7512F851-DD02-FFBB-9859-C8E879B633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278" y="4797152"/>
            <a:ext cx="2685447" cy="193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4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8F62-2BA7-5433-D3F9-0B932A38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 err="1"/>
              <a:t>Photodétection</a:t>
            </a:r>
            <a:r>
              <a:rPr lang="fr-FR" dirty="0"/>
              <a:t> / Exemples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F7749-22D3-3F7F-7083-A3D1AA47EF6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5" name="Connecteur droit 14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Applications en photonique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C815C94-B302-5897-2B24-6006B9371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54" y="3887991"/>
            <a:ext cx="1392915" cy="194119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1A9E6D40-A80D-F8D7-19A3-20BF0A05C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726" y="2076857"/>
            <a:ext cx="4642427" cy="4197778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2356DD07-CF70-6C82-FD2A-ADEE9A053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863" y="2710395"/>
            <a:ext cx="4911868" cy="253807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F4448BC6-7D1A-A4FA-CE44-0D6C3A979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982" y="5663410"/>
            <a:ext cx="287695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33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Diodes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Caractéristiques</a:t>
            </a:r>
            <a:endParaRPr lang="fr-FR" dirty="0"/>
          </a:p>
          <a:p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73EAD93-EC04-E6B8-DFA9-6F2579C6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232" y="5035788"/>
            <a:ext cx="1694972" cy="15073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FC07010-60CC-0F51-321B-2AEC004C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275" y="5035788"/>
            <a:ext cx="1346761" cy="151308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4B3C565-073B-8D22-06F4-BA1E9315683E}"/>
              </a:ext>
            </a:extLst>
          </p:cNvPr>
          <p:cNvSpPr txBox="1"/>
          <p:nvPr/>
        </p:nvSpPr>
        <p:spPr>
          <a:xfrm>
            <a:off x="8180236" y="6527409"/>
            <a:ext cx="1248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IDS </a:t>
            </a:r>
            <a:r>
              <a:rPr lang="fr-FR" sz="1000" dirty="0" err="1"/>
              <a:t>Sensor</a:t>
            </a:r>
            <a:endParaRPr lang="fr-FR" sz="1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875D335-1D18-FB0A-5718-530BDA1B0943}"/>
              </a:ext>
            </a:extLst>
          </p:cNvPr>
          <p:cNvSpPr txBox="1"/>
          <p:nvPr/>
        </p:nvSpPr>
        <p:spPr>
          <a:xfrm>
            <a:off x="10527274" y="6553442"/>
            <a:ext cx="1617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Basler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/ </a:t>
            </a:r>
            <a:r>
              <a:rPr lang="fr-FR" sz="1000" dirty="0" err="1"/>
              <a:t>Mouser</a:t>
            </a:r>
            <a:endParaRPr lang="fr-FR" sz="1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36684"/>
            <a:ext cx="3528392" cy="144942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AB73770-127F-410F-7D44-3AEA449E7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8368" y="2408321"/>
            <a:ext cx="1693258" cy="119660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6CD715E-1E9F-2036-884B-9D13EC59F4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6959" y="2413392"/>
            <a:ext cx="1366554" cy="1174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EF6DFF-1F93-D7D4-1C76-A0A455E3DDD2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FDB134-D505-9123-31E6-511413509891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4021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A6FD37FA-8608-6E4C-F27D-A8B2CACFD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998" y="2553322"/>
            <a:ext cx="3883556" cy="15314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Diode</a:t>
            </a:r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Caractéristique statique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Diode</a:t>
            </a:r>
          </a:p>
        </p:txBody>
      </p:sp>
      <p:sp>
        <p:nvSpPr>
          <p:cNvPr id="2" name="Rectangle 1"/>
          <p:cNvSpPr/>
          <p:nvPr/>
        </p:nvSpPr>
        <p:spPr>
          <a:xfrm>
            <a:off x="862070" y="2282862"/>
            <a:ext cx="32177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Dipôle </a:t>
            </a:r>
            <a:r>
              <a:rPr lang="fr-FR" b="1" dirty="0"/>
              <a:t>non linéaire </a:t>
            </a:r>
            <a:r>
              <a:rPr lang="fr-FR" dirty="0"/>
              <a:t>et </a:t>
            </a:r>
            <a:r>
              <a:rPr lang="fr-FR" b="1" dirty="0"/>
              <a:t>polarisé</a:t>
            </a:r>
            <a:endParaRPr lang="en-US" b="1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8AB73770-127F-410F-7D44-3AEA449E7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368" y="2408321"/>
            <a:ext cx="1693258" cy="119660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D25615BA-E509-3273-4031-675E8C0E5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66" y="3926454"/>
            <a:ext cx="5116071" cy="2681945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11B8BE14-FBFA-B232-3834-FF44C1789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6590" y="6431396"/>
            <a:ext cx="2060773" cy="213302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183A1C47-7B34-F7B7-DB23-43C79D86D7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6590" y="2034333"/>
            <a:ext cx="4314146" cy="427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Diode</a:t>
            </a:r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Caractéristique statique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Diode</a:t>
            </a:r>
          </a:p>
        </p:txBody>
      </p:sp>
      <p:sp>
        <p:nvSpPr>
          <p:cNvPr id="2" name="Rectangle 1"/>
          <p:cNvSpPr/>
          <p:nvPr/>
        </p:nvSpPr>
        <p:spPr>
          <a:xfrm>
            <a:off x="862070" y="2282862"/>
            <a:ext cx="32177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Dipôle </a:t>
            </a:r>
            <a:r>
              <a:rPr lang="fr-FR" b="1" dirty="0"/>
              <a:t>non linéaire </a:t>
            </a:r>
            <a:r>
              <a:rPr lang="fr-FR" dirty="0"/>
              <a:t>et </a:t>
            </a:r>
            <a:r>
              <a:rPr lang="fr-FR" b="1" dirty="0"/>
              <a:t>polarisé</a:t>
            </a:r>
            <a:endParaRPr lang="en-US" b="1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8AB73770-127F-410F-7D44-3AEA449E7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368" y="2408321"/>
            <a:ext cx="1693258" cy="119660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D25615BA-E509-3273-4031-675E8C0E5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02" y="2609241"/>
            <a:ext cx="2159823" cy="1132221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11B8BE14-FBFA-B232-3834-FF44C1789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590" y="6431396"/>
            <a:ext cx="2060773" cy="213302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183A1C47-7B34-F7B7-DB23-43C79D86D7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6590" y="2034333"/>
            <a:ext cx="4314146" cy="4271851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11CAF001-C79C-B17E-DF17-631DFBB119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662" y="3801198"/>
            <a:ext cx="6157259" cy="297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0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err="1"/>
              <a:t>LEDs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Caractéristiques</a:t>
            </a:r>
            <a:endParaRPr lang="fr-FR" dirty="0"/>
          </a:p>
          <a:p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73EAD93-EC04-E6B8-DFA9-6F2579C6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232" y="5035788"/>
            <a:ext cx="1694972" cy="15073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FC07010-60CC-0F51-321B-2AEC004C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275" y="5035788"/>
            <a:ext cx="1346761" cy="151308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4B3C565-073B-8D22-06F4-BA1E9315683E}"/>
              </a:ext>
            </a:extLst>
          </p:cNvPr>
          <p:cNvSpPr txBox="1"/>
          <p:nvPr/>
        </p:nvSpPr>
        <p:spPr>
          <a:xfrm>
            <a:off x="8180236" y="6527409"/>
            <a:ext cx="1248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IDS </a:t>
            </a:r>
            <a:r>
              <a:rPr lang="fr-FR" sz="1000" dirty="0" err="1"/>
              <a:t>Sensor</a:t>
            </a:r>
            <a:endParaRPr lang="fr-FR" sz="1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875D335-1D18-FB0A-5718-530BDA1B0943}"/>
              </a:ext>
            </a:extLst>
          </p:cNvPr>
          <p:cNvSpPr txBox="1"/>
          <p:nvPr/>
        </p:nvSpPr>
        <p:spPr>
          <a:xfrm>
            <a:off x="10527274" y="6553442"/>
            <a:ext cx="1617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Basler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/ </a:t>
            </a:r>
            <a:r>
              <a:rPr lang="fr-FR" sz="1000" dirty="0" err="1"/>
              <a:t>Mouser</a:t>
            </a:r>
            <a:endParaRPr lang="fr-FR" sz="1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36684"/>
            <a:ext cx="3528392" cy="144942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6CD715E-1E9F-2036-884B-9D13EC59F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959" y="2413392"/>
            <a:ext cx="1366554" cy="1174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28BB09-5235-7BD5-BD78-D8BF2DEEAB71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03B89A-9298-B945-AFE2-2906FCE8963A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2918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A6FD37FA-8608-6E4C-F27D-A8B2CACFD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816" y="1893853"/>
            <a:ext cx="3883556" cy="15314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LED</a:t>
            </a:r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Caractéristique statique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LED</a:t>
            </a:r>
          </a:p>
        </p:txBody>
      </p:sp>
      <p:sp>
        <p:nvSpPr>
          <p:cNvPr id="2" name="Rectangle 1"/>
          <p:cNvSpPr/>
          <p:nvPr/>
        </p:nvSpPr>
        <p:spPr>
          <a:xfrm>
            <a:off x="862070" y="2282862"/>
            <a:ext cx="32177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Dipôle </a:t>
            </a:r>
            <a:r>
              <a:rPr lang="fr-FR" b="1" dirty="0"/>
              <a:t>non linéaire </a:t>
            </a:r>
            <a:r>
              <a:rPr lang="fr-FR" dirty="0"/>
              <a:t>et </a:t>
            </a:r>
            <a:r>
              <a:rPr lang="fr-FR" b="1" dirty="0"/>
              <a:t>polarisé </a:t>
            </a:r>
            <a:r>
              <a:rPr lang="fr-FR" dirty="0"/>
              <a:t>capable </a:t>
            </a:r>
            <a:r>
              <a:rPr lang="fr-FR" b="1" dirty="0"/>
              <a:t>d'émettre de la lumière </a:t>
            </a:r>
            <a:r>
              <a:rPr lang="fr-FR" dirty="0"/>
              <a:t>lorsqu'il est parcouru par un courant électrique</a:t>
            </a:r>
            <a:endParaRPr lang="en-US" dirty="0"/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11B8BE14-FBFA-B232-3834-FF44C1789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468" y="6189387"/>
            <a:ext cx="2060773" cy="21330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CC7B404-0945-9E50-C7AF-AE09A9AB9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59" y="4540229"/>
            <a:ext cx="4744167" cy="225989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223920C-78E6-FD9C-C19F-C872624785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140" y="2086853"/>
            <a:ext cx="3606655" cy="378310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9B8D131B-C952-F757-C0D7-23F6FE346F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6752" y="3427926"/>
            <a:ext cx="3352732" cy="326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22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LED</a:t>
            </a:r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Utilisation et limites d’utilisation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LED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4490F9D-5469-1B53-E2A3-DD044479F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418" y="2403677"/>
            <a:ext cx="3606655" cy="3783106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F5E0E9F6-C01A-F839-A56E-C3EA2AB7F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418" y="5943346"/>
            <a:ext cx="1035395" cy="277132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3E8CA571-44E9-D798-71B0-6791A9C56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426" y="6248689"/>
            <a:ext cx="2060773" cy="21330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7B00EBD-2B0A-9287-C489-DF36F19E5D97}"/>
              </a:ext>
            </a:extLst>
          </p:cNvPr>
          <p:cNvSpPr/>
          <p:nvPr/>
        </p:nvSpPr>
        <p:spPr>
          <a:xfrm>
            <a:off x="9991136" y="2659229"/>
            <a:ext cx="1203909" cy="2648062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205EE7C8-0D90-7B4C-12B2-A3D0A7F61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47" y="3243878"/>
            <a:ext cx="6701896" cy="269946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7CD6168-1278-9BCB-41D3-75702AFD1CF5}"/>
              </a:ext>
            </a:extLst>
          </p:cNvPr>
          <p:cNvSpPr/>
          <p:nvPr/>
        </p:nvSpPr>
        <p:spPr>
          <a:xfrm>
            <a:off x="658047" y="4247268"/>
            <a:ext cx="6701896" cy="257355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FE14EE-734C-223D-CE11-88C0BE689CBB}"/>
              </a:ext>
            </a:extLst>
          </p:cNvPr>
          <p:cNvSpPr/>
          <p:nvPr/>
        </p:nvSpPr>
        <p:spPr>
          <a:xfrm>
            <a:off x="658047" y="3983260"/>
            <a:ext cx="6701896" cy="257355"/>
          </a:xfrm>
          <a:prstGeom prst="rect">
            <a:avLst/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F8FEB0-7F1C-5C59-3CC2-2C1FD33F0D00}"/>
              </a:ext>
            </a:extLst>
          </p:cNvPr>
          <p:cNvSpPr/>
          <p:nvPr/>
        </p:nvSpPr>
        <p:spPr>
          <a:xfrm>
            <a:off x="658047" y="4511276"/>
            <a:ext cx="6701896" cy="257355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0089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LED</a:t>
            </a:r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Utilisation et limites d’utilisation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LED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69CB1629-FA28-7494-C79A-082E59AC5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821" y="2248825"/>
            <a:ext cx="2383718" cy="236034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97AD7BD-9ECA-5B92-4A69-3833FA2B6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89" y="2617385"/>
            <a:ext cx="3819198" cy="381134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735485C4-D53D-8840-4EED-A7857C383CE9}"/>
              </a:ext>
            </a:extLst>
          </p:cNvPr>
          <p:cNvSpPr txBox="1"/>
          <p:nvPr/>
        </p:nvSpPr>
        <p:spPr>
          <a:xfrm>
            <a:off x="3705674" y="5048442"/>
            <a:ext cx="38683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une LED Rouge Standard</a:t>
            </a:r>
          </a:p>
          <a:p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Vf = 2V 	</a:t>
            </a:r>
          </a:p>
          <a:p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If</a:t>
            </a:r>
            <a:r>
              <a:rPr lang="fr-FR" sz="16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30 mA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7A0E81FE-E1CA-DE23-ABE5-DF404CFDA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418" y="2403677"/>
            <a:ext cx="3606655" cy="3783106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FBB2405-7C0D-5E0B-FFD8-8C04F67A9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426" y="6248689"/>
            <a:ext cx="2060773" cy="21330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2B52623-8CB9-C5C3-B204-9CD1C3D5D70E}"/>
              </a:ext>
            </a:extLst>
          </p:cNvPr>
          <p:cNvSpPr/>
          <p:nvPr/>
        </p:nvSpPr>
        <p:spPr>
          <a:xfrm>
            <a:off x="9991136" y="2659229"/>
            <a:ext cx="1203909" cy="2648062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2B25010C-4C10-DED5-10EB-85F6E16A26ED}"/>
              </a:ext>
            </a:extLst>
          </p:cNvPr>
          <p:cNvCxnSpPr>
            <a:cxnSpLocks/>
          </p:cNvCxnSpPr>
          <p:nvPr/>
        </p:nvCxnSpPr>
        <p:spPr>
          <a:xfrm>
            <a:off x="6440557" y="2991678"/>
            <a:ext cx="0" cy="86470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A108D28-512D-3777-2787-B2355B8E0B79}"/>
              </a:ext>
            </a:extLst>
          </p:cNvPr>
          <p:cNvCxnSpPr>
            <a:cxnSpLocks/>
          </p:cNvCxnSpPr>
          <p:nvPr/>
        </p:nvCxnSpPr>
        <p:spPr>
          <a:xfrm>
            <a:off x="5695122" y="3856383"/>
            <a:ext cx="74543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106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4D511-7832-DD26-717B-652C9B14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5037D1-AF3F-992A-CD8B-9544CCC955D0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E585FA0-437E-ED51-663D-D95352019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Photodiodes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1AE08F-B947-8CD0-BF6D-2E0885DA9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Caractéristiques des diodes</a:t>
            </a:r>
            <a:endParaRPr lang="fr-FR" dirty="0"/>
          </a:p>
          <a:p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2B7B80B-EF81-709E-0205-8E03E0DD1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232" y="5035788"/>
            <a:ext cx="1694972" cy="15073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28199E3-58B0-002C-F6C6-A2E34F67C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275" y="5035788"/>
            <a:ext cx="1346761" cy="151308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ED4EB853-A1CA-8E16-883A-BE0C0C46CE8B}"/>
              </a:ext>
            </a:extLst>
          </p:cNvPr>
          <p:cNvSpPr txBox="1"/>
          <p:nvPr/>
        </p:nvSpPr>
        <p:spPr>
          <a:xfrm>
            <a:off x="8180236" y="6527409"/>
            <a:ext cx="1248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IDS </a:t>
            </a:r>
            <a:r>
              <a:rPr lang="fr-FR" sz="1000" dirty="0" err="1"/>
              <a:t>Sensor</a:t>
            </a:r>
            <a:endParaRPr lang="fr-FR" sz="1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DB931D2-37A9-B3F8-3A6B-30E3775DE26B}"/>
              </a:ext>
            </a:extLst>
          </p:cNvPr>
          <p:cNvSpPr txBox="1"/>
          <p:nvPr/>
        </p:nvSpPr>
        <p:spPr>
          <a:xfrm>
            <a:off x="10527274" y="6553442"/>
            <a:ext cx="1617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Basler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/ </a:t>
            </a:r>
            <a:r>
              <a:rPr lang="fr-FR" sz="1000" dirty="0" err="1"/>
              <a:t>Mouser</a:t>
            </a:r>
            <a:endParaRPr lang="fr-FR" sz="1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7BE9F28-41B6-547F-6369-696B23E81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36684"/>
            <a:ext cx="3528392" cy="144942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17F6899-87D2-83D2-1484-161EC6A53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8368" y="2408321"/>
            <a:ext cx="1693258" cy="11966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102277A-9681-3F8A-3616-CD0AC7BD55BF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B8A6B-8AF0-7451-18CE-052657910B41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4D99B30A-D46C-9ABD-020D-09B585C46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6959" y="2413392"/>
            <a:ext cx="1366554" cy="1174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187C29-8B30-53D6-DCA0-702A9E55C2FB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FCC429-AEB1-3560-4F58-CA67241AB3C4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747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A71C9A66-FD84-0971-7D7A-C122064CE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4" y="3212976"/>
            <a:ext cx="6524359" cy="30398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Photodiode</a:t>
            </a:r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Caractéristique statique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Photodiode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05D91B67-991B-E3AC-CDD3-0514D8351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272" y="1638672"/>
            <a:ext cx="2608978" cy="198077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16039821-AF07-B8AA-D4AD-AD1473AAF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192" y="4032853"/>
            <a:ext cx="4158328" cy="266079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957" y="2003697"/>
            <a:ext cx="2695575" cy="7429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62070" y="2282862"/>
            <a:ext cx="32177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Dipôle </a:t>
            </a:r>
            <a:r>
              <a:rPr lang="fr-FR" b="1" dirty="0"/>
              <a:t>non linéaire </a:t>
            </a:r>
            <a:r>
              <a:rPr lang="fr-FR" dirty="0"/>
              <a:t>et </a:t>
            </a:r>
            <a:r>
              <a:rPr lang="fr-FR" b="1" dirty="0"/>
              <a:t>polarisé, </a:t>
            </a:r>
            <a:r>
              <a:rPr lang="fr-FR" dirty="0"/>
              <a:t>ayant la </a:t>
            </a:r>
            <a:r>
              <a:rPr lang="fr-FR" b="1" dirty="0"/>
              <a:t>capacité de capter un rayonnement du domaine optique </a:t>
            </a:r>
            <a:r>
              <a:rPr lang="fr-FR" dirty="0"/>
              <a:t>et de le </a:t>
            </a:r>
            <a:r>
              <a:rPr lang="fr-FR" b="1" dirty="0"/>
              <a:t>transformer en signal électrique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3958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A71C9A66-FD84-0971-7D7A-C122064CE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4" y="3212976"/>
            <a:ext cx="6524359" cy="30398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Photodiode</a:t>
            </a:r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Caractéristique statique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Photodiode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2070" y="2282862"/>
            <a:ext cx="32177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Dipôle </a:t>
            </a:r>
            <a:r>
              <a:rPr lang="fr-FR" b="1" dirty="0"/>
              <a:t>non linéaire </a:t>
            </a:r>
            <a:r>
              <a:rPr lang="fr-FR" dirty="0"/>
              <a:t>et </a:t>
            </a:r>
            <a:r>
              <a:rPr lang="fr-FR" b="1" dirty="0"/>
              <a:t>polarisé, </a:t>
            </a:r>
            <a:r>
              <a:rPr lang="fr-FR" dirty="0"/>
              <a:t>ayant la </a:t>
            </a:r>
            <a:r>
              <a:rPr lang="fr-FR" b="1" dirty="0"/>
              <a:t>capacité de capter un rayonnement du domaine optique </a:t>
            </a:r>
            <a:r>
              <a:rPr lang="fr-FR" dirty="0"/>
              <a:t>et de le </a:t>
            </a:r>
            <a:r>
              <a:rPr lang="fr-FR" b="1" dirty="0"/>
              <a:t>transformer en signal électrique </a:t>
            </a:r>
            <a:endParaRPr lang="en-US" b="1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9DF2C12-21C1-B5E2-C1B9-386CE83CC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366" y="2132813"/>
            <a:ext cx="3533775" cy="458152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0849CB4-5BF0-FF65-BA19-AC02E67EA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234" y="2132813"/>
            <a:ext cx="3038521" cy="435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36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A71C9A66-FD84-0971-7D7A-C122064CE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4" y="3212976"/>
            <a:ext cx="6524359" cy="30398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Photodiode</a:t>
            </a:r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Caractéristique statique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Photodiode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2070" y="2282862"/>
            <a:ext cx="32177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Dipôle </a:t>
            </a:r>
            <a:r>
              <a:rPr lang="fr-FR" b="1" dirty="0"/>
              <a:t>non linéaire </a:t>
            </a:r>
            <a:r>
              <a:rPr lang="fr-FR" dirty="0"/>
              <a:t>et </a:t>
            </a:r>
            <a:r>
              <a:rPr lang="fr-FR" b="1" dirty="0"/>
              <a:t>polarisé, </a:t>
            </a:r>
            <a:r>
              <a:rPr lang="fr-FR" dirty="0"/>
              <a:t>ayant la </a:t>
            </a:r>
            <a:r>
              <a:rPr lang="fr-FR" b="1" dirty="0"/>
              <a:t>capacité de capter un rayonnement du domaine optique </a:t>
            </a:r>
            <a:r>
              <a:rPr lang="fr-FR" dirty="0"/>
              <a:t>et de le </a:t>
            </a:r>
            <a:r>
              <a:rPr lang="fr-FR" b="1" dirty="0"/>
              <a:t>transformer en signal électrique </a:t>
            </a:r>
            <a:endParaRPr lang="en-US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90F01C9-B2F4-7B2E-E026-3009C3C9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366" y="2132813"/>
            <a:ext cx="3533775" cy="458152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C5EA6DC-4B10-424E-E929-F42C8D0D3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234" y="2132813"/>
            <a:ext cx="3038521" cy="4359265"/>
          </a:xfrm>
          <a:prstGeom prst="rect">
            <a:avLst/>
          </a:prstGeom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66807AD7-8C2F-653A-DC9C-E188BB6EA7D8}"/>
              </a:ext>
            </a:extLst>
          </p:cNvPr>
          <p:cNvCxnSpPr>
            <a:cxnSpLocks/>
          </p:cNvCxnSpPr>
          <p:nvPr/>
        </p:nvCxnSpPr>
        <p:spPr>
          <a:xfrm flipV="1">
            <a:off x="6768548" y="4035287"/>
            <a:ext cx="0" cy="152068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36B9AF61-AC4D-091C-782F-9F030486703C}"/>
              </a:ext>
            </a:extLst>
          </p:cNvPr>
          <p:cNvCxnSpPr>
            <a:cxnSpLocks/>
          </p:cNvCxnSpPr>
          <p:nvPr/>
        </p:nvCxnSpPr>
        <p:spPr>
          <a:xfrm flipV="1">
            <a:off x="6185452" y="4035287"/>
            <a:ext cx="0" cy="1520687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7E0B6E96-8CFF-B01B-D6BC-35CDFD517758}"/>
              </a:ext>
            </a:extLst>
          </p:cNvPr>
          <p:cNvCxnSpPr>
            <a:cxnSpLocks/>
          </p:cNvCxnSpPr>
          <p:nvPr/>
        </p:nvCxnSpPr>
        <p:spPr>
          <a:xfrm flipV="1">
            <a:off x="6427304" y="4035287"/>
            <a:ext cx="0" cy="152068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9263F2A-8C5B-DD04-C557-F660D24DF67B}"/>
              </a:ext>
            </a:extLst>
          </p:cNvPr>
          <p:cNvSpPr/>
          <p:nvPr/>
        </p:nvSpPr>
        <p:spPr>
          <a:xfrm>
            <a:off x="7109793" y="2907912"/>
            <a:ext cx="891208" cy="2648062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260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Définition et chaine d’acquisition</a:t>
            </a:r>
            <a:endParaRPr lang="fr-FR" dirty="0"/>
          </a:p>
          <a:p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73EAD93-EC04-E6B8-DFA9-6F2579C6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232" y="5035788"/>
            <a:ext cx="1694972" cy="15073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FC07010-60CC-0F51-321B-2AEC004C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275" y="5035788"/>
            <a:ext cx="1346761" cy="151308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4B3C565-073B-8D22-06F4-BA1E9315683E}"/>
              </a:ext>
            </a:extLst>
          </p:cNvPr>
          <p:cNvSpPr txBox="1"/>
          <p:nvPr/>
        </p:nvSpPr>
        <p:spPr>
          <a:xfrm>
            <a:off x="8180236" y="6527409"/>
            <a:ext cx="1248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IDS </a:t>
            </a:r>
            <a:r>
              <a:rPr lang="fr-FR" sz="1000" dirty="0" err="1"/>
              <a:t>Sensor</a:t>
            </a:r>
            <a:endParaRPr lang="fr-FR" sz="1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875D335-1D18-FB0A-5718-530BDA1B0943}"/>
              </a:ext>
            </a:extLst>
          </p:cNvPr>
          <p:cNvSpPr txBox="1"/>
          <p:nvPr/>
        </p:nvSpPr>
        <p:spPr>
          <a:xfrm>
            <a:off x="10527274" y="6553442"/>
            <a:ext cx="1617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Basler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/ </a:t>
            </a:r>
            <a:r>
              <a:rPr lang="fr-FR" sz="1000" dirty="0" err="1"/>
              <a:t>Mouser</a:t>
            </a:r>
            <a:endParaRPr lang="fr-FR" sz="1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36684"/>
            <a:ext cx="3528392" cy="144942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AB73770-127F-410F-7D44-3AEA449E7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8368" y="2408321"/>
            <a:ext cx="1693258" cy="119660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624F40-4825-D5A5-6ACC-586EC7C93BA9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7EEC38-1028-D416-3B5B-379E64E4AE1D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1787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Système de </a:t>
            </a:r>
            <a:r>
              <a:rPr lang="fr-FR" sz="1800" b="1" dirty="0" err="1">
                <a:solidFill>
                  <a:srgbClr val="222268"/>
                </a:solidFill>
                <a:latin typeface="+mj-lt"/>
              </a:rPr>
              <a:t>photodétection</a:t>
            </a:r>
            <a:endParaRPr lang="fr-FR" sz="1800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08439A8-EDC4-D3CD-B2B3-CD817D9FCD05}"/>
              </a:ext>
            </a:extLst>
          </p:cNvPr>
          <p:cNvSpPr>
            <a:spLocks/>
          </p:cNvSpPr>
          <p:nvPr/>
        </p:nvSpPr>
        <p:spPr>
          <a:xfrm>
            <a:off x="608162" y="3218768"/>
            <a:ext cx="5061118" cy="13438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110A4016-B3E5-2AAB-0744-6E0AA1FEFB0B}"/>
              </a:ext>
            </a:extLst>
          </p:cNvPr>
          <p:cNvSpPr txBox="1"/>
          <p:nvPr/>
        </p:nvSpPr>
        <p:spPr>
          <a:xfrm>
            <a:off x="7735177" y="2321996"/>
            <a:ext cx="32160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fr-FR" b="1" dirty="0"/>
              <a:t>Convertir un signal lumineux </a:t>
            </a:r>
            <a:r>
              <a:rPr lang="fr-FR" dirty="0"/>
              <a:t>(flux de photons) en un signal électrique mesurable</a:t>
            </a:r>
            <a:endParaRPr lang="fr-FR" sz="20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140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7570362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FDD828A-FB5E-332B-B5A3-11D242A28B8F}"/>
              </a:ext>
            </a:extLst>
          </p:cNvPr>
          <p:cNvSpPr/>
          <p:nvPr/>
        </p:nvSpPr>
        <p:spPr>
          <a:xfrm>
            <a:off x="8732083" y="4256120"/>
            <a:ext cx="1222265" cy="10698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Sys. Phot.</a:t>
            </a:r>
          </a:p>
        </p:txBody>
      </p: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AAF0045E-75FA-C363-9989-CD699090A3C3}"/>
              </a:ext>
            </a:extLst>
          </p:cNvPr>
          <p:cNvCxnSpPr>
            <a:cxnSpLocks/>
          </p:cNvCxnSpPr>
          <p:nvPr/>
        </p:nvCxnSpPr>
        <p:spPr>
          <a:xfrm>
            <a:off x="8001000" y="4791044"/>
            <a:ext cx="667075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avec flèche 142">
            <a:extLst>
              <a:ext uri="{FF2B5EF4-FFF2-40B4-BE49-F238E27FC236}">
                <a16:creationId xmlns:a16="http://schemas.microsoft.com/office/drawing/2014/main" id="{E59F52BC-BD4E-1C97-BA0E-D8F0525A3913}"/>
              </a:ext>
            </a:extLst>
          </p:cNvPr>
          <p:cNvCxnSpPr/>
          <p:nvPr/>
        </p:nvCxnSpPr>
        <p:spPr>
          <a:xfrm>
            <a:off x="10000488" y="4791044"/>
            <a:ext cx="667075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ZoneTexte 143">
            <a:extLst>
              <a:ext uri="{FF2B5EF4-FFF2-40B4-BE49-F238E27FC236}">
                <a16:creationId xmlns:a16="http://schemas.microsoft.com/office/drawing/2014/main" id="{E5821B81-B465-192A-C30F-4B9F651F0DE0}"/>
              </a:ext>
            </a:extLst>
          </p:cNvPr>
          <p:cNvSpPr txBox="1"/>
          <p:nvPr/>
        </p:nvSpPr>
        <p:spPr>
          <a:xfrm>
            <a:off x="7189470" y="3934797"/>
            <a:ext cx="1341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/>
              <a:t>Flux lumineux</a:t>
            </a:r>
            <a:endParaRPr lang="fr-FR" dirty="0"/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D463B968-1DE1-37CB-7B05-ABF6A4C2ABD5}"/>
              </a:ext>
            </a:extLst>
          </p:cNvPr>
          <p:cNvSpPr txBox="1"/>
          <p:nvPr/>
        </p:nvSpPr>
        <p:spPr>
          <a:xfrm>
            <a:off x="10155079" y="3996353"/>
            <a:ext cx="1340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Grandeur Electrique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86B31D0-FD57-2061-A055-340164F67222}"/>
              </a:ext>
            </a:extLst>
          </p:cNvPr>
          <p:cNvSpPr/>
          <p:nvPr/>
        </p:nvSpPr>
        <p:spPr>
          <a:xfrm>
            <a:off x="1586067" y="3492128"/>
            <a:ext cx="992818" cy="682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Capteur</a:t>
            </a:r>
          </a:p>
          <a:p>
            <a:pPr algn="ctr"/>
            <a:r>
              <a:rPr lang="fr-FR" sz="1050" dirty="0"/>
              <a:t>Photodiode</a:t>
            </a:r>
          </a:p>
        </p:txBody>
      </p:sp>
      <p:cxnSp>
        <p:nvCxnSpPr>
          <p:cNvPr id="147" name="Connecteur droit avec flèche 146">
            <a:extLst>
              <a:ext uri="{FF2B5EF4-FFF2-40B4-BE49-F238E27FC236}">
                <a16:creationId xmlns:a16="http://schemas.microsoft.com/office/drawing/2014/main" id="{7C316436-E29D-1F24-31A6-FB17EA389CC0}"/>
              </a:ext>
            </a:extLst>
          </p:cNvPr>
          <p:cNvCxnSpPr>
            <a:cxnSpLocks/>
          </p:cNvCxnSpPr>
          <p:nvPr/>
        </p:nvCxnSpPr>
        <p:spPr>
          <a:xfrm>
            <a:off x="1077814" y="3833448"/>
            <a:ext cx="464338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ZoneTexte 147">
            <a:extLst>
              <a:ext uri="{FF2B5EF4-FFF2-40B4-BE49-F238E27FC236}">
                <a16:creationId xmlns:a16="http://schemas.microsoft.com/office/drawing/2014/main" id="{9CDFB6FF-8810-0F8C-E6ED-8472129F092E}"/>
              </a:ext>
            </a:extLst>
          </p:cNvPr>
          <p:cNvSpPr txBox="1"/>
          <p:nvPr/>
        </p:nvSpPr>
        <p:spPr>
          <a:xfrm>
            <a:off x="564972" y="3282654"/>
            <a:ext cx="1042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Flux Lumineux</a:t>
            </a:r>
          </a:p>
        </p:txBody>
      </p:sp>
      <p:cxnSp>
        <p:nvCxnSpPr>
          <p:cNvPr id="149" name="Connecteur droit avec flèche 148">
            <a:extLst>
              <a:ext uri="{FF2B5EF4-FFF2-40B4-BE49-F238E27FC236}">
                <a16:creationId xmlns:a16="http://schemas.microsoft.com/office/drawing/2014/main" id="{23A4096C-0522-2852-A8B6-42900A2C49B2}"/>
              </a:ext>
            </a:extLst>
          </p:cNvPr>
          <p:cNvCxnSpPr>
            <a:cxnSpLocks/>
          </p:cNvCxnSpPr>
          <p:nvPr/>
        </p:nvCxnSpPr>
        <p:spPr>
          <a:xfrm>
            <a:off x="2665822" y="3833447"/>
            <a:ext cx="841739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ZoneTexte 149">
            <a:extLst>
              <a:ext uri="{FF2B5EF4-FFF2-40B4-BE49-F238E27FC236}">
                <a16:creationId xmlns:a16="http://schemas.microsoft.com/office/drawing/2014/main" id="{26B47DAE-1C56-1E1B-E115-0995C6D46C0F}"/>
              </a:ext>
            </a:extLst>
          </p:cNvPr>
          <p:cNvSpPr txBox="1"/>
          <p:nvPr/>
        </p:nvSpPr>
        <p:spPr>
          <a:xfrm>
            <a:off x="2578885" y="3366837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Courant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8173279-AE95-71EF-6968-06705ADA2AED}"/>
              </a:ext>
            </a:extLst>
          </p:cNvPr>
          <p:cNvSpPr/>
          <p:nvPr/>
        </p:nvSpPr>
        <p:spPr>
          <a:xfrm>
            <a:off x="3557288" y="3492713"/>
            <a:ext cx="992818" cy="682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Amplifier</a:t>
            </a:r>
            <a:endParaRPr lang="fr-FR" sz="900" dirty="0"/>
          </a:p>
        </p:txBody>
      </p:sp>
      <p:cxnSp>
        <p:nvCxnSpPr>
          <p:cNvPr id="152" name="Connecteur droit avec flèche 151">
            <a:extLst>
              <a:ext uri="{FF2B5EF4-FFF2-40B4-BE49-F238E27FC236}">
                <a16:creationId xmlns:a16="http://schemas.microsoft.com/office/drawing/2014/main" id="{2D650A21-F0F8-1864-8905-FEB9FCEFC95E}"/>
              </a:ext>
            </a:extLst>
          </p:cNvPr>
          <p:cNvCxnSpPr>
            <a:cxnSpLocks/>
          </p:cNvCxnSpPr>
          <p:nvPr/>
        </p:nvCxnSpPr>
        <p:spPr>
          <a:xfrm>
            <a:off x="4628734" y="3833447"/>
            <a:ext cx="841739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ZoneTexte 152">
            <a:extLst>
              <a:ext uri="{FF2B5EF4-FFF2-40B4-BE49-F238E27FC236}">
                <a16:creationId xmlns:a16="http://schemas.microsoft.com/office/drawing/2014/main" id="{61BC13A3-C916-879F-6D19-E4EB9DDE9084}"/>
              </a:ext>
            </a:extLst>
          </p:cNvPr>
          <p:cNvSpPr txBox="1"/>
          <p:nvPr/>
        </p:nvSpPr>
        <p:spPr>
          <a:xfrm>
            <a:off x="4544294" y="3392236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Tension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A8720A4-AA80-104A-C4B9-D7551CC05449}"/>
              </a:ext>
            </a:extLst>
          </p:cNvPr>
          <p:cNvSpPr>
            <a:spLocks/>
          </p:cNvSpPr>
          <p:nvPr/>
        </p:nvSpPr>
        <p:spPr>
          <a:xfrm>
            <a:off x="3451178" y="5034012"/>
            <a:ext cx="3338775" cy="13438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5" name="Connecteur droit avec flèche 154">
            <a:extLst>
              <a:ext uri="{FF2B5EF4-FFF2-40B4-BE49-F238E27FC236}">
                <a16:creationId xmlns:a16="http://schemas.microsoft.com/office/drawing/2014/main" id="{73555C47-79C7-B37D-B903-A61E3E5D49C2}"/>
              </a:ext>
            </a:extLst>
          </p:cNvPr>
          <p:cNvCxnSpPr>
            <a:cxnSpLocks/>
          </p:cNvCxnSpPr>
          <p:nvPr/>
        </p:nvCxnSpPr>
        <p:spPr>
          <a:xfrm>
            <a:off x="3566407" y="5699274"/>
            <a:ext cx="841739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ZoneTexte 155">
            <a:extLst>
              <a:ext uri="{FF2B5EF4-FFF2-40B4-BE49-F238E27FC236}">
                <a16:creationId xmlns:a16="http://schemas.microsoft.com/office/drawing/2014/main" id="{C71311FE-3D0F-46F9-F5D6-1A42CBCE9E61}"/>
              </a:ext>
            </a:extLst>
          </p:cNvPr>
          <p:cNvSpPr txBox="1"/>
          <p:nvPr/>
        </p:nvSpPr>
        <p:spPr>
          <a:xfrm>
            <a:off x="3481967" y="5258063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Tension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F3432C5-D0BF-BC6F-C351-430F57C2E4D6}"/>
              </a:ext>
            </a:extLst>
          </p:cNvPr>
          <p:cNvSpPr/>
          <p:nvPr/>
        </p:nvSpPr>
        <p:spPr>
          <a:xfrm>
            <a:off x="4450719" y="5357954"/>
            <a:ext cx="992818" cy="682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ADC</a:t>
            </a:r>
            <a:endParaRPr lang="fr-FR" sz="900" dirty="0"/>
          </a:p>
        </p:txBody>
      </p:sp>
      <p:cxnSp>
        <p:nvCxnSpPr>
          <p:cNvPr id="158" name="Connecteur droit avec flèche 157">
            <a:extLst>
              <a:ext uri="{FF2B5EF4-FFF2-40B4-BE49-F238E27FC236}">
                <a16:creationId xmlns:a16="http://schemas.microsoft.com/office/drawing/2014/main" id="{E530A308-C300-6EB6-E3DE-4FDA0C0054AE}"/>
              </a:ext>
            </a:extLst>
          </p:cNvPr>
          <p:cNvCxnSpPr>
            <a:cxnSpLocks/>
          </p:cNvCxnSpPr>
          <p:nvPr/>
        </p:nvCxnSpPr>
        <p:spPr>
          <a:xfrm>
            <a:off x="5517361" y="5699273"/>
            <a:ext cx="841739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4C16FC19-C6DD-884B-5464-9573E556CAF8}"/>
              </a:ext>
            </a:extLst>
          </p:cNvPr>
          <p:cNvSpPr txBox="1"/>
          <p:nvPr/>
        </p:nvSpPr>
        <p:spPr>
          <a:xfrm>
            <a:off x="5211096" y="5058865"/>
            <a:ext cx="1618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Valeur numérique</a:t>
            </a:r>
          </a:p>
        </p:txBody>
      </p:sp>
    </p:spTree>
    <p:extLst>
      <p:ext uri="{BB962C8B-B14F-4D97-AF65-F5344CB8AC3E}">
        <p14:creationId xmlns:p14="http://schemas.microsoft.com/office/powerpoint/2010/main" val="1235276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Système de phot. / Caractéristiques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110A4016-B3E5-2AAB-0744-6E0AA1FEFB0B}"/>
              </a:ext>
            </a:extLst>
          </p:cNvPr>
          <p:cNvSpPr txBox="1"/>
          <p:nvPr/>
        </p:nvSpPr>
        <p:spPr>
          <a:xfrm>
            <a:off x="7735177" y="2321996"/>
            <a:ext cx="32160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fr-FR" b="1" dirty="0"/>
              <a:t>Convertir un signal lumineux </a:t>
            </a:r>
            <a:r>
              <a:rPr lang="fr-FR" dirty="0"/>
              <a:t>(flux de photons) en un signal électrique mesurable</a:t>
            </a:r>
            <a:endParaRPr lang="fr-FR" sz="20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140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7570362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FDD828A-FB5E-332B-B5A3-11D242A28B8F}"/>
              </a:ext>
            </a:extLst>
          </p:cNvPr>
          <p:cNvSpPr/>
          <p:nvPr/>
        </p:nvSpPr>
        <p:spPr>
          <a:xfrm>
            <a:off x="8732083" y="4256120"/>
            <a:ext cx="1222265" cy="10698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Sys. Phot.</a:t>
            </a:r>
          </a:p>
          <a:p>
            <a:pPr algn="ctr"/>
            <a:endParaRPr lang="fr-FR" dirty="0"/>
          </a:p>
          <a:p>
            <a:pPr algn="ctr"/>
            <a:r>
              <a:rPr lang="fr-FR" sz="2000" b="1" dirty="0"/>
              <a:t>S</a:t>
            </a:r>
          </a:p>
        </p:txBody>
      </p: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AAF0045E-75FA-C363-9989-CD699090A3C3}"/>
              </a:ext>
            </a:extLst>
          </p:cNvPr>
          <p:cNvCxnSpPr>
            <a:cxnSpLocks/>
          </p:cNvCxnSpPr>
          <p:nvPr/>
        </p:nvCxnSpPr>
        <p:spPr>
          <a:xfrm>
            <a:off x="8001000" y="4791044"/>
            <a:ext cx="667075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avec flèche 142">
            <a:extLst>
              <a:ext uri="{FF2B5EF4-FFF2-40B4-BE49-F238E27FC236}">
                <a16:creationId xmlns:a16="http://schemas.microsoft.com/office/drawing/2014/main" id="{E59F52BC-BD4E-1C97-BA0E-D8F0525A3913}"/>
              </a:ext>
            </a:extLst>
          </p:cNvPr>
          <p:cNvCxnSpPr/>
          <p:nvPr/>
        </p:nvCxnSpPr>
        <p:spPr>
          <a:xfrm>
            <a:off x="10000488" y="4791044"/>
            <a:ext cx="667075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ZoneTexte 143">
            <a:extLst>
              <a:ext uri="{FF2B5EF4-FFF2-40B4-BE49-F238E27FC236}">
                <a16:creationId xmlns:a16="http://schemas.microsoft.com/office/drawing/2014/main" id="{E5821B81-B465-192A-C30F-4B9F651F0DE0}"/>
              </a:ext>
            </a:extLst>
          </p:cNvPr>
          <p:cNvSpPr txBox="1"/>
          <p:nvPr/>
        </p:nvSpPr>
        <p:spPr>
          <a:xfrm>
            <a:off x="7189470" y="3934797"/>
            <a:ext cx="1341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/>
              <a:t>Flux lumineux</a:t>
            </a:r>
            <a:endParaRPr lang="fr-FR" dirty="0"/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D463B968-1DE1-37CB-7B05-ABF6A4C2ABD5}"/>
              </a:ext>
            </a:extLst>
          </p:cNvPr>
          <p:cNvSpPr txBox="1"/>
          <p:nvPr/>
        </p:nvSpPr>
        <p:spPr>
          <a:xfrm>
            <a:off x="10155079" y="3996353"/>
            <a:ext cx="1340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Grandeur Electrique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532668" y="1934529"/>
            <a:ext cx="63801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b="1" dirty="0"/>
              <a:t>Sensibilité </a:t>
            </a:r>
            <a:r>
              <a:rPr lang="fr-FR" dirty="0"/>
              <a:t>: rapport entre le courant de sortie et la puissance optique incidente</a:t>
            </a:r>
            <a:endParaRPr lang="fr-FR" b="1" dirty="0"/>
          </a:p>
          <a:p>
            <a:pPr marL="285750" indent="-285750">
              <a:buFontTx/>
              <a:buChar char="-"/>
            </a:pPr>
            <a:r>
              <a:rPr lang="fr-FR" b="1" dirty="0"/>
              <a:t>Bruit </a:t>
            </a:r>
            <a:r>
              <a:rPr lang="fr-FR" dirty="0"/>
              <a:t>: fluctuations indésirables du signal électrique</a:t>
            </a:r>
          </a:p>
          <a:p>
            <a:pPr marL="739336" lvl="1" indent="-285750">
              <a:buFontTx/>
              <a:buChar char="-"/>
            </a:pPr>
            <a:r>
              <a:rPr lang="fr-FR" i="1" dirty="0"/>
              <a:t>Bruit d’amplification</a:t>
            </a:r>
          </a:p>
          <a:p>
            <a:pPr marL="739336" lvl="1" indent="-285750">
              <a:buFontTx/>
              <a:buChar char="-"/>
            </a:pPr>
            <a:r>
              <a:rPr lang="fr-FR" i="1" dirty="0"/>
              <a:t>Bruit thermique (Johnson-</a:t>
            </a:r>
            <a:r>
              <a:rPr lang="fr-FR" i="1" dirty="0" err="1"/>
              <a:t>Nyquist</a:t>
            </a:r>
            <a:r>
              <a:rPr lang="fr-FR" i="1" dirty="0"/>
              <a:t>)</a:t>
            </a:r>
          </a:p>
          <a:p>
            <a:pPr marL="739336" lvl="1" indent="-285750">
              <a:buFontTx/>
              <a:buChar char="-"/>
            </a:pPr>
            <a:r>
              <a:rPr lang="fr-FR" i="1" dirty="0"/>
              <a:t>Bruit de photons</a:t>
            </a:r>
          </a:p>
          <a:p>
            <a:pPr lvl="1" indent="0"/>
            <a:endParaRPr lang="fr-FR" i="1" dirty="0"/>
          </a:p>
          <a:p>
            <a:pPr marL="285750" indent="-285750">
              <a:buFontTx/>
              <a:buChar char="-"/>
            </a:pPr>
            <a:r>
              <a:rPr lang="fr-FR" b="1" dirty="0"/>
              <a:t>Rapport signal à bruit</a:t>
            </a:r>
            <a:r>
              <a:rPr lang="fr-FR" dirty="0"/>
              <a:t> : mesure la qualité du signal détecté</a:t>
            </a:r>
            <a:endParaRPr lang="fr-FR" b="1" dirty="0"/>
          </a:p>
          <a:p>
            <a:pPr marL="285750" indent="-285750">
              <a:buFontTx/>
              <a:buChar char="-"/>
            </a:pPr>
            <a:r>
              <a:rPr lang="fr-FR" b="1" dirty="0"/>
              <a:t>Temps de réponse </a:t>
            </a:r>
            <a:r>
              <a:rPr lang="fr-FR" dirty="0"/>
              <a:t>: durée nécessaire pour que le signal atteigne un niveau stable après une variation</a:t>
            </a:r>
          </a:p>
          <a:p>
            <a:pPr marL="285750" indent="-285750">
              <a:buFontTx/>
              <a:buChar char="-"/>
            </a:pPr>
            <a:r>
              <a:rPr lang="fr-FR" b="1" dirty="0"/>
              <a:t>Bande passante </a:t>
            </a:r>
            <a:r>
              <a:rPr lang="fr-FR" dirty="0"/>
              <a:t>: fréquence maximale de modulation détectable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b="1" dirty="0"/>
              <a:t>Courant d’obscurité </a:t>
            </a:r>
            <a:r>
              <a:rPr lang="fr-FR" dirty="0"/>
              <a:t>: courant généré par le détecteur en l’absence de lumière</a:t>
            </a:r>
          </a:p>
          <a:p>
            <a:pPr marL="285750" indent="-285750">
              <a:buFontTx/>
              <a:buChar char="-"/>
            </a:pPr>
            <a:r>
              <a:rPr lang="fr-FR" b="1" dirty="0"/>
              <a:t>Stabilité et linéarité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059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Système de phot. / Caractéristiques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110A4016-B3E5-2AAB-0744-6E0AA1FEFB0B}"/>
              </a:ext>
            </a:extLst>
          </p:cNvPr>
          <p:cNvSpPr txBox="1"/>
          <p:nvPr/>
        </p:nvSpPr>
        <p:spPr>
          <a:xfrm>
            <a:off x="7735177" y="2321996"/>
            <a:ext cx="32160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fr-FR" b="1" dirty="0"/>
              <a:t>Convertir un signal lumineux </a:t>
            </a:r>
            <a:r>
              <a:rPr lang="fr-FR" dirty="0"/>
              <a:t>(flux de photons) en un signal électrique mesurable</a:t>
            </a:r>
            <a:endParaRPr lang="fr-FR" sz="20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140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7570362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FDD828A-FB5E-332B-B5A3-11D242A28B8F}"/>
              </a:ext>
            </a:extLst>
          </p:cNvPr>
          <p:cNvSpPr/>
          <p:nvPr/>
        </p:nvSpPr>
        <p:spPr>
          <a:xfrm>
            <a:off x="8732083" y="4256120"/>
            <a:ext cx="1222265" cy="10698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Sys. Phot.</a:t>
            </a:r>
          </a:p>
        </p:txBody>
      </p: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AAF0045E-75FA-C363-9989-CD699090A3C3}"/>
              </a:ext>
            </a:extLst>
          </p:cNvPr>
          <p:cNvCxnSpPr>
            <a:cxnSpLocks/>
          </p:cNvCxnSpPr>
          <p:nvPr/>
        </p:nvCxnSpPr>
        <p:spPr>
          <a:xfrm>
            <a:off x="8001000" y="4791044"/>
            <a:ext cx="667075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avec flèche 142">
            <a:extLst>
              <a:ext uri="{FF2B5EF4-FFF2-40B4-BE49-F238E27FC236}">
                <a16:creationId xmlns:a16="http://schemas.microsoft.com/office/drawing/2014/main" id="{E59F52BC-BD4E-1C97-BA0E-D8F0525A3913}"/>
              </a:ext>
            </a:extLst>
          </p:cNvPr>
          <p:cNvCxnSpPr/>
          <p:nvPr/>
        </p:nvCxnSpPr>
        <p:spPr>
          <a:xfrm>
            <a:off x="10000488" y="4791044"/>
            <a:ext cx="667075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ZoneTexte 143">
            <a:extLst>
              <a:ext uri="{FF2B5EF4-FFF2-40B4-BE49-F238E27FC236}">
                <a16:creationId xmlns:a16="http://schemas.microsoft.com/office/drawing/2014/main" id="{E5821B81-B465-192A-C30F-4B9F651F0DE0}"/>
              </a:ext>
            </a:extLst>
          </p:cNvPr>
          <p:cNvSpPr txBox="1"/>
          <p:nvPr/>
        </p:nvSpPr>
        <p:spPr>
          <a:xfrm>
            <a:off x="7189470" y="3934797"/>
            <a:ext cx="1341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/>
              <a:t>Flux lumineux</a:t>
            </a:r>
            <a:endParaRPr lang="fr-FR" dirty="0"/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D463B968-1DE1-37CB-7B05-ABF6A4C2ABD5}"/>
              </a:ext>
            </a:extLst>
          </p:cNvPr>
          <p:cNvSpPr txBox="1"/>
          <p:nvPr/>
        </p:nvSpPr>
        <p:spPr>
          <a:xfrm>
            <a:off x="10155079" y="3996353"/>
            <a:ext cx="1340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Grandeur Electrique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ED7CA4A-9EE6-9BB7-D8EA-C96651B12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24" y="3146513"/>
            <a:ext cx="5641732" cy="3545948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532668" y="1673513"/>
            <a:ext cx="63801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b="1" dirty="0"/>
              <a:t>Bande spectrale de réponse </a:t>
            </a:r>
            <a:r>
              <a:rPr lang="fr-FR" dirty="0"/>
              <a:t>: domaine de longueurs d’onde pour lesquelles le détecteur est sensible</a:t>
            </a:r>
          </a:p>
          <a:p>
            <a:pPr marL="285750" indent="-285750">
              <a:buFontTx/>
              <a:buChar char="-"/>
            </a:pPr>
            <a:r>
              <a:rPr lang="fr-FR" b="1" dirty="0"/>
              <a:t>Efficacité quantique </a:t>
            </a:r>
            <a:r>
              <a:rPr lang="fr-FR" dirty="0"/>
              <a:t>: fraction de photons incidents qui génèrent effectivement </a:t>
            </a:r>
            <a:r>
              <a:rPr lang="fr-FR"/>
              <a:t>un électron</a:t>
            </a:r>
          </a:p>
          <a:p>
            <a:pPr marL="285750" indent="-285750">
              <a:buFontTx/>
              <a:buChar char="-"/>
            </a:pPr>
            <a:r>
              <a:rPr lang="fr-FR" b="1"/>
              <a:t>Taille </a:t>
            </a:r>
            <a:r>
              <a:rPr lang="fr-FR" b="1" dirty="0"/>
              <a:t>active </a:t>
            </a:r>
            <a:r>
              <a:rPr lang="fr-FR" dirty="0"/>
              <a:t>: détermine la quantité de lumière collectée</a:t>
            </a:r>
          </a:p>
        </p:txBody>
      </p:sp>
    </p:spTree>
    <p:extLst>
      <p:ext uri="{BB962C8B-B14F-4D97-AF65-F5344CB8AC3E}">
        <p14:creationId xmlns:p14="http://schemas.microsoft.com/office/powerpoint/2010/main" val="777649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Montage « simple »</a:t>
            </a:r>
            <a:endParaRPr lang="fr-FR" dirty="0"/>
          </a:p>
          <a:p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73EAD93-EC04-E6B8-DFA9-6F2579C6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232" y="5035788"/>
            <a:ext cx="1694972" cy="15073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FC07010-60CC-0F51-321B-2AEC004C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275" y="5035788"/>
            <a:ext cx="1346761" cy="151308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4B3C565-073B-8D22-06F4-BA1E9315683E}"/>
              </a:ext>
            </a:extLst>
          </p:cNvPr>
          <p:cNvSpPr txBox="1"/>
          <p:nvPr/>
        </p:nvSpPr>
        <p:spPr>
          <a:xfrm>
            <a:off x="8180236" y="6527409"/>
            <a:ext cx="1248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IDS </a:t>
            </a:r>
            <a:r>
              <a:rPr lang="fr-FR" sz="1000" dirty="0" err="1"/>
              <a:t>Sensor</a:t>
            </a:r>
            <a:endParaRPr lang="fr-FR" sz="1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875D335-1D18-FB0A-5718-530BDA1B0943}"/>
              </a:ext>
            </a:extLst>
          </p:cNvPr>
          <p:cNvSpPr txBox="1"/>
          <p:nvPr/>
        </p:nvSpPr>
        <p:spPr>
          <a:xfrm>
            <a:off x="10527274" y="6553442"/>
            <a:ext cx="1617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Basler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/ </a:t>
            </a:r>
            <a:r>
              <a:rPr lang="fr-FR" sz="1000" dirty="0" err="1"/>
              <a:t>Mouser</a:t>
            </a:r>
            <a:endParaRPr lang="fr-FR" sz="1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36684"/>
            <a:ext cx="3528392" cy="144942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272" y="1681095"/>
            <a:ext cx="3231365" cy="24636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511CEAA-4EE3-B7DA-336A-CBBA0056BC40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54E14D-DC66-5DB1-E069-58F390839254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3998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A71C9A66-FD84-0971-7D7A-C122064CE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4" y="3212976"/>
            <a:ext cx="6524359" cy="30398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Version « simple »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24" name="Rectangle 23"/>
          <p:cNvSpPr/>
          <p:nvPr/>
        </p:nvSpPr>
        <p:spPr>
          <a:xfrm>
            <a:off x="862070" y="2282862"/>
            <a:ext cx="32177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just"/>
            <a:r>
              <a:rPr lang="fr-FR" b="1" dirty="0"/>
              <a:t>Convertir un signal lumineux </a:t>
            </a:r>
            <a:r>
              <a:rPr lang="fr-FR" dirty="0"/>
              <a:t>(flux de photons) en un signal électrique mesurable</a:t>
            </a:r>
            <a:endParaRPr lang="fr-FR" sz="2000" b="1" dirty="0">
              <a:solidFill>
                <a:prstClr val="black"/>
              </a:solidFill>
              <a:latin typeface="FreeSan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984" y="1585814"/>
            <a:ext cx="5464100" cy="7408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17D065C-C347-FC24-8E51-12C625B4E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7157" y="2613604"/>
            <a:ext cx="5372100" cy="40957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2FA8940-E3B3-3519-D50C-DC9EB5C4BC7B}"/>
              </a:ext>
            </a:extLst>
          </p:cNvPr>
          <p:cNvSpPr/>
          <p:nvPr/>
        </p:nvSpPr>
        <p:spPr bwMode="auto">
          <a:xfrm>
            <a:off x="4846377" y="3077123"/>
            <a:ext cx="1440780" cy="349258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643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A71C9A66-FD84-0971-7D7A-C122064CE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4" y="3212976"/>
            <a:ext cx="6524359" cy="30398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Version « simple »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24" name="Rectangle 23"/>
          <p:cNvSpPr/>
          <p:nvPr/>
        </p:nvSpPr>
        <p:spPr>
          <a:xfrm>
            <a:off x="862070" y="2282862"/>
            <a:ext cx="32177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just"/>
            <a:r>
              <a:rPr lang="fr-FR" b="1" dirty="0"/>
              <a:t>Convertir un signal lumineux </a:t>
            </a:r>
            <a:r>
              <a:rPr lang="fr-FR" dirty="0"/>
              <a:t>(flux de photons) en un signal électrique mesurable</a:t>
            </a:r>
            <a:endParaRPr lang="fr-FR" sz="2000" b="1" dirty="0">
              <a:solidFill>
                <a:prstClr val="black"/>
              </a:solidFill>
              <a:latin typeface="FreeSans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78C9C485-2033-2105-8303-3D4A9E4A0F72}"/>
              </a:ext>
            </a:extLst>
          </p:cNvPr>
          <p:cNvCxnSpPr>
            <a:cxnSpLocks/>
          </p:cNvCxnSpPr>
          <p:nvPr/>
        </p:nvCxnSpPr>
        <p:spPr>
          <a:xfrm>
            <a:off x="2595253" y="4525477"/>
            <a:ext cx="1506263" cy="1839068"/>
          </a:xfrm>
          <a:prstGeom prst="line">
            <a:avLst/>
          </a:prstGeom>
          <a:ln w="57150">
            <a:solidFill>
              <a:srgbClr val="FF96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e 11">
            <a:extLst>
              <a:ext uri="{FF2B5EF4-FFF2-40B4-BE49-F238E27FC236}">
                <a16:creationId xmlns:a16="http://schemas.microsoft.com/office/drawing/2014/main" id="{F24CBD64-90CE-DFB1-86FA-1191618B4004}"/>
              </a:ext>
            </a:extLst>
          </p:cNvPr>
          <p:cNvSpPr/>
          <p:nvPr/>
        </p:nvSpPr>
        <p:spPr>
          <a:xfrm>
            <a:off x="3100637" y="5129505"/>
            <a:ext cx="108155" cy="13987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3B44C3E-5E1E-D02B-90E8-79958DC2C4E6}"/>
              </a:ext>
            </a:extLst>
          </p:cNvPr>
          <p:cNvSpPr/>
          <p:nvPr/>
        </p:nvSpPr>
        <p:spPr>
          <a:xfrm>
            <a:off x="3560969" y="5700741"/>
            <a:ext cx="108155" cy="13987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EA4F1BA-DEF0-1A17-8BBA-D98612DA7586}"/>
              </a:ext>
            </a:extLst>
          </p:cNvPr>
          <p:cNvSpPr/>
          <p:nvPr/>
        </p:nvSpPr>
        <p:spPr>
          <a:xfrm>
            <a:off x="2739976" y="4683541"/>
            <a:ext cx="108155" cy="13987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157" y="2613604"/>
            <a:ext cx="5372100" cy="409575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984" y="1585814"/>
            <a:ext cx="5464100" cy="74080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EEC7C10D-7D55-AC26-4887-6A565105EC8B}"/>
              </a:ext>
            </a:extLst>
          </p:cNvPr>
          <p:cNvSpPr txBox="1"/>
          <p:nvPr/>
        </p:nvSpPr>
        <p:spPr>
          <a:xfrm>
            <a:off x="7268299" y="2428938"/>
            <a:ext cx="448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Tension de polarisation non constante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AB85C5-EBAD-7283-E82D-9DC8DD87E97D}"/>
              </a:ext>
            </a:extLst>
          </p:cNvPr>
          <p:cNvSpPr/>
          <p:nvPr/>
        </p:nvSpPr>
        <p:spPr bwMode="auto">
          <a:xfrm>
            <a:off x="4846377" y="3077123"/>
            <a:ext cx="1440780" cy="349258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0393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95476F0-04D7-1BA4-F0EF-593F58D82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80" y="3154130"/>
            <a:ext cx="7910659" cy="572084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051F763-FF54-32D2-04D1-FDFA32D80C24}"/>
              </a:ext>
            </a:extLst>
          </p:cNvPr>
          <p:cNvSpPr/>
          <p:nvPr/>
        </p:nvSpPr>
        <p:spPr bwMode="auto">
          <a:xfrm>
            <a:off x="5870993" y="3121761"/>
            <a:ext cx="1343725" cy="349258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Version « simple » / En pratique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24" name="Rectangle 23"/>
          <p:cNvSpPr/>
          <p:nvPr/>
        </p:nvSpPr>
        <p:spPr>
          <a:xfrm>
            <a:off x="862070" y="2282862"/>
            <a:ext cx="32177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just"/>
            <a:r>
              <a:rPr lang="fr-FR" b="1" dirty="0"/>
              <a:t>Convertir un signal lumineux </a:t>
            </a:r>
            <a:r>
              <a:rPr lang="fr-FR" dirty="0"/>
              <a:t>(flux de photons) en un signal électrique mesurable</a:t>
            </a:r>
            <a:endParaRPr lang="fr-FR" sz="2000" b="1" dirty="0">
              <a:solidFill>
                <a:prstClr val="black"/>
              </a:solidFill>
              <a:latin typeface="FreeSans"/>
            </a:endParaRPr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418" y="2451699"/>
            <a:ext cx="5372100" cy="409575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984" y="1585814"/>
            <a:ext cx="5464100" cy="740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CB183C-9610-5D94-5BFE-4B8F03086281}"/>
              </a:ext>
            </a:extLst>
          </p:cNvPr>
          <p:cNvSpPr/>
          <p:nvPr/>
        </p:nvSpPr>
        <p:spPr bwMode="auto">
          <a:xfrm>
            <a:off x="285781" y="3180761"/>
            <a:ext cx="985684" cy="353282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038AD1B-78D1-142C-E709-C0C4D06301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40" y="3600450"/>
            <a:ext cx="476250" cy="3429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607C745-EB49-F832-5AD1-9DEC650EC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57" y="4426022"/>
            <a:ext cx="352425" cy="3714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CB6473-A804-3792-F5D4-B95B433F3221}"/>
              </a:ext>
            </a:extLst>
          </p:cNvPr>
          <p:cNvSpPr/>
          <p:nvPr/>
        </p:nvSpPr>
        <p:spPr bwMode="auto">
          <a:xfrm>
            <a:off x="299769" y="5904082"/>
            <a:ext cx="7740448" cy="21414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AF961668-F85F-6A4E-7762-B4E91E010643}"/>
              </a:ext>
            </a:extLst>
          </p:cNvPr>
          <p:cNvCxnSpPr>
            <a:cxnSpLocks/>
          </p:cNvCxnSpPr>
          <p:nvPr/>
        </p:nvCxnSpPr>
        <p:spPr bwMode="auto">
          <a:xfrm>
            <a:off x="1038282" y="4306563"/>
            <a:ext cx="5057718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222268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8600D2D6-BC50-D3EE-C6C8-1A798763116F}"/>
              </a:ext>
            </a:extLst>
          </p:cNvPr>
          <p:cNvSpPr txBox="1"/>
          <p:nvPr/>
        </p:nvSpPr>
        <p:spPr>
          <a:xfrm>
            <a:off x="4925359" y="4338933"/>
            <a:ext cx="18076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222268"/>
                </a:solidFill>
              </a:rPr>
              <a:t>Fréquence (log)</a:t>
            </a:r>
            <a:endParaRPr lang="fr-FR" dirty="0">
              <a:solidFill>
                <a:srgbClr val="222268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EC7C10D-7D55-AC26-4887-6A565105EC8B}"/>
              </a:ext>
            </a:extLst>
          </p:cNvPr>
          <p:cNvSpPr txBox="1"/>
          <p:nvPr/>
        </p:nvSpPr>
        <p:spPr>
          <a:xfrm>
            <a:off x="2645265" y="6258943"/>
            <a:ext cx="4488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MODELE NON VALIDE !!</a:t>
            </a:r>
          </a:p>
        </p:txBody>
      </p:sp>
    </p:spTree>
    <p:extLst>
      <p:ext uri="{BB962C8B-B14F-4D97-AF65-F5344CB8AC3E}">
        <p14:creationId xmlns:p14="http://schemas.microsoft.com/office/powerpoint/2010/main" val="33133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Montage « simple » et modélisation</a:t>
            </a:r>
            <a:endParaRPr lang="fr-FR" dirty="0"/>
          </a:p>
          <a:p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73EAD93-EC04-E6B8-DFA9-6F2579C6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232" y="5035788"/>
            <a:ext cx="1694972" cy="15073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FC07010-60CC-0F51-321B-2AEC004C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275" y="5035788"/>
            <a:ext cx="1346761" cy="151308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4B3C565-073B-8D22-06F4-BA1E9315683E}"/>
              </a:ext>
            </a:extLst>
          </p:cNvPr>
          <p:cNvSpPr txBox="1"/>
          <p:nvPr/>
        </p:nvSpPr>
        <p:spPr>
          <a:xfrm>
            <a:off x="8180236" y="6527409"/>
            <a:ext cx="1248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IDS </a:t>
            </a:r>
            <a:r>
              <a:rPr lang="fr-FR" sz="1000" dirty="0" err="1"/>
              <a:t>Sensor</a:t>
            </a:r>
            <a:endParaRPr lang="fr-FR" sz="1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875D335-1D18-FB0A-5718-530BDA1B0943}"/>
              </a:ext>
            </a:extLst>
          </p:cNvPr>
          <p:cNvSpPr txBox="1"/>
          <p:nvPr/>
        </p:nvSpPr>
        <p:spPr>
          <a:xfrm>
            <a:off x="10527274" y="6553442"/>
            <a:ext cx="1617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Basler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/ </a:t>
            </a:r>
            <a:r>
              <a:rPr lang="fr-FR" sz="1000" dirty="0" err="1"/>
              <a:t>Mouser</a:t>
            </a:r>
            <a:endParaRPr lang="fr-FR" sz="1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36684"/>
            <a:ext cx="3528392" cy="144942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272" y="1681095"/>
            <a:ext cx="3231365" cy="24636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BE00E04-A1E5-1046-66BF-C8AB574A2487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5356F1-562C-02E6-1D79-3EE86B03CBC5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4263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Version « simple » / Modélisation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Modélisation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07" y="2672571"/>
            <a:ext cx="84772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48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Amplificateur linéaire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Adaptation d’impédance et </a:t>
            </a:r>
            <a:r>
              <a:rPr lang="fr-FR" dirty="0" err="1">
                <a:latin typeface="Bahnschrift SemiBold" panose="020B0502040204020203" pitchFamily="34" charset="0"/>
              </a:rPr>
              <a:t>transimpédance</a:t>
            </a:r>
            <a:endParaRPr lang="fr-FR" dirty="0"/>
          </a:p>
          <a:p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36684"/>
            <a:ext cx="3528392" cy="144942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334" y="4221088"/>
            <a:ext cx="3795740" cy="23479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7C97B3-9973-4955-85CA-48105803D217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26B888-EEAE-05F8-4FD7-2E31C6D43658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9296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1A-F578-3E97-7A13-CF27FED2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954079-E628-B2A2-9A1E-FC464FC3AE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9BDE4537-9082-6544-8784-63344B9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Amplificateur </a:t>
            </a:r>
            <a:r>
              <a:rPr lang="fr-FR"/>
              <a:t>Linéaire Intégré</a:t>
            </a:r>
            <a:endParaRPr lang="fr-FR" dirty="0"/>
          </a:p>
        </p:txBody>
      </p:sp>
      <p:pic>
        <p:nvPicPr>
          <p:cNvPr id="135" name="Image 1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/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821FEFC-DAC4-14F6-CB42-806475D97FF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Fonction de transfert / Caractéristiques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11ACD45-00D6-6136-E1C2-B56939B5CA2A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ALI / AOP</a:t>
            </a:r>
          </a:p>
        </p:txBody>
      </p:sp>
      <p:sp>
        <p:nvSpPr>
          <p:cNvPr id="2" name="Rectangle 1"/>
          <p:cNvSpPr/>
          <p:nvPr/>
        </p:nvSpPr>
        <p:spPr>
          <a:xfrm>
            <a:off x="862070" y="2282862"/>
            <a:ext cx="32177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Composant actif,</a:t>
            </a:r>
            <a:r>
              <a:rPr lang="fr-FR" b="1" dirty="0"/>
              <a:t> amplificateur différentiel </a:t>
            </a:r>
            <a:r>
              <a:rPr lang="fr-FR" dirty="0"/>
              <a:t>à grand gain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50AAFD-1AEA-5D3E-C358-83CCDE69C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427" y="3212976"/>
            <a:ext cx="5192647" cy="321205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6014D40-AAB4-F4B6-9346-5C4BB856D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730" y="3212976"/>
            <a:ext cx="2953162" cy="17433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6DA4914-B141-4FB3-9A64-C139383C4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38" y="5148519"/>
            <a:ext cx="4508913" cy="146649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6D9A5B7-4343-7077-6E14-80D3E7D63993}"/>
              </a:ext>
            </a:extLst>
          </p:cNvPr>
          <p:cNvSpPr txBox="1"/>
          <p:nvPr/>
        </p:nvSpPr>
        <p:spPr>
          <a:xfrm>
            <a:off x="7186511" y="2260347"/>
            <a:ext cx="1857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i+ = i- = 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D492511-5595-5919-6485-778F334C2F8B}"/>
              </a:ext>
            </a:extLst>
          </p:cNvPr>
          <p:cNvSpPr txBox="1"/>
          <p:nvPr/>
        </p:nvSpPr>
        <p:spPr>
          <a:xfrm>
            <a:off x="6440027" y="1556792"/>
            <a:ext cx="4488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960A"/>
                </a:solidFill>
              </a:rPr>
              <a:t>Impédance d’entrée élevée</a:t>
            </a:r>
          </a:p>
        </p:txBody>
      </p:sp>
      <p:sp>
        <p:nvSpPr>
          <p:cNvPr id="14" name="Triangle isocèle 13">
            <a:extLst>
              <a:ext uri="{FF2B5EF4-FFF2-40B4-BE49-F238E27FC236}">
                <a16:creationId xmlns:a16="http://schemas.microsoft.com/office/drawing/2014/main" id="{6E0E7FEC-FA11-516F-75E5-8EF785FDB7C8}"/>
              </a:ext>
            </a:extLst>
          </p:cNvPr>
          <p:cNvSpPr/>
          <p:nvPr/>
        </p:nvSpPr>
        <p:spPr>
          <a:xfrm rot="5400000">
            <a:off x="6702110" y="2437969"/>
            <a:ext cx="226866" cy="194639"/>
          </a:xfrm>
          <a:prstGeom prst="triangl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89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6B8B8-AC8A-B88C-FF2F-4C95EF38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67CC5E-EB74-6C05-219F-E91F97DB24C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DCAEB12A-20BC-A806-53CF-2957E9ECC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Amplificateur </a:t>
            </a:r>
            <a:r>
              <a:rPr lang="fr-FR"/>
              <a:t>Linéaire Intégré</a:t>
            </a:r>
            <a:endParaRPr lang="fr-FR" dirty="0"/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7CCBFE49-EFC4-43AE-9007-565FF8C6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E654BC7D-00B8-6F2E-B45C-D41E67025330}"/>
              </a:ext>
            </a:extLst>
          </p:cNvPr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4639AFF1-B6E4-A894-9DB3-D672AFAFF699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Fonction de transfert / Caractéristiques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6A89A676-8DAA-1F35-5E88-98B1A66A04A4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ALI / AOP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A2F101-229B-7685-7330-A43F7F058669}"/>
              </a:ext>
            </a:extLst>
          </p:cNvPr>
          <p:cNvSpPr/>
          <p:nvPr/>
        </p:nvSpPr>
        <p:spPr>
          <a:xfrm>
            <a:off x="862070" y="2282862"/>
            <a:ext cx="32177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Composant actif,</a:t>
            </a:r>
            <a:r>
              <a:rPr lang="fr-FR" b="1" dirty="0"/>
              <a:t> amplificateur différentiel </a:t>
            </a:r>
            <a:r>
              <a:rPr lang="fr-FR" dirty="0"/>
              <a:t>à grand gain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ECE2D7-123E-651F-7B80-5E2502A5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730" y="3212976"/>
            <a:ext cx="2953162" cy="17433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67CDE0D-D51E-37EA-71C3-1CC24011B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38" y="5148519"/>
            <a:ext cx="4508913" cy="146649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2F2B78C-1088-A6F7-DFB9-76BB93669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826" y="2115357"/>
            <a:ext cx="5096252" cy="452557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35A430F-82C1-D82B-E9FB-F6F78CFB9ACC}"/>
              </a:ext>
            </a:extLst>
          </p:cNvPr>
          <p:cNvSpPr txBox="1"/>
          <p:nvPr/>
        </p:nvSpPr>
        <p:spPr>
          <a:xfrm>
            <a:off x="6440027" y="1556792"/>
            <a:ext cx="4488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960A"/>
                </a:solidFill>
              </a:rPr>
              <a:t>Fonctionnement non-linéaire</a:t>
            </a:r>
          </a:p>
        </p:txBody>
      </p:sp>
    </p:spTree>
    <p:extLst>
      <p:ext uri="{BB962C8B-B14F-4D97-AF65-F5344CB8AC3E}">
        <p14:creationId xmlns:p14="http://schemas.microsoft.com/office/powerpoint/2010/main" val="1579378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6D956-F705-14C7-816D-112595D1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5714F8-4C8F-CABF-696E-0168A978AC23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796A8E8A-3211-815E-3707-F8023822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Amplificateur </a:t>
            </a:r>
            <a:r>
              <a:rPr lang="fr-FR"/>
              <a:t>Linéaire Intégré</a:t>
            </a:r>
            <a:endParaRPr lang="fr-FR" dirty="0"/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AB052662-1ADA-81B1-FEAC-A39DA5B99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DF2DE631-35C8-95A8-3448-EFEF968D2CDB}"/>
              </a:ext>
            </a:extLst>
          </p:cNvPr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7BCC9076-FC57-2C27-1A88-8CA97CC63122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Fonction de transfert / Caractéristiques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53B9B398-CDB9-3833-8AA5-D268F8BD3942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ALI / AOP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C6C45C-96A5-E153-432B-C797048973F8}"/>
              </a:ext>
            </a:extLst>
          </p:cNvPr>
          <p:cNvSpPr/>
          <p:nvPr/>
        </p:nvSpPr>
        <p:spPr>
          <a:xfrm>
            <a:off x="862070" y="2282862"/>
            <a:ext cx="32177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Composant actif,</a:t>
            </a:r>
            <a:r>
              <a:rPr lang="fr-FR" b="1" dirty="0"/>
              <a:t> amplificateur différentiel </a:t>
            </a:r>
            <a:r>
              <a:rPr lang="fr-FR" dirty="0"/>
              <a:t>à grand gain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D04422E-BACB-F56A-F9D5-30309A4EE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730" y="3212976"/>
            <a:ext cx="2953162" cy="17433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A2F4653-7728-189D-0F9F-922A1BF97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38" y="5148519"/>
            <a:ext cx="4508913" cy="146649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72C89A4-061F-6907-622F-F83A3D82D4F5}"/>
              </a:ext>
            </a:extLst>
          </p:cNvPr>
          <p:cNvSpPr txBox="1"/>
          <p:nvPr/>
        </p:nvSpPr>
        <p:spPr>
          <a:xfrm>
            <a:off x="6440027" y="1556792"/>
            <a:ext cx="4488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960A"/>
                </a:solidFill>
              </a:rPr>
              <a:t>Fonctionnement linéaire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F7B0217-FBBD-439A-4E84-83AFA75F4B81}"/>
              </a:ext>
            </a:extLst>
          </p:cNvPr>
          <p:cNvSpPr txBox="1"/>
          <p:nvPr/>
        </p:nvSpPr>
        <p:spPr>
          <a:xfrm>
            <a:off x="6707985" y="2051032"/>
            <a:ext cx="4841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contre-réaction négative (via un dipôle)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950DC05-1408-5D15-43D5-2A9DBC3C0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027" y="2401811"/>
            <a:ext cx="3143577" cy="275137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E7BAB351-F2D1-9430-898D-5F8579FD83F3}"/>
              </a:ext>
            </a:extLst>
          </p:cNvPr>
          <p:cNvSpPr txBox="1"/>
          <p:nvPr/>
        </p:nvSpPr>
        <p:spPr>
          <a:xfrm>
            <a:off x="6240016" y="5620154"/>
            <a:ext cx="2760323" cy="52322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fr-FR" sz="2800" baseline="-25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fr-FR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A.(V</a:t>
            </a:r>
            <a:r>
              <a:rPr lang="fr-FR" sz="2800" baseline="-25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fr-FR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V</a:t>
            </a:r>
            <a:r>
              <a:rPr lang="fr-FR" sz="2800" baseline="-25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fr-FR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fr-FR" sz="2800" baseline="-250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riangle isocèle 15">
            <a:extLst>
              <a:ext uri="{FF2B5EF4-FFF2-40B4-BE49-F238E27FC236}">
                <a16:creationId xmlns:a16="http://schemas.microsoft.com/office/drawing/2014/main" id="{4328AFF5-676D-5E2A-978B-7DBF86BBA5CA}"/>
              </a:ext>
            </a:extLst>
          </p:cNvPr>
          <p:cNvSpPr/>
          <p:nvPr/>
        </p:nvSpPr>
        <p:spPr>
          <a:xfrm rot="5400000">
            <a:off x="8918043" y="5790861"/>
            <a:ext cx="226866" cy="194639"/>
          </a:xfrm>
          <a:prstGeom prst="triangl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3AC539EC-6F6B-242C-0CB2-750621BD58FB}"/>
                  </a:ext>
                </a:extLst>
              </p:cNvPr>
              <p:cNvSpPr txBox="1"/>
              <p:nvPr/>
            </p:nvSpPr>
            <p:spPr>
              <a:xfrm>
                <a:off x="9862759" y="5517232"/>
                <a:ext cx="1481303" cy="75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fr-FR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fr-FR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3AC539EC-6F6B-242C-0CB2-750621BD5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759" y="5517232"/>
                <a:ext cx="1481303" cy="7562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722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C0668-DBC5-5C55-22F7-15DCC4240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8431FA-787A-7D8C-8AB0-D55DD6DA2055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B0198DB5-80A1-49F2-00A7-67AE4EEF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Amplificateur </a:t>
            </a:r>
            <a:r>
              <a:rPr lang="fr-FR"/>
              <a:t>Linéaire Intégré</a:t>
            </a:r>
            <a:endParaRPr lang="fr-FR" dirty="0"/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2173BB88-D931-528B-2334-AD9042F7E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A439E84E-9B4E-6A5A-8BAB-18E9D1910E0D}"/>
              </a:ext>
            </a:extLst>
          </p:cNvPr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0D10F6EF-DF31-2A63-7AAA-37229C81F943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Fonction de transfert / Caractéristiques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1D8BFE55-D781-7CDA-BCCA-1DFF98AE0BE3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ALI / AOP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525FE1-03CB-C896-B405-B789CCABAC02}"/>
              </a:ext>
            </a:extLst>
          </p:cNvPr>
          <p:cNvSpPr/>
          <p:nvPr/>
        </p:nvSpPr>
        <p:spPr>
          <a:xfrm>
            <a:off x="862070" y="2282862"/>
            <a:ext cx="32177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Composant actif,</a:t>
            </a:r>
            <a:r>
              <a:rPr lang="fr-FR" b="1" dirty="0"/>
              <a:t> amplificateur différentiel </a:t>
            </a:r>
            <a:r>
              <a:rPr lang="fr-FR" dirty="0"/>
              <a:t>à grand gain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C8ACE16-2B51-82FE-9B1F-F109D54E0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730" y="3212976"/>
            <a:ext cx="2953162" cy="17433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5EC9E42-1A27-F3B8-A789-D2333E42C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38" y="5148519"/>
            <a:ext cx="4508913" cy="146649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F3ADB8B-9089-AC76-6B30-377D628FB81E}"/>
              </a:ext>
            </a:extLst>
          </p:cNvPr>
          <p:cNvSpPr txBox="1"/>
          <p:nvPr/>
        </p:nvSpPr>
        <p:spPr>
          <a:xfrm>
            <a:off x="6440027" y="1556792"/>
            <a:ext cx="4488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960A"/>
                </a:solidFill>
              </a:rPr>
              <a:t>Fonctionnement linéaire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0FDF408-5736-B677-4542-05E374F911D8}"/>
              </a:ext>
            </a:extLst>
          </p:cNvPr>
          <p:cNvSpPr txBox="1"/>
          <p:nvPr/>
        </p:nvSpPr>
        <p:spPr>
          <a:xfrm>
            <a:off x="6707985" y="2051032"/>
            <a:ext cx="4841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contre-réaction négative (via un dipôle)</a:t>
            </a:r>
          </a:p>
        </p:txBody>
      </p:sp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55174B9F-E8EB-FEA3-255E-20B0288A800B}"/>
              </a:ext>
            </a:extLst>
          </p:cNvPr>
          <p:cNvSpPr/>
          <p:nvPr/>
        </p:nvSpPr>
        <p:spPr>
          <a:xfrm rot="5400000">
            <a:off x="7171820" y="5797106"/>
            <a:ext cx="226866" cy="194639"/>
          </a:xfrm>
          <a:prstGeom prst="triangl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206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F42139A-E958-54BC-2E62-6A0FE3DF8FBF}"/>
              </a:ext>
            </a:extLst>
          </p:cNvPr>
          <p:cNvSpPr txBox="1"/>
          <p:nvPr/>
        </p:nvSpPr>
        <p:spPr>
          <a:xfrm>
            <a:off x="9987324" y="3643531"/>
            <a:ext cx="1461287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22226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fr-FR" sz="2800" baseline="-25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fr-FR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V</a:t>
            </a:r>
            <a:r>
              <a:rPr lang="fr-FR" sz="2800" baseline="-25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C4398C7-5229-AA4B-7481-D6075611EBA5}"/>
              </a:ext>
            </a:extLst>
          </p:cNvPr>
          <p:cNvSpPr txBox="1"/>
          <p:nvPr/>
        </p:nvSpPr>
        <p:spPr>
          <a:xfrm>
            <a:off x="7382573" y="6159212"/>
            <a:ext cx="299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Hypothèse à vérifier…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CA1904C-2F13-EE85-8B2F-047C99F86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027" y="2401811"/>
            <a:ext cx="3143577" cy="275137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F579388B-47C8-402C-4AAD-D400F60C939D}"/>
              </a:ext>
            </a:extLst>
          </p:cNvPr>
          <p:cNvSpPr txBox="1"/>
          <p:nvPr/>
        </p:nvSpPr>
        <p:spPr>
          <a:xfrm>
            <a:off x="7534973" y="5621000"/>
            <a:ext cx="1857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V+ = V-</a:t>
            </a:r>
          </a:p>
        </p:txBody>
      </p:sp>
    </p:spTree>
    <p:extLst>
      <p:ext uri="{BB962C8B-B14F-4D97-AF65-F5344CB8AC3E}">
        <p14:creationId xmlns:p14="http://schemas.microsoft.com/office/powerpoint/2010/main" val="4220247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0A5C9-4118-73A9-360A-E5934B62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7AA35A-740F-FF2A-89C4-1AC4E03ECE40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CD90E67D-EACF-E058-2DDC-8E7A570C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Amplificateur </a:t>
            </a:r>
            <a:r>
              <a:rPr lang="fr-FR"/>
              <a:t>Linéaire Intégré</a:t>
            </a:r>
            <a:endParaRPr lang="fr-FR" dirty="0"/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DA261679-1C2D-3811-1C8B-3763A29AB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0FA1A1C8-DDC5-8360-CDFC-ADC21827CA7C}"/>
              </a:ext>
            </a:extLst>
          </p:cNvPr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5B00140E-EEFF-51D1-2699-5E64803B4717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Fonction de transfert / Bande-passante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F180D58A-AA22-D690-23B6-31F4AF920C55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ALI / AOP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3B9A6F-E5DF-53B7-DA38-5E81A38A3E3A}"/>
              </a:ext>
            </a:extLst>
          </p:cNvPr>
          <p:cNvSpPr/>
          <p:nvPr/>
        </p:nvSpPr>
        <p:spPr>
          <a:xfrm>
            <a:off x="862070" y="2282862"/>
            <a:ext cx="32177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/>
              <a:t>Composant actif,</a:t>
            </a:r>
            <a:r>
              <a:rPr lang="fr-FR" b="1" dirty="0"/>
              <a:t> amplificateur différentiel </a:t>
            </a:r>
            <a:r>
              <a:rPr lang="fr-FR" dirty="0"/>
              <a:t>à grand gain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A163EA6-BFAA-F874-A81A-3EBC99AE0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730" y="3212976"/>
            <a:ext cx="2953162" cy="17433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B476266-CA24-33E0-AF3E-F634D3E60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38" y="5148519"/>
            <a:ext cx="4508913" cy="146649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DF039F3-B07C-FB36-4377-58BCB1AE6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503" y="1493709"/>
            <a:ext cx="5468113" cy="3667637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B9775873-C256-0AAB-F206-9D9F3A2786EE}"/>
              </a:ext>
            </a:extLst>
          </p:cNvPr>
          <p:cNvSpPr txBox="1"/>
          <p:nvPr/>
        </p:nvSpPr>
        <p:spPr>
          <a:xfrm>
            <a:off x="6725537" y="5373216"/>
            <a:ext cx="4841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Propriété des montages à ALI</a:t>
            </a:r>
          </a:p>
        </p:txBody>
      </p:sp>
      <p:sp>
        <p:nvSpPr>
          <p:cNvPr id="13" name="Triangle isocèle 12">
            <a:extLst>
              <a:ext uri="{FF2B5EF4-FFF2-40B4-BE49-F238E27FC236}">
                <a16:creationId xmlns:a16="http://schemas.microsoft.com/office/drawing/2014/main" id="{8796C05A-AD24-B876-76B7-391BA0463643}"/>
              </a:ext>
            </a:extLst>
          </p:cNvPr>
          <p:cNvSpPr/>
          <p:nvPr/>
        </p:nvSpPr>
        <p:spPr>
          <a:xfrm rot="5400000">
            <a:off x="6857733" y="5792354"/>
            <a:ext cx="369334" cy="369332"/>
          </a:xfrm>
          <a:prstGeom prst="triangl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206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56D92B1-A29F-52C5-7B59-457365421BD1}"/>
              </a:ext>
            </a:extLst>
          </p:cNvPr>
          <p:cNvSpPr txBox="1"/>
          <p:nvPr/>
        </p:nvSpPr>
        <p:spPr>
          <a:xfrm>
            <a:off x="7441540" y="5715410"/>
            <a:ext cx="3747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A.BP = </a:t>
            </a:r>
            <a:r>
              <a:rPr lang="fr-FR" sz="28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cte</a:t>
            </a:r>
            <a:endParaRPr lang="fr-FR" sz="2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0A97D8F-D9B1-5FD8-3D89-A9FE75256D98}"/>
              </a:ext>
            </a:extLst>
          </p:cNvPr>
          <p:cNvSpPr txBox="1"/>
          <p:nvPr/>
        </p:nvSpPr>
        <p:spPr>
          <a:xfrm>
            <a:off x="5689398" y="6411547"/>
            <a:ext cx="6434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où A est l’amplification du montage et BP la bande passante du montage</a:t>
            </a:r>
          </a:p>
        </p:txBody>
      </p:sp>
    </p:spTree>
    <p:extLst>
      <p:ext uri="{BB962C8B-B14F-4D97-AF65-F5344CB8AC3E}">
        <p14:creationId xmlns:p14="http://schemas.microsoft.com/office/powerpoint/2010/main" val="521172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D6FA3-CD32-029B-7BA0-C5966DC99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BE48D3-A309-75D7-352B-D7401812D023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6A8843A8-EF21-69F4-3C34-923170AB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Amplificateur </a:t>
            </a:r>
            <a:r>
              <a:rPr lang="fr-FR"/>
              <a:t>Linéaire Intégré</a:t>
            </a:r>
            <a:endParaRPr lang="fr-FR" dirty="0"/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D5124BE9-9008-8A3C-860E-DD81CABED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687A5A44-B565-D1B6-B3F4-D5DFA1A010D9}"/>
              </a:ext>
            </a:extLst>
          </p:cNvPr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32E226A6-3D6D-C339-8570-289F3D00F8C4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Fonction de transfert / Boucle fermée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8532F763-AFE1-0619-BA9D-A647BF5F9250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ALI / AOP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D436A1-4E10-E1D4-B687-7C053BD55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730" y="3212976"/>
            <a:ext cx="2953162" cy="174331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C0EEC4C-F120-3F5C-2F85-FE0F6587513F}"/>
              </a:ext>
            </a:extLst>
          </p:cNvPr>
          <p:cNvSpPr txBox="1"/>
          <p:nvPr/>
        </p:nvSpPr>
        <p:spPr>
          <a:xfrm>
            <a:off x="6725537" y="5373216"/>
            <a:ext cx="4841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Propriété des montages à ALI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60DBA91-4AEE-ADCD-8834-F0BB79AE9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249" y="3867886"/>
            <a:ext cx="4676635" cy="20179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5A03049-E2CC-F91A-BD3D-4071569B7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212" y="2315997"/>
            <a:ext cx="3133725" cy="12477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328AF44-8B3F-A2B9-68D1-A4CCC672F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203" y="2447042"/>
            <a:ext cx="4133729" cy="35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5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Amélioration des performances</a:t>
            </a:r>
            <a:endParaRPr lang="fr-FR" dirty="0"/>
          </a:p>
          <a:p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73EAD93-EC04-E6B8-DFA9-6F2579C6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232" y="5035788"/>
            <a:ext cx="1694972" cy="15073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FC07010-60CC-0F51-321B-2AEC004C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275" y="5035788"/>
            <a:ext cx="1346761" cy="151308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4B3C565-073B-8D22-06F4-BA1E9315683E}"/>
              </a:ext>
            </a:extLst>
          </p:cNvPr>
          <p:cNvSpPr txBox="1"/>
          <p:nvPr/>
        </p:nvSpPr>
        <p:spPr>
          <a:xfrm>
            <a:off x="8180236" y="6527409"/>
            <a:ext cx="1248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IDS </a:t>
            </a:r>
            <a:r>
              <a:rPr lang="fr-FR" sz="1000" dirty="0" err="1"/>
              <a:t>Sensor</a:t>
            </a:r>
            <a:endParaRPr lang="fr-FR" sz="1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875D335-1D18-FB0A-5718-530BDA1B0943}"/>
              </a:ext>
            </a:extLst>
          </p:cNvPr>
          <p:cNvSpPr txBox="1"/>
          <p:nvPr/>
        </p:nvSpPr>
        <p:spPr>
          <a:xfrm>
            <a:off x="10527274" y="6553442"/>
            <a:ext cx="1617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Basler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/ </a:t>
            </a:r>
            <a:r>
              <a:rPr lang="fr-FR" sz="1000" dirty="0" err="1"/>
              <a:t>Mouser</a:t>
            </a:r>
            <a:endParaRPr lang="fr-FR" sz="1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36684"/>
            <a:ext cx="3528392" cy="144942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272" y="1681095"/>
            <a:ext cx="3231365" cy="24636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A52359-2023-357C-1863-923FAFB08698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F903BC-BC93-2957-A655-16EA45FCA5F9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58341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3814-493D-E923-6541-342E36E8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0617BB-2EAC-997F-C9D5-0BFE0ADA8FFF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27943DE4-3F12-E1C4-FF4F-69457ED8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5637DB51-76A7-035D-7A7D-3FD4AFFED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90662C49-9F93-1AC9-32C5-EA0AC9C528DE}"/>
              </a:ext>
            </a:extLst>
          </p:cNvPr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FBE8DC37-EE70-5118-03DC-136065FBF0D9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Version « simple » / En pratique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97F7E335-10E2-6F64-D275-B066B3E4DD31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EEBAD8-4C43-8CD7-274F-DD348B505390}"/>
              </a:ext>
            </a:extLst>
          </p:cNvPr>
          <p:cNvSpPr/>
          <p:nvPr/>
        </p:nvSpPr>
        <p:spPr>
          <a:xfrm>
            <a:off x="862070" y="2282862"/>
            <a:ext cx="32177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just"/>
            <a:r>
              <a:rPr lang="fr-FR" b="1" dirty="0"/>
              <a:t>Convertir un signal lumineux </a:t>
            </a:r>
            <a:r>
              <a:rPr lang="fr-FR" dirty="0"/>
              <a:t>(flux de photons) en un signal électrique mesurable</a:t>
            </a:r>
            <a:endParaRPr lang="fr-FR" sz="2000" b="1" dirty="0">
              <a:solidFill>
                <a:prstClr val="black"/>
              </a:solidFill>
              <a:latin typeface="FreeSan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3D369ED-218C-955B-2773-E8FCA4E58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80" y="3154130"/>
            <a:ext cx="7910659" cy="57208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07FCC62-3F74-E06C-3E0F-9CE17E51F1A8}"/>
              </a:ext>
            </a:extLst>
          </p:cNvPr>
          <p:cNvSpPr/>
          <p:nvPr/>
        </p:nvSpPr>
        <p:spPr bwMode="auto">
          <a:xfrm>
            <a:off x="5870993" y="3121761"/>
            <a:ext cx="2442896" cy="349258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0873D6A-6CF0-B33C-C75E-1A8C97398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561" y="3714686"/>
            <a:ext cx="3542253" cy="27006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86BB97-EA03-C69E-B01B-0711D6228D7F}"/>
              </a:ext>
            </a:extLst>
          </p:cNvPr>
          <p:cNvSpPr/>
          <p:nvPr/>
        </p:nvSpPr>
        <p:spPr bwMode="auto">
          <a:xfrm>
            <a:off x="285781" y="3180761"/>
            <a:ext cx="985684" cy="353282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7B96C0-E8C4-91A5-0237-2FB1945EF8BA}"/>
              </a:ext>
            </a:extLst>
          </p:cNvPr>
          <p:cNvSpPr/>
          <p:nvPr/>
        </p:nvSpPr>
        <p:spPr bwMode="auto">
          <a:xfrm>
            <a:off x="299769" y="5904082"/>
            <a:ext cx="7740448" cy="21414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A0ADD8A5-C762-491A-84B9-D8ED5B1C0AEE}"/>
              </a:ext>
            </a:extLst>
          </p:cNvPr>
          <p:cNvCxnSpPr>
            <a:cxnSpLocks/>
          </p:cNvCxnSpPr>
          <p:nvPr/>
        </p:nvCxnSpPr>
        <p:spPr bwMode="auto">
          <a:xfrm>
            <a:off x="1038282" y="4306563"/>
            <a:ext cx="5057718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222268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AC55A708-12B3-1C88-678D-2790D653DF4E}"/>
              </a:ext>
            </a:extLst>
          </p:cNvPr>
          <p:cNvSpPr txBox="1"/>
          <p:nvPr/>
        </p:nvSpPr>
        <p:spPr>
          <a:xfrm>
            <a:off x="4925359" y="4338933"/>
            <a:ext cx="18076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222268"/>
                </a:solidFill>
              </a:rPr>
              <a:t>Fréquence (log)</a:t>
            </a:r>
            <a:endParaRPr lang="fr-FR" dirty="0">
              <a:solidFill>
                <a:srgbClr val="222268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C17D7D0-3F28-7E85-AC0E-B7C7E775D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637" y="1509967"/>
            <a:ext cx="4481349" cy="211479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8F45B51-1CAB-5C3B-C1C1-78652A2A00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40" y="3600450"/>
            <a:ext cx="476250" cy="3429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CF9DA72-3FF8-E948-A676-4F0B4DBEF6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57" y="4426022"/>
            <a:ext cx="3524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16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6522-7E76-C6D8-8345-1EDE514E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CD15AA-ADD6-11AB-393A-67A918E57B3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5E7F6FEB-73FD-EFB7-2D58-DA07CBE0B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715F2C6B-BD31-9919-5881-2306D547F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37747769-4B7D-A90C-F26C-B1D0B7A9FDA4}"/>
              </a:ext>
            </a:extLst>
          </p:cNvPr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445FEFF5-EF0E-36D9-85D9-AB8F4788A4D8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Version « suiveur »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A1ED533-DE4B-2D3B-48A8-8C6C76D84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177" y="2029024"/>
            <a:ext cx="7697274" cy="37438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2E897E-BA4C-7AA5-0178-9801FB34132F}"/>
              </a:ext>
            </a:extLst>
          </p:cNvPr>
          <p:cNvSpPr/>
          <p:nvPr/>
        </p:nvSpPr>
        <p:spPr>
          <a:xfrm>
            <a:off x="5555403" y="2068646"/>
            <a:ext cx="3785420" cy="1933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743D56-92A8-20E1-2718-1DBE78AE3848}"/>
              </a:ext>
            </a:extLst>
          </p:cNvPr>
          <p:cNvSpPr/>
          <p:nvPr/>
        </p:nvSpPr>
        <p:spPr>
          <a:xfrm>
            <a:off x="3791744" y="1972850"/>
            <a:ext cx="3785420" cy="1933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8C8F55-C6ED-1E51-C627-8159B4C37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06" y="2465345"/>
            <a:ext cx="6668431" cy="3629532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5E3C957-8C1D-36C1-F615-7BAFEE505AD3}"/>
              </a:ext>
            </a:extLst>
          </p:cNvPr>
          <p:cNvCxnSpPr>
            <a:cxnSpLocks/>
          </p:cNvCxnSpPr>
          <p:nvPr/>
        </p:nvCxnSpPr>
        <p:spPr>
          <a:xfrm>
            <a:off x="6652569" y="3959450"/>
            <a:ext cx="721626" cy="25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9AD6583-A343-9535-36BA-131193B67B9B}"/>
              </a:ext>
            </a:extLst>
          </p:cNvPr>
          <p:cNvCxnSpPr>
            <a:cxnSpLocks/>
          </p:cNvCxnSpPr>
          <p:nvPr/>
        </p:nvCxnSpPr>
        <p:spPr>
          <a:xfrm flipV="1">
            <a:off x="6641868" y="5472974"/>
            <a:ext cx="632471" cy="73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C128F702-8CB2-0E26-76F4-06DE22FE2997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200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40863-BAC6-215F-9E41-CE131413C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CBF26-E8E3-6067-CA43-2D161189C70E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B90E688B-23D5-AF6B-3107-B111BDA7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EE1B48A9-387A-2085-B5D6-C6F11CC68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458FD2D1-440A-EFFB-5AA8-43A58F5538EA}"/>
              </a:ext>
            </a:extLst>
          </p:cNvPr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41DF51D5-5D3F-AEB6-31CD-B8D3F0A2453E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  <a:latin typeface="+mj-lt"/>
              </a:rPr>
              <a:t>Version « </a:t>
            </a:r>
            <a:r>
              <a:rPr lang="fr-FR" sz="1800" b="1" dirty="0" err="1">
                <a:solidFill>
                  <a:srgbClr val="222268"/>
                </a:solidFill>
                <a:latin typeface="+mj-lt"/>
              </a:rPr>
              <a:t>transimpédance</a:t>
            </a:r>
            <a:r>
              <a:rPr lang="fr-FR" sz="1800" b="1" dirty="0">
                <a:solidFill>
                  <a:srgbClr val="222268"/>
                </a:solidFill>
                <a:latin typeface="+mj-lt"/>
              </a:rPr>
              <a:t> »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3B2BCEB9-E27C-547B-87F4-1EDDC886BF66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59EC6E1-EF64-26BE-D98C-65F3BC8B2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952" y="2708920"/>
            <a:ext cx="5668166" cy="347711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9A1C4A4-0E1A-44D2-A432-9B0989FE6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59" y="3805762"/>
            <a:ext cx="4453863" cy="210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338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A789-DB4F-F227-739D-937CEBB2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0FCDF85-3DB3-DAA4-C311-3C757FA73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613603"/>
            <a:ext cx="7610420" cy="455922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5D9919-A988-B119-39C5-930CB99A069E}"/>
              </a:ext>
            </a:extLst>
          </p:cNvPr>
          <p:cNvSpPr/>
          <p:nvPr/>
        </p:nvSpPr>
        <p:spPr bwMode="auto">
          <a:xfrm flipH="1">
            <a:off x="263351" y="2601469"/>
            <a:ext cx="1027784" cy="41885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D238BB1-2001-5C30-468E-72573028D7B9}"/>
              </a:ext>
            </a:extLst>
          </p:cNvPr>
          <p:cNvCxnSpPr>
            <a:cxnSpLocks/>
          </p:cNvCxnSpPr>
          <p:nvPr/>
        </p:nvCxnSpPr>
        <p:spPr bwMode="auto">
          <a:xfrm flipV="1">
            <a:off x="1038282" y="3600450"/>
            <a:ext cx="5874581" cy="49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222268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67E7BC96-B974-EECE-473D-0AE7E428A073}"/>
              </a:ext>
            </a:extLst>
          </p:cNvPr>
          <p:cNvSpPr txBox="1"/>
          <p:nvPr/>
        </p:nvSpPr>
        <p:spPr>
          <a:xfrm>
            <a:off x="4908855" y="3663675"/>
            <a:ext cx="2374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222268"/>
                </a:solidFill>
              </a:rPr>
              <a:t>Fréquence (log)</a:t>
            </a:r>
            <a:endParaRPr lang="fr-FR" sz="1400" dirty="0">
              <a:solidFill>
                <a:srgbClr val="222268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12F95-2C43-468A-1902-0F54E513C0C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BEBD4AF8-EFB9-94F4-2206-0998D4F2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37D32026-375E-CA7F-062B-838506DAE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9882E147-4E60-D1A4-134D-D0BF7EF0C1F5}"/>
              </a:ext>
            </a:extLst>
          </p:cNvPr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3C6B4386-AE9B-4DE0-3547-CF99836FE755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</a:rPr>
              <a:t>Version « </a:t>
            </a:r>
            <a:r>
              <a:rPr lang="fr-FR" sz="1800" b="1" dirty="0" err="1">
                <a:solidFill>
                  <a:srgbClr val="222268"/>
                </a:solidFill>
              </a:rPr>
              <a:t>transimpédance</a:t>
            </a:r>
            <a:r>
              <a:rPr lang="fr-FR" sz="1800" b="1" dirty="0">
                <a:solidFill>
                  <a:srgbClr val="222268"/>
                </a:solidFill>
              </a:rPr>
              <a:t> » / En pratique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4791E30E-6206-95A0-7423-48CE5896AFC5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7D8B7BE-1D16-703A-08C0-B9005AF45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808" y="2708920"/>
            <a:ext cx="4695310" cy="288031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77A30BD-17F4-B1C8-016F-5F7FA7A84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40" y="3600450"/>
            <a:ext cx="476250" cy="3429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6F8662A-EBFB-3EA9-1F93-A65AEAB235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57" y="4426022"/>
            <a:ext cx="352425" cy="3714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8DC18C0-19F0-F42B-2066-C558BD88A4E3}"/>
              </a:ext>
            </a:extLst>
          </p:cNvPr>
          <p:cNvSpPr/>
          <p:nvPr/>
        </p:nvSpPr>
        <p:spPr bwMode="auto">
          <a:xfrm flipH="1">
            <a:off x="6636807" y="2830218"/>
            <a:ext cx="101908" cy="42711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42752F-D160-91BF-42BC-E6437FB24C76}"/>
              </a:ext>
            </a:extLst>
          </p:cNvPr>
          <p:cNvSpPr/>
          <p:nvPr/>
        </p:nvSpPr>
        <p:spPr bwMode="auto">
          <a:xfrm flipH="1">
            <a:off x="6687760" y="5373889"/>
            <a:ext cx="1660957" cy="172751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00275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65DC-6A3E-24BE-23DD-C41D6A1FE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03BCBD-177E-C931-65F9-F03BC82F533C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3" name="Titre 1">
            <a:extLst>
              <a:ext uri="{FF2B5EF4-FFF2-40B4-BE49-F238E27FC236}">
                <a16:creationId xmlns:a16="http://schemas.microsoft.com/office/drawing/2014/main" id="{6A373CD6-9D98-F756-5980-5E0D1179D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07" y="188640"/>
            <a:ext cx="6836893" cy="685800"/>
          </a:xfrm>
        </p:spPr>
        <p:txBody>
          <a:bodyPr/>
          <a:lstStyle/>
          <a:p>
            <a:r>
              <a:rPr lang="fr-FR" dirty="0"/>
              <a:t>Système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F1FC5DFB-3973-3347-3F50-2E702A3AC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67" y="144415"/>
            <a:ext cx="2736304" cy="1124042"/>
          </a:xfrm>
          <a:prstGeom prst="rect">
            <a:avLst/>
          </a:prstGeom>
        </p:spPr>
      </p:pic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50A508D1-0DE9-386E-B363-E3286D143610}"/>
              </a:ext>
            </a:extLst>
          </p:cNvPr>
          <p:cNvCxnSpPr/>
          <p:nvPr/>
        </p:nvCxnSpPr>
        <p:spPr bwMode="auto">
          <a:xfrm>
            <a:off x="460659" y="1340768"/>
            <a:ext cx="1117995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42681A19-9C02-34C7-B309-B4062E575C80}"/>
              </a:ext>
            </a:extLst>
          </p:cNvPr>
          <p:cNvSpPr txBox="1"/>
          <p:nvPr/>
        </p:nvSpPr>
        <p:spPr>
          <a:xfrm>
            <a:off x="6912863" y="836712"/>
            <a:ext cx="48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222268"/>
                </a:solidFill>
              </a:rPr>
              <a:t>Version « </a:t>
            </a:r>
            <a:r>
              <a:rPr lang="fr-FR" sz="1800" b="1" dirty="0" err="1">
                <a:solidFill>
                  <a:srgbClr val="222268"/>
                </a:solidFill>
              </a:rPr>
              <a:t>transimpédance</a:t>
            </a:r>
            <a:r>
              <a:rPr lang="fr-FR" sz="1800" b="1" dirty="0">
                <a:solidFill>
                  <a:srgbClr val="222268"/>
                </a:solidFill>
              </a:rPr>
              <a:t> » / En pratique</a:t>
            </a:r>
          </a:p>
        </p:txBody>
      </p:sp>
      <p:sp>
        <p:nvSpPr>
          <p:cNvPr id="49" name="Rectangle : coins arrondis 8">
            <a:extLst>
              <a:ext uri="{FF2B5EF4-FFF2-40B4-BE49-F238E27FC236}">
                <a16:creationId xmlns:a16="http://schemas.microsoft.com/office/drawing/2014/main" id="{42F1EC1D-4EE1-676D-360A-2CA68FE3F580}"/>
              </a:ext>
            </a:extLst>
          </p:cNvPr>
          <p:cNvSpPr/>
          <p:nvPr/>
        </p:nvSpPr>
        <p:spPr>
          <a:xfrm>
            <a:off x="695400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A47B160-A6E5-E036-52F7-0E630F689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768" y="5062478"/>
            <a:ext cx="2062382" cy="164559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1DB917B-19BF-FF3D-CD2E-10A6EC022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809" y="2358218"/>
            <a:ext cx="9001125" cy="23812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F4968EB-F19C-0385-E333-F932781FE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954" y="4975807"/>
            <a:ext cx="4571269" cy="137302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704398F-113E-F6D7-9695-B6EB488090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386" y="5062478"/>
            <a:ext cx="2264060" cy="138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44047"/>
      </p:ext>
    </p:extLst>
  </p:cSld>
  <p:clrMapOvr>
    <a:masterClrMapping/>
  </p:clrMapOvr>
</p:sld>
</file>

<file path=ppt/theme/theme1.xml><?xml version="1.0" encoding="utf-8"?>
<a:theme xmlns:a="http://schemas.openxmlformats.org/drawingml/2006/main" name="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DRAFT PRES CA_IO_13-06-12</Template>
  <TotalTime>26</TotalTime>
  <Words>1004</Words>
  <Application>Microsoft Office PowerPoint</Application>
  <PresentationFormat>Grand écran</PresentationFormat>
  <Paragraphs>226</Paragraphs>
  <Slides>41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41</vt:i4>
      </vt:variant>
    </vt:vector>
  </HeadingPairs>
  <TitlesOfParts>
    <vt:vector size="51" baseType="lpstr">
      <vt:lpstr>Arial</vt:lpstr>
      <vt:lpstr>Bahnschrift SemiBold</vt:lpstr>
      <vt:lpstr>Calibri</vt:lpstr>
      <vt:lpstr>Cambria Math</vt:lpstr>
      <vt:lpstr>Century Gothic</vt:lpstr>
      <vt:lpstr>FreeSans</vt:lpstr>
      <vt:lpstr>Lato</vt:lpstr>
      <vt:lpstr>Montserrat</vt:lpstr>
      <vt:lpstr>DRAFT PRES CA_IO_13-06-12</vt:lpstr>
      <vt:lpstr>1_DRAFT PRES CA_IO_13-06-12</vt:lpstr>
      <vt:lpstr>Bases de la photodétection</vt:lpstr>
      <vt:lpstr>La lumière et la photonique</vt:lpstr>
      <vt:lpstr>Photodétection / Exemples</vt:lpstr>
      <vt:lpstr>Photodétection / Exemples</vt:lpstr>
      <vt:lpstr>Photodétection / Exemples</vt:lpstr>
      <vt:lpstr>Photodétection / Exemples</vt:lpstr>
      <vt:lpstr>Photodétection / Exemples</vt:lpstr>
      <vt:lpstr>Diodes</vt:lpstr>
      <vt:lpstr>Diode</vt:lpstr>
      <vt:lpstr>Diode</vt:lpstr>
      <vt:lpstr>LEDs</vt:lpstr>
      <vt:lpstr>LED</vt:lpstr>
      <vt:lpstr>LED</vt:lpstr>
      <vt:lpstr>LED</vt:lpstr>
      <vt:lpstr>Photodiodes</vt:lpstr>
      <vt:lpstr>Photodiode</vt:lpstr>
      <vt:lpstr>Photodiode</vt:lpstr>
      <vt:lpstr>Photodiode</vt:lpstr>
      <vt:lpstr>Photodétection</vt:lpstr>
      <vt:lpstr>Photodétection</vt:lpstr>
      <vt:lpstr>Photodétection</vt:lpstr>
      <vt:lpstr>Photodétection</vt:lpstr>
      <vt:lpstr>Montage de photodétection</vt:lpstr>
      <vt:lpstr>Système de photodétection</vt:lpstr>
      <vt:lpstr>Système de photodétection</vt:lpstr>
      <vt:lpstr>Système de photodétection</vt:lpstr>
      <vt:lpstr>Montage de photodétection</vt:lpstr>
      <vt:lpstr>Système de photodétection</vt:lpstr>
      <vt:lpstr>Amplificateur linéaire</vt:lpstr>
      <vt:lpstr>Amplificateur Linéaire Intégré</vt:lpstr>
      <vt:lpstr>Amplificateur Linéaire Intégré</vt:lpstr>
      <vt:lpstr>Amplificateur Linéaire Intégré</vt:lpstr>
      <vt:lpstr>Amplificateur Linéaire Intégré</vt:lpstr>
      <vt:lpstr>Amplificateur Linéaire Intégré</vt:lpstr>
      <vt:lpstr>Amplificateur Linéaire Intégré</vt:lpstr>
      <vt:lpstr>Montage de photodétection</vt:lpstr>
      <vt:lpstr>Système de photodétection</vt:lpstr>
      <vt:lpstr>Système de photodétection</vt:lpstr>
      <vt:lpstr>Système de photodétection</vt:lpstr>
      <vt:lpstr>Système de photodétection</vt:lpstr>
      <vt:lpstr>Système de photodétection</vt:lpstr>
    </vt:vector>
  </TitlesOfParts>
  <Company>Institut d'Optique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OptoElectronique - Photodetection</dc:title>
  <dc:creator>Institut d'Optique</dc:creator>
  <cp:lastModifiedBy>Julien VILLEMEJANE</cp:lastModifiedBy>
  <cp:revision>1549</cp:revision>
  <cp:lastPrinted>2021-12-20T13:30:17Z</cp:lastPrinted>
  <dcterms:created xsi:type="dcterms:W3CDTF">2012-05-10T13:56:34Z</dcterms:created>
  <dcterms:modified xsi:type="dcterms:W3CDTF">2026-10-01T16:23:15Z</dcterms:modified>
</cp:coreProperties>
</file>