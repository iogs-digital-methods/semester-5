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19"/>
  </p:notesMasterIdLst>
  <p:handoutMasterIdLst>
    <p:handoutMasterId r:id="rId20"/>
  </p:handoutMasterIdLst>
  <p:sldIdLst>
    <p:sldId id="317" r:id="rId3"/>
    <p:sldId id="360" r:id="rId4"/>
    <p:sldId id="436" r:id="rId5"/>
    <p:sldId id="437" r:id="rId6"/>
    <p:sldId id="438" r:id="rId7"/>
    <p:sldId id="424" r:id="rId8"/>
    <p:sldId id="439" r:id="rId9"/>
    <p:sldId id="440" r:id="rId10"/>
    <p:sldId id="441" r:id="rId11"/>
    <p:sldId id="442" r:id="rId12"/>
    <p:sldId id="443" r:id="rId13"/>
    <p:sldId id="444" r:id="rId14"/>
    <p:sldId id="445" r:id="rId15"/>
    <p:sldId id="446" r:id="rId16"/>
    <p:sldId id="447" r:id="rId17"/>
    <p:sldId id="448" r:id="rId18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17"/>
            <p14:sldId id="360"/>
            <p14:sldId id="436"/>
            <p14:sldId id="437"/>
            <p14:sldId id="438"/>
            <p14:sldId id="424"/>
            <p14:sldId id="439"/>
            <p14:sldId id="440"/>
            <p14:sldId id="441"/>
            <p14:sldId id="442"/>
            <p14:sldId id="443"/>
            <p14:sldId id="444"/>
            <p14:sldId id="445"/>
            <p14:sldId id="446"/>
            <p14:sldId id="447"/>
            <p14:sldId id="4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A960A"/>
    <a:srgbClr val="222268"/>
    <a:srgbClr val="BBE0E3"/>
    <a:srgbClr val="D02D12"/>
    <a:srgbClr val="00B0F0"/>
    <a:srgbClr val="D9D9D9"/>
    <a:srgbClr val="6AB5D9"/>
    <a:srgbClr val="0A3250"/>
    <a:srgbClr val="CBE5F9"/>
    <a:srgbClr val="9E1B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83" autoAdjust="0"/>
    <p:restoredTop sz="84504" autoAdjust="0"/>
  </p:normalViewPr>
  <p:slideViewPr>
    <p:cSldViewPr>
      <p:cViewPr varScale="1">
        <p:scale>
          <a:sx n="75" d="100"/>
          <a:sy n="75" d="100"/>
        </p:scale>
        <p:origin x="1080" y="72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07/09/2026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82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22181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97568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18285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78347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3955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58528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954617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14418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37352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17555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La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vision industrielle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est une technologie qui permet a des machines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analyser automatiquement</a:t>
            </a:r>
          </a:p>
          <a:p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scenes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pour 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controler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guider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ou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inspecter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des objets sur des processus de production. Elle repose sur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l’utilisation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cameras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optique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, d’</a:t>
            </a:r>
            <a:r>
              <a:rPr lang="fr-FR" sz="1200" b="1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eclairages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</a:t>
            </a:r>
            <a:r>
              <a:rPr lang="fr-FR" sz="1200" b="0" i="0" u="none" strike="noStrike" kern="1200" baseline="0" dirty="0" err="1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specifiques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 (ou contraints), 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capteurs 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et d’algorithmes</a:t>
            </a:r>
          </a:p>
          <a:p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de </a:t>
            </a:r>
            <a:r>
              <a:rPr lang="fr-FR" sz="1200" b="1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traitement d’image</a:t>
            </a:r>
            <a:r>
              <a:rPr lang="fr-FR" sz="1200" b="0" i="0" u="none" strike="noStrike" kern="1200" baseline="0" dirty="0">
                <a:solidFill>
                  <a:schemeClr val="tx1"/>
                </a:solidFill>
                <a:latin typeface="Arial" charset="0"/>
                <a:ea typeface="MS PGothic" pitchFamily="34" charset="-128"/>
                <a:cs typeface="MS PGothic"/>
              </a:rPr>
              <a:t>.</a:t>
            </a:r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558391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548085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19497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C3CD39C-0EB2-73A1-4297-88CF321BB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xmlns="" id="{6D180A43-5F56-50A4-D482-6923EC428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xmlns="" id="{43360E96-372A-49AF-05B0-ED33CAD5D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xmlns="" id="{5EE27781-3954-F062-83D6-7AB0F6965A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39803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xmlns="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xmlns="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xmlns="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xmlns="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xmlns="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xmlns="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xmlns="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xmlns="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xmlns="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xmlns="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xmlns="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xmlns="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xmlns="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xmlns="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3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6.png"/><Relationship Id="rId9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3.jp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11" Type="http://schemas.openxmlformats.org/officeDocument/2006/relationships/image" Target="../media/image16.png"/><Relationship Id="rId5" Type="http://schemas.openxmlformats.org/officeDocument/2006/relationships/image" Target="../media/image11.png"/><Relationship Id="rId10" Type="http://schemas.openxmlformats.org/officeDocument/2006/relationships/image" Target="../media/image15.png"/><Relationship Id="rId4" Type="http://schemas.openxmlformats.org/officeDocument/2006/relationships/image" Target="../media/image6.png"/><Relationship Id="rId9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3.jp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2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3.jpg"/><Relationship Id="rId9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219A213D-3E11-B70F-2512-CF02A38675A6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A8A91F98-9CFB-01D0-47CF-038897323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Automatique</a:t>
            </a:r>
            <a:br>
              <a:rPr lang="fr-FR" dirty="0" smtClean="0"/>
            </a:br>
            <a:r>
              <a:rPr lang="fr-FR" dirty="0" smtClean="0"/>
              <a:t>Systèmes asservis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88AC7ED9-A8F9-715C-56C9-BBDBF3102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dirty="0">
                <a:latin typeface="Bahnschrift SemiBold" panose="020B0502040204020203" pitchFamily="34" charset="0"/>
              </a:rPr>
              <a:t>TD Opto-Electronique</a:t>
            </a:r>
            <a:endParaRPr lang="fr-FR" dirty="0"/>
          </a:p>
          <a:p>
            <a:endParaRPr lang="fr-FR" sz="2000" dirty="0"/>
          </a:p>
          <a:p>
            <a:r>
              <a:rPr lang="fr-FR" sz="1600" dirty="0"/>
              <a:t>Julien VILLEMEJANE</a:t>
            </a:r>
          </a:p>
        </p:txBody>
      </p:sp>
      <p:pic>
        <p:nvPicPr>
          <p:cNvPr id="10" name="Image 9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FAA9BAFF-BB9E-9D2A-C1AD-5D996C495C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3060700" cy="1257300"/>
          </a:xfrm>
          <a:prstGeom prst="rect">
            <a:avLst/>
          </a:prstGeom>
        </p:spPr>
      </p:pic>
      <p:pic>
        <p:nvPicPr>
          <p:cNvPr id="12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223" y="4005064"/>
            <a:ext cx="2375707" cy="1952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12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Boucle ouverte / Boucle fermée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775" y="2492896"/>
            <a:ext cx="4695825" cy="2857500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2135560" y="3645024"/>
            <a:ext cx="288032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2711624" y="4653136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6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44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Boucle ouverte / Boucle fermée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775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2135560" y="3645024"/>
            <a:ext cx="288032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2711624" y="4653136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485" y="5365650"/>
            <a:ext cx="2724150" cy="666750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682" y="6047654"/>
            <a:ext cx="3867150" cy="685800"/>
          </a:xfrm>
          <a:prstGeom prst="rect">
            <a:avLst/>
          </a:prstGeom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4845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Boucle ouverte / Boucle fermée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88" y="1674397"/>
            <a:ext cx="3500041" cy="2129842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1498010" y="2504063"/>
            <a:ext cx="349518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1847528" y="3284984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56" y="4106263"/>
            <a:ext cx="2082155" cy="509618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96" y="4702083"/>
            <a:ext cx="2948695" cy="52292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869" y="4797152"/>
            <a:ext cx="2752725" cy="1714500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3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3941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Boucle ouverte / Boucle fermée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688" y="1674397"/>
            <a:ext cx="3500041" cy="2129842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391" y="2492896"/>
            <a:ext cx="4695825" cy="2857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auto">
          <a:xfrm>
            <a:off x="1498010" y="2504063"/>
            <a:ext cx="349518" cy="108012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6" name="Rectangle 15"/>
          <p:cNvSpPr/>
          <p:nvPr/>
        </p:nvSpPr>
        <p:spPr bwMode="auto">
          <a:xfrm>
            <a:off x="2287960" y="4581128"/>
            <a:ext cx="495672" cy="21602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cxnSp>
        <p:nvCxnSpPr>
          <p:cNvPr id="13" name="Connecteur droit avec flèche 12"/>
          <p:cNvCxnSpPr/>
          <p:nvPr/>
        </p:nvCxnSpPr>
        <p:spPr bwMode="auto">
          <a:xfrm flipH="1">
            <a:off x="1847528" y="3284984"/>
            <a:ext cx="144016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21" name="Image 2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56" y="4106263"/>
            <a:ext cx="2082155" cy="509618"/>
          </a:xfrm>
          <a:prstGeom prst="rect">
            <a:avLst/>
          </a:prstGeom>
        </p:spPr>
      </p:pic>
      <p:pic>
        <p:nvPicPr>
          <p:cNvPr id="22" name="Image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096" y="4702083"/>
            <a:ext cx="2948695" cy="522921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3869" y="4797152"/>
            <a:ext cx="2752725" cy="1714500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6054" y="5475049"/>
            <a:ext cx="4371975" cy="1171575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2253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Système A d’Ordre 1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Exercice 2</a:t>
            </a:r>
            <a:endParaRPr lang="fr-FR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26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8016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896" y="3590845"/>
            <a:ext cx="5819775" cy="1247775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347795" y="3217451"/>
            <a:ext cx="48606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</a:rPr>
              <a:t>Forme Canonique </a:t>
            </a:r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 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680730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0" name="Image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4725144"/>
            <a:ext cx="3124448" cy="837270"/>
          </a:xfrm>
          <a:prstGeom prst="rect">
            <a:avLst/>
          </a:prstGeom>
        </p:spPr>
      </p:pic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4151" y="1528855"/>
            <a:ext cx="2581929" cy="683191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3999" y="2246152"/>
            <a:ext cx="1819993" cy="439309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2722" y="1693702"/>
            <a:ext cx="4667250" cy="1104900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9896" y="3590845"/>
            <a:ext cx="5819775" cy="1247775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347795" y="3217451"/>
            <a:ext cx="48606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</a:rPr>
              <a:t>Forme Canonique </a:t>
            </a:r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 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2304" y="5562414"/>
            <a:ext cx="2971800" cy="1085850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13995" y="5562414"/>
            <a:ext cx="2924175" cy="1076325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819304" y="5223860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Gain statique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9219986" y="5221548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Constante de temps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80783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Gain statique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Constante de temps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7968" y="2106980"/>
            <a:ext cx="5969891" cy="456328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367808" y="1562076"/>
            <a:ext cx="315823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  ;  KB = 1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994818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816" y="2106827"/>
            <a:ext cx="5918411" cy="4596903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Gain statique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Constante de temps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67808" y="1562076"/>
            <a:ext cx="327365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10  ;  KB = 1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441624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9559" y="2088104"/>
            <a:ext cx="5975587" cy="4615626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 A </a:t>
            </a:r>
            <a:r>
              <a:rPr lang="fr-FR" dirty="0" smtClean="0"/>
              <a:t>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Gain statique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Constante de temps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367808" y="1562076"/>
            <a:ext cx="370646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KA = 10</a:t>
            </a:r>
            <a:r>
              <a:rPr lang="fr-FR" b="1" baseline="30000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7</a:t>
            </a:r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  ;  KB = 10</a:t>
            </a:r>
            <a:r>
              <a:rPr lang="fr-FR" b="1" baseline="30000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-4</a:t>
            </a:r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  ;  TA = 100 ms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0173998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CD8947E-CF0B-BAFC-441D-E166FAEFA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3028" y="1596852"/>
            <a:ext cx="3462194" cy="26742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xmlns="" id="{84D982B5-588A-ACD1-90DD-5DA68547A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smtClean="0"/>
              <a:t>Système A d’ordre 1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xmlns="" id="{E51B0318-645A-4346-80D5-23643D4D7FE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C31C1B3B-7559-5351-5998-3E5C33CD98BE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8" name="Image 1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B2E34F05-74A9-4027-8664-BD2D3EA4F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9" name="ZoneTexte 18">
            <a:extLst>
              <a:ext uri="{FF2B5EF4-FFF2-40B4-BE49-F238E27FC236}">
                <a16:creationId xmlns:a16="http://schemas.microsoft.com/office/drawing/2014/main" xmlns="" id="{EB03C951-EDC0-55B5-779A-5AF15750DCCB}"/>
              </a:ext>
            </a:extLst>
          </p:cNvPr>
          <p:cNvSpPr txBox="1"/>
          <p:nvPr/>
        </p:nvSpPr>
        <p:spPr>
          <a:xfrm>
            <a:off x="8832304" y="1166533"/>
            <a:ext cx="314766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i="1" dirty="0" smtClean="0">
                <a:latin typeface="+mj-lt"/>
              </a:rPr>
              <a:t>Systèmes asservis</a:t>
            </a:r>
            <a:endParaRPr lang="fr-FR" dirty="0">
              <a:latin typeface="+mj-lt"/>
            </a:endParaRPr>
          </a:p>
        </p:txBody>
      </p:sp>
      <p:pic>
        <p:nvPicPr>
          <p:cNvPr id="14" name="Imag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851" y="1522887"/>
            <a:ext cx="3496433" cy="2127647"/>
          </a:xfrm>
          <a:prstGeom prst="rect">
            <a:avLst/>
          </a:prstGeom>
        </p:spPr>
      </p:pic>
      <p:cxnSp>
        <p:nvCxnSpPr>
          <p:cNvPr id="8" name="Connecteur droit 7"/>
          <p:cNvCxnSpPr/>
          <p:nvPr/>
        </p:nvCxnSpPr>
        <p:spPr bwMode="auto">
          <a:xfrm>
            <a:off x="4119825" y="1505087"/>
            <a:ext cx="0" cy="5164273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A960A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20" name="Picture 2">
            <a:extLst>
              <a:ext uri="{FF2B5EF4-FFF2-40B4-BE49-F238E27FC236}">
                <a16:creationId xmlns:a16="http://schemas.microsoft.com/office/drawing/2014/main" xmlns="" id="{0134CA7E-E2EE-FBBF-0830-17297AC7D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0127" y="37347"/>
            <a:ext cx="1411817" cy="1160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64131" y="3876178"/>
            <a:ext cx="275267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FA960A"/>
                </a:solidFill>
                <a:latin typeface="+mj-lt"/>
                <a:sym typeface="Wingdings" panose="05000000000000000000" pitchFamily="2" charset="2"/>
              </a:rPr>
              <a:t>Système du premier ordre</a:t>
            </a:r>
            <a:endParaRPr lang="fr-FR" b="1" dirty="0">
              <a:solidFill>
                <a:srgbClr val="FA960A"/>
              </a:solidFill>
              <a:latin typeface="+mj-lt"/>
            </a:endParaRPr>
          </a:p>
        </p:txBody>
      </p:sp>
      <p:pic>
        <p:nvPicPr>
          <p:cNvPr id="25" name="Image 2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701" y="5787012"/>
            <a:ext cx="2414847" cy="88234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701" y="4609653"/>
            <a:ext cx="2218865" cy="816716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81676" y="4271099"/>
            <a:ext cx="15135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Gain statique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81676" y="5454430"/>
            <a:ext cx="2196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b="1" dirty="0" smtClean="0">
                <a:solidFill>
                  <a:srgbClr val="222268"/>
                </a:solidFill>
                <a:latin typeface="+mj-lt"/>
              </a:rPr>
              <a:t>Constante de temps</a:t>
            </a:r>
            <a:endParaRPr lang="fr-FR" b="1" dirty="0">
              <a:solidFill>
                <a:srgbClr val="222268"/>
              </a:solidFill>
              <a:latin typeface="+mj-lt"/>
            </a:endParaRP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9816" y="1596852"/>
            <a:ext cx="3384376" cy="262868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559792" y="5121737"/>
            <a:ext cx="5594801" cy="461665"/>
          </a:xfrm>
          <a:prstGeom prst="rect">
            <a:avLst/>
          </a:prstGeom>
          <a:ln w="28575">
            <a:solidFill>
              <a:srgbClr val="FA960A"/>
            </a:solidFill>
          </a:ln>
        </p:spPr>
        <p:txBody>
          <a:bodyPr wrap="none">
            <a:spAutoFit/>
          </a:bodyPr>
          <a:lstStyle/>
          <a:p>
            <a:r>
              <a:rPr lang="fr-FR" sz="2400" b="1" dirty="0" smtClean="0">
                <a:solidFill>
                  <a:srgbClr val="222268"/>
                </a:solidFill>
                <a:latin typeface="+mj-lt"/>
              </a:rPr>
              <a:t>Produit gain / bande-passante = </a:t>
            </a:r>
            <a:r>
              <a:rPr lang="fr-FR" sz="2400" b="1" dirty="0" err="1" smtClean="0">
                <a:solidFill>
                  <a:srgbClr val="222268"/>
                </a:solidFill>
                <a:latin typeface="+mj-lt"/>
              </a:rPr>
              <a:t>cte</a:t>
            </a:r>
            <a:endParaRPr lang="fr-FR" sz="2400" b="1" dirty="0">
              <a:solidFill>
                <a:srgbClr val="222268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629476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Système B d’Ordre 1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Exercice 3</a:t>
            </a:r>
            <a:endParaRPr lang="fr-FR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80952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Correcteur P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Exercice 4</a:t>
            </a:r>
            <a:endParaRPr lang="fr-FR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290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1920718-9EF5-C5F7-274F-BFABE7E11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xmlns="" id="{EE1E0D36-026A-009C-3E6A-206A0477DB7F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xmlns="" id="{034193B3-C2C4-DC9E-15A8-244D3DB20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smtClean="0"/>
              <a:t>Correcteur PI</a:t>
            </a: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xmlns="" id="{E6BC6190-293A-41CD-A687-8578DEB0B4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 smtClean="0"/>
              <a:t>Exercice 5</a:t>
            </a:r>
            <a:endParaRPr lang="fr-FR" sz="20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xmlns="" id="{318D5760-1554-B6C3-7490-60F978FEDF8D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xmlns="" id="{68528827-0514-DCE3-871E-BD7314C85DF0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xmlns="" id="{6DE22D50-E896-722A-E12B-F88E0016B79C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xmlns="" id="{7936920F-CB73-1592-7533-A1211D387C75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xmlns="" id="{4BE0D933-BF5E-40DD-82BB-986E45C83B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9491" y="2042210"/>
            <a:ext cx="3861169" cy="1646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213199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88</TotalTime>
  <Words>779</Words>
  <Application>Microsoft Office PowerPoint</Application>
  <PresentationFormat>Grand écran</PresentationFormat>
  <Paragraphs>113</Paragraphs>
  <Slides>16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16</vt:i4>
      </vt:variant>
    </vt:vector>
  </HeadingPairs>
  <TitlesOfParts>
    <vt:vector size="24" baseType="lpstr">
      <vt:lpstr>MS PGothic</vt:lpstr>
      <vt:lpstr>MS PGothic</vt:lpstr>
      <vt:lpstr>Arial</vt:lpstr>
      <vt:lpstr>Bahnschrift SemiBold</vt:lpstr>
      <vt:lpstr>Century Gothic</vt:lpstr>
      <vt:lpstr>Wingdings</vt:lpstr>
      <vt:lpstr>DRAFT PRES CA_IO_13-06-12</vt:lpstr>
      <vt:lpstr>1_DRAFT PRES CA_IO_13-06-12</vt:lpstr>
      <vt:lpstr>Automatique Systèmes asservis</vt:lpstr>
      <vt:lpstr>Boucle ouverte / Boucle fermée</vt:lpstr>
      <vt:lpstr>Boucle ouverte / Boucle fermée</vt:lpstr>
      <vt:lpstr>Boucle ouverte / Boucle fermée</vt:lpstr>
      <vt:lpstr>Boucle ouverte / Boucle fermée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A d’ordre 1</vt:lpstr>
      <vt:lpstr>Système B d’Ordre 1</vt:lpstr>
      <vt:lpstr>Correcteur P</vt:lpstr>
      <vt:lpstr>Correcteur PI</vt:lpstr>
    </vt:vector>
  </TitlesOfParts>
  <Company>Institut d'Optique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Utilisateur Windows</cp:lastModifiedBy>
  <cp:revision>1735</cp:revision>
  <cp:lastPrinted>2021-12-20T13:30:17Z</cp:lastPrinted>
  <dcterms:created xsi:type="dcterms:W3CDTF">2012-05-10T13:56:34Z</dcterms:created>
  <dcterms:modified xsi:type="dcterms:W3CDTF">2026-09-07T19:19:03Z</dcterms:modified>
</cp:coreProperties>
</file>