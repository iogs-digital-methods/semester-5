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  <p:sldMasterId id="2147483664" r:id="rId2"/>
  </p:sldMasterIdLst>
  <p:notesMasterIdLst>
    <p:notesMasterId r:id="rId42"/>
  </p:notesMasterIdLst>
  <p:handoutMasterIdLst>
    <p:handoutMasterId r:id="rId43"/>
  </p:handoutMasterIdLst>
  <p:sldIdLst>
    <p:sldId id="317" r:id="rId3"/>
    <p:sldId id="360" r:id="rId4"/>
    <p:sldId id="420" r:id="rId5"/>
    <p:sldId id="436" r:id="rId6"/>
    <p:sldId id="377" r:id="rId7"/>
    <p:sldId id="354" r:id="rId8"/>
    <p:sldId id="383" r:id="rId9"/>
    <p:sldId id="381" r:id="rId10"/>
    <p:sldId id="389" r:id="rId11"/>
    <p:sldId id="388" r:id="rId12"/>
    <p:sldId id="378" r:id="rId13"/>
    <p:sldId id="385" r:id="rId14"/>
    <p:sldId id="386" r:id="rId15"/>
    <p:sldId id="387" r:id="rId16"/>
    <p:sldId id="384" r:id="rId17"/>
    <p:sldId id="393" r:id="rId18"/>
    <p:sldId id="379" r:id="rId19"/>
    <p:sldId id="421" r:id="rId20"/>
    <p:sldId id="422" r:id="rId21"/>
    <p:sldId id="423" r:id="rId22"/>
    <p:sldId id="395" r:id="rId23"/>
    <p:sldId id="416" r:id="rId24"/>
    <p:sldId id="398" r:id="rId25"/>
    <p:sldId id="397" r:id="rId26"/>
    <p:sldId id="418" r:id="rId27"/>
    <p:sldId id="405" r:id="rId28"/>
    <p:sldId id="406" r:id="rId29"/>
    <p:sldId id="424" r:id="rId30"/>
    <p:sldId id="425" r:id="rId31"/>
    <p:sldId id="426" r:id="rId32"/>
    <p:sldId id="428" r:id="rId33"/>
    <p:sldId id="429" r:id="rId34"/>
    <p:sldId id="427" r:id="rId35"/>
    <p:sldId id="430" r:id="rId36"/>
    <p:sldId id="431" r:id="rId37"/>
    <p:sldId id="432" r:id="rId38"/>
    <p:sldId id="433" r:id="rId39"/>
    <p:sldId id="434" r:id="rId40"/>
    <p:sldId id="435" r:id="rId41"/>
  </p:sldIdLst>
  <p:sldSz cx="12192000" cy="6858000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1pPr>
    <a:lvl2pPr marL="45358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2pPr>
    <a:lvl3pPr marL="91034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3pPr>
    <a:lvl4pPr marL="136711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4pPr>
    <a:lvl5pPr marL="182387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5pPr>
    <a:lvl6pPr marL="2283805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6pPr>
    <a:lvl7pPr marL="274056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7pPr>
    <a:lvl8pPr marL="319732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8pPr>
    <a:lvl9pPr marL="3654091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9pPr>
  </p:defaultTextStyle>
  <p:extLst>
    <p:ext uri="{521415D9-36F7-43E2-AB2F-B90AF26B5E84}">
      <p14:sectionLst xmlns:p14="http://schemas.microsoft.com/office/powerpoint/2010/main">
        <p14:section name="Section par défaut" id="{6A6AAF0A-6CDB-6A4B-A404-BE18D9B0BA16}">
          <p14:sldIdLst>
            <p14:sldId id="317"/>
            <p14:sldId id="360"/>
            <p14:sldId id="420"/>
            <p14:sldId id="436"/>
            <p14:sldId id="377"/>
            <p14:sldId id="354"/>
            <p14:sldId id="383"/>
            <p14:sldId id="381"/>
            <p14:sldId id="389"/>
            <p14:sldId id="388"/>
            <p14:sldId id="378"/>
            <p14:sldId id="385"/>
            <p14:sldId id="386"/>
            <p14:sldId id="387"/>
            <p14:sldId id="384"/>
            <p14:sldId id="393"/>
            <p14:sldId id="379"/>
            <p14:sldId id="421"/>
            <p14:sldId id="422"/>
            <p14:sldId id="423"/>
            <p14:sldId id="395"/>
            <p14:sldId id="416"/>
            <p14:sldId id="398"/>
            <p14:sldId id="397"/>
            <p14:sldId id="418"/>
            <p14:sldId id="405"/>
            <p14:sldId id="406"/>
            <p14:sldId id="424"/>
            <p14:sldId id="425"/>
            <p14:sldId id="426"/>
            <p14:sldId id="428"/>
            <p14:sldId id="429"/>
            <p14:sldId id="427"/>
            <p14:sldId id="430"/>
            <p14:sldId id="431"/>
            <p14:sldId id="432"/>
            <p14:sldId id="433"/>
            <p14:sldId id="434"/>
            <p14:sldId id="4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ylvie Retailleau" initials="SR" lastIdx="9" clrIdx="0"/>
  <p:cmAuthor id="2" name="Claire LARTIGUE" initials="CL" lastIdx="10" clrIdx="1"/>
  <p:cmAuthor id="3" name="Bouye Clementine" initials="BC" lastIdx="1" clrIdx="2">
    <p:extLst>
      <p:ext uri="{19B8F6BF-5375-455C-9EA6-DF929625EA0E}">
        <p15:presenceInfo xmlns:p15="http://schemas.microsoft.com/office/powerpoint/2012/main" userId="S-1-5-21-2844717677-1882146966-2427725951-2853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A960A"/>
    <a:srgbClr val="BBE0E3"/>
    <a:srgbClr val="D02D12"/>
    <a:srgbClr val="222268"/>
    <a:srgbClr val="00B0F0"/>
    <a:srgbClr val="D9D9D9"/>
    <a:srgbClr val="6AB5D9"/>
    <a:srgbClr val="0A3250"/>
    <a:srgbClr val="CBE5F9"/>
    <a:srgbClr val="9E1B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Style moyen 1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DA37D80-6434-44D0-A028-1B22A696006F}" styleName="Style léger 3 - Accentuation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83" autoAdjust="0"/>
    <p:restoredTop sz="84504" autoAdjust="0"/>
  </p:normalViewPr>
  <p:slideViewPr>
    <p:cSldViewPr>
      <p:cViewPr varScale="1">
        <p:scale>
          <a:sx n="93" d="100"/>
          <a:sy n="93" d="100"/>
        </p:scale>
        <p:origin x="1404" y="102"/>
      </p:cViewPr>
      <p:guideLst>
        <p:guide orient="horz" pos="2160"/>
        <p:guide pos="384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156" d="100"/>
          <a:sy n="156" d="100"/>
        </p:scale>
        <p:origin x="7648" y="19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505200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FE5C97D-F4A4-3148-9D69-08ACA8026603}" type="slidenum">
              <a:rPr lang="fr-FR"/>
              <a:pPr/>
              <a:t>‹N°›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9429751"/>
            <a:ext cx="2946400" cy="496888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l">
              <a:defRPr sz="1000">
                <a:latin typeface="Arial" charset="0"/>
                <a:ea typeface="ＭＳ Ｐゴシック" pitchFamily="1" charset="-128"/>
                <a:cs typeface="+mn-cs"/>
              </a:defRPr>
            </a:lvl1pPr>
          </a:lstStyle>
          <a:p>
            <a:pPr>
              <a:defRPr/>
            </a:pPr>
            <a:r>
              <a:rPr lang="fr-FR" dirty="0"/>
              <a:t>CA IOGS 20 décembre 2018</a:t>
            </a:r>
          </a:p>
        </p:txBody>
      </p:sp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45104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sz="1200">
                <a:latin typeface="Arial" charset="0"/>
                <a:ea typeface="MS PGothic" pitchFamily="34" charset="-128"/>
                <a:cs typeface="+mn-cs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9202EF97-A5BF-E644-B5D7-99A720C3808E}" type="datetimeFigureOut">
              <a:rPr lang="fr-FR"/>
              <a:pPr/>
              <a:t>23/09/2026</a:t>
            </a:fld>
            <a:endParaRPr lang="fr-FR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4538"/>
            <a:ext cx="6615113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5D8CFC6-2EE8-4043-8C44-71F3876B9617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8854099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1pPr>
    <a:lvl2pPr marL="45358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2pPr>
    <a:lvl3pPr marL="91034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3pPr>
    <a:lvl4pPr marL="136711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4pPr>
    <a:lvl5pPr marL="182387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5pPr>
    <a:lvl6pPr marL="2282113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38534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4959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1381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8182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767AB-1485-BB0B-EFA9-DFEB62256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9B5BFA9-D190-0091-8A3A-0ED41D304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16B420E-A648-D5AB-49D9-71F1B6E7E1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82DF6F-C09F-A69F-EFC6-24D185CD7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88972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4672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EB024-F820-14B9-1F31-6FF414920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D90DC8E-2BE3-3404-C51C-3AB6F0D96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0218434-42A9-2949-22DD-C5082675C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9B78A17-824A-0B99-93B3-ED6F35FA4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605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46D81-2078-FF16-6C41-D5C6FDEC6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E276F8C-282E-78CE-6473-859841EB86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EBC7E1A-E12A-3DB2-7CB5-2E767C502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18B1F8E-42A6-73F6-28C1-11A823D05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07760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3972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8A2C3-B56E-AC68-10EB-5F62354B4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250274A-C7E6-CE17-70E9-8C9894C1B1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D5193DD-3D7B-2729-F0BF-D9ABB928E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815BB8E-F9C5-4BE6-9C24-0EE8A7ADD9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8103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10241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72008-9DC8-32E0-AA1F-D5C8687CC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477B702-6609-D764-621C-3E5A9866B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387B326-C564-0AC5-928D-1F75D762B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7B15B8A-3077-A2B9-7626-5C896C648D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731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EE1D-A26C-FAD7-4E63-AD006091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2D8A2C9-C093-B30E-F006-AC6BDEFCE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95FD705-54D6-764B-F264-257EDFBF3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D239A3D-9B79-DC54-FFF9-27461A0098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86538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CD39C-0EB2-73A1-4297-88CF321BB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D180A43-5F56-50A4-D482-6923EC428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3360E96-372A-49AF-05B0-ED33CAD5D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E27781-3954-F062-83D6-7AB0F6965A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7834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14979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650190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9348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5228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068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6844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548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9443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8587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760495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997032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578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26789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55079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31161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1797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5473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622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2.jpeg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5" name="Image 4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E83C2882-4408-CE09-DEC2-6856CAFD3C6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217" y="0"/>
            <a:ext cx="4343400" cy="15247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1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6" name="Image 5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id="{8EBAC630-7DDC-F79A-67A7-A059B76493E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35" y="116632"/>
            <a:ext cx="2070649" cy="127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087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4.jpg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14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21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28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4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6.jpe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37.png"/><Relationship Id="rId4" Type="http://schemas.openxmlformats.org/officeDocument/2006/relationships/image" Target="../media/image4.jpg"/><Relationship Id="rId9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6.jpe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png"/><Relationship Id="rId5" Type="http://schemas.openxmlformats.org/officeDocument/2006/relationships/image" Target="../media/image30.png"/><Relationship Id="rId4" Type="http://schemas.openxmlformats.org/officeDocument/2006/relationships/image" Target="../media/image4.jpg"/><Relationship Id="rId9" Type="http://schemas.openxmlformats.org/officeDocument/2006/relationships/image" Target="../media/image4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14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48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4.jp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64.png"/><Relationship Id="rId7" Type="http://schemas.openxmlformats.org/officeDocument/2006/relationships/image" Target="../media/image55.png"/><Relationship Id="rId12" Type="http://schemas.openxmlformats.org/officeDocument/2006/relationships/image" Target="../media/image56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jpg"/><Relationship Id="rId11" Type="http://schemas.openxmlformats.org/officeDocument/2006/relationships/image" Target="../media/image54.png"/><Relationship Id="rId5" Type="http://schemas.openxmlformats.org/officeDocument/2006/relationships/image" Target="../media/image6.jpeg"/><Relationship Id="rId10" Type="http://schemas.openxmlformats.org/officeDocument/2006/relationships/image" Target="../media/image66.png"/><Relationship Id="rId4" Type="http://schemas.openxmlformats.org/officeDocument/2006/relationships/image" Target="../media/image65.png"/><Relationship Id="rId9" Type="http://schemas.openxmlformats.org/officeDocument/2006/relationships/image" Target="../media/image62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4.jpg"/><Relationship Id="rId7" Type="http://schemas.openxmlformats.org/officeDocument/2006/relationships/image" Target="../media/image68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7.png"/><Relationship Id="rId11" Type="http://schemas.openxmlformats.org/officeDocument/2006/relationships/image" Target="../media/image71.png"/><Relationship Id="rId5" Type="http://schemas.openxmlformats.org/officeDocument/2006/relationships/image" Target="../media/image62.png"/><Relationship Id="rId10" Type="http://schemas.openxmlformats.org/officeDocument/2006/relationships/image" Target="../media/image60.png"/><Relationship Id="rId4" Type="http://schemas.openxmlformats.org/officeDocument/2006/relationships/image" Target="../media/image55.png"/><Relationship Id="rId9" Type="http://schemas.openxmlformats.org/officeDocument/2006/relationships/image" Target="../media/image7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4.jpg"/><Relationship Id="rId7" Type="http://schemas.openxmlformats.org/officeDocument/2006/relationships/image" Target="../media/image7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png"/><Relationship Id="rId5" Type="http://schemas.openxmlformats.org/officeDocument/2006/relationships/image" Target="../media/image60.png"/><Relationship Id="rId10" Type="http://schemas.openxmlformats.org/officeDocument/2006/relationships/image" Target="../media/image75.png"/><Relationship Id="rId4" Type="http://schemas.openxmlformats.org/officeDocument/2006/relationships/image" Target="../media/image55.png"/><Relationship Id="rId9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19A213D-3E11-B70F-2512-CF02A38675A6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8A91F98-9CFB-01D0-47CF-038897323F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Vision Industrielle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8AC7ED9-A8F9-715C-56C9-BBDBF31023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dirty="0">
                <a:latin typeface="Bahnschrift SemiBold" panose="020B0502040204020203" pitchFamily="34" charset="0"/>
              </a:rPr>
              <a:t>TD Opto-Electronique</a:t>
            </a:r>
            <a:endParaRPr lang="fr-FR" dirty="0"/>
          </a:p>
          <a:p>
            <a:endParaRPr lang="fr-FR" sz="2000" dirty="0"/>
          </a:p>
          <a:p>
            <a:r>
              <a:rPr lang="fr-FR" sz="1600" dirty="0"/>
              <a:t>Julien VILLEMEJANE</a:t>
            </a: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68974E28-E8E5-A2D3-2FA4-80DBF0426D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3" y="1387219"/>
            <a:ext cx="3748471" cy="2498981"/>
          </a:xfrm>
          <a:prstGeom prst="rect">
            <a:avLst/>
          </a:prstGeom>
        </p:spPr>
      </p:pic>
      <p:pic>
        <p:nvPicPr>
          <p:cNvPr id="10" name="Image 9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AA9BAFF-BB9E-9D2A-C1AD-5D996C495C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3060700" cy="1257300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223" y="4005064"/>
            <a:ext cx="2375707" cy="1952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912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Vision Industrielle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32E479AE-228A-956D-63CA-05A2DEB088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Machine Vision</a:t>
            </a:r>
            <a:endParaRPr lang="fr-FR" dirty="0">
              <a:latin typeface="+mj-lt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6E5C695-EF62-078B-0FEE-D215F66224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5164" y="1844824"/>
            <a:ext cx="6191250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2E3AACB1-A07B-2E96-1567-542193878CF3}"/>
              </a:ext>
            </a:extLst>
          </p:cNvPr>
          <p:cNvSpPr txBox="1"/>
          <p:nvPr/>
        </p:nvSpPr>
        <p:spPr>
          <a:xfrm>
            <a:off x="5526053" y="6044741"/>
            <a:ext cx="60937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https://www.frenchweb.fr/aeye-16-millions-de-dollars-pour-ameliorer-les-capteurs-lidar-des-voitures-autonomes/296495</a:t>
            </a:r>
            <a:endParaRPr lang="fr-FR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A4D1D13-E5B5-D157-985C-977F706AA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316" y="1813086"/>
            <a:ext cx="4137013" cy="4137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0954781A-D938-CFEE-FC9E-747A623D78D1}"/>
              </a:ext>
            </a:extLst>
          </p:cNvPr>
          <p:cNvSpPr txBox="1"/>
          <p:nvPr/>
        </p:nvSpPr>
        <p:spPr>
          <a:xfrm>
            <a:off x="632713" y="6044741"/>
            <a:ext cx="60937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https://www.keyence.fr/landing/lpc/vision-industrielle_fr_sem_190417.jsp</a:t>
            </a:r>
          </a:p>
        </p:txBody>
      </p:sp>
    </p:spTree>
    <p:extLst>
      <p:ext uri="{BB962C8B-B14F-4D97-AF65-F5344CB8AC3E}">
        <p14:creationId xmlns:p14="http://schemas.microsoft.com/office/powerpoint/2010/main" val="3370264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CF8CA-CA05-4895-365A-E56F4B997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B1CCC2-C9B1-F616-2485-DA73977B6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Vision Industrielle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EF83B1-1D66-74E3-856B-0AC379CB3E98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F3834CD8-50F6-A39C-948A-BBB950EA1C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0B57440-DC6D-454E-DD9E-4841541BD94A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D499364-BC3C-8EE7-3AD8-441FD7FAC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254" y="2204864"/>
            <a:ext cx="4283968" cy="3212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06CFD95E-3ECB-405F-04F9-F4812BE9F18C}"/>
              </a:ext>
            </a:extLst>
          </p:cNvPr>
          <p:cNvSpPr txBox="1"/>
          <p:nvPr/>
        </p:nvSpPr>
        <p:spPr>
          <a:xfrm>
            <a:off x="628074" y="1700808"/>
            <a:ext cx="5467926" cy="1015663"/>
          </a:xfrm>
          <a:prstGeom prst="rect">
            <a:avLst/>
          </a:prstGeom>
          <a:solidFill>
            <a:srgbClr val="222268"/>
          </a:solidFill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just"/>
            <a:r>
              <a:rPr lang="en-US" sz="2000" dirty="0"/>
              <a:t>Système </a:t>
            </a:r>
            <a:r>
              <a:rPr lang="en-US" sz="2000" dirty="0" err="1"/>
              <a:t>basé</a:t>
            </a:r>
            <a:r>
              <a:rPr lang="en-US" sz="2000" dirty="0"/>
              <a:t> sur un </a:t>
            </a:r>
            <a:r>
              <a:rPr lang="en-US" sz="2000" b="1" dirty="0" err="1"/>
              <a:t>système</a:t>
            </a:r>
            <a:r>
              <a:rPr lang="en-US" sz="2000" b="1" dirty="0"/>
              <a:t> </a:t>
            </a:r>
            <a:r>
              <a:rPr lang="en-US" sz="2000" b="1" dirty="0" err="1"/>
              <a:t>imageant</a:t>
            </a:r>
            <a:r>
              <a:rPr lang="en-US" sz="2000" b="1" dirty="0"/>
              <a:t> </a:t>
            </a:r>
            <a:r>
              <a:rPr lang="en-US" sz="2000" dirty="0" err="1"/>
              <a:t>permettant</a:t>
            </a:r>
            <a:r>
              <a:rPr lang="en-US" sz="2000" dirty="0"/>
              <a:t> </a:t>
            </a:r>
            <a:r>
              <a:rPr lang="en-US" sz="2000" dirty="0" err="1"/>
              <a:t>d’</a:t>
            </a:r>
            <a:r>
              <a:rPr lang="en-US" sz="2000" b="1" dirty="0" err="1"/>
              <a:t>automatiser</a:t>
            </a:r>
            <a:r>
              <a:rPr lang="en-US" sz="2000" dirty="0"/>
              <a:t> </a:t>
            </a:r>
            <a:r>
              <a:rPr lang="en-US" sz="2000" b="1" dirty="0"/>
              <a:t>les </a:t>
            </a:r>
            <a:r>
              <a:rPr lang="en-US" sz="2000" b="1" dirty="0" err="1"/>
              <a:t>procédés</a:t>
            </a:r>
            <a:r>
              <a:rPr lang="en-US" sz="2000" b="1" dirty="0"/>
              <a:t> </a:t>
            </a:r>
            <a:r>
              <a:rPr lang="en-US" sz="2000" b="1" dirty="0" err="1"/>
              <a:t>d’inspection</a:t>
            </a:r>
            <a:r>
              <a:rPr lang="en-US" sz="2000" dirty="0"/>
              <a:t> de </a:t>
            </a:r>
            <a:r>
              <a:rPr lang="en-US" sz="2000" dirty="0" err="1"/>
              <a:t>produits</a:t>
            </a:r>
            <a:r>
              <a:rPr lang="en-US" sz="2000" dirty="0"/>
              <a:t> 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633E6AB5-0FD6-D7EB-6A07-53CBE3B3AC00}"/>
              </a:ext>
            </a:extLst>
          </p:cNvPr>
          <p:cNvSpPr txBox="1"/>
          <p:nvPr/>
        </p:nvSpPr>
        <p:spPr>
          <a:xfrm>
            <a:off x="628074" y="3657601"/>
            <a:ext cx="609447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Contrôle</a:t>
            </a:r>
            <a:r>
              <a:rPr lang="en-US" b="1" dirty="0"/>
              <a:t> </a:t>
            </a:r>
            <a:r>
              <a:rPr lang="en-US" b="1" dirty="0" err="1"/>
              <a:t>Qualité</a:t>
            </a:r>
            <a:r>
              <a:rPr lang="en-US" b="1" dirty="0"/>
              <a:t> / Tri </a:t>
            </a:r>
            <a:r>
              <a:rPr lang="en-US" b="1" dirty="0" err="1"/>
              <a:t>d’objets</a:t>
            </a:r>
            <a:endParaRPr lang="en-US" b="1" dirty="0"/>
          </a:p>
          <a:p>
            <a:r>
              <a:rPr lang="en-US" b="1" dirty="0"/>
              <a:t>	</a:t>
            </a:r>
            <a:r>
              <a:rPr lang="en-US" dirty="0"/>
              <a:t>- </a:t>
            </a:r>
            <a:r>
              <a:rPr lang="en-US" dirty="0" err="1"/>
              <a:t>Détecter</a:t>
            </a:r>
            <a:r>
              <a:rPr lang="en-US" dirty="0"/>
              <a:t> des </a:t>
            </a:r>
            <a:r>
              <a:rPr lang="en-US" dirty="0" err="1"/>
              <a:t>défauts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irrégularités</a:t>
            </a:r>
            <a:endParaRPr lang="en-US" dirty="0"/>
          </a:p>
          <a:p>
            <a:r>
              <a:rPr lang="en-US" dirty="0"/>
              <a:t>	- </a:t>
            </a:r>
            <a:r>
              <a:rPr lang="en-US" dirty="0" err="1"/>
              <a:t>Vérifier</a:t>
            </a:r>
            <a:r>
              <a:rPr lang="en-US" dirty="0"/>
              <a:t> </a:t>
            </a:r>
            <a:r>
              <a:rPr lang="en-US" dirty="0" err="1"/>
              <a:t>l’uniformité</a:t>
            </a:r>
            <a:r>
              <a:rPr lang="en-US" dirty="0"/>
              <a:t> de surface </a:t>
            </a:r>
          </a:p>
          <a:p>
            <a:r>
              <a:rPr lang="en-US" dirty="0"/>
              <a:t>	- </a:t>
            </a:r>
            <a:r>
              <a:rPr lang="en-US" dirty="0" err="1"/>
              <a:t>Compter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/et trier des </a:t>
            </a:r>
            <a:r>
              <a:rPr lang="en-US" dirty="0" err="1"/>
              <a:t>objets</a:t>
            </a:r>
            <a:endParaRPr lang="en-US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62F1E16-6986-59C2-2F93-8938E578153C}"/>
              </a:ext>
            </a:extLst>
          </p:cNvPr>
          <p:cNvSpPr txBox="1"/>
          <p:nvPr/>
        </p:nvSpPr>
        <p:spPr>
          <a:xfrm>
            <a:off x="628074" y="5122706"/>
            <a:ext cx="609447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Gain </a:t>
            </a:r>
            <a:r>
              <a:rPr lang="en-US" b="1" dirty="0" err="1"/>
              <a:t>en</a:t>
            </a:r>
            <a:r>
              <a:rPr lang="en-US" b="1" dirty="0"/>
              <a:t> </a:t>
            </a:r>
            <a:r>
              <a:rPr lang="en-US" b="1" dirty="0" err="1"/>
              <a:t>efficacité</a:t>
            </a:r>
            <a:r>
              <a:rPr lang="en-US" b="1" dirty="0"/>
              <a:t> et </a:t>
            </a:r>
            <a:r>
              <a:rPr lang="en-US" b="1" dirty="0" err="1"/>
              <a:t>en</a:t>
            </a:r>
            <a:r>
              <a:rPr lang="en-US" b="1" dirty="0"/>
              <a:t> </a:t>
            </a:r>
            <a:r>
              <a:rPr lang="en-US" b="1" dirty="0" err="1"/>
              <a:t>répétabilité</a:t>
            </a:r>
            <a:endParaRPr lang="en-US" b="1" dirty="0"/>
          </a:p>
          <a:p>
            <a:r>
              <a:rPr lang="en-US" dirty="0"/>
              <a:t>	- Inspection </a:t>
            </a:r>
            <a:r>
              <a:rPr lang="en-US" dirty="0" err="1"/>
              <a:t>en</a:t>
            </a:r>
            <a:r>
              <a:rPr lang="en-US" dirty="0"/>
              <a:t> temps </a:t>
            </a:r>
            <a:r>
              <a:rPr lang="en-US" dirty="0" err="1"/>
              <a:t>réel</a:t>
            </a:r>
            <a:r>
              <a:rPr lang="en-US" dirty="0"/>
              <a:t> et à </a:t>
            </a:r>
            <a:r>
              <a:rPr lang="en-US" dirty="0" err="1"/>
              <a:t>vitesse</a:t>
            </a:r>
            <a:r>
              <a:rPr lang="en-US" dirty="0"/>
              <a:t> </a:t>
            </a:r>
            <a:r>
              <a:rPr lang="en-US" dirty="0" err="1"/>
              <a:t>élevée</a:t>
            </a:r>
            <a:endParaRPr lang="en-US" dirty="0"/>
          </a:p>
          <a:p>
            <a:r>
              <a:rPr lang="en-US" dirty="0"/>
              <a:t>	- </a:t>
            </a:r>
            <a:r>
              <a:rPr lang="en-US" dirty="0" err="1"/>
              <a:t>Opérations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continu</a:t>
            </a:r>
            <a:endParaRPr lang="en-US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3F4F3956-4AFD-2BC1-BA52-6D5B7E31E455}"/>
              </a:ext>
            </a:extLst>
          </p:cNvPr>
          <p:cNvSpPr txBox="1"/>
          <p:nvPr/>
        </p:nvSpPr>
        <p:spPr>
          <a:xfrm>
            <a:off x="3431704" y="2947124"/>
            <a:ext cx="3167462" cy="400110"/>
          </a:xfrm>
          <a:prstGeom prst="rect">
            <a:avLst/>
          </a:prstGeom>
          <a:solidFill>
            <a:srgbClr val="222268"/>
          </a:solidFill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fr-FR" sz="2000" b="1" dirty="0"/>
              <a:t>Prendre une décision</a:t>
            </a:r>
          </a:p>
        </p:txBody>
      </p:sp>
      <p:sp>
        <p:nvSpPr>
          <p:cNvPr id="17" name="Triangle isocèle 16">
            <a:extLst>
              <a:ext uri="{FF2B5EF4-FFF2-40B4-BE49-F238E27FC236}">
                <a16:creationId xmlns:a16="http://schemas.microsoft.com/office/drawing/2014/main" id="{E0239C55-24A4-AEE4-8CCD-FDD745046ACD}"/>
              </a:ext>
            </a:extLst>
          </p:cNvPr>
          <p:cNvSpPr/>
          <p:nvPr/>
        </p:nvSpPr>
        <p:spPr bwMode="auto">
          <a:xfrm rot="5400000">
            <a:off x="2813509" y="3003532"/>
            <a:ext cx="253275" cy="314410"/>
          </a:xfrm>
          <a:prstGeom prst="triangle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6988607D-12AF-C96D-63B4-275627E13A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89E8C41-94D0-9CAD-9FAF-FAD482373CE3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Machine Vision</a:t>
            </a:r>
            <a:endParaRPr lang="fr-FR" dirty="0">
              <a:latin typeface="+mj-lt"/>
            </a:endParaRPr>
          </a:p>
        </p:txBody>
      </p:sp>
      <p:sp>
        <p:nvSpPr>
          <p:cNvPr id="7" name="Triangle isocèle 6">
            <a:extLst>
              <a:ext uri="{FF2B5EF4-FFF2-40B4-BE49-F238E27FC236}">
                <a16:creationId xmlns:a16="http://schemas.microsoft.com/office/drawing/2014/main" id="{06660DE7-1A08-BD27-B882-8BB5B5DD74A0}"/>
              </a:ext>
            </a:extLst>
          </p:cNvPr>
          <p:cNvSpPr/>
          <p:nvPr/>
        </p:nvSpPr>
        <p:spPr bwMode="auto">
          <a:xfrm rot="5400000">
            <a:off x="9449474" y="5666371"/>
            <a:ext cx="400110" cy="262306"/>
          </a:xfrm>
          <a:prstGeom prst="triangle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B4BD866-8EC9-28FF-87C4-33A4EED71E7E}"/>
              </a:ext>
            </a:extLst>
          </p:cNvPr>
          <p:cNvSpPr txBox="1"/>
          <p:nvPr/>
        </p:nvSpPr>
        <p:spPr>
          <a:xfrm>
            <a:off x="9931368" y="5620598"/>
            <a:ext cx="17627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>
                <a:latin typeface="+mj-lt"/>
              </a:rPr>
              <a:t>Être humain</a:t>
            </a:r>
          </a:p>
        </p:txBody>
      </p:sp>
      <p:sp>
        <p:nvSpPr>
          <p:cNvPr id="11" name="Triangle isocèle 10">
            <a:extLst>
              <a:ext uri="{FF2B5EF4-FFF2-40B4-BE49-F238E27FC236}">
                <a16:creationId xmlns:a16="http://schemas.microsoft.com/office/drawing/2014/main" id="{F0BF6610-D0E0-F29C-58D2-36E570775471}"/>
              </a:ext>
            </a:extLst>
          </p:cNvPr>
          <p:cNvSpPr/>
          <p:nvPr/>
        </p:nvSpPr>
        <p:spPr bwMode="auto">
          <a:xfrm rot="5400000">
            <a:off x="9449474" y="6249964"/>
            <a:ext cx="400110" cy="262306"/>
          </a:xfrm>
          <a:prstGeom prst="triangle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D89146B-92FA-A8C2-0856-94FA155CAE2F}"/>
              </a:ext>
            </a:extLst>
          </p:cNvPr>
          <p:cNvSpPr txBox="1"/>
          <p:nvPr/>
        </p:nvSpPr>
        <p:spPr>
          <a:xfrm>
            <a:off x="9931368" y="6204191"/>
            <a:ext cx="17627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>
                <a:latin typeface="+mj-lt"/>
              </a:rPr>
              <a:t>Système</a:t>
            </a:r>
          </a:p>
        </p:txBody>
      </p:sp>
      <p:pic>
        <p:nvPicPr>
          <p:cNvPr id="22" name="Picture 2">
            <a:extLst>
              <a:ext uri="{FF2B5EF4-FFF2-40B4-BE49-F238E27FC236}">
                <a16:creationId xmlns:a16="http://schemas.microsoft.com/office/drawing/2014/main" id="{46EA5721-83F0-863A-B869-A0AB8BEE03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7616" y="4921449"/>
            <a:ext cx="2234043" cy="1779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763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DA63B-63FA-E40E-7954-6713FC2C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40EDF9-9763-23B4-1F96-3B5B01F85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Vision Industrielle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1EFFA0-AE3A-581B-7128-153930FC1ED2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DEAD4CBC-F928-E01E-9BBE-D847EB984F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734FDDB-8EF8-544C-FB5C-F07834E1542F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55C2F98F-E5B1-E5AD-FD96-CAC91CF4CD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5" name="Image 14" descr="Une image contenant noir et blanc, monochrome, papier&#10;&#10;Le contenu généré par l’IA peut être incorrect.">
            <a:extLst>
              <a:ext uri="{FF2B5EF4-FFF2-40B4-BE49-F238E27FC236}">
                <a16:creationId xmlns:a16="http://schemas.microsoft.com/office/drawing/2014/main" id="{72551B80-86C8-C7CB-A405-DFCDFE6E77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384" y="1831753"/>
            <a:ext cx="2862487" cy="1916114"/>
          </a:xfrm>
          <a:prstGeom prst="rect">
            <a:avLst/>
          </a:prstGeom>
        </p:spPr>
      </p:pic>
      <p:pic>
        <p:nvPicPr>
          <p:cNvPr id="17" name="Image 16" descr="Une image contenant cercle, Graphique, conception&#10;&#10;Le contenu généré par l’IA peut être incorrect.">
            <a:extLst>
              <a:ext uri="{FF2B5EF4-FFF2-40B4-BE49-F238E27FC236}">
                <a16:creationId xmlns:a16="http://schemas.microsoft.com/office/drawing/2014/main" id="{4ACF54D0-FC3E-84FB-0EBF-636965A457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598" y="1831753"/>
            <a:ext cx="2850804" cy="1916114"/>
          </a:xfrm>
          <a:prstGeom prst="rect">
            <a:avLst/>
          </a:prstGeom>
        </p:spPr>
      </p:pic>
      <p:pic>
        <p:nvPicPr>
          <p:cNvPr id="19" name="Image 18" descr="Une image contenant croquis, cercle, noir et blanc, Graphique&#10;&#10;Le contenu généré par l’IA peut être incorrect.">
            <a:extLst>
              <a:ext uri="{FF2B5EF4-FFF2-40B4-BE49-F238E27FC236}">
                <a16:creationId xmlns:a16="http://schemas.microsoft.com/office/drawing/2014/main" id="{8AB9F15F-9EAB-4496-E299-92B60564B5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129" y="1835668"/>
            <a:ext cx="2850915" cy="1912199"/>
          </a:xfrm>
          <a:prstGeom prst="rect">
            <a:avLst/>
          </a:prstGeom>
        </p:spPr>
      </p:pic>
      <p:pic>
        <p:nvPicPr>
          <p:cNvPr id="21" name="Image 20" descr="Une image contenant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id="{362554B5-2811-9F5A-D4C2-C71218C48C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1981" y="4231633"/>
            <a:ext cx="3698539" cy="2475757"/>
          </a:xfrm>
          <a:prstGeom prst="rect">
            <a:avLst/>
          </a:prstGeom>
        </p:spPr>
      </p:pic>
      <p:sp>
        <p:nvSpPr>
          <p:cNvPr id="10" name="Flèche : pentagone 9">
            <a:extLst>
              <a:ext uri="{FF2B5EF4-FFF2-40B4-BE49-F238E27FC236}">
                <a16:creationId xmlns:a16="http://schemas.microsoft.com/office/drawing/2014/main" id="{EDD538B1-B854-2EC4-837A-80D3767032D8}"/>
              </a:ext>
            </a:extLst>
          </p:cNvPr>
          <p:cNvSpPr/>
          <p:nvPr/>
        </p:nvSpPr>
        <p:spPr>
          <a:xfrm>
            <a:off x="540890" y="1410830"/>
            <a:ext cx="3034830" cy="312860"/>
          </a:xfrm>
          <a:prstGeom prst="homePlate">
            <a:avLst/>
          </a:prstGeom>
          <a:solidFill>
            <a:srgbClr val="FA96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Acquisition</a:t>
            </a:r>
          </a:p>
        </p:txBody>
      </p:sp>
      <p:sp>
        <p:nvSpPr>
          <p:cNvPr id="12" name="Flèche : pentagone 11">
            <a:extLst>
              <a:ext uri="{FF2B5EF4-FFF2-40B4-BE49-F238E27FC236}">
                <a16:creationId xmlns:a16="http://schemas.microsoft.com/office/drawing/2014/main" id="{56E2BE53-0273-E1C7-E381-5CE45FA67500}"/>
              </a:ext>
            </a:extLst>
          </p:cNvPr>
          <p:cNvSpPr/>
          <p:nvPr/>
        </p:nvSpPr>
        <p:spPr>
          <a:xfrm>
            <a:off x="4670598" y="1409184"/>
            <a:ext cx="3034830" cy="312860"/>
          </a:xfrm>
          <a:prstGeom prst="homePlat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Pré-traitement</a:t>
            </a:r>
          </a:p>
        </p:txBody>
      </p:sp>
      <p:sp>
        <p:nvSpPr>
          <p:cNvPr id="14" name="Flèche : pentagone 13">
            <a:extLst>
              <a:ext uri="{FF2B5EF4-FFF2-40B4-BE49-F238E27FC236}">
                <a16:creationId xmlns:a16="http://schemas.microsoft.com/office/drawing/2014/main" id="{002063CE-F105-20E5-E922-56CAA9FEA269}"/>
              </a:ext>
            </a:extLst>
          </p:cNvPr>
          <p:cNvSpPr/>
          <p:nvPr/>
        </p:nvSpPr>
        <p:spPr>
          <a:xfrm>
            <a:off x="4141981" y="3850357"/>
            <a:ext cx="3034830" cy="312860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Classification</a:t>
            </a:r>
          </a:p>
        </p:txBody>
      </p:sp>
      <p:sp>
        <p:nvSpPr>
          <p:cNvPr id="18" name="Flèche : pentagone 17">
            <a:extLst>
              <a:ext uri="{FF2B5EF4-FFF2-40B4-BE49-F238E27FC236}">
                <a16:creationId xmlns:a16="http://schemas.microsoft.com/office/drawing/2014/main" id="{3AB544FB-DA5D-B064-F310-E0DCDED9D6EA}"/>
              </a:ext>
            </a:extLst>
          </p:cNvPr>
          <p:cNvSpPr/>
          <p:nvPr/>
        </p:nvSpPr>
        <p:spPr>
          <a:xfrm>
            <a:off x="8800306" y="1409184"/>
            <a:ext cx="3034830" cy="312860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Segmentation</a:t>
            </a:r>
          </a:p>
        </p:txBody>
      </p:sp>
    </p:spTree>
    <p:extLst>
      <p:ext uri="{BB962C8B-B14F-4D97-AF65-F5344CB8AC3E}">
        <p14:creationId xmlns:p14="http://schemas.microsoft.com/office/powerpoint/2010/main" val="38268485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E0BC0-72FC-980A-8755-4BF0DB59F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F6F67B-BD0F-1ECD-ED2E-168F42118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Vision Industrielle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498DDA-3B68-5D8D-D6EE-0A8DFD0CB434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4C047E8F-BC86-E6E5-D78F-F2CDFC9EA3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AAF5E59-8973-011C-3262-FCF697AB76F5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1CD7E69-F5DC-BC1C-C663-31233C960209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Modélisation de la chaine </a:t>
            </a:r>
            <a:endParaRPr lang="fr-FR" dirty="0">
              <a:latin typeface="+mj-lt"/>
            </a:endParaRP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31015BE3-B85F-C59D-A5AB-2BA2B4DD55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254" y="2204864"/>
            <a:ext cx="4283968" cy="3212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Image 31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03BBC928-864E-D216-7A92-DE923087F3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33" name="Organigramme : Délai 32">
            <a:extLst>
              <a:ext uri="{FF2B5EF4-FFF2-40B4-BE49-F238E27FC236}">
                <a16:creationId xmlns:a16="http://schemas.microsoft.com/office/drawing/2014/main" id="{496BBBFA-9A69-95F6-B7D8-976DCB366B20}"/>
              </a:ext>
            </a:extLst>
          </p:cNvPr>
          <p:cNvSpPr/>
          <p:nvPr/>
        </p:nvSpPr>
        <p:spPr>
          <a:xfrm rot="14645038">
            <a:off x="677336" y="1908654"/>
            <a:ext cx="607857" cy="737476"/>
          </a:xfrm>
          <a:prstGeom prst="flowChartDelay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b="1" dirty="0"/>
          </a:p>
        </p:txBody>
      </p: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8810A3F1-F2CA-45FB-E081-08210B5F51F0}"/>
              </a:ext>
            </a:extLst>
          </p:cNvPr>
          <p:cNvCxnSpPr>
            <a:cxnSpLocks/>
          </p:cNvCxnSpPr>
          <p:nvPr/>
        </p:nvCxnSpPr>
        <p:spPr>
          <a:xfrm>
            <a:off x="1127448" y="2603650"/>
            <a:ext cx="1224136" cy="267078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44462-C1B6-41C5-9CA1-7AB7C2F11313}"/>
              </a:ext>
            </a:extLst>
          </p:cNvPr>
          <p:cNvSpPr/>
          <p:nvPr/>
        </p:nvSpPr>
        <p:spPr>
          <a:xfrm>
            <a:off x="1836678" y="5438487"/>
            <a:ext cx="1591397" cy="685799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Ro(</a:t>
            </a:r>
            <a:r>
              <a:rPr lang="el-G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DA5CAD93-B788-B264-E6F0-D41D8A0B2E5F}"/>
              </a:ext>
            </a:extLst>
          </p:cNvPr>
          <p:cNvSpPr txBox="1"/>
          <p:nvPr/>
        </p:nvSpPr>
        <p:spPr>
          <a:xfrm>
            <a:off x="614656" y="1595751"/>
            <a:ext cx="1147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Source</a:t>
            </a:r>
            <a:endParaRPr lang="fr-FR" sz="1200" dirty="0"/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60C29A6A-C35E-EEB7-C712-E51C5DA62FE1}"/>
              </a:ext>
            </a:extLst>
          </p:cNvPr>
          <p:cNvSpPr txBox="1"/>
          <p:nvPr/>
        </p:nvSpPr>
        <p:spPr>
          <a:xfrm>
            <a:off x="695400" y="2103784"/>
            <a:ext cx="640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S(</a:t>
            </a:r>
            <a:r>
              <a:rPr lang="el-GR" sz="1800" dirty="0"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6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/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4E0E416D-A8D2-7009-BB37-DA3C0B25FB44}"/>
              </a:ext>
            </a:extLst>
          </p:cNvPr>
          <p:cNvSpPr txBox="1"/>
          <p:nvPr/>
        </p:nvSpPr>
        <p:spPr>
          <a:xfrm>
            <a:off x="1262949" y="5097193"/>
            <a:ext cx="1147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Objet</a:t>
            </a:r>
            <a:endParaRPr lang="fr-FR" sz="1200" dirty="0"/>
          </a:p>
        </p:txBody>
      </p:sp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131C3B88-D38A-68A9-C970-EEEF2E8D5110}"/>
              </a:ext>
            </a:extLst>
          </p:cNvPr>
          <p:cNvCxnSpPr>
            <a:cxnSpLocks/>
          </p:cNvCxnSpPr>
          <p:nvPr/>
        </p:nvCxnSpPr>
        <p:spPr>
          <a:xfrm flipV="1">
            <a:off x="2873642" y="4509120"/>
            <a:ext cx="270030" cy="765316"/>
          </a:xfrm>
          <a:prstGeom prst="straightConnector1">
            <a:avLst/>
          </a:prstGeom>
          <a:ln w="57150">
            <a:solidFill>
              <a:srgbClr val="00B05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1161237-9072-1CCC-3E2E-5A942E61FC22}"/>
              </a:ext>
            </a:extLst>
          </p:cNvPr>
          <p:cNvSpPr/>
          <p:nvPr/>
        </p:nvSpPr>
        <p:spPr>
          <a:xfrm>
            <a:off x="614656" y="6137709"/>
            <a:ext cx="4973906" cy="330631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>
                <a:solidFill>
                  <a:schemeClr val="tx1"/>
                </a:solidFill>
              </a:rPr>
              <a:t>Rs</a:t>
            </a:r>
            <a:r>
              <a:rPr lang="fr-FR" b="1" dirty="0">
                <a:solidFill>
                  <a:schemeClr val="tx1"/>
                </a:solidFill>
              </a:rPr>
              <a:t>(</a:t>
            </a:r>
            <a:r>
              <a:rPr lang="el-G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4CE0D583-5F6E-99BB-EE22-A899B0F3CFFB}"/>
              </a:ext>
            </a:extLst>
          </p:cNvPr>
          <p:cNvSpPr txBox="1"/>
          <p:nvPr/>
        </p:nvSpPr>
        <p:spPr>
          <a:xfrm>
            <a:off x="553719" y="6482290"/>
            <a:ext cx="1147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Scène</a:t>
            </a:r>
            <a:endParaRPr lang="fr-FR" sz="12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D0BB643-5BB0-208B-54D0-8E48ECA25042}"/>
              </a:ext>
            </a:extLst>
          </p:cNvPr>
          <p:cNvSpPr/>
          <p:nvPr/>
        </p:nvSpPr>
        <p:spPr>
          <a:xfrm>
            <a:off x="3718206" y="1964770"/>
            <a:ext cx="620710" cy="31262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F63B9F6E-52A7-ECFE-F382-2281DBF4468A}"/>
              </a:ext>
            </a:extLst>
          </p:cNvPr>
          <p:cNvSpPr txBox="1"/>
          <p:nvPr/>
        </p:nvSpPr>
        <p:spPr>
          <a:xfrm>
            <a:off x="3737908" y="1600485"/>
            <a:ext cx="17820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Image de l’objet</a:t>
            </a:r>
            <a:endParaRPr lang="fr-FR" sz="1200" dirty="0"/>
          </a:p>
        </p:txBody>
      </p: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2E263C39-FF09-4258-64FD-D4B0B7A5B044}"/>
              </a:ext>
            </a:extLst>
          </p:cNvPr>
          <p:cNvCxnSpPr>
            <a:cxnSpLocks/>
          </p:cNvCxnSpPr>
          <p:nvPr/>
        </p:nvCxnSpPr>
        <p:spPr>
          <a:xfrm flipV="1">
            <a:off x="3629024" y="2374558"/>
            <a:ext cx="270030" cy="765316"/>
          </a:xfrm>
          <a:prstGeom prst="straightConnector1">
            <a:avLst/>
          </a:prstGeom>
          <a:ln w="57150">
            <a:solidFill>
              <a:srgbClr val="00B05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6E77830D-1BC4-A13B-63D8-3726B0B73D78}"/>
              </a:ext>
            </a:extLst>
          </p:cNvPr>
          <p:cNvSpPr/>
          <p:nvPr/>
        </p:nvSpPr>
        <p:spPr>
          <a:xfrm rot="11957154">
            <a:off x="2924331" y="3183806"/>
            <a:ext cx="1182052" cy="7091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55" name="Organigramme : Opération manuelle 54">
            <a:extLst>
              <a:ext uri="{FF2B5EF4-FFF2-40B4-BE49-F238E27FC236}">
                <a16:creationId xmlns:a16="http://schemas.microsoft.com/office/drawing/2014/main" id="{1FBC0D05-E80A-D05F-546D-555E787C38EE}"/>
              </a:ext>
            </a:extLst>
          </p:cNvPr>
          <p:cNvSpPr/>
          <p:nvPr/>
        </p:nvSpPr>
        <p:spPr>
          <a:xfrm rot="11957154">
            <a:off x="2538293" y="3915171"/>
            <a:ext cx="1528675" cy="543425"/>
          </a:xfrm>
          <a:prstGeom prst="flowChartManualOperation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b="1" dirty="0"/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F00DB7E7-1CFC-F96B-6449-E482DB81395C}"/>
              </a:ext>
            </a:extLst>
          </p:cNvPr>
          <p:cNvSpPr txBox="1"/>
          <p:nvPr/>
        </p:nvSpPr>
        <p:spPr>
          <a:xfrm>
            <a:off x="4190319" y="3669944"/>
            <a:ext cx="17820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Caméra</a:t>
            </a:r>
            <a:endParaRPr lang="fr-FR" sz="1200" dirty="0"/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19CE881C-7DA9-8E74-26E0-E57F031CDB90}"/>
              </a:ext>
            </a:extLst>
          </p:cNvPr>
          <p:cNvSpPr txBox="1"/>
          <p:nvPr/>
        </p:nvSpPr>
        <p:spPr>
          <a:xfrm>
            <a:off x="4190319" y="4373719"/>
            <a:ext cx="17820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Objectif</a:t>
            </a:r>
            <a:endParaRPr lang="fr-FR" sz="1200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9DC04C8B-1D9D-2923-DE39-216042E571E7}"/>
              </a:ext>
            </a:extLst>
          </p:cNvPr>
          <p:cNvSpPr txBox="1"/>
          <p:nvPr/>
        </p:nvSpPr>
        <p:spPr>
          <a:xfrm>
            <a:off x="3101609" y="3354807"/>
            <a:ext cx="999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K(</a:t>
            </a:r>
            <a:r>
              <a:rPr lang="el-GR" sz="1800" dirty="0"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sz="16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/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387F1FC4-16FA-FEC1-F520-42DF03AE0B86}"/>
              </a:ext>
            </a:extLst>
          </p:cNvPr>
          <p:cNvSpPr txBox="1"/>
          <p:nvPr/>
        </p:nvSpPr>
        <p:spPr>
          <a:xfrm>
            <a:off x="2835995" y="3977721"/>
            <a:ext cx="9792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g(</a:t>
            </a:r>
            <a:r>
              <a:rPr lang="el-GR" sz="1800" dirty="0"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sz="16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/>
          </a:p>
        </p:txBody>
      </p:sp>
      <p:pic>
        <p:nvPicPr>
          <p:cNvPr id="60" name="Image 59">
            <a:extLst>
              <a:ext uri="{FF2B5EF4-FFF2-40B4-BE49-F238E27FC236}">
                <a16:creationId xmlns:a16="http://schemas.microsoft.com/office/drawing/2014/main" id="{02EA078B-D8A8-CBAC-E06D-C0A47D433E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9227" y="3188056"/>
            <a:ext cx="1346761" cy="1513085"/>
          </a:xfrm>
          <a:prstGeom prst="rect">
            <a:avLst/>
          </a:prstGeom>
        </p:spPr>
      </p:pic>
      <p:sp>
        <p:nvSpPr>
          <p:cNvPr id="61" name="ZoneTexte 60">
            <a:extLst>
              <a:ext uri="{FF2B5EF4-FFF2-40B4-BE49-F238E27FC236}">
                <a16:creationId xmlns:a16="http://schemas.microsoft.com/office/drawing/2014/main" id="{AC95DE0A-623E-5532-02E8-0D7BB069B734}"/>
              </a:ext>
            </a:extLst>
          </p:cNvPr>
          <p:cNvSpPr txBox="1"/>
          <p:nvPr/>
        </p:nvSpPr>
        <p:spPr>
          <a:xfrm>
            <a:off x="5609226" y="4705710"/>
            <a:ext cx="161739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 err="1"/>
              <a:t>Basler</a:t>
            </a:r>
            <a:r>
              <a:rPr lang="fr-FR" sz="1000" dirty="0"/>
              <a:t> </a:t>
            </a:r>
            <a:r>
              <a:rPr lang="fr-FR" sz="1000" dirty="0" err="1"/>
              <a:t>Sensor</a:t>
            </a:r>
            <a:r>
              <a:rPr lang="fr-FR" sz="1000" dirty="0"/>
              <a:t> / </a:t>
            </a:r>
            <a:r>
              <a:rPr lang="fr-FR" sz="1000" dirty="0" err="1"/>
              <a:t>Mouser</a:t>
            </a:r>
            <a:endParaRPr lang="fr-FR" sz="1000" dirty="0"/>
          </a:p>
        </p:txBody>
      </p:sp>
    </p:spTree>
    <p:extLst>
      <p:ext uri="{BB962C8B-B14F-4D97-AF65-F5344CB8AC3E}">
        <p14:creationId xmlns:p14="http://schemas.microsoft.com/office/powerpoint/2010/main" val="47786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19A213D-3E11-B70F-2512-CF02A38675A6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8A91F98-9CFB-01D0-47CF-038897323F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Objets / Sources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8AC7ED9-A8F9-715C-56C9-BBDBF31023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dirty="0">
                <a:latin typeface="+mj-lt"/>
              </a:rPr>
              <a:t>Eclairage / Colorimétrie</a:t>
            </a:r>
          </a:p>
          <a:p>
            <a:endParaRPr lang="fr-FR" sz="2000" dirty="0">
              <a:latin typeface="+mj-lt"/>
            </a:endParaRP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68974E28-E8E5-A2D3-2FA4-80DBF0426D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F39537-C4EF-EB4A-CF6A-A860440D86E3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B84B51-2511-1AA1-8DF5-712332F65841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835630AE-94C3-1AC4-7626-E4FF9C0CC9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60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60BA2-9394-6FAA-51D0-D17A71909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E03BA1-A086-8B54-2611-FDA6143F3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Sources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AC6AA4-C73D-FF3E-7960-84BDE8504DFE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C7AC571-31AE-4192-8C36-7D56962F7F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EA5CB8F-6ED2-4415-AD01-7ACFBB2C4526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369A7439-546B-4E48-E944-5070ACB48F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A9739FBC-F637-4384-5078-18CBA498C0A0}"/>
              </a:ext>
            </a:extLst>
          </p:cNvPr>
          <p:cNvSpPr txBox="1"/>
          <p:nvPr/>
        </p:nvSpPr>
        <p:spPr>
          <a:xfrm>
            <a:off x="335360" y="6530860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TP Colorimétrie / Romaric Journet</a:t>
            </a:r>
            <a:endParaRPr lang="fr-FR" sz="1200" dirty="0"/>
          </a:p>
        </p:txBody>
      </p:sp>
      <p:pic>
        <p:nvPicPr>
          <p:cNvPr id="14" name="Graphique 13" descr="Ampoule et engrenage avec un remplissage uni">
            <a:extLst>
              <a:ext uri="{FF2B5EF4-FFF2-40B4-BE49-F238E27FC236}">
                <a16:creationId xmlns:a16="http://schemas.microsoft.com/office/drawing/2014/main" id="{A2BFF39E-4BB9-14F3-7C88-67DED85C08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8745" y="2876456"/>
            <a:ext cx="1222534" cy="122253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21B22D68-B43E-5F52-4FDB-2F08EA1B3548}"/>
              </a:ext>
            </a:extLst>
          </p:cNvPr>
          <p:cNvSpPr/>
          <p:nvPr/>
        </p:nvSpPr>
        <p:spPr bwMode="auto">
          <a:xfrm>
            <a:off x="9318203" y="3163148"/>
            <a:ext cx="882253" cy="822960"/>
          </a:xfrm>
          <a:prstGeom prst="rect">
            <a:avLst/>
          </a:prstGeom>
          <a:solidFill>
            <a:srgbClr val="FF683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ptos Narrow" panose="020B0004020202020204" pitchFamily="34" charset="0"/>
            </a:endParaRPr>
          </a:p>
        </p:txBody>
      </p:sp>
      <p:sp>
        <p:nvSpPr>
          <p:cNvPr id="16" name="Flèche : droite 15">
            <a:extLst>
              <a:ext uri="{FF2B5EF4-FFF2-40B4-BE49-F238E27FC236}">
                <a16:creationId xmlns:a16="http://schemas.microsoft.com/office/drawing/2014/main" id="{56AEFEF6-4718-19F1-2ED4-41B998C7C8CF}"/>
              </a:ext>
            </a:extLst>
          </p:cNvPr>
          <p:cNvSpPr/>
          <p:nvPr/>
        </p:nvSpPr>
        <p:spPr bwMode="auto">
          <a:xfrm>
            <a:off x="2588916" y="3250656"/>
            <a:ext cx="667729" cy="472124"/>
          </a:xfrm>
          <a:prstGeom prst="rightArrow">
            <a:avLst/>
          </a:prstGeom>
          <a:gradFill>
            <a:gsLst>
              <a:gs pos="37000">
                <a:srgbClr val="5FED33"/>
              </a:gs>
              <a:gs pos="0">
                <a:srgbClr val="3100E6"/>
              </a:gs>
              <a:gs pos="17000">
                <a:srgbClr val="00A0F0"/>
              </a:gs>
              <a:gs pos="54000">
                <a:srgbClr val="FCEA04"/>
              </a:gs>
              <a:gs pos="96000">
                <a:srgbClr val="FF0000"/>
              </a:gs>
              <a:gs pos="72000">
                <a:srgbClr val="FFC000"/>
              </a:gs>
            </a:gsLst>
            <a:lin ang="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fr-FR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ptos Narrow" panose="020B0004020202020204" pitchFamily="34" charset="0"/>
            </a:endParaRPr>
          </a:p>
        </p:txBody>
      </p:sp>
      <p:sp>
        <p:nvSpPr>
          <p:cNvPr id="17" name="Flèche : droite 16">
            <a:extLst>
              <a:ext uri="{FF2B5EF4-FFF2-40B4-BE49-F238E27FC236}">
                <a16:creationId xmlns:a16="http://schemas.microsoft.com/office/drawing/2014/main" id="{0AEFEAEC-6362-5AEF-E92D-F68B9EC4E4F4}"/>
              </a:ext>
            </a:extLst>
          </p:cNvPr>
          <p:cNvSpPr/>
          <p:nvPr/>
        </p:nvSpPr>
        <p:spPr bwMode="auto">
          <a:xfrm>
            <a:off x="8540528" y="3299144"/>
            <a:ext cx="667729" cy="472124"/>
          </a:xfrm>
          <a:prstGeom prst="rightArrow">
            <a:avLst/>
          </a:prstGeom>
          <a:gradFill>
            <a:gsLst>
              <a:gs pos="37000">
                <a:srgbClr val="5FED33"/>
              </a:gs>
              <a:gs pos="0">
                <a:srgbClr val="3100E6"/>
              </a:gs>
              <a:gs pos="17000">
                <a:srgbClr val="00A0F0"/>
              </a:gs>
              <a:gs pos="54000">
                <a:srgbClr val="FCEA04"/>
              </a:gs>
              <a:gs pos="96000">
                <a:srgbClr val="FF0000"/>
              </a:gs>
              <a:gs pos="72000">
                <a:srgbClr val="FFC000"/>
              </a:gs>
            </a:gsLst>
            <a:lin ang="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fr-FR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ptos Narrow" panose="020B0004020202020204" pitchFamily="34" charset="0"/>
            </a:endParaRPr>
          </a:p>
        </p:txBody>
      </p:sp>
      <p:sp>
        <p:nvSpPr>
          <p:cNvPr id="18" name="Flèche : droite 17">
            <a:extLst>
              <a:ext uri="{FF2B5EF4-FFF2-40B4-BE49-F238E27FC236}">
                <a16:creationId xmlns:a16="http://schemas.microsoft.com/office/drawing/2014/main" id="{292A8AA3-B0E9-ECE3-65DF-A4F82590DCFE}"/>
              </a:ext>
            </a:extLst>
          </p:cNvPr>
          <p:cNvSpPr/>
          <p:nvPr/>
        </p:nvSpPr>
        <p:spPr bwMode="auto">
          <a:xfrm>
            <a:off x="10334811" y="3338566"/>
            <a:ext cx="667729" cy="472124"/>
          </a:xfrm>
          <a:prstGeom prst="rightArrow">
            <a:avLst/>
          </a:prstGeom>
          <a:gradFill>
            <a:gsLst>
              <a:gs pos="32000">
                <a:schemeClr val="tx2"/>
              </a:gs>
              <a:gs pos="0">
                <a:schemeClr val="tx1"/>
              </a:gs>
              <a:gs pos="17000">
                <a:schemeClr val="tx2"/>
              </a:gs>
              <a:gs pos="54000">
                <a:srgbClr val="988D02"/>
              </a:gs>
              <a:gs pos="97000">
                <a:srgbClr val="FF0000"/>
              </a:gs>
              <a:gs pos="72000">
                <a:srgbClr val="FFC000"/>
              </a:gs>
            </a:gsLst>
            <a:lin ang="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fr-FR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ptos Narrow" panose="020B0004020202020204" pitchFamily="34" charset="0"/>
            </a:endParaRPr>
          </a:p>
        </p:txBody>
      </p:sp>
      <p:sp>
        <p:nvSpPr>
          <p:cNvPr id="19" name="Flèche : pentagone 18">
            <a:extLst>
              <a:ext uri="{FF2B5EF4-FFF2-40B4-BE49-F238E27FC236}">
                <a16:creationId xmlns:a16="http://schemas.microsoft.com/office/drawing/2014/main" id="{14985E23-37EF-53E5-2376-7B518D0C0D1F}"/>
              </a:ext>
            </a:extLst>
          </p:cNvPr>
          <p:cNvSpPr/>
          <p:nvPr/>
        </p:nvSpPr>
        <p:spPr>
          <a:xfrm>
            <a:off x="509310" y="1894096"/>
            <a:ext cx="3368674" cy="312860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Sources primaires</a:t>
            </a:r>
          </a:p>
        </p:txBody>
      </p:sp>
      <p:sp>
        <p:nvSpPr>
          <p:cNvPr id="20" name="Flèche : pentagone 19">
            <a:extLst>
              <a:ext uri="{FF2B5EF4-FFF2-40B4-BE49-F238E27FC236}">
                <a16:creationId xmlns:a16="http://schemas.microsoft.com/office/drawing/2014/main" id="{5F03A08E-5D92-9797-4DB5-FB3C292C2C98}"/>
              </a:ext>
            </a:extLst>
          </p:cNvPr>
          <p:cNvSpPr/>
          <p:nvPr/>
        </p:nvSpPr>
        <p:spPr>
          <a:xfrm>
            <a:off x="6831782" y="1891372"/>
            <a:ext cx="3368674" cy="312860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Sources secondaires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F755BDFA-FE5E-35C7-AE54-A2D7C7B74779}"/>
              </a:ext>
            </a:extLst>
          </p:cNvPr>
          <p:cNvSpPr txBox="1"/>
          <p:nvPr/>
        </p:nvSpPr>
        <p:spPr>
          <a:xfrm>
            <a:off x="805881" y="2292440"/>
            <a:ext cx="40324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Produisent</a:t>
            </a:r>
            <a:r>
              <a:rPr lang="en-US" b="1" dirty="0"/>
              <a:t> </a:t>
            </a:r>
            <a:r>
              <a:rPr lang="en-US" b="1" dirty="0" err="1"/>
              <a:t>leur</a:t>
            </a:r>
            <a:r>
              <a:rPr lang="en-US" b="1" dirty="0"/>
              <a:t> propre lumière</a:t>
            </a:r>
            <a:endParaRPr lang="en-US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86C996A-A5DB-953C-1ABC-EF077DF1D1BE}"/>
              </a:ext>
            </a:extLst>
          </p:cNvPr>
          <p:cNvSpPr txBox="1"/>
          <p:nvPr/>
        </p:nvSpPr>
        <p:spPr>
          <a:xfrm>
            <a:off x="786501" y="4540882"/>
            <a:ext cx="60944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Caractérisées</a:t>
            </a:r>
            <a:r>
              <a:rPr lang="en-US" b="1" dirty="0"/>
              <a:t> par </a:t>
            </a:r>
            <a:r>
              <a:rPr lang="en-US" b="1" dirty="0" err="1"/>
              <a:t>leur</a:t>
            </a:r>
            <a:r>
              <a:rPr lang="en-US" b="1" dirty="0"/>
              <a:t> </a:t>
            </a:r>
            <a:r>
              <a:rPr lang="en-US" b="1" dirty="0" err="1">
                <a:solidFill>
                  <a:srgbClr val="FA960A"/>
                </a:solidFill>
              </a:rPr>
              <a:t>spectre</a:t>
            </a:r>
            <a:r>
              <a:rPr lang="en-US" b="1" dirty="0">
                <a:solidFill>
                  <a:srgbClr val="FA960A"/>
                </a:solidFill>
              </a:rPr>
              <a:t> </a:t>
            </a:r>
            <a:r>
              <a:rPr lang="en-US" b="1" dirty="0" err="1">
                <a:solidFill>
                  <a:srgbClr val="FA960A"/>
                </a:solidFill>
              </a:rPr>
              <a:t>d’émission</a:t>
            </a:r>
            <a:endParaRPr lang="en-US" dirty="0">
              <a:solidFill>
                <a:srgbClr val="FA960A"/>
              </a:solidFill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8CD513AE-2F1E-EB11-3A7E-3236BFC9441D}"/>
              </a:ext>
            </a:extLst>
          </p:cNvPr>
          <p:cNvSpPr txBox="1"/>
          <p:nvPr/>
        </p:nvSpPr>
        <p:spPr>
          <a:xfrm>
            <a:off x="7104114" y="2292440"/>
            <a:ext cx="40324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Diffusent</a:t>
            </a:r>
            <a:r>
              <a:rPr lang="en-US" b="1" dirty="0"/>
              <a:t> la lumière </a:t>
            </a:r>
            <a:r>
              <a:rPr lang="en-US" b="1" dirty="0" err="1"/>
              <a:t>produite</a:t>
            </a:r>
            <a:r>
              <a:rPr lang="en-US" b="1" dirty="0"/>
              <a:t> par </a:t>
            </a:r>
            <a:r>
              <a:rPr lang="en-US" b="1" dirty="0" err="1"/>
              <a:t>une</a:t>
            </a:r>
            <a:r>
              <a:rPr lang="en-US" b="1" dirty="0"/>
              <a:t> source </a:t>
            </a:r>
            <a:r>
              <a:rPr lang="en-US" b="1" dirty="0" err="1"/>
              <a:t>primaire</a:t>
            </a:r>
            <a:endParaRPr lang="en-US" dirty="0"/>
          </a:p>
        </p:txBody>
      </p:sp>
      <p:pic>
        <p:nvPicPr>
          <p:cNvPr id="24" name="Graphique 23" descr="Ampoule et engrenage avec un remplissage uni">
            <a:extLst>
              <a:ext uri="{FF2B5EF4-FFF2-40B4-BE49-F238E27FC236}">
                <a16:creationId xmlns:a16="http://schemas.microsoft.com/office/drawing/2014/main" id="{08F50BE7-CC5D-8DC3-DB29-0E64E91741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93585" y="2963361"/>
            <a:ext cx="1222534" cy="1222534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6B092EFE-C545-B281-A553-485FF2D8D092}"/>
              </a:ext>
            </a:extLst>
          </p:cNvPr>
          <p:cNvSpPr txBox="1"/>
          <p:nvPr/>
        </p:nvSpPr>
        <p:spPr>
          <a:xfrm>
            <a:off x="7104114" y="4521747"/>
            <a:ext cx="60944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Caractérisées</a:t>
            </a:r>
            <a:r>
              <a:rPr lang="en-US" b="1" dirty="0"/>
              <a:t> par le </a:t>
            </a:r>
            <a:r>
              <a:rPr lang="en-US" b="1" dirty="0" err="1">
                <a:solidFill>
                  <a:srgbClr val="FA960A"/>
                </a:solidFill>
              </a:rPr>
              <a:t>spectre</a:t>
            </a:r>
            <a:r>
              <a:rPr lang="en-US" b="1" dirty="0">
                <a:solidFill>
                  <a:srgbClr val="FA960A"/>
                </a:solidFill>
              </a:rPr>
              <a:t> de </a:t>
            </a:r>
            <a:r>
              <a:rPr lang="en-US" b="1" dirty="0" err="1">
                <a:solidFill>
                  <a:srgbClr val="FA960A"/>
                </a:solidFill>
              </a:rPr>
              <a:t>l’illuminant</a:t>
            </a:r>
            <a:r>
              <a:rPr lang="en-US" b="1" dirty="0">
                <a:solidFill>
                  <a:srgbClr val="FA960A"/>
                </a:solidFill>
              </a:rPr>
              <a:t> </a:t>
            </a:r>
            <a:br>
              <a:rPr lang="en-US" b="1" dirty="0">
                <a:solidFill>
                  <a:srgbClr val="FA960A"/>
                </a:solidFill>
              </a:rPr>
            </a:br>
            <a:r>
              <a:rPr lang="en-US" b="1" dirty="0"/>
              <a:t>et </a:t>
            </a:r>
            <a:r>
              <a:rPr lang="en-US" b="1" dirty="0" err="1"/>
              <a:t>leur</a:t>
            </a:r>
            <a:r>
              <a:rPr lang="en-US" b="1" dirty="0"/>
              <a:t> </a:t>
            </a:r>
            <a:r>
              <a:rPr lang="en-US" b="1" dirty="0" err="1">
                <a:solidFill>
                  <a:srgbClr val="FA960A"/>
                </a:solidFill>
              </a:rPr>
              <a:t>spectre</a:t>
            </a:r>
            <a:r>
              <a:rPr lang="en-US" b="1" dirty="0">
                <a:solidFill>
                  <a:srgbClr val="FA960A"/>
                </a:solidFill>
              </a:rPr>
              <a:t> </a:t>
            </a:r>
            <a:r>
              <a:rPr lang="en-US" b="1" dirty="0" err="1">
                <a:solidFill>
                  <a:srgbClr val="FA960A"/>
                </a:solidFill>
              </a:rPr>
              <a:t>en</a:t>
            </a:r>
            <a:r>
              <a:rPr lang="en-US" b="1" dirty="0">
                <a:solidFill>
                  <a:srgbClr val="FA960A"/>
                </a:solidFill>
              </a:rPr>
              <a:t> </a:t>
            </a:r>
            <a:r>
              <a:rPr lang="en-US" b="1" dirty="0" err="1">
                <a:solidFill>
                  <a:srgbClr val="FA960A"/>
                </a:solidFill>
              </a:rPr>
              <a:t>réflectance</a:t>
            </a:r>
            <a:endParaRPr lang="en-US" dirty="0">
              <a:solidFill>
                <a:srgbClr val="FA960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3808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6161A-48F6-AD08-0527-CD549994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1DD99F-5B10-28C3-6E7F-E0E4A05C7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Sources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496383-5764-C743-27F7-12C742D8AF3E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749F6D34-478B-337C-69A1-A02B68AEBE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AE18266-95D9-AA8E-8F3A-702A0EFC1F49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09219433-E08D-A966-256D-7C2BFD51DB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72155E70-8F4A-F76F-3EFD-8751A0E20C2D}"/>
              </a:ext>
            </a:extLst>
          </p:cNvPr>
          <p:cNvSpPr txBox="1"/>
          <p:nvPr/>
        </p:nvSpPr>
        <p:spPr>
          <a:xfrm>
            <a:off x="335360" y="6530860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Source </a:t>
            </a:r>
            <a:r>
              <a:rPr lang="fr-FR" sz="1200" b="0" u="none" strike="noStrike" baseline="0" dirty="0" err="1">
                <a:solidFill>
                  <a:srgbClr val="231F20"/>
                </a:solidFill>
                <a:latin typeface="Calibri-Italic"/>
              </a:rPr>
              <a:t>Effilux</a:t>
            </a:r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 Ring RGB</a:t>
            </a:r>
            <a:endParaRPr lang="fr-FR" sz="1200" dirty="0"/>
          </a:p>
        </p:txBody>
      </p:sp>
      <p:sp>
        <p:nvSpPr>
          <p:cNvPr id="19" name="Flèche : pentagone 18">
            <a:extLst>
              <a:ext uri="{FF2B5EF4-FFF2-40B4-BE49-F238E27FC236}">
                <a16:creationId xmlns:a16="http://schemas.microsoft.com/office/drawing/2014/main" id="{02ECDD3A-7BBB-207A-9BF5-851025673817}"/>
              </a:ext>
            </a:extLst>
          </p:cNvPr>
          <p:cNvSpPr/>
          <p:nvPr/>
        </p:nvSpPr>
        <p:spPr>
          <a:xfrm>
            <a:off x="509310" y="1894096"/>
            <a:ext cx="3368674" cy="312860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Spectre d’émission</a:t>
            </a:r>
          </a:p>
        </p:txBody>
      </p:sp>
      <p:sp>
        <p:nvSpPr>
          <p:cNvPr id="20" name="Flèche : pentagone 19">
            <a:extLst>
              <a:ext uri="{FF2B5EF4-FFF2-40B4-BE49-F238E27FC236}">
                <a16:creationId xmlns:a16="http://schemas.microsoft.com/office/drawing/2014/main" id="{077F5A0B-1109-A4EA-41D6-90CB99ACB067}"/>
              </a:ext>
            </a:extLst>
          </p:cNvPr>
          <p:cNvSpPr/>
          <p:nvPr/>
        </p:nvSpPr>
        <p:spPr>
          <a:xfrm>
            <a:off x="6831782" y="1891372"/>
            <a:ext cx="3368674" cy="312860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Réflectance</a:t>
            </a:r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7B09538C-E9B1-B81F-FBE5-7D3A9C4C8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400" y="2665856"/>
            <a:ext cx="4569998" cy="3406103"/>
          </a:xfrm>
          <a:prstGeom prst="rect">
            <a:avLst/>
          </a:prstGeom>
        </p:spPr>
      </p:pic>
      <p:pic>
        <p:nvPicPr>
          <p:cNvPr id="31" name="Image 30" descr="Une image contenant texte, ligne, Tracé, diagramme&#10;&#10;Le contenu généré par l’IA peut être incorrect.">
            <a:extLst>
              <a:ext uri="{FF2B5EF4-FFF2-40B4-BE49-F238E27FC236}">
                <a16:creationId xmlns:a16="http://schemas.microsoft.com/office/drawing/2014/main" id="{7AA9DAA1-25C0-8B78-92A9-F92581BF36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6955" y="2324527"/>
            <a:ext cx="4956825" cy="3717619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B9440627-1614-E859-C0E9-CC941F3135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3319" y="1366443"/>
            <a:ext cx="1007295" cy="1049857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1B3EAA6B-CCAA-9341-E529-1CF6FC4517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9214" y="1510405"/>
            <a:ext cx="1459498" cy="107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291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025D1-980F-66FB-2861-11C98C848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1BEDA5-FB63-3C5D-68A4-5DEB9C98C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Eclairage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384C2E-EF23-48A4-A9AD-D49F80EECACE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479D099-541C-6E94-FF40-C83885DB3E0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CDF1084-4663-CF2D-4CA3-3E459293D53D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EC18883-F262-4A58-B4EE-6EAA581A3D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DCB72CC-3A39-81E9-2C01-E25B4C895289}"/>
              </a:ext>
            </a:extLst>
          </p:cNvPr>
          <p:cNvSpPr txBox="1"/>
          <p:nvPr/>
        </p:nvSpPr>
        <p:spPr>
          <a:xfrm>
            <a:off x="6816080" y="1166533"/>
            <a:ext cx="51638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Impact du type d’éclairage / Nature des objets</a:t>
            </a:r>
            <a:endParaRPr lang="fr-FR" dirty="0">
              <a:latin typeface="+mj-lt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D6328F9A-674D-812E-FEFB-1D23AED7544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935760" y="4209214"/>
            <a:ext cx="6532210" cy="17536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A1B84280-08F0-B7F6-CF89-5B6F1591C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2205" y="4353230"/>
            <a:ext cx="1601196" cy="13216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0BD274B7-8F34-9E06-E8A2-A99B7547BF4D}"/>
              </a:ext>
            </a:extLst>
          </p:cNvPr>
          <p:cNvSpPr txBox="1"/>
          <p:nvPr/>
        </p:nvSpPr>
        <p:spPr>
          <a:xfrm>
            <a:off x="4149909" y="5818868"/>
            <a:ext cx="11521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Directif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8FE33EB-8F14-598A-C3B4-39A99C461B2B}"/>
              </a:ext>
            </a:extLst>
          </p:cNvPr>
          <p:cNvSpPr txBox="1"/>
          <p:nvPr/>
        </p:nvSpPr>
        <p:spPr>
          <a:xfrm>
            <a:off x="5878101" y="5793606"/>
            <a:ext cx="11521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Diffus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EA88C79-FC19-FB50-1521-DE60B87CBAFA}"/>
              </a:ext>
            </a:extLst>
          </p:cNvPr>
          <p:cNvSpPr txBox="1"/>
          <p:nvPr/>
        </p:nvSpPr>
        <p:spPr>
          <a:xfrm>
            <a:off x="7390269" y="5793606"/>
            <a:ext cx="11521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Rasant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60D9510E-EA91-5291-2757-EFCAC1429A29}"/>
              </a:ext>
            </a:extLst>
          </p:cNvPr>
          <p:cNvSpPr txBox="1"/>
          <p:nvPr/>
        </p:nvSpPr>
        <p:spPr>
          <a:xfrm>
            <a:off x="9055273" y="5793606"/>
            <a:ext cx="11521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Coaxial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125549C9-0D8B-BB27-B75C-3A2D641C646D}"/>
              </a:ext>
            </a:extLst>
          </p:cNvPr>
          <p:cNvSpPr txBox="1"/>
          <p:nvPr/>
        </p:nvSpPr>
        <p:spPr>
          <a:xfrm>
            <a:off x="10550152" y="5793606"/>
            <a:ext cx="11521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Retro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2F615E3-DDBB-4614-9057-29AE6621153A}"/>
              </a:ext>
            </a:extLst>
          </p:cNvPr>
          <p:cNvSpPr txBox="1"/>
          <p:nvPr/>
        </p:nvSpPr>
        <p:spPr>
          <a:xfrm>
            <a:off x="335360" y="6530860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Cours Eclairage / Martin Dufour - </a:t>
            </a:r>
            <a:r>
              <a:rPr lang="fr-FR" sz="1200" b="0" u="none" strike="noStrike" baseline="0" dirty="0" err="1">
                <a:solidFill>
                  <a:srgbClr val="231F20"/>
                </a:solidFill>
                <a:latin typeface="Calibri-Italic"/>
              </a:rPr>
              <a:t>Effilux</a:t>
            </a:r>
            <a:endParaRPr lang="fr-FR" sz="1200" dirty="0"/>
          </a:p>
        </p:txBody>
      </p:sp>
      <p:pic>
        <p:nvPicPr>
          <p:cNvPr id="13" name="Image 12" descr="Une image contenant Graphique, capture d’écran, graphisme, obscurité&#10;&#10;Description générée automatiquement">
            <a:extLst>
              <a:ext uri="{FF2B5EF4-FFF2-40B4-BE49-F238E27FC236}">
                <a16:creationId xmlns:a16="http://schemas.microsoft.com/office/drawing/2014/main" id="{19F1C6EF-72B5-E54C-172E-8F15D0D007B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95" y="1251135"/>
            <a:ext cx="4970667" cy="3601013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1CCF15DE-753E-19F7-04C0-7BAA5118C1CE}"/>
              </a:ext>
            </a:extLst>
          </p:cNvPr>
          <p:cNvSpPr txBox="1"/>
          <p:nvPr/>
        </p:nvSpPr>
        <p:spPr>
          <a:xfrm>
            <a:off x="646275" y="1560907"/>
            <a:ext cx="10910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Transmission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7D6287A-C92B-AFAF-8230-3C2F7B2A95C9}"/>
              </a:ext>
            </a:extLst>
          </p:cNvPr>
          <p:cNvSpPr txBox="1"/>
          <p:nvPr/>
        </p:nvSpPr>
        <p:spPr>
          <a:xfrm>
            <a:off x="2048265" y="1560907"/>
            <a:ext cx="8226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Réflexion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8CEB15D-177F-C049-BEA2-0BC074D8DA49}"/>
              </a:ext>
            </a:extLst>
          </p:cNvPr>
          <p:cNvSpPr txBox="1"/>
          <p:nvPr/>
        </p:nvSpPr>
        <p:spPr>
          <a:xfrm>
            <a:off x="3126575" y="1560907"/>
            <a:ext cx="7782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Diffusion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417687E8-3B67-D1B1-A874-07301DFFAEEB}"/>
              </a:ext>
            </a:extLst>
          </p:cNvPr>
          <p:cNvSpPr txBox="1"/>
          <p:nvPr/>
        </p:nvSpPr>
        <p:spPr>
          <a:xfrm>
            <a:off x="4148121" y="1560906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Absorption</a:t>
            </a:r>
          </a:p>
        </p:txBody>
      </p:sp>
    </p:spTree>
    <p:extLst>
      <p:ext uri="{BB962C8B-B14F-4D97-AF65-F5344CB8AC3E}">
        <p14:creationId xmlns:p14="http://schemas.microsoft.com/office/powerpoint/2010/main" val="3946010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F60C-F54D-2AFF-51F8-E0D5FB82C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78C84A-C85E-740E-174C-887B34B2A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Eclairage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3C788A-855A-51D9-FB9C-EF5DC54B271D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188F65DB-3873-6934-3A6A-138AE2DA82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884BBF0-12E0-D592-50A1-80642C7025A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D01EDCA9-8620-5F89-BAB1-F8270084AD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662891E-55FD-12DB-AB7B-DE83A8DE66C5}"/>
              </a:ext>
            </a:extLst>
          </p:cNvPr>
          <p:cNvSpPr txBox="1"/>
          <p:nvPr/>
        </p:nvSpPr>
        <p:spPr>
          <a:xfrm>
            <a:off x="7896200" y="1166533"/>
            <a:ext cx="40837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Uniformité de l’éclairage</a:t>
            </a:r>
            <a:endParaRPr lang="fr-FR" dirty="0">
              <a:latin typeface="+mj-lt"/>
            </a:endParaRP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440" y="2016482"/>
            <a:ext cx="4982345" cy="1937578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2877" y="1958405"/>
            <a:ext cx="4982345" cy="1995656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0888" y="4127432"/>
            <a:ext cx="3565736" cy="2730568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4032" y="4407379"/>
            <a:ext cx="5184576" cy="2273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453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09A2D-00B2-F4E2-C4E7-794210151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6EA35C-46BC-E561-6807-648F0B95E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Colorimétrie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0430D9-A01B-B5C6-7399-62994D30399C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D20F0998-D99B-5A46-AF45-AAA6EE2ED5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D0ED3E3-51AF-964F-0DAA-90EDF96A9935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0332F6EA-331E-65BF-8683-06277249A6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CDE7FDC9-F057-9F92-7715-18D8843EC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81" y="2544459"/>
            <a:ext cx="10831437" cy="4124901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E810A114-D26B-2528-9DFD-6222A0448121}"/>
              </a:ext>
            </a:extLst>
          </p:cNvPr>
          <p:cNvSpPr txBox="1"/>
          <p:nvPr/>
        </p:nvSpPr>
        <p:spPr>
          <a:xfrm>
            <a:off x="838287" y="1959684"/>
            <a:ext cx="33843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600" b="0" i="1" u="none" strike="noStrike" baseline="0" dirty="0">
                <a:solidFill>
                  <a:srgbClr val="231F20"/>
                </a:solidFill>
                <a:latin typeface="Calibri-Italic"/>
              </a:rPr>
              <a:t>Image prise par un capteur optique (sans balance des blancs)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2055997D-2CA5-76FE-7DEB-779E5D25735C}"/>
              </a:ext>
            </a:extLst>
          </p:cNvPr>
          <p:cNvSpPr txBox="1"/>
          <p:nvPr/>
        </p:nvSpPr>
        <p:spPr>
          <a:xfrm>
            <a:off x="6600056" y="1955071"/>
            <a:ext cx="60977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600" b="0" i="1" u="none" strike="noStrike" baseline="0" dirty="0">
                <a:solidFill>
                  <a:srgbClr val="231F20"/>
                </a:solidFill>
                <a:latin typeface="Calibri-Italic"/>
              </a:rPr>
              <a:t>Image vue par un humain </a:t>
            </a:r>
            <a:br>
              <a:rPr lang="fr-FR" sz="1600" b="0" i="1" u="none" strike="noStrike" baseline="0" dirty="0">
                <a:solidFill>
                  <a:srgbClr val="231F20"/>
                </a:solidFill>
                <a:latin typeface="Calibri-Italic"/>
              </a:rPr>
            </a:br>
            <a:r>
              <a:rPr lang="fr-FR" sz="1600" b="0" i="1" u="none" strike="noStrike" baseline="0" dirty="0">
                <a:solidFill>
                  <a:srgbClr val="231F20"/>
                </a:solidFill>
                <a:latin typeface="Calibri-Italic"/>
              </a:rPr>
              <a:t>(grâce à l’adaptation chromatique)</a:t>
            </a:r>
            <a:endParaRPr lang="fr-FR" dirty="0"/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D5B5F72B-4B14-7039-0BF0-42DE57300A07}"/>
              </a:ext>
            </a:extLst>
          </p:cNvPr>
          <p:cNvSpPr txBox="1"/>
          <p:nvPr/>
        </p:nvSpPr>
        <p:spPr>
          <a:xfrm>
            <a:off x="335360" y="6530860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Cours Colorimétrie / Mathieu Hebert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62916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C32A6-2664-894D-B9A2-3DDF395B3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2662C9D-1605-BFEC-743C-319FBBC46749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3C74190-0587-E601-7745-2E931F1A4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Objectif optique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479DFBD-1291-B75E-AC68-D0262E21CC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dirty="0">
                <a:latin typeface="+mj-lt"/>
              </a:rPr>
              <a:t>Créer une image exploitable</a:t>
            </a:r>
          </a:p>
          <a:p>
            <a:endParaRPr lang="fr-FR" sz="2000" dirty="0">
              <a:latin typeface="+mj-lt"/>
            </a:endParaRP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AC386C4C-3EA5-8C21-DBBB-2C89F3470C6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7575A2-87BB-7215-7189-87EF34FC339B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7D18E7-6046-4BBA-0F14-E9428ADB31F1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35652C-7CD3-3A1F-820B-46112D78710C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BE31F5-1A36-A017-E452-E6130F7B335C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26E383FD-C7AD-2035-CBCA-8DCB9977C3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71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F20FF-948D-B873-B874-0956BEE49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52A4DA-2F5B-9CA1-9D5F-A19719853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Objectif optique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2A1005-C919-AFB8-CAD1-AAFF037CC24D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F2F70D07-7624-281C-C7DE-E5D5349738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801D950-0C09-2768-320C-23088655B84C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A802D50F-769E-B97D-801D-290CE55847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984C3FA8-5595-7077-754F-12EC14516552}"/>
              </a:ext>
            </a:extLst>
          </p:cNvPr>
          <p:cNvSpPr txBox="1"/>
          <p:nvPr/>
        </p:nvSpPr>
        <p:spPr>
          <a:xfrm>
            <a:off x="335360" y="6530860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Cours optique instrumentale / Sébastien de Rossi</a:t>
            </a:r>
            <a:endParaRPr lang="fr-FR" sz="12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F5E1406-EDA0-49A3-041C-EE667C132072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Créer une image</a:t>
            </a:r>
            <a:endParaRPr lang="fr-FR" dirty="0">
              <a:latin typeface="+mj-lt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9441F4B8-A35B-ABBC-192A-2186AB142E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92" y="1442540"/>
            <a:ext cx="6218918" cy="265101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BF84826-6C51-319F-E98E-F70176BDA4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84" y="4669125"/>
            <a:ext cx="4454603" cy="1625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0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103B3-97EC-3241-AA41-93CB13E6F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C8DED2-5BE6-D9ED-D74E-5A41284E3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Objectif optique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E19581-918A-42F6-D003-A4E30C27FFC8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3A71159-5EE1-9F92-6454-5B720934598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BF33B39-A8A1-FB08-D3CB-8CC0CDAA266F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0B7639E-672C-AF61-22AD-FA6C9D9082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C7AA85F3-94C2-B703-60AF-68396FEABEEA}"/>
              </a:ext>
            </a:extLst>
          </p:cNvPr>
          <p:cNvSpPr txBox="1"/>
          <p:nvPr/>
        </p:nvSpPr>
        <p:spPr>
          <a:xfrm>
            <a:off x="335360" y="6530860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Cours optique instrumentale / Sébastien de Rossi</a:t>
            </a:r>
            <a:endParaRPr lang="fr-FR" sz="12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681FDB-6E0F-C3A7-013D-A4559B66A379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Créer une image</a:t>
            </a:r>
            <a:endParaRPr lang="fr-FR" dirty="0">
              <a:latin typeface="+mj-lt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5FDE02D-901B-DF12-0031-6192DAF7E6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92" y="1442540"/>
            <a:ext cx="6218918" cy="265101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BC90462-E118-4B02-B347-E9B3787517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84" y="4669125"/>
            <a:ext cx="4454603" cy="162542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995497AD-7E90-304E-C1C2-D344F12067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7789" y="4156846"/>
            <a:ext cx="6477934" cy="2651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2094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80D57-E67B-50B2-FC4F-C94975C5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2BDFF6-A89A-98F9-E4DA-90B2E1FD3CF3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39EA32A-2993-2418-86EE-2CC7E08027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Caméra numérique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373FEE-FB83-4213-93D5-B774D8BEFD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Echantillonnage / Quantification</a:t>
            </a:r>
            <a:br>
              <a:rPr lang="fr-FR" sz="2000" dirty="0"/>
            </a:br>
            <a:r>
              <a:rPr lang="fr-FR" sz="2000" dirty="0"/>
              <a:t>Colorimétrie</a:t>
            </a: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57BE30A8-D7ED-1F80-32DE-DF020FF80D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E3237E7-AF20-8903-96E8-90C2225E0FFA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A98076-EB2F-D01A-DE19-2244D977A009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663CE8-292F-B167-1512-61D33A910F66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348EA3-3AD9-C695-FA7D-3DA1720A848F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86BB7B7A-3588-276C-A05C-A0FE832740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0783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B206-62AA-D586-70C9-FB81897E5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3DE7EC-BDF7-E832-149F-022AFF1D0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Caméra numérique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439C03-F464-5F4B-9EC7-5769B8285AC3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D7E3AA74-F277-6180-274C-393F7CBC296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8FA0468-8AB7-C2B8-F33F-B1D7FAD6618C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2FD337D1-A0BB-817D-B9C4-8FDD4449DA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2457327-E5B6-1A4B-2A0B-6712077F00AA}"/>
              </a:ext>
            </a:extLst>
          </p:cNvPr>
          <p:cNvSpPr>
            <a:spLocks/>
          </p:cNvSpPr>
          <p:nvPr/>
        </p:nvSpPr>
        <p:spPr>
          <a:xfrm>
            <a:off x="1007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984958-D011-BC08-553B-FCB8BCB61262}"/>
              </a:ext>
            </a:extLst>
          </p:cNvPr>
          <p:cNvSpPr>
            <a:spLocks/>
          </p:cNvSpPr>
          <p:nvPr/>
        </p:nvSpPr>
        <p:spPr>
          <a:xfrm>
            <a:off x="1223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4B76D4-46BE-9266-8215-13668EBBFC8B}"/>
              </a:ext>
            </a:extLst>
          </p:cNvPr>
          <p:cNvSpPr>
            <a:spLocks/>
          </p:cNvSpPr>
          <p:nvPr/>
        </p:nvSpPr>
        <p:spPr>
          <a:xfrm>
            <a:off x="1439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1343D7D-E174-EED4-D2B4-1C8A3B61E6EC}"/>
              </a:ext>
            </a:extLst>
          </p:cNvPr>
          <p:cNvSpPr>
            <a:spLocks/>
          </p:cNvSpPr>
          <p:nvPr/>
        </p:nvSpPr>
        <p:spPr>
          <a:xfrm>
            <a:off x="1655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C145BC-B6E3-23F8-18DC-753DEE628B62}"/>
              </a:ext>
            </a:extLst>
          </p:cNvPr>
          <p:cNvSpPr>
            <a:spLocks/>
          </p:cNvSpPr>
          <p:nvPr/>
        </p:nvSpPr>
        <p:spPr>
          <a:xfrm>
            <a:off x="1871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E0FAD7E-320D-B1A2-0E76-C64F8A79B245}"/>
              </a:ext>
            </a:extLst>
          </p:cNvPr>
          <p:cNvSpPr>
            <a:spLocks/>
          </p:cNvSpPr>
          <p:nvPr/>
        </p:nvSpPr>
        <p:spPr>
          <a:xfrm>
            <a:off x="2087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CD0D67F-3FC6-C5A7-0883-5CAC93FBFA7C}"/>
              </a:ext>
            </a:extLst>
          </p:cNvPr>
          <p:cNvSpPr>
            <a:spLocks/>
          </p:cNvSpPr>
          <p:nvPr/>
        </p:nvSpPr>
        <p:spPr>
          <a:xfrm>
            <a:off x="1007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1F0752D-A74B-5231-A35F-A53F38010409}"/>
              </a:ext>
            </a:extLst>
          </p:cNvPr>
          <p:cNvSpPr>
            <a:spLocks/>
          </p:cNvSpPr>
          <p:nvPr/>
        </p:nvSpPr>
        <p:spPr>
          <a:xfrm>
            <a:off x="1439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26409DA-2A99-DC2C-F05B-93DBBEF575C6}"/>
              </a:ext>
            </a:extLst>
          </p:cNvPr>
          <p:cNvSpPr>
            <a:spLocks/>
          </p:cNvSpPr>
          <p:nvPr/>
        </p:nvSpPr>
        <p:spPr>
          <a:xfrm>
            <a:off x="1655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D1BD9A9-C54E-AF9F-1573-B7EA30A3A5EF}"/>
              </a:ext>
            </a:extLst>
          </p:cNvPr>
          <p:cNvSpPr>
            <a:spLocks/>
          </p:cNvSpPr>
          <p:nvPr/>
        </p:nvSpPr>
        <p:spPr>
          <a:xfrm>
            <a:off x="1871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35FD5BA-EEF2-3FF6-1435-467847FD1EDA}"/>
              </a:ext>
            </a:extLst>
          </p:cNvPr>
          <p:cNvSpPr>
            <a:spLocks/>
          </p:cNvSpPr>
          <p:nvPr/>
        </p:nvSpPr>
        <p:spPr>
          <a:xfrm>
            <a:off x="2087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98744F2-D6F8-843B-0628-3912AB11A7A9}"/>
              </a:ext>
            </a:extLst>
          </p:cNvPr>
          <p:cNvSpPr>
            <a:spLocks/>
          </p:cNvSpPr>
          <p:nvPr/>
        </p:nvSpPr>
        <p:spPr>
          <a:xfrm>
            <a:off x="1007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9BC057-3DB5-61F4-5294-BE1A62181995}"/>
              </a:ext>
            </a:extLst>
          </p:cNvPr>
          <p:cNvSpPr>
            <a:spLocks/>
          </p:cNvSpPr>
          <p:nvPr/>
        </p:nvSpPr>
        <p:spPr>
          <a:xfrm>
            <a:off x="1223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381C203-4446-7B6F-72BC-68641EFA06CF}"/>
              </a:ext>
            </a:extLst>
          </p:cNvPr>
          <p:cNvSpPr>
            <a:spLocks/>
          </p:cNvSpPr>
          <p:nvPr/>
        </p:nvSpPr>
        <p:spPr>
          <a:xfrm>
            <a:off x="1439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320C30D-EE8C-E933-1D0A-E21EB75761D9}"/>
              </a:ext>
            </a:extLst>
          </p:cNvPr>
          <p:cNvSpPr>
            <a:spLocks/>
          </p:cNvSpPr>
          <p:nvPr/>
        </p:nvSpPr>
        <p:spPr>
          <a:xfrm>
            <a:off x="1655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FA023-121B-AAB5-FC39-270310614D72}"/>
              </a:ext>
            </a:extLst>
          </p:cNvPr>
          <p:cNvSpPr>
            <a:spLocks/>
          </p:cNvSpPr>
          <p:nvPr/>
        </p:nvSpPr>
        <p:spPr>
          <a:xfrm>
            <a:off x="1871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3809743-2F74-3E6D-BD81-F229CF03CBCF}"/>
              </a:ext>
            </a:extLst>
          </p:cNvPr>
          <p:cNvSpPr>
            <a:spLocks/>
          </p:cNvSpPr>
          <p:nvPr/>
        </p:nvSpPr>
        <p:spPr>
          <a:xfrm>
            <a:off x="2087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6688035-0237-4A15-644E-0A2F2C1AFCDC}"/>
              </a:ext>
            </a:extLst>
          </p:cNvPr>
          <p:cNvSpPr>
            <a:spLocks/>
          </p:cNvSpPr>
          <p:nvPr/>
        </p:nvSpPr>
        <p:spPr>
          <a:xfrm>
            <a:off x="1007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364AD8B-675C-A2A1-46A7-FDA54462C50F}"/>
              </a:ext>
            </a:extLst>
          </p:cNvPr>
          <p:cNvSpPr>
            <a:spLocks/>
          </p:cNvSpPr>
          <p:nvPr/>
        </p:nvSpPr>
        <p:spPr>
          <a:xfrm>
            <a:off x="1223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6FF080C-CBD3-01AD-1698-2ED69E338A28}"/>
              </a:ext>
            </a:extLst>
          </p:cNvPr>
          <p:cNvSpPr>
            <a:spLocks/>
          </p:cNvSpPr>
          <p:nvPr/>
        </p:nvSpPr>
        <p:spPr>
          <a:xfrm>
            <a:off x="1439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535E331-B478-D83A-989E-B352F7D574F1}"/>
              </a:ext>
            </a:extLst>
          </p:cNvPr>
          <p:cNvSpPr>
            <a:spLocks/>
          </p:cNvSpPr>
          <p:nvPr/>
        </p:nvSpPr>
        <p:spPr>
          <a:xfrm>
            <a:off x="1655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C0BE55A-B0A5-B46C-B6F1-0708FED4DD5C}"/>
              </a:ext>
            </a:extLst>
          </p:cNvPr>
          <p:cNvSpPr>
            <a:spLocks/>
          </p:cNvSpPr>
          <p:nvPr/>
        </p:nvSpPr>
        <p:spPr>
          <a:xfrm>
            <a:off x="1871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70FF4A1-AA38-697D-CEF0-9B01311FB0EF}"/>
              </a:ext>
            </a:extLst>
          </p:cNvPr>
          <p:cNvSpPr>
            <a:spLocks/>
          </p:cNvSpPr>
          <p:nvPr/>
        </p:nvSpPr>
        <p:spPr>
          <a:xfrm>
            <a:off x="2087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4F33680-9CC3-11CD-C6C0-96B04F15B01E}"/>
              </a:ext>
            </a:extLst>
          </p:cNvPr>
          <p:cNvSpPr>
            <a:spLocks/>
          </p:cNvSpPr>
          <p:nvPr/>
        </p:nvSpPr>
        <p:spPr>
          <a:xfrm>
            <a:off x="1223868" y="2180686"/>
            <a:ext cx="216000" cy="2160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88" name="ZoneTexte 3087">
            <a:extLst>
              <a:ext uri="{FF2B5EF4-FFF2-40B4-BE49-F238E27FC236}">
                <a16:creationId xmlns:a16="http://schemas.microsoft.com/office/drawing/2014/main" id="{0630A270-7CC7-32C0-CDE2-7021B2FFAE41}"/>
              </a:ext>
            </a:extLst>
          </p:cNvPr>
          <p:cNvSpPr txBox="1"/>
          <p:nvPr/>
        </p:nvSpPr>
        <p:spPr>
          <a:xfrm>
            <a:off x="8544272" y="6411292"/>
            <a:ext cx="37455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600" b="0" i="1" u="none" strike="noStrike" baseline="0" dirty="0">
                <a:solidFill>
                  <a:srgbClr val="231F20"/>
                </a:solidFill>
                <a:latin typeface="Calibri-Italic"/>
              </a:rPr>
              <a:t>Taille d’un pixel de l’ordre de 2 à 10 um</a:t>
            </a:r>
          </a:p>
        </p:txBody>
      </p:sp>
      <p:sp>
        <p:nvSpPr>
          <p:cNvPr id="3089" name="ZoneTexte 3088">
            <a:extLst>
              <a:ext uri="{FF2B5EF4-FFF2-40B4-BE49-F238E27FC236}">
                <a16:creationId xmlns:a16="http://schemas.microsoft.com/office/drawing/2014/main" id="{748681BD-63BF-3377-7793-DDDD9E3F20D5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Matrice de pixel</a:t>
            </a:r>
            <a:endParaRPr lang="fr-FR" dirty="0">
              <a:latin typeface="+mj-lt"/>
            </a:endParaRPr>
          </a:p>
        </p:txBody>
      </p:sp>
      <p:sp>
        <p:nvSpPr>
          <p:cNvPr id="3090" name="ZoneTexte 3089">
            <a:extLst>
              <a:ext uri="{FF2B5EF4-FFF2-40B4-BE49-F238E27FC236}">
                <a16:creationId xmlns:a16="http://schemas.microsoft.com/office/drawing/2014/main" id="{8FCB2051-2C10-1CF6-6C5E-715808AFBC02}"/>
              </a:ext>
            </a:extLst>
          </p:cNvPr>
          <p:cNvSpPr txBox="1"/>
          <p:nvPr/>
        </p:nvSpPr>
        <p:spPr>
          <a:xfrm>
            <a:off x="7735177" y="2321996"/>
            <a:ext cx="32160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/>
              <a:t>Système qui </a:t>
            </a:r>
            <a:r>
              <a:rPr lang="en-US" dirty="0" err="1"/>
              <a:t>transforme</a:t>
            </a:r>
            <a:r>
              <a:rPr lang="en-US" dirty="0"/>
              <a:t> un </a:t>
            </a:r>
            <a:r>
              <a:rPr lang="en-US" b="1" dirty="0"/>
              <a:t>flux </a:t>
            </a:r>
            <a:r>
              <a:rPr lang="en-US" b="1" dirty="0" err="1"/>
              <a:t>lumineux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un </a:t>
            </a:r>
            <a:r>
              <a:rPr lang="en-US" b="1" dirty="0"/>
              <a:t>signal </a:t>
            </a:r>
            <a:r>
              <a:rPr lang="en-US" b="1" dirty="0" err="1"/>
              <a:t>électrique</a:t>
            </a:r>
            <a:r>
              <a:rPr lang="en-US" b="1" dirty="0"/>
              <a:t> </a:t>
            </a:r>
            <a:r>
              <a:rPr lang="en-US" b="1" dirty="0" err="1"/>
              <a:t>mesurable</a:t>
            </a:r>
            <a:endParaRPr lang="fr-FR" sz="2000" b="1" i="0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3091" name="Rectangle : coins arrondis 3090">
            <a:extLst>
              <a:ext uri="{FF2B5EF4-FFF2-40B4-BE49-F238E27FC236}">
                <a16:creationId xmlns:a16="http://schemas.microsoft.com/office/drawing/2014/main" id="{BEC43049-629B-0B46-8C54-55EF41805FE3}"/>
              </a:ext>
            </a:extLst>
          </p:cNvPr>
          <p:cNvSpPr/>
          <p:nvPr/>
        </p:nvSpPr>
        <p:spPr>
          <a:xfrm>
            <a:off x="7570362" y="1792224"/>
            <a:ext cx="3545710" cy="393192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Camera</a:t>
            </a:r>
          </a:p>
        </p:txBody>
      </p:sp>
      <p:sp>
        <p:nvSpPr>
          <p:cNvPr id="3092" name="Rectangle 3091">
            <a:extLst>
              <a:ext uri="{FF2B5EF4-FFF2-40B4-BE49-F238E27FC236}">
                <a16:creationId xmlns:a16="http://schemas.microsoft.com/office/drawing/2014/main" id="{2F74EAED-3466-AC1D-1EB2-38B4C878F3FF}"/>
              </a:ext>
            </a:extLst>
          </p:cNvPr>
          <p:cNvSpPr/>
          <p:nvPr/>
        </p:nvSpPr>
        <p:spPr>
          <a:xfrm>
            <a:off x="8732083" y="4256120"/>
            <a:ext cx="1222265" cy="106984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Camera</a:t>
            </a:r>
          </a:p>
        </p:txBody>
      </p:sp>
      <p:cxnSp>
        <p:nvCxnSpPr>
          <p:cNvPr id="3093" name="Connecteur droit avec flèche 3092">
            <a:extLst>
              <a:ext uri="{FF2B5EF4-FFF2-40B4-BE49-F238E27FC236}">
                <a16:creationId xmlns:a16="http://schemas.microsoft.com/office/drawing/2014/main" id="{FC9245BA-AD2D-9646-D063-B2ED9EE4CF1E}"/>
              </a:ext>
            </a:extLst>
          </p:cNvPr>
          <p:cNvCxnSpPr>
            <a:cxnSpLocks/>
          </p:cNvCxnSpPr>
          <p:nvPr/>
        </p:nvCxnSpPr>
        <p:spPr>
          <a:xfrm>
            <a:off x="8001000" y="4791044"/>
            <a:ext cx="667075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4" name="Connecteur droit avec flèche 3093">
            <a:extLst>
              <a:ext uri="{FF2B5EF4-FFF2-40B4-BE49-F238E27FC236}">
                <a16:creationId xmlns:a16="http://schemas.microsoft.com/office/drawing/2014/main" id="{277DC107-F919-8F3F-9E1F-6C8D0A5F1AFE}"/>
              </a:ext>
            </a:extLst>
          </p:cNvPr>
          <p:cNvCxnSpPr/>
          <p:nvPr/>
        </p:nvCxnSpPr>
        <p:spPr>
          <a:xfrm>
            <a:off x="10000488" y="4791044"/>
            <a:ext cx="667075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95" name="ZoneTexte 3094">
            <a:extLst>
              <a:ext uri="{FF2B5EF4-FFF2-40B4-BE49-F238E27FC236}">
                <a16:creationId xmlns:a16="http://schemas.microsoft.com/office/drawing/2014/main" id="{D2425751-4CED-2DB3-4ED0-89ABEEA3D296}"/>
              </a:ext>
            </a:extLst>
          </p:cNvPr>
          <p:cNvSpPr txBox="1"/>
          <p:nvPr/>
        </p:nvSpPr>
        <p:spPr>
          <a:xfrm>
            <a:off x="7209135" y="4012830"/>
            <a:ext cx="13418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dirty="0"/>
              <a:t>Flux lumineux</a:t>
            </a:r>
            <a:endParaRPr lang="fr-FR" dirty="0"/>
          </a:p>
        </p:txBody>
      </p:sp>
      <p:sp>
        <p:nvSpPr>
          <p:cNvPr id="3096" name="ZoneTexte 3095">
            <a:extLst>
              <a:ext uri="{FF2B5EF4-FFF2-40B4-BE49-F238E27FC236}">
                <a16:creationId xmlns:a16="http://schemas.microsoft.com/office/drawing/2014/main" id="{47BAE28C-A734-A0CF-4E11-1710D8A9F3EF}"/>
              </a:ext>
            </a:extLst>
          </p:cNvPr>
          <p:cNvSpPr txBox="1"/>
          <p:nvPr/>
        </p:nvSpPr>
        <p:spPr>
          <a:xfrm>
            <a:off x="10155079" y="4102527"/>
            <a:ext cx="12081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/>
              <a:t>Signal électrique</a:t>
            </a:r>
          </a:p>
        </p:txBody>
      </p:sp>
      <p:pic>
        <p:nvPicPr>
          <p:cNvPr id="3074" name="Image 3073">
            <a:extLst>
              <a:ext uri="{FF2B5EF4-FFF2-40B4-BE49-F238E27FC236}">
                <a16:creationId xmlns:a16="http://schemas.microsoft.com/office/drawing/2014/main" id="{EFC551FD-8550-02FC-C01D-F15D3FF80D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163" y="4071061"/>
            <a:ext cx="2035329" cy="1613725"/>
          </a:xfrm>
          <a:prstGeom prst="rect">
            <a:avLst/>
          </a:prstGeom>
        </p:spPr>
      </p:pic>
      <p:sp>
        <p:nvSpPr>
          <p:cNvPr id="3097" name="ZoneTexte 3096">
            <a:extLst>
              <a:ext uri="{FF2B5EF4-FFF2-40B4-BE49-F238E27FC236}">
                <a16:creationId xmlns:a16="http://schemas.microsoft.com/office/drawing/2014/main" id="{D1E498FC-AA85-6627-8997-EF02863D2FD5}"/>
              </a:ext>
            </a:extLst>
          </p:cNvPr>
          <p:cNvSpPr txBox="1"/>
          <p:nvPr/>
        </p:nvSpPr>
        <p:spPr>
          <a:xfrm>
            <a:off x="3892102" y="5651306"/>
            <a:ext cx="19674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0" i="0" u="none" strike="noStrike" baseline="0" dirty="0">
                <a:latin typeface="ArialUnicodeMS"/>
              </a:rPr>
              <a:t>e2v </a:t>
            </a:r>
            <a:r>
              <a:rPr lang="fr-FR" sz="1000" b="0" i="0" u="none" strike="noStrike" baseline="0" dirty="0" err="1">
                <a:latin typeface="ArialUnicodeMS"/>
              </a:rPr>
              <a:t>sensor</a:t>
            </a:r>
            <a:r>
              <a:rPr lang="fr-FR" sz="1000" b="0" i="0" u="none" strike="noStrike" baseline="0" dirty="0">
                <a:latin typeface="ArialUnicodeMS"/>
              </a:rPr>
              <a:t> EV76C560ACT</a:t>
            </a:r>
            <a:endParaRPr lang="fr-FR" sz="2400" dirty="0"/>
          </a:p>
        </p:txBody>
      </p:sp>
      <p:pic>
        <p:nvPicPr>
          <p:cNvPr id="3098" name="Image 3097">
            <a:extLst>
              <a:ext uri="{FF2B5EF4-FFF2-40B4-BE49-F238E27FC236}">
                <a16:creationId xmlns:a16="http://schemas.microsoft.com/office/drawing/2014/main" id="{C2C0B466-FB9F-D3EC-AAC3-90D3F8CBB4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347" y="3972946"/>
            <a:ext cx="1883381" cy="1883381"/>
          </a:xfrm>
          <a:prstGeom prst="rect">
            <a:avLst/>
          </a:prstGeom>
        </p:spPr>
      </p:pic>
      <p:sp>
        <p:nvSpPr>
          <p:cNvPr id="3099" name="ZoneTexte 3098">
            <a:extLst>
              <a:ext uri="{FF2B5EF4-FFF2-40B4-BE49-F238E27FC236}">
                <a16:creationId xmlns:a16="http://schemas.microsoft.com/office/drawing/2014/main" id="{FB34EF36-7D76-1C56-01DF-3ED156409B41}"/>
              </a:ext>
            </a:extLst>
          </p:cNvPr>
          <p:cNvSpPr txBox="1"/>
          <p:nvPr/>
        </p:nvSpPr>
        <p:spPr>
          <a:xfrm>
            <a:off x="829390" y="5856327"/>
            <a:ext cx="15613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0" i="0" u="none" strike="noStrike" baseline="0" dirty="0">
                <a:latin typeface="ArialUnicodeMS"/>
              </a:rPr>
              <a:t>IDS UI-1240SE-C-HQ</a:t>
            </a:r>
            <a:endParaRPr lang="fr-FR" sz="1100" dirty="0"/>
          </a:p>
        </p:txBody>
      </p:sp>
      <p:sp>
        <p:nvSpPr>
          <p:cNvPr id="3100" name="ZoneTexte 3099">
            <a:extLst>
              <a:ext uri="{FF2B5EF4-FFF2-40B4-BE49-F238E27FC236}">
                <a16:creationId xmlns:a16="http://schemas.microsoft.com/office/drawing/2014/main" id="{8F9373CB-F7FC-80F1-BDFD-7446A04AD5B2}"/>
              </a:ext>
            </a:extLst>
          </p:cNvPr>
          <p:cNvSpPr txBox="1"/>
          <p:nvPr/>
        </p:nvSpPr>
        <p:spPr>
          <a:xfrm>
            <a:off x="1007231" y="1623751"/>
            <a:ext cx="8306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Colonnes</a:t>
            </a:r>
          </a:p>
        </p:txBody>
      </p:sp>
      <p:sp>
        <p:nvSpPr>
          <p:cNvPr id="3101" name="ZoneTexte 3100">
            <a:extLst>
              <a:ext uri="{FF2B5EF4-FFF2-40B4-BE49-F238E27FC236}">
                <a16:creationId xmlns:a16="http://schemas.microsoft.com/office/drawing/2014/main" id="{DB7ADBE6-B7BD-D7BA-C592-EA2E12008858}"/>
              </a:ext>
            </a:extLst>
          </p:cNvPr>
          <p:cNvSpPr txBox="1"/>
          <p:nvPr/>
        </p:nvSpPr>
        <p:spPr>
          <a:xfrm rot="16200000">
            <a:off x="492157" y="2251403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Lignes</a:t>
            </a:r>
          </a:p>
        </p:txBody>
      </p:sp>
    </p:spTree>
    <p:extLst>
      <p:ext uri="{BB962C8B-B14F-4D97-AF65-F5344CB8AC3E}">
        <p14:creationId xmlns:p14="http://schemas.microsoft.com/office/powerpoint/2010/main" val="28089226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A64B6-4FD1-0A11-632D-4C7382458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75534B-580B-E3E8-02E8-E73DEA977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Caméra numérique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B82AC3-D67E-1028-FF76-A37E9DAEF18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1314F760-5A18-DFEB-72DE-F809CA9E1D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99C4D38-AC79-DDCA-E2F6-0942385D7BB5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DF8F2ED8-DA85-50A8-E116-A503A941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638D483-E954-241A-A8A9-5942E6B75071}"/>
              </a:ext>
            </a:extLst>
          </p:cNvPr>
          <p:cNvSpPr>
            <a:spLocks/>
          </p:cNvSpPr>
          <p:nvPr/>
        </p:nvSpPr>
        <p:spPr>
          <a:xfrm>
            <a:off x="608161" y="5229200"/>
            <a:ext cx="7271915" cy="134380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3449C0-899A-15EA-3A7A-E42258F8FC9B}"/>
              </a:ext>
            </a:extLst>
          </p:cNvPr>
          <p:cNvSpPr/>
          <p:nvPr/>
        </p:nvSpPr>
        <p:spPr>
          <a:xfrm>
            <a:off x="1586067" y="5502560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Capteur</a:t>
            </a:r>
            <a:endParaRPr lang="fr-FR" sz="1000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687E39DE-13D8-B528-4D0E-F9D792066263}"/>
              </a:ext>
            </a:extLst>
          </p:cNvPr>
          <p:cNvCxnSpPr>
            <a:cxnSpLocks/>
          </p:cNvCxnSpPr>
          <p:nvPr/>
        </p:nvCxnSpPr>
        <p:spPr>
          <a:xfrm>
            <a:off x="1077814" y="5843880"/>
            <a:ext cx="464338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DEFA0D8D-29B5-E9C3-CCFA-88B2D15C9B33}"/>
              </a:ext>
            </a:extLst>
          </p:cNvPr>
          <p:cNvSpPr txBox="1"/>
          <p:nvPr/>
        </p:nvSpPr>
        <p:spPr>
          <a:xfrm>
            <a:off x="613476" y="5363014"/>
            <a:ext cx="9286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/>
              <a:t>Flux Lumineux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3A371BE1-76D4-551F-4F9F-51AD04BA59F5}"/>
              </a:ext>
            </a:extLst>
          </p:cNvPr>
          <p:cNvCxnSpPr>
            <a:cxnSpLocks/>
          </p:cNvCxnSpPr>
          <p:nvPr/>
        </p:nvCxnSpPr>
        <p:spPr>
          <a:xfrm>
            <a:off x="2665822" y="5843879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F08DAA77-2F6D-4581-DE63-4CF4C76139C0}"/>
              </a:ext>
            </a:extLst>
          </p:cNvPr>
          <p:cNvSpPr txBox="1"/>
          <p:nvPr/>
        </p:nvSpPr>
        <p:spPr>
          <a:xfrm>
            <a:off x="2578885" y="5377269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Charges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2DBE66-1B4D-5211-70A5-D2FED2594787}"/>
              </a:ext>
            </a:extLst>
          </p:cNvPr>
          <p:cNvSpPr/>
          <p:nvPr/>
        </p:nvSpPr>
        <p:spPr>
          <a:xfrm>
            <a:off x="3557288" y="5503145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Capacité</a:t>
            </a:r>
            <a:endParaRPr lang="fr-FR" sz="800" dirty="0"/>
          </a:p>
        </p:txBody>
      </p: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B3BD3038-78F2-0EFA-C65D-1E36CF6233CD}"/>
              </a:ext>
            </a:extLst>
          </p:cNvPr>
          <p:cNvCxnSpPr>
            <a:cxnSpLocks/>
          </p:cNvCxnSpPr>
          <p:nvPr/>
        </p:nvCxnSpPr>
        <p:spPr>
          <a:xfrm>
            <a:off x="4628734" y="5843879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A456F6AF-1272-C7A0-3233-888B8C7189EA}"/>
              </a:ext>
            </a:extLst>
          </p:cNvPr>
          <p:cNvSpPr txBox="1"/>
          <p:nvPr/>
        </p:nvSpPr>
        <p:spPr>
          <a:xfrm>
            <a:off x="4544294" y="5402668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Tension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F060F7-85A1-D26D-9B44-E9EE72F13E79}"/>
              </a:ext>
            </a:extLst>
          </p:cNvPr>
          <p:cNvSpPr>
            <a:spLocks/>
          </p:cNvSpPr>
          <p:nvPr/>
        </p:nvSpPr>
        <p:spPr>
          <a:xfrm>
            <a:off x="1007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7D7E7F-0D28-AD07-BFA4-3C257F902ADB}"/>
              </a:ext>
            </a:extLst>
          </p:cNvPr>
          <p:cNvSpPr>
            <a:spLocks/>
          </p:cNvSpPr>
          <p:nvPr/>
        </p:nvSpPr>
        <p:spPr>
          <a:xfrm>
            <a:off x="1223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3BD782-AB86-3336-A5CE-5F4A05FECC0B}"/>
              </a:ext>
            </a:extLst>
          </p:cNvPr>
          <p:cNvSpPr>
            <a:spLocks/>
          </p:cNvSpPr>
          <p:nvPr/>
        </p:nvSpPr>
        <p:spPr>
          <a:xfrm>
            <a:off x="1439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17834C-DB92-C60B-6F55-9D5F5A6B32C8}"/>
              </a:ext>
            </a:extLst>
          </p:cNvPr>
          <p:cNvSpPr>
            <a:spLocks/>
          </p:cNvSpPr>
          <p:nvPr/>
        </p:nvSpPr>
        <p:spPr>
          <a:xfrm>
            <a:off x="1655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038FC5-6DA2-E4CF-9510-A6C815FE2BFC}"/>
              </a:ext>
            </a:extLst>
          </p:cNvPr>
          <p:cNvSpPr>
            <a:spLocks/>
          </p:cNvSpPr>
          <p:nvPr/>
        </p:nvSpPr>
        <p:spPr>
          <a:xfrm>
            <a:off x="1871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0031DE-E938-CBF3-BAD2-C7282D222C73}"/>
              </a:ext>
            </a:extLst>
          </p:cNvPr>
          <p:cNvSpPr>
            <a:spLocks/>
          </p:cNvSpPr>
          <p:nvPr/>
        </p:nvSpPr>
        <p:spPr>
          <a:xfrm>
            <a:off x="2087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F7ADEE7-571D-7256-57DA-4FC0FBEA6F3E}"/>
              </a:ext>
            </a:extLst>
          </p:cNvPr>
          <p:cNvSpPr>
            <a:spLocks/>
          </p:cNvSpPr>
          <p:nvPr/>
        </p:nvSpPr>
        <p:spPr>
          <a:xfrm>
            <a:off x="1007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78EDB6B-BB9B-877B-179B-271AAE896612}"/>
              </a:ext>
            </a:extLst>
          </p:cNvPr>
          <p:cNvSpPr>
            <a:spLocks/>
          </p:cNvSpPr>
          <p:nvPr/>
        </p:nvSpPr>
        <p:spPr>
          <a:xfrm>
            <a:off x="1439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7917429-3B47-C9E3-0504-332D9C459B7A}"/>
              </a:ext>
            </a:extLst>
          </p:cNvPr>
          <p:cNvSpPr>
            <a:spLocks/>
          </p:cNvSpPr>
          <p:nvPr/>
        </p:nvSpPr>
        <p:spPr>
          <a:xfrm>
            <a:off x="1655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AC120D-703B-6D8F-2FDC-31C8D21C71C5}"/>
              </a:ext>
            </a:extLst>
          </p:cNvPr>
          <p:cNvSpPr>
            <a:spLocks/>
          </p:cNvSpPr>
          <p:nvPr/>
        </p:nvSpPr>
        <p:spPr>
          <a:xfrm>
            <a:off x="1871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53914AE-B8AC-F550-14F2-9955C58FDBBA}"/>
              </a:ext>
            </a:extLst>
          </p:cNvPr>
          <p:cNvSpPr>
            <a:spLocks/>
          </p:cNvSpPr>
          <p:nvPr/>
        </p:nvSpPr>
        <p:spPr>
          <a:xfrm>
            <a:off x="2087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B2B0DD-2DFF-BC2F-4D96-1990FA05CE69}"/>
              </a:ext>
            </a:extLst>
          </p:cNvPr>
          <p:cNvSpPr>
            <a:spLocks/>
          </p:cNvSpPr>
          <p:nvPr/>
        </p:nvSpPr>
        <p:spPr>
          <a:xfrm>
            <a:off x="1007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3C14C8E-1701-8721-78E0-AC7D970C59FE}"/>
              </a:ext>
            </a:extLst>
          </p:cNvPr>
          <p:cNvSpPr>
            <a:spLocks/>
          </p:cNvSpPr>
          <p:nvPr/>
        </p:nvSpPr>
        <p:spPr>
          <a:xfrm>
            <a:off x="1223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79A7CBB-1763-EBDB-379D-5F30C3725C2F}"/>
              </a:ext>
            </a:extLst>
          </p:cNvPr>
          <p:cNvSpPr>
            <a:spLocks/>
          </p:cNvSpPr>
          <p:nvPr/>
        </p:nvSpPr>
        <p:spPr>
          <a:xfrm>
            <a:off x="1439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81AE026-1981-4339-0B8D-4EBAECB6A992}"/>
              </a:ext>
            </a:extLst>
          </p:cNvPr>
          <p:cNvSpPr>
            <a:spLocks/>
          </p:cNvSpPr>
          <p:nvPr/>
        </p:nvSpPr>
        <p:spPr>
          <a:xfrm>
            <a:off x="1655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7101D85-0B13-12CB-8DB9-51153A947BD3}"/>
              </a:ext>
            </a:extLst>
          </p:cNvPr>
          <p:cNvSpPr>
            <a:spLocks/>
          </p:cNvSpPr>
          <p:nvPr/>
        </p:nvSpPr>
        <p:spPr>
          <a:xfrm>
            <a:off x="1871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19EEF32-BABE-DAF8-8ACC-B81231D217A7}"/>
              </a:ext>
            </a:extLst>
          </p:cNvPr>
          <p:cNvSpPr>
            <a:spLocks/>
          </p:cNvSpPr>
          <p:nvPr/>
        </p:nvSpPr>
        <p:spPr>
          <a:xfrm>
            <a:off x="2087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39BE4D-1B7F-4BE2-4C71-DFE775304B33}"/>
              </a:ext>
            </a:extLst>
          </p:cNvPr>
          <p:cNvSpPr>
            <a:spLocks/>
          </p:cNvSpPr>
          <p:nvPr/>
        </p:nvSpPr>
        <p:spPr>
          <a:xfrm>
            <a:off x="1007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ACE2642-559C-E1E0-6334-83AFC25F6BE1}"/>
              </a:ext>
            </a:extLst>
          </p:cNvPr>
          <p:cNvSpPr>
            <a:spLocks/>
          </p:cNvSpPr>
          <p:nvPr/>
        </p:nvSpPr>
        <p:spPr>
          <a:xfrm>
            <a:off x="1223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F663618-26AD-222F-F66F-DC4A51465984}"/>
              </a:ext>
            </a:extLst>
          </p:cNvPr>
          <p:cNvSpPr>
            <a:spLocks/>
          </p:cNvSpPr>
          <p:nvPr/>
        </p:nvSpPr>
        <p:spPr>
          <a:xfrm>
            <a:off x="1439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398E890-E036-5D8B-CCBB-DB60CFD2468C}"/>
              </a:ext>
            </a:extLst>
          </p:cNvPr>
          <p:cNvSpPr>
            <a:spLocks/>
          </p:cNvSpPr>
          <p:nvPr/>
        </p:nvSpPr>
        <p:spPr>
          <a:xfrm>
            <a:off x="1655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1B7EBD-BA41-EFC3-8A5B-CD946EA66F80}"/>
              </a:ext>
            </a:extLst>
          </p:cNvPr>
          <p:cNvSpPr>
            <a:spLocks/>
          </p:cNvSpPr>
          <p:nvPr/>
        </p:nvSpPr>
        <p:spPr>
          <a:xfrm>
            <a:off x="1871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8BB6C33-54DC-6689-420D-4F43FA4EB36E}"/>
              </a:ext>
            </a:extLst>
          </p:cNvPr>
          <p:cNvSpPr>
            <a:spLocks/>
          </p:cNvSpPr>
          <p:nvPr/>
        </p:nvSpPr>
        <p:spPr>
          <a:xfrm>
            <a:off x="2087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E9997036-F68D-1B87-B96B-FE92DD2D2FA2}"/>
              </a:ext>
            </a:extLst>
          </p:cNvPr>
          <p:cNvSpPr txBox="1"/>
          <p:nvPr/>
        </p:nvSpPr>
        <p:spPr>
          <a:xfrm>
            <a:off x="1007231" y="1623751"/>
            <a:ext cx="8306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Colonnes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77DC60A3-F77F-4190-EE77-AE1352CFC540}"/>
              </a:ext>
            </a:extLst>
          </p:cNvPr>
          <p:cNvSpPr txBox="1"/>
          <p:nvPr/>
        </p:nvSpPr>
        <p:spPr>
          <a:xfrm rot="16200000">
            <a:off x="492157" y="2251403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Lignes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7151136-F014-0114-C81A-4DBCAC6A78E0}"/>
              </a:ext>
            </a:extLst>
          </p:cNvPr>
          <p:cNvSpPr>
            <a:spLocks/>
          </p:cNvSpPr>
          <p:nvPr/>
        </p:nvSpPr>
        <p:spPr>
          <a:xfrm>
            <a:off x="1223868" y="2180686"/>
            <a:ext cx="216000" cy="2160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Flèche : droite 41">
            <a:extLst>
              <a:ext uri="{FF2B5EF4-FFF2-40B4-BE49-F238E27FC236}">
                <a16:creationId xmlns:a16="http://schemas.microsoft.com/office/drawing/2014/main" id="{C6E6DE07-7572-901D-377A-414F8F41691B}"/>
              </a:ext>
            </a:extLst>
          </p:cNvPr>
          <p:cNvSpPr/>
          <p:nvPr/>
        </p:nvSpPr>
        <p:spPr>
          <a:xfrm rot="19072839">
            <a:off x="889254" y="6157530"/>
            <a:ext cx="438912" cy="306666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Flèche : droite 42">
            <a:extLst>
              <a:ext uri="{FF2B5EF4-FFF2-40B4-BE49-F238E27FC236}">
                <a16:creationId xmlns:a16="http://schemas.microsoft.com/office/drawing/2014/main" id="{4B5543DB-B63C-7FD3-E729-90A978A29D0D}"/>
              </a:ext>
            </a:extLst>
          </p:cNvPr>
          <p:cNvSpPr/>
          <p:nvPr/>
        </p:nvSpPr>
        <p:spPr>
          <a:xfrm rot="19072839">
            <a:off x="2820861" y="6157529"/>
            <a:ext cx="438912" cy="30666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CD42C27-DEAE-1535-8EE0-B8A11B239B27}"/>
              </a:ext>
            </a:extLst>
          </p:cNvPr>
          <p:cNvSpPr/>
          <p:nvPr/>
        </p:nvSpPr>
        <p:spPr>
          <a:xfrm>
            <a:off x="5532628" y="5502559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ADC</a:t>
            </a:r>
            <a:endParaRPr lang="fr-FR" sz="900" dirty="0"/>
          </a:p>
        </p:txBody>
      </p: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D194A4B2-44C0-43DB-FFAC-615DC24DDD71}"/>
              </a:ext>
            </a:extLst>
          </p:cNvPr>
          <p:cNvCxnSpPr>
            <a:cxnSpLocks/>
          </p:cNvCxnSpPr>
          <p:nvPr/>
        </p:nvCxnSpPr>
        <p:spPr>
          <a:xfrm>
            <a:off x="6599270" y="5843878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ZoneTexte 45">
            <a:extLst>
              <a:ext uri="{FF2B5EF4-FFF2-40B4-BE49-F238E27FC236}">
                <a16:creationId xmlns:a16="http://schemas.microsoft.com/office/drawing/2014/main" id="{E1E46AA1-E4FD-7AD3-4844-5E7FB99870F9}"/>
              </a:ext>
            </a:extLst>
          </p:cNvPr>
          <p:cNvSpPr txBox="1"/>
          <p:nvPr/>
        </p:nvSpPr>
        <p:spPr>
          <a:xfrm>
            <a:off x="6567088" y="5282044"/>
            <a:ext cx="131298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Valeur numérique</a:t>
            </a:r>
          </a:p>
        </p:txBody>
      </p: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3AB4D48A-89FF-B143-F234-52D423ACB901}"/>
              </a:ext>
            </a:extLst>
          </p:cNvPr>
          <p:cNvCxnSpPr>
            <a:cxnSpLocks/>
          </p:cNvCxnSpPr>
          <p:nvPr/>
        </p:nvCxnSpPr>
        <p:spPr>
          <a:xfrm flipV="1">
            <a:off x="3249614" y="3212976"/>
            <a:ext cx="0" cy="17103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886E02A5-1EB1-DF4A-D8A5-C5662BE73B14}"/>
              </a:ext>
            </a:extLst>
          </p:cNvPr>
          <p:cNvCxnSpPr>
            <a:cxnSpLocks/>
          </p:cNvCxnSpPr>
          <p:nvPr/>
        </p:nvCxnSpPr>
        <p:spPr>
          <a:xfrm>
            <a:off x="3084380" y="4771801"/>
            <a:ext cx="3441066" cy="50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09BA5AA4-BFA6-CD97-CE5A-28EC5FCD9E7E}"/>
              </a:ext>
            </a:extLst>
          </p:cNvPr>
          <p:cNvCxnSpPr>
            <a:cxnSpLocks/>
          </p:cNvCxnSpPr>
          <p:nvPr/>
        </p:nvCxnSpPr>
        <p:spPr>
          <a:xfrm flipV="1">
            <a:off x="3486434" y="4200338"/>
            <a:ext cx="776047" cy="548964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1E79F010-4E7B-A11D-66BC-FD6EDF7EACE4}"/>
              </a:ext>
            </a:extLst>
          </p:cNvPr>
          <p:cNvCxnSpPr>
            <a:cxnSpLocks/>
          </p:cNvCxnSpPr>
          <p:nvPr/>
        </p:nvCxnSpPr>
        <p:spPr>
          <a:xfrm flipH="1">
            <a:off x="3507561" y="4866122"/>
            <a:ext cx="743878" cy="0"/>
          </a:xfrm>
          <a:prstGeom prst="straightConnector1">
            <a:avLst/>
          </a:prstGeom>
          <a:ln w="28575">
            <a:solidFill>
              <a:srgbClr val="00B0F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>
            <a:extLst>
              <a:ext uri="{FF2B5EF4-FFF2-40B4-BE49-F238E27FC236}">
                <a16:creationId xmlns:a16="http://schemas.microsoft.com/office/drawing/2014/main" id="{500AF326-2CB7-F682-8EA8-80FB17F4ED70}"/>
              </a:ext>
            </a:extLst>
          </p:cNvPr>
          <p:cNvCxnSpPr>
            <a:cxnSpLocks/>
          </p:cNvCxnSpPr>
          <p:nvPr/>
        </p:nvCxnSpPr>
        <p:spPr>
          <a:xfrm flipH="1">
            <a:off x="3477063" y="352004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C66D95D7-D716-E385-BCEA-0FB425E07811}"/>
              </a:ext>
            </a:extLst>
          </p:cNvPr>
          <p:cNvCxnSpPr>
            <a:cxnSpLocks/>
          </p:cNvCxnSpPr>
          <p:nvPr/>
        </p:nvCxnSpPr>
        <p:spPr>
          <a:xfrm flipH="1">
            <a:off x="4266967" y="353150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437B9A8-95F0-FA5D-4000-964105222EF9}"/>
              </a:ext>
            </a:extLst>
          </p:cNvPr>
          <p:cNvCxnSpPr>
            <a:cxnSpLocks/>
          </p:cNvCxnSpPr>
          <p:nvPr/>
        </p:nvCxnSpPr>
        <p:spPr>
          <a:xfrm>
            <a:off x="4262481" y="4200338"/>
            <a:ext cx="475931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Flèche : droite 53">
            <a:extLst>
              <a:ext uri="{FF2B5EF4-FFF2-40B4-BE49-F238E27FC236}">
                <a16:creationId xmlns:a16="http://schemas.microsoft.com/office/drawing/2014/main" id="{745D17B7-C0F1-99CB-0F49-46811A1F97A2}"/>
              </a:ext>
            </a:extLst>
          </p:cNvPr>
          <p:cNvSpPr/>
          <p:nvPr/>
        </p:nvSpPr>
        <p:spPr>
          <a:xfrm rot="19072839">
            <a:off x="4681571" y="6166317"/>
            <a:ext cx="438912" cy="306666"/>
          </a:xfrm>
          <a:prstGeom prst="rightArrow">
            <a:avLst/>
          </a:prstGeom>
          <a:solidFill>
            <a:srgbClr val="FA96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34CB61A9-C480-2D0F-AE0C-723942A34F28}"/>
              </a:ext>
            </a:extLst>
          </p:cNvPr>
          <p:cNvCxnSpPr>
            <a:cxnSpLocks/>
          </p:cNvCxnSpPr>
          <p:nvPr/>
        </p:nvCxnSpPr>
        <p:spPr>
          <a:xfrm flipH="1">
            <a:off x="4738412" y="3544721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E324EAB3-CCDC-8485-233D-820D078FEFAE}"/>
              </a:ext>
            </a:extLst>
          </p:cNvPr>
          <p:cNvCxnSpPr>
            <a:cxnSpLocks/>
          </p:cNvCxnSpPr>
          <p:nvPr/>
        </p:nvCxnSpPr>
        <p:spPr>
          <a:xfrm flipH="1">
            <a:off x="4270045" y="4866122"/>
            <a:ext cx="475462" cy="0"/>
          </a:xfrm>
          <a:prstGeom prst="straightConnector1">
            <a:avLst/>
          </a:prstGeom>
          <a:ln w="28575">
            <a:solidFill>
              <a:srgbClr val="FA960A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ZoneTexte 56">
            <a:extLst>
              <a:ext uri="{FF2B5EF4-FFF2-40B4-BE49-F238E27FC236}">
                <a16:creationId xmlns:a16="http://schemas.microsoft.com/office/drawing/2014/main" id="{FE0FC3EC-F790-6F0D-0973-7716D192CE63}"/>
              </a:ext>
            </a:extLst>
          </p:cNvPr>
          <p:cNvSpPr txBox="1"/>
          <p:nvPr/>
        </p:nvSpPr>
        <p:spPr>
          <a:xfrm>
            <a:off x="3457418" y="3456627"/>
            <a:ext cx="1535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integration</a:t>
            </a:r>
            <a:endParaRPr lang="fr-FR" sz="1050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D2FFD110-DEDA-473E-13D3-7B2F7C41D983}"/>
              </a:ext>
            </a:extLst>
          </p:cNvPr>
          <p:cNvSpPr txBox="1"/>
          <p:nvPr/>
        </p:nvSpPr>
        <p:spPr>
          <a:xfrm>
            <a:off x="4262481" y="3674006"/>
            <a:ext cx="7760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read</a:t>
            </a:r>
            <a:endParaRPr lang="fr-FR" sz="1050" dirty="0"/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31C73632-6FE0-0910-01A0-CE1FDF225F3B}"/>
              </a:ext>
            </a:extLst>
          </p:cNvPr>
          <p:cNvSpPr txBox="1"/>
          <p:nvPr/>
        </p:nvSpPr>
        <p:spPr>
          <a:xfrm rot="16200000">
            <a:off x="4421441" y="3258457"/>
            <a:ext cx="7760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reset</a:t>
            </a:r>
            <a:endParaRPr lang="fr-FR" sz="1050" dirty="0"/>
          </a:p>
        </p:txBody>
      </p: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BD0C96D4-E8DE-78EB-A0C6-B0B59420644E}"/>
              </a:ext>
            </a:extLst>
          </p:cNvPr>
          <p:cNvCxnSpPr>
            <a:cxnSpLocks/>
          </p:cNvCxnSpPr>
          <p:nvPr/>
        </p:nvCxnSpPr>
        <p:spPr>
          <a:xfrm flipH="1">
            <a:off x="4882175" y="353993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CDAA49FD-D998-349A-E336-F2F94D2B1F5B}"/>
              </a:ext>
            </a:extLst>
          </p:cNvPr>
          <p:cNvCxnSpPr>
            <a:cxnSpLocks/>
          </p:cNvCxnSpPr>
          <p:nvPr/>
        </p:nvCxnSpPr>
        <p:spPr>
          <a:xfrm>
            <a:off x="4738412" y="4749302"/>
            <a:ext cx="143763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8F4F7A90-2AA2-67FB-67C2-2F250776CAD6}"/>
              </a:ext>
            </a:extLst>
          </p:cNvPr>
          <p:cNvCxnSpPr>
            <a:cxnSpLocks/>
          </p:cNvCxnSpPr>
          <p:nvPr/>
        </p:nvCxnSpPr>
        <p:spPr>
          <a:xfrm flipV="1">
            <a:off x="4745507" y="4200338"/>
            <a:ext cx="0" cy="559891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B61410B2-4AE7-F54A-6EDB-307065BFCC68}"/>
              </a:ext>
            </a:extLst>
          </p:cNvPr>
          <p:cNvCxnSpPr>
            <a:cxnSpLocks/>
          </p:cNvCxnSpPr>
          <p:nvPr/>
        </p:nvCxnSpPr>
        <p:spPr>
          <a:xfrm flipH="1">
            <a:off x="4901027" y="4867353"/>
            <a:ext cx="743878" cy="0"/>
          </a:xfrm>
          <a:prstGeom prst="straightConnector1">
            <a:avLst/>
          </a:prstGeom>
          <a:ln w="28575">
            <a:solidFill>
              <a:srgbClr val="00B0F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2" name="Connecteur droit 3071">
            <a:extLst>
              <a:ext uri="{FF2B5EF4-FFF2-40B4-BE49-F238E27FC236}">
                <a16:creationId xmlns:a16="http://schemas.microsoft.com/office/drawing/2014/main" id="{400A5C0C-7DBC-3988-DDEB-02B72785EA46}"/>
              </a:ext>
            </a:extLst>
          </p:cNvPr>
          <p:cNvCxnSpPr>
            <a:cxnSpLocks/>
          </p:cNvCxnSpPr>
          <p:nvPr/>
        </p:nvCxnSpPr>
        <p:spPr>
          <a:xfrm flipV="1">
            <a:off x="4890678" y="4208975"/>
            <a:ext cx="776047" cy="548964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3" name="Connecteur droit 3072">
            <a:extLst>
              <a:ext uri="{FF2B5EF4-FFF2-40B4-BE49-F238E27FC236}">
                <a16:creationId xmlns:a16="http://schemas.microsoft.com/office/drawing/2014/main" id="{AB654679-A658-E675-9D96-93A8B714922A}"/>
              </a:ext>
            </a:extLst>
          </p:cNvPr>
          <p:cNvCxnSpPr>
            <a:cxnSpLocks/>
          </p:cNvCxnSpPr>
          <p:nvPr/>
        </p:nvCxnSpPr>
        <p:spPr>
          <a:xfrm flipH="1">
            <a:off x="5662881" y="353150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5" name="Connecteur droit 3074">
            <a:extLst>
              <a:ext uri="{FF2B5EF4-FFF2-40B4-BE49-F238E27FC236}">
                <a16:creationId xmlns:a16="http://schemas.microsoft.com/office/drawing/2014/main" id="{C10710E9-E7C9-FA89-FF11-09280246B33C}"/>
              </a:ext>
            </a:extLst>
          </p:cNvPr>
          <p:cNvCxnSpPr>
            <a:cxnSpLocks/>
          </p:cNvCxnSpPr>
          <p:nvPr/>
        </p:nvCxnSpPr>
        <p:spPr>
          <a:xfrm>
            <a:off x="5663109" y="4208975"/>
            <a:ext cx="475931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6" name="Connecteur droit 3075">
            <a:extLst>
              <a:ext uri="{FF2B5EF4-FFF2-40B4-BE49-F238E27FC236}">
                <a16:creationId xmlns:a16="http://schemas.microsoft.com/office/drawing/2014/main" id="{BF6934C9-9E97-B8AB-EA44-0C175753FB26}"/>
              </a:ext>
            </a:extLst>
          </p:cNvPr>
          <p:cNvCxnSpPr>
            <a:cxnSpLocks/>
          </p:cNvCxnSpPr>
          <p:nvPr/>
        </p:nvCxnSpPr>
        <p:spPr>
          <a:xfrm flipH="1">
            <a:off x="6139040" y="3553358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7" name="Connecteur droit 3076">
            <a:extLst>
              <a:ext uri="{FF2B5EF4-FFF2-40B4-BE49-F238E27FC236}">
                <a16:creationId xmlns:a16="http://schemas.microsoft.com/office/drawing/2014/main" id="{22BA87C7-FBFA-9901-E5DB-D7C4EFD607B2}"/>
              </a:ext>
            </a:extLst>
          </p:cNvPr>
          <p:cNvCxnSpPr>
            <a:cxnSpLocks/>
          </p:cNvCxnSpPr>
          <p:nvPr/>
        </p:nvCxnSpPr>
        <p:spPr>
          <a:xfrm flipH="1">
            <a:off x="6282803" y="3548572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8" name="Connecteur droit 3077">
            <a:extLst>
              <a:ext uri="{FF2B5EF4-FFF2-40B4-BE49-F238E27FC236}">
                <a16:creationId xmlns:a16="http://schemas.microsoft.com/office/drawing/2014/main" id="{0662F184-CA7D-300C-AB13-757DB56E72FE}"/>
              </a:ext>
            </a:extLst>
          </p:cNvPr>
          <p:cNvCxnSpPr>
            <a:cxnSpLocks/>
          </p:cNvCxnSpPr>
          <p:nvPr/>
        </p:nvCxnSpPr>
        <p:spPr>
          <a:xfrm>
            <a:off x="6139040" y="4757939"/>
            <a:ext cx="143763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9" name="Connecteur droit 3078">
            <a:extLst>
              <a:ext uri="{FF2B5EF4-FFF2-40B4-BE49-F238E27FC236}">
                <a16:creationId xmlns:a16="http://schemas.microsoft.com/office/drawing/2014/main" id="{E222D5CE-A90F-17D1-11A3-BA0518C7A2AF}"/>
              </a:ext>
            </a:extLst>
          </p:cNvPr>
          <p:cNvCxnSpPr>
            <a:cxnSpLocks/>
          </p:cNvCxnSpPr>
          <p:nvPr/>
        </p:nvCxnSpPr>
        <p:spPr>
          <a:xfrm flipV="1">
            <a:off x="6146135" y="4208975"/>
            <a:ext cx="0" cy="559891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0" name="Connecteur droit avec flèche 3079">
            <a:extLst>
              <a:ext uri="{FF2B5EF4-FFF2-40B4-BE49-F238E27FC236}">
                <a16:creationId xmlns:a16="http://schemas.microsoft.com/office/drawing/2014/main" id="{2E93F372-3359-5FB8-B892-6D1ED9F1801C}"/>
              </a:ext>
            </a:extLst>
          </p:cNvPr>
          <p:cNvCxnSpPr>
            <a:cxnSpLocks/>
          </p:cNvCxnSpPr>
          <p:nvPr/>
        </p:nvCxnSpPr>
        <p:spPr>
          <a:xfrm flipH="1">
            <a:off x="5663578" y="4866122"/>
            <a:ext cx="475462" cy="0"/>
          </a:xfrm>
          <a:prstGeom prst="straightConnector1">
            <a:avLst/>
          </a:prstGeom>
          <a:ln w="28575">
            <a:solidFill>
              <a:srgbClr val="FA960A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1" name="Connecteur droit avec flèche 3080">
            <a:extLst>
              <a:ext uri="{FF2B5EF4-FFF2-40B4-BE49-F238E27FC236}">
                <a16:creationId xmlns:a16="http://schemas.microsoft.com/office/drawing/2014/main" id="{F7180E6D-261D-6121-9FD7-5B3F5205EC19}"/>
              </a:ext>
            </a:extLst>
          </p:cNvPr>
          <p:cNvCxnSpPr>
            <a:cxnSpLocks/>
          </p:cNvCxnSpPr>
          <p:nvPr/>
        </p:nvCxnSpPr>
        <p:spPr>
          <a:xfrm>
            <a:off x="3084380" y="2760531"/>
            <a:ext cx="3441066" cy="50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2" name="Connecteur droit avec flèche 3081">
            <a:extLst>
              <a:ext uri="{FF2B5EF4-FFF2-40B4-BE49-F238E27FC236}">
                <a16:creationId xmlns:a16="http://schemas.microsoft.com/office/drawing/2014/main" id="{F4293457-6E76-4086-E13A-14F990E08A9D}"/>
              </a:ext>
            </a:extLst>
          </p:cNvPr>
          <p:cNvCxnSpPr>
            <a:cxnSpLocks/>
          </p:cNvCxnSpPr>
          <p:nvPr/>
        </p:nvCxnSpPr>
        <p:spPr>
          <a:xfrm flipV="1">
            <a:off x="3248927" y="1935340"/>
            <a:ext cx="0" cy="9280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3" name="ZoneTexte 3082">
            <a:extLst>
              <a:ext uri="{FF2B5EF4-FFF2-40B4-BE49-F238E27FC236}">
                <a16:creationId xmlns:a16="http://schemas.microsoft.com/office/drawing/2014/main" id="{4FDCDA1F-98EF-C432-A0B7-28393E4A5E9C}"/>
              </a:ext>
            </a:extLst>
          </p:cNvPr>
          <p:cNvSpPr txBox="1"/>
          <p:nvPr/>
        </p:nvSpPr>
        <p:spPr>
          <a:xfrm>
            <a:off x="2665822" y="1643191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Flux</a:t>
            </a:r>
          </a:p>
        </p:txBody>
      </p:sp>
      <p:sp>
        <p:nvSpPr>
          <p:cNvPr id="3084" name="ZoneTexte 3083">
            <a:extLst>
              <a:ext uri="{FF2B5EF4-FFF2-40B4-BE49-F238E27FC236}">
                <a16:creationId xmlns:a16="http://schemas.microsoft.com/office/drawing/2014/main" id="{C4F02D64-6232-96EC-0260-A1D9D747A0B2}"/>
              </a:ext>
            </a:extLst>
          </p:cNvPr>
          <p:cNvSpPr txBox="1"/>
          <p:nvPr/>
        </p:nvSpPr>
        <p:spPr>
          <a:xfrm>
            <a:off x="2639960" y="2917995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Charges</a:t>
            </a:r>
          </a:p>
        </p:txBody>
      </p:sp>
      <p:cxnSp>
        <p:nvCxnSpPr>
          <p:cNvPr id="3085" name="Connecteur droit 3084">
            <a:extLst>
              <a:ext uri="{FF2B5EF4-FFF2-40B4-BE49-F238E27FC236}">
                <a16:creationId xmlns:a16="http://schemas.microsoft.com/office/drawing/2014/main" id="{525D4217-4150-9B83-3AD1-5C35EEFC3082}"/>
              </a:ext>
            </a:extLst>
          </p:cNvPr>
          <p:cNvCxnSpPr>
            <a:cxnSpLocks/>
          </p:cNvCxnSpPr>
          <p:nvPr/>
        </p:nvCxnSpPr>
        <p:spPr>
          <a:xfrm>
            <a:off x="3248468" y="2534032"/>
            <a:ext cx="2962453" cy="0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6" name="ZoneTexte 3085">
            <a:extLst>
              <a:ext uri="{FF2B5EF4-FFF2-40B4-BE49-F238E27FC236}">
                <a16:creationId xmlns:a16="http://schemas.microsoft.com/office/drawing/2014/main" id="{AB51772D-3672-3B11-EF58-A4AA90AA0EEC}"/>
              </a:ext>
            </a:extLst>
          </p:cNvPr>
          <p:cNvSpPr txBox="1"/>
          <p:nvPr/>
        </p:nvSpPr>
        <p:spPr>
          <a:xfrm>
            <a:off x="6309036" y="2812407"/>
            <a:ext cx="959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u="none" strike="noStrike" dirty="0">
                <a:solidFill>
                  <a:prstClr val="black"/>
                </a:solidFill>
                <a:latin typeface="+mj-lt"/>
              </a:rPr>
              <a:t>temps</a:t>
            </a:r>
            <a:endParaRPr lang="fr-FR" sz="1200" dirty="0"/>
          </a:p>
        </p:txBody>
      </p:sp>
      <p:sp>
        <p:nvSpPr>
          <p:cNvPr id="3087" name="ZoneTexte 3086">
            <a:extLst>
              <a:ext uri="{FF2B5EF4-FFF2-40B4-BE49-F238E27FC236}">
                <a16:creationId xmlns:a16="http://schemas.microsoft.com/office/drawing/2014/main" id="{DC6E51AA-46E4-F971-37E9-AB8CDC9AA30C}"/>
              </a:ext>
            </a:extLst>
          </p:cNvPr>
          <p:cNvSpPr txBox="1"/>
          <p:nvPr/>
        </p:nvSpPr>
        <p:spPr>
          <a:xfrm>
            <a:off x="6315314" y="4792595"/>
            <a:ext cx="959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u="none" strike="noStrike" dirty="0">
                <a:solidFill>
                  <a:prstClr val="black"/>
                </a:solidFill>
                <a:latin typeface="+mj-lt"/>
              </a:rPr>
              <a:t>temps</a:t>
            </a:r>
            <a:endParaRPr lang="fr-FR" sz="1200" dirty="0"/>
          </a:p>
        </p:txBody>
      </p:sp>
      <p:sp>
        <p:nvSpPr>
          <p:cNvPr id="3088" name="ZoneTexte 3087">
            <a:extLst>
              <a:ext uri="{FF2B5EF4-FFF2-40B4-BE49-F238E27FC236}">
                <a16:creationId xmlns:a16="http://schemas.microsoft.com/office/drawing/2014/main" id="{D805669E-42FE-E861-E270-72719DDC53AF}"/>
              </a:ext>
            </a:extLst>
          </p:cNvPr>
          <p:cNvSpPr txBox="1"/>
          <p:nvPr/>
        </p:nvSpPr>
        <p:spPr>
          <a:xfrm>
            <a:off x="8544272" y="6411292"/>
            <a:ext cx="37455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600" b="0" i="1" u="none" strike="noStrike" baseline="0" dirty="0">
                <a:solidFill>
                  <a:srgbClr val="231F20"/>
                </a:solidFill>
                <a:latin typeface="Calibri-Italic"/>
              </a:rPr>
              <a:t>Taille d’un pixel de l’ordre de 2 à 10 um</a:t>
            </a:r>
          </a:p>
        </p:txBody>
      </p:sp>
      <p:sp>
        <p:nvSpPr>
          <p:cNvPr id="3089" name="ZoneTexte 3088">
            <a:extLst>
              <a:ext uri="{FF2B5EF4-FFF2-40B4-BE49-F238E27FC236}">
                <a16:creationId xmlns:a16="http://schemas.microsoft.com/office/drawing/2014/main" id="{0DCE63D9-D5A5-A21F-14C5-00E10CB75992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Matrice de pixel</a:t>
            </a:r>
            <a:endParaRPr lang="fr-FR" dirty="0">
              <a:latin typeface="+mj-lt"/>
            </a:endParaRPr>
          </a:p>
        </p:txBody>
      </p:sp>
      <p:sp>
        <p:nvSpPr>
          <p:cNvPr id="3090" name="ZoneTexte 3089">
            <a:extLst>
              <a:ext uri="{FF2B5EF4-FFF2-40B4-BE49-F238E27FC236}">
                <a16:creationId xmlns:a16="http://schemas.microsoft.com/office/drawing/2014/main" id="{ABADC043-3C46-011E-C1C6-9BDF84117411}"/>
              </a:ext>
            </a:extLst>
          </p:cNvPr>
          <p:cNvSpPr txBox="1"/>
          <p:nvPr/>
        </p:nvSpPr>
        <p:spPr>
          <a:xfrm>
            <a:off x="7735177" y="2321996"/>
            <a:ext cx="32160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/>
              <a:t>Système qui </a:t>
            </a:r>
            <a:r>
              <a:rPr lang="en-US" dirty="0" err="1"/>
              <a:t>transforme</a:t>
            </a:r>
            <a:r>
              <a:rPr lang="en-US" dirty="0"/>
              <a:t> un </a:t>
            </a:r>
            <a:r>
              <a:rPr lang="en-US" b="1" dirty="0"/>
              <a:t>flux </a:t>
            </a:r>
            <a:r>
              <a:rPr lang="en-US" b="1" dirty="0" err="1"/>
              <a:t>lumineux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un </a:t>
            </a:r>
            <a:r>
              <a:rPr lang="en-US" b="1" dirty="0"/>
              <a:t>signal </a:t>
            </a:r>
            <a:r>
              <a:rPr lang="en-US" b="1" dirty="0" err="1"/>
              <a:t>électrique</a:t>
            </a:r>
            <a:r>
              <a:rPr lang="en-US" b="1" dirty="0"/>
              <a:t> </a:t>
            </a:r>
            <a:r>
              <a:rPr lang="en-US" b="1" dirty="0" err="1"/>
              <a:t>mesurable</a:t>
            </a:r>
            <a:endParaRPr lang="fr-FR" sz="2000" b="1" i="0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3091" name="Rectangle : coins arrondis 3090">
            <a:extLst>
              <a:ext uri="{FF2B5EF4-FFF2-40B4-BE49-F238E27FC236}">
                <a16:creationId xmlns:a16="http://schemas.microsoft.com/office/drawing/2014/main" id="{4E6CE2AB-AFF5-3DF4-1D94-D02E1B8CB2C0}"/>
              </a:ext>
            </a:extLst>
          </p:cNvPr>
          <p:cNvSpPr/>
          <p:nvPr/>
        </p:nvSpPr>
        <p:spPr>
          <a:xfrm>
            <a:off x="7570362" y="1792224"/>
            <a:ext cx="3545710" cy="393192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Camera</a:t>
            </a:r>
          </a:p>
        </p:txBody>
      </p:sp>
      <p:sp>
        <p:nvSpPr>
          <p:cNvPr id="3092" name="Rectangle 3091">
            <a:extLst>
              <a:ext uri="{FF2B5EF4-FFF2-40B4-BE49-F238E27FC236}">
                <a16:creationId xmlns:a16="http://schemas.microsoft.com/office/drawing/2014/main" id="{26274455-069D-B181-02A4-51F7A742A905}"/>
              </a:ext>
            </a:extLst>
          </p:cNvPr>
          <p:cNvSpPr/>
          <p:nvPr/>
        </p:nvSpPr>
        <p:spPr>
          <a:xfrm>
            <a:off x="8732083" y="4256120"/>
            <a:ext cx="1222265" cy="106984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Camera</a:t>
            </a:r>
          </a:p>
        </p:txBody>
      </p:sp>
      <p:cxnSp>
        <p:nvCxnSpPr>
          <p:cNvPr id="3093" name="Connecteur droit avec flèche 3092">
            <a:extLst>
              <a:ext uri="{FF2B5EF4-FFF2-40B4-BE49-F238E27FC236}">
                <a16:creationId xmlns:a16="http://schemas.microsoft.com/office/drawing/2014/main" id="{2AAA3DEC-E609-FB25-874C-6D43B1D5A662}"/>
              </a:ext>
            </a:extLst>
          </p:cNvPr>
          <p:cNvCxnSpPr>
            <a:cxnSpLocks/>
          </p:cNvCxnSpPr>
          <p:nvPr/>
        </p:nvCxnSpPr>
        <p:spPr>
          <a:xfrm>
            <a:off x="8001000" y="4791044"/>
            <a:ext cx="667075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4" name="Connecteur droit avec flèche 3093">
            <a:extLst>
              <a:ext uri="{FF2B5EF4-FFF2-40B4-BE49-F238E27FC236}">
                <a16:creationId xmlns:a16="http://schemas.microsoft.com/office/drawing/2014/main" id="{BE868459-5F03-02B3-D48F-EB02FACF4E7F}"/>
              </a:ext>
            </a:extLst>
          </p:cNvPr>
          <p:cNvCxnSpPr/>
          <p:nvPr/>
        </p:nvCxnSpPr>
        <p:spPr>
          <a:xfrm>
            <a:off x="10000488" y="4791044"/>
            <a:ext cx="667075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95" name="ZoneTexte 3094">
            <a:extLst>
              <a:ext uri="{FF2B5EF4-FFF2-40B4-BE49-F238E27FC236}">
                <a16:creationId xmlns:a16="http://schemas.microsoft.com/office/drawing/2014/main" id="{07C7369A-C4AA-7E10-9673-E99D2915AA43}"/>
              </a:ext>
            </a:extLst>
          </p:cNvPr>
          <p:cNvSpPr txBox="1"/>
          <p:nvPr/>
        </p:nvSpPr>
        <p:spPr>
          <a:xfrm>
            <a:off x="7209135" y="4012830"/>
            <a:ext cx="13418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dirty="0"/>
              <a:t>Flux lumineux</a:t>
            </a:r>
            <a:endParaRPr lang="fr-FR" dirty="0"/>
          </a:p>
        </p:txBody>
      </p:sp>
      <p:sp>
        <p:nvSpPr>
          <p:cNvPr id="3096" name="ZoneTexte 3095">
            <a:extLst>
              <a:ext uri="{FF2B5EF4-FFF2-40B4-BE49-F238E27FC236}">
                <a16:creationId xmlns:a16="http://schemas.microsoft.com/office/drawing/2014/main" id="{4D84833F-4740-BBD2-F152-49C18087F601}"/>
              </a:ext>
            </a:extLst>
          </p:cNvPr>
          <p:cNvSpPr txBox="1"/>
          <p:nvPr/>
        </p:nvSpPr>
        <p:spPr>
          <a:xfrm>
            <a:off x="10155079" y="4102527"/>
            <a:ext cx="12081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/>
              <a:t>Signal électrique</a:t>
            </a:r>
          </a:p>
        </p:txBody>
      </p:sp>
    </p:spTree>
    <p:extLst>
      <p:ext uri="{BB962C8B-B14F-4D97-AF65-F5344CB8AC3E}">
        <p14:creationId xmlns:p14="http://schemas.microsoft.com/office/powerpoint/2010/main" val="11609756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068F7-24E5-3934-C453-DB309ADCC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3BB2525-5004-148C-4E85-EDCEB318612E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4B472E1-104B-9360-CD3B-9E0E37842D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Méthodes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90F4203-A642-1900-B4B9-F189C9CB6A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Caractérisation / Mesure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66D0B8-BF23-476E-0443-B6C6CA6EF270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F551DF-1DF9-6EEA-B37D-1E68AEC6F7D9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F530FF-C927-7661-0DEB-80400A0FAADE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B93026-A7D9-1BBE-460A-54989E98DB4B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742AE52E-A896-20D8-3544-BBC7386484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5" name="Organigramme : Délai 4">
            <a:extLst>
              <a:ext uri="{FF2B5EF4-FFF2-40B4-BE49-F238E27FC236}">
                <a16:creationId xmlns:a16="http://schemas.microsoft.com/office/drawing/2014/main" id="{CEEF5E3B-7CF5-6832-7823-3925BE54EFB7}"/>
              </a:ext>
            </a:extLst>
          </p:cNvPr>
          <p:cNvSpPr/>
          <p:nvPr/>
        </p:nvSpPr>
        <p:spPr>
          <a:xfrm rot="14645038">
            <a:off x="7089430" y="1908654"/>
            <a:ext cx="607857" cy="737476"/>
          </a:xfrm>
          <a:prstGeom prst="flowChartDelay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b="1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022266BC-6F2E-E5DD-83D7-26EF8DDDB83D}"/>
              </a:ext>
            </a:extLst>
          </p:cNvPr>
          <p:cNvCxnSpPr>
            <a:cxnSpLocks/>
          </p:cNvCxnSpPr>
          <p:nvPr/>
        </p:nvCxnSpPr>
        <p:spPr>
          <a:xfrm>
            <a:off x="7539542" y="2603650"/>
            <a:ext cx="1224136" cy="267078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0C4C897-F6D6-10E4-C502-7B98A159903E}"/>
              </a:ext>
            </a:extLst>
          </p:cNvPr>
          <p:cNvSpPr/>
          <p:nvPr/>
        </p:nvSpPr>
        <p:spPr>
          <a:xfrm>
            <a:off x="8248772" y="5438487"/>
            <a:ext cx="1591397" cy="685799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Ro(</a:t>
            </a:r>
            <a:r>
              <a:rPr lang="el-G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F0D67B6-B1AB-006C-33A5-5C164B987ED0}"/>
              </a:ext>
            </a:extLst>
          </p:cNvPr>
          <p:cNvSpPr txBox="1"/>
          <p:nvPr/>
        </p:nvSpPr>
        <p:spPr>
          <a:xfrm>
            <a:off x="7026750" y="1595751"/>
            <a:ext cx="1147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Source</a:t>
            </a:r>
            <a:endParaRPr lang="fr-FR" sz="1200"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6917DADB-47DB-1C65-953E-B8752889DC14}"/>
              </a:ext>
            </a:extLst>
          </p:cNvPr>
          <p:cNvSpPr txBox="1"/>
          <p:nvPr/>
        </p:nvSpPr>
        <p:spPr>
          <a:xfrm>
            <a:off x="7107494" y="2103784"/>
            <a:ext cx="640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S(</a:t>
            </a:r>
            <a:r>
              <a:rPr lang="el-GR" sz="1800" dirty="0"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6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6140DE0-C07B-E503-B411-ADC1E93AA258}"/>
              </a:ext>
            </a:extLst>
          </p:cNvPr>
          <p:cNvSpPr txBox="1"/>
          <p:nvPr/>
        </p:nvSpPr>
        <p:spPr>
          <a:xfrm>
            <a:off x="7675043" y="5097193"/>
            <a:ext cx="1147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Objet</a:t>
            </a:r>
            <a:endParaRPr lang="fr-FR" sz="1200" dirty="0"/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3F3B353E-F056-D882-0E98-9BB775BDA32F}"/>
              </a:ext>
            </a:extLst>
          </p:cNvPr>
          <p:cNvCxnSpPr>
            <a:cxnSpLocks/>
          </p:cNvCxnSpPr>
          <p:nvPr/>
        </p:nvCxnSpPr>
        <p:spPr>
          <a:xfrm flipV="1">
            <a:off x="9285736" y="4509120"/>
            <a:ext cx="270030" cy="765316"/>
          </a:xfrm>
          <a:prstGeom prst="straightConnector1">
            <a:avLst/>
          </a:prstGeom>
          <a:ln w="57150">
            <a:solidFill>
              <a:srgbClr val="00B05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D7E87A07-71D0-E03A-AFEF-5F5E62D5313B}"/>
              </a:ext>
            </a:extLst>
          </p:cNvPr>
          <p:cNvSpPr/>
          <p:nvPr/>
        </p:nvSpPr>
        <p:spPr>
          <a:xfrm>
            <a:off x="7026750" y="6137709"/>
            <a:ext cx="4973906" cy="330631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>
                <a:solidFill>
                  <a:schemeClr val="tx1"/>
                </a:solidFill>
              </a:rPr>
              <a:t>Rs</a:t>
            </a:r>
            <a:r>
              <a:rPr lang="fr-FR" b="1" dirty="0">
                <a:solidFill>
                  <a:schemeClr val="tx1"/>
                </a:solidFill>
              </a:rPr>
              <a:t>(</a:t>
            </a:r>
            <a:r>
              <a:rPr lang="el-G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63B95240-7E8C-91E2-623B-9B2771FD394E}"/>
              </a:ext>
            </a:extLst>
          </p:cNvPr>
          <p:cNvSpPr txBox="1"/>
          <p:nvPr/>
        </p:nvSpPr>
        <p:spPr>
          <a:xfrm>
            <a:off x="6965813" y="6482290"/>
            <a:ext cx="1147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Scène</a:t>
            </a:r>
            <a:endParaRPr lang="fr-FR" sz="12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B0A801-7F2A-1FCD-52EB-7A0A02C6F5FA}"/>
              </a:ext>
            </a:extLst>
          </p:cNvPr>
          <p:cNvSpPr/>
          <p:nvPr/>
        </p:nvSpPr>
        <p:spPr>
          <a:xfrm>
            <a:off x="10130300" y="1964770"/>
            <a:ext cx="620710" cy="31262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5A32C0F8-CCE9-AE4D-FDA7-04D114BE748D}"/>
              </a:ext>
            </a:extLst>
          </p:cNvPr>
          <p:cNvSpPr txBox="1"/>
          <p:nvPr/>
        </p:nvSpPr>
        <p:spPr>
          <a:xfrm>
            <a:off x="10150002" y="1600485"/>
            <a:ext cx="17820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Image de l’objet</a:t>
            </a:r>
            <a:endParaRPr lang="fr-FR" sz="1200" dirty="0"/>
          </a:p>
        </p:txBody>
      </p: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4507858A-521A-4011-01DF-6C4FC28DC60B}"/>
              </a:ext>
            </a:extLst>
          </p:cNvPr>
          <p:cNvCxnSpPr>
            <a:cxnSpLocks/>
          </p:cNvCxnSpPr>
          <p:nvPr/>
        </p:nvCxnSpPr>
        <p:spPr>
          <a:xfrm flipV="1">
            <a:off x="10041118" y="2374558"/>
            <a:ext cx="270030" cy="765316"/>
          </a:xfrm>
          <a:prstGeom prst="straightConnector1">
            <a:avLst/>
          </a:prstGeom>
          <a:ln w="57150">
            <a:solidFill>
              <a:srgbClr val="00B05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6BFA584E-C302-660C-F999-098579DB5F47}"/>
              </a:ext>
            </a:extLst>
          </p:cNvPr>
          <p:cNvSpPr/>
          <p:nvPr/>
        </p:nvSpPr>
        <p:spPr>
          <a:xfrm rot="11957154">
            <a:off x="9336425" y="3183806"/>
            <a:ext cx="1182052" cy="7091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24" name="Organigramme : Opération manuelle 23">
            <a:extLst>
              <a:ext uri="{FF2B5EF4-FFF2-40B4-BE49-F238E27FC236}">
                <a16:creationId xmlns:a16="http://schemas.microsoft.com/office/drawing/2014/main" id="{1DE55FDF-9BB2-0097-2698-8BD54385E9F2}"/>
              </a:ext>
            </a:extLst>
          </p:cNvPr>
          <p:cNvSpPr/>
          <p:nvPr/>
        </p:nvSpPr>
        <p:spPr>
          <a:xfrm rot="11957154">
            <a:off x="8950387" y="3915171"/>
            <a:ext cx="1528675" cy="543425"/>
          </a:xfrm>
          <a:prstGeom prst="flowChartManualOperation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b="1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BCEA3141-50AA-E926-15E2-D9E996328E37}"/>
              </a:ext>
            </a:extLst>
          </p:cNvPr>
          <p:cNvSpPr txBox="1"/>
          <p:nvPr/>
        </p:nvSpPr>
        <p:spPr>
          <a:xfrm>
            <a:off x="9513703" y="3354807"/>
            <a:ext cx="999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K(</a:t>
            </a:r>
            <a:r>
              <a:rPr lang="el-GR" sz="1800" dirty="0"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sz="16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714CFD85-00DB-AE7C-28B5-4C3225CD1441}"/>
              </a:ext>
            </a:extLst>
          </p:cNvPr>
          <p:cNvSpPr txBox="1"/>
          <p:nvPr/>
        </p:nvSpPr>
        <p:spPr>
          <a:xfrm>
            <a:off x="9248089" y="3977721"/>
            <a:ext cx="9792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g(</a:t>
            </a:r>
            <a:r>
              <a:rPr lang="el-GR" sz="1800" dirty="0"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sz="16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743344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38B1D-5A79-1806-AA37-D0141365D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8CEC0D-203E-9054-1CBC-8EC380FF3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Sources / Objets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A5068E-EE3D-2316-7662-F68F0C270257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39386CFE-4E5B-35E1-D249-0B15E8E905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0279AB-B93E-857B-CABC-54CAC008691B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4ABAED39-0B40-E464-EF04-D871345CAA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3089" name="ZoneTexte 3088">
            <a:extLst>
              <a:ext uri="{FF2B5EF4-FFF2-40B4-BE49-F238E27FC236}">
                <a16:creationId xmlns:a16="http://schemas.microsoft.com/office/drawing/2014/main" id="{314FC329-58BD-451E-DC1A-A09E756F9736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Caractérisation / Mesure</a:t>
            </a:r>
            <a:endParaRPr lang="fr-FR" dirty="0">
              <a:latin typeface="+mj-lt"/>
            </a:endParaRPr>
          </a:p>
        </p:txBody>
      </p:sp>
      <p:sp>
        <p:nvSpPr>
          <p:cNvPr id="3099" name="Flèche : pentagone 3098">
            <a:extLst>
              <a:ext uri="{FF2B5EF4-FFF2-40B4-BE49-F238E27FC236}">
                <a16:creationId xmlns:a16="http://schemas.microsoft.com/office/drawing/2014/main" id="{753E0925-D641-9BCA-72DC-3DFDD2E8183B}"/>
              </a:ext>
            </a:extLst>
          </p:cNvPr>
          <p:cNvSpPr/>
          <p:nvPr/>
        </p:nvSpPr>
        <p:spPr>
          <a:xfrm>
            <a:off x="509310" y="1894096"/>
            <a:ext cx="3368674" cy="312860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Spectre d’émission</a:t>
            </a:r>
          </a:p>
        </p:txBody>
      </p:sp>
      <p:sp>
        <p:nvSpPr>
          <p:cNvPr id="3101" name="Flèche : pentagone 3100">
            <a:extLst>
              <a:ext uri="{FF2B5EF4-FFF2-40B4-BE49-F238E27FC236}">
                <a16:creationId xmlns:a16="http://schemas.microsoft.com/office/drawing/2014/main" id="{3B926CC2-7E5F-6662-8328-61B143F88EDF}"/>
              </a:ext>
            </a:extLst>
          </p:cNvPr>
          <p:cNvSpPr/>
          <p:nvPr/>
        </p:nvSpPr>
        <p:spPr>
          <a:xfrm>
            <a:off x="6831782" y="1891372"/>
            <a:ext cx="3368674" cy="312860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Réflectance</a:t>
            </a:r>
          </a:p>
        </p:txBody>
      </p:sp>
      <p:pic>
        <p:nvPicPr>
          <p:cNvPr id="3103" name="Image 3102">
            <a:extLst>
              <a:ext uri="{FF2B5EF4-FFF2-40B4-BE49-F238E27FC236}">
                <a16:creationId xmlns:a16="http://schemas.microsoft.com/office/drawing/2014/main" id="{D7CAFD2D-7D2E-791E-513D-921709957B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310" y="2309113"/>
            <a:ext cx="1796826" cy="1339207"/>
          </a:xfrm>
          <a:prstGeom prst="rect">
            <a:avLst/>
          </a:prstGeom>
        </p:spPr>
      </p:pic>
      <p:pic>
        <p:nvPicPr>
          <p:cNvPr id="3105" name="Image 3104" descr="Une image contenant texte, ligne, Tracé, diagramme&#10;&#10;Le contenu généré par l’IA peut être incorrect.">
            <a:extLst>
              <a:ext uri="{FF2B5EF4-FFF2-40B4-BE49-F238E27FC236}">
                <a16:creationId xmlns:a16="http://schemas.microsoft.com/office/drawing/2014/main" id="{4A1861CB-C956-ACE0-8246-9694783080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6956" y="2324528"/>
            <a:ext cx="2106434" cy="1579826"/>
          </a:xfrm>
          <a:prstGeom prst="rect">
            <a:avLst/>
          </a:prstGeom>
        </p:spPr>
      </p:pic>
      <p:pic>
        <p:nvPicPr>
          <p:cNvPr id="3107" name="Image 3106">
            <a:extLst>
              <a:ext uri="{FF2B5EF4-FFF2-40B4-BE49-F238E27FC236}">
                <a16:creationId xmlns:a16="http://schemas.microsoft.com/office/drawing/2014/main" id="{32799050-709E-55F1-C22F-B852C5A2F7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2997" y="4065873"/>
            <a:ext cx="698808" cy="728335"/>
          </a:xfrm>
          <a:prstGeom prst="rect">
            <a:avLst/>
          </a:prstGeom>
        </p:spPr>
      </p:pic>
      <p:sp>
        <p:nvSpPr>
          <p:cNvPr id="3111" name="ZoneTexte 3110">
            <a:extLst>
              <a:ext uri="{FF2B5EF4-FFF2-40B4-BE49-F238E27FC236}">
                <a16:creationId xmlns:a16="http://schemas.microsoft.com/office/drawing/2014/main" id="{2FB30446-C1CC-A060-0F61-D2A5DAB9F24E}"/>
              </a:ext>
            </a:extLst>
          </p:cNvPr>
          <p:cNvSpPr txBox="1"/>
          <p:nvPr/>
        </p:nvSpPr>
        <p:spPr>
          <a:xfrm>
            <a:off x="2860636" y="5211143"/>
            <a:ext cx="968233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400" b="1" i="0" u="none" strike="noStrike" baseline="0" dirty="0">
                <a:latin typeface="+mj-lt"/>
              </a:rPr>
              <a:t>Intensité 		</a:t>
            </a:r>
            <a:r>
              <a:rPr lang="fr-FR" sz="1400" b="0" i="0" u="none" strike="noStrike" baseline="0" dirty="0">
                <a:latin typeface="+mj-lt"/>
              </a:rPr>
              <a:t>Système de </a:t>
            </a:r>
            <a:r>
              <a:rPr lang="fr-FR" sz="1400" b="0" i="0" u="none" strike="noStrike" baseline="0" dirty="0" err="1">
                <a:latin typeface="+mj-lt"/>
              </a:rPr>
              <a:t>photodetection</a:t>
            </a:r>
            <a:r>
              <a:rPr lang="fr-FR" sz="1400" b="0" i="0" u="none" strike="noStrike" baseline="0" dirty="0">
                <a:latin typeface="+mj-lt"/>
              </a:rPr>
              <a:t> (photodiode par exemple) ou Luxmètre</a:t>
            </a:r>
          </a:p>
          <a:p>
            <a:pPr algn="l"/>
            <a:r>
              <a:rPr lang="fr-FR" sz="1400" b="1" i="0" u="none" strike="noStrike" baseline="0" dirty="0">
                <a:latin typeface="+mj-lt"/>
              </a:rPr>
              <a:t>Spectre 		</a:t>
            </a:r>
            <a:r>
              <a:rPr lang="fr-FR" sz="1400" b="0" i="0" u="none" strike="noStrike" baseline="0" dirty="0">
                <a:latin typeface="+mj-lt"/>
              </a:rPr>
              <a:t>Spectromètre / </a:t>
            </a:r>
            <a:r>
              <a:rPr lang="fr-FR" sz="1400" b="0" i="0" u="none" strike="noStrike" baseline="0" dirty="0" err="1">
                <a:latin typeface="+mj-lt"/>
              </a:rPr>
              <a:t>Spectro</a:t>
            </a:r>
            <a:r>
              <a:rPr lang="fr-FR" sz="1400" b="0" i="0" u="none" strike="noStrike" baseline="0" dirty="0">
                <a:latin typeface="+mj-lt"/>
              </a:rPr>
              <a:t> colorimètre</a:t>
            </a:r>
          </a:p>
          <a:p>
            <a:pPr algn="l"/>
            <a:r>
              <a:rPr lang="fr-FR" sz="1400" b="1" dirty="0">
                <a:latin typeface="+mj-lt"/>
              </a:rPr>
              <a:t>Réflectance	</a:t>
            </a:r>
            <a:r>
              <a:rPr lang="fr-FR" sz="1400" dirty="0" err="1">
                <a:latin typeface="+mj-lt"/>
              </a:rPr>
              <a:t>Réflectancemètre</a:t>
            </a:r>
            <a:r>
              <a:rPr lang="fr-FR" sz="1400" dirty="0">
                <a:latin typeface="+mj-lt"/>
              </a:rPr>
              <a:t> (</a:t>
            </a:r>
            <a:r>
              <a:rPr lang="fr-FR" sz="1400" i="1" dirty="0">
                <a:latin typeface="+mj-lt"/>
              </a:rPr>
              <a:t>source secondaire</a:t>
            </a:r>
            <a:r>
              <a:rPr lang="fr-FR" sz="1400" dirty="0">
                <a:latin typeface="+mj-lt"/>
              </a:rPr>
              <a:t>)	</a:t>
            </a:r>
          </a:p>
          <a:p>
            <a:pPr algn="l"/>
            <a:endParaRPr lang="fr-FR" sz="1400" b="0" i="0" u="none" strike="noStrike" baseline="0" dirty="0">
              <a:latin typeface="+mj-lt"/>
            </a:endParaRPr>
          </a:p>
          <a:p>
            <a:pPr algn="l"/>
            <a:r>
              <a:rPr lang="fr-FR" sz="1400" b="1" i="0" u="none" strike="noStrike" baseline="0" dirty="0">
                <a:latin typeface="+mj-lt"/>
              </a:rPr>
              <a:t>Directivité 		</a:t>
            </a:r>
            <a:r>
              <a:rPr lang="fr-FR" sz="1400" b="0" i="0" u="none" strike="noStrike" baseline="0" dirty="0">
                <a:latin typeface="+mj-lt"/>
              </a:rPr>
              <a:t>Système de </a:t>
            </a:r>
            <a:r>
              <a:rPr lang="fr-FR" sz="1400" b="0" i="0" u="none" strike="noStrike" baseline="0" dirty="0" err="1">
                <a:latin typeface="+mj-lt"/>
              </a:rPr>
              <a:t>photodetection</a:t>
            </a:r>
            <a:r>
              <a:rPr lang="fr-FR" sz="1400" b="0" i="0" u="none" strike="noStrike" baseline="0" dirty="0">
                <a:latin typeface="+mj-lt"/>
              </a:rPr>
              <a:t> monte sur un système permettant de contrôler l’angle</a:t>
            </a:r>
          </a:p>
          <a:p>
            <a:pPr algn="l"/>
            <a:r>
              <a:rPr lang="fr-FR" sz="1400" b="1" i="0" u="none" strike="noStrike" baseline="0" dirty="0">
                <a:latin typeface="+mj-lt"/>
              </a:rPr>
              <a:t>Uniformité 		</a:t>
            </a:r>
            <a:r>
              <a:rPr lang="fr-FR" sz="1400" b="0" i="0" u="none" strike="noStrike" baseline="0" dirty="0">
                <a:latin typeface="+mj-lt"/>
              </a:rPr>
              <a:t>Image d’un plan </a:t>
            </a:r>
            <a:r>
              <a:rPr lang="fr-FR" sz="1400" dirty="0">
                <a:latin typeface="+mj-lt"/>
              </a:rPr>
              <a:t>é</a:t>
            </a:r>
            <a:r>
              <a:rPr lang="fr-FR" sz="1400" b="0" i="0" u="none" strike="noStrike" baseline="0" dirty="0">
                <a:latin typeface="+mj-lt"/>
              </a:rPr>
              <a:t>claire par la source (camera par exemple et objectif)</a:t>
            </a:r>
          </a:p>
          <a:p>
            <a:pPr algn="l"/>
            <a:r>
              <a:rPr lang="fr-FR" sz="1400" b="1" dirty="0">
                <a:latin typeface="+mj-lt"/>
              </a:rPr>
              <a:t>Etat de surface</a:t>
            </a:r>
            <a:r>
              <a:rPr lang="fr-FR" sz="1400" dirty="0">
                <a:latin typeface="+mj-lt"/>
              </a:rPr>
              <a:t>	Rugosimètre ou Profilomètre optique</a:t>
            </a:r>
          </a:p>
        </p:txBody>
      </p:sp>
      <p:pic>
        <p:nvPicPr>
          <p:cNvPr id="3113" name="Image 3112">
            <a:extLst>
              <a:ext uri="{FF2B5EF4-FFF2-40B4-BE49-F238E27FC236}">
                <a16:creationId xmlns:a16="http://schemas.microsoft.com/office/drawing/2014/main" id="{5D906621-EFBB-84B9-B4DA-4A36A2AF8F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39616" y="2327537"/>
            <a:ext cx="3350791" cy="2585863"/>
          </a:xfrm>
          <a:prstGeom prst="rect">
            <a:avLst/>
          </a:prstGeom>
        </p:spPr>
      </p:pic>
      <p:pic>
        <p:nvPicPr>
          <p:cNvPr id="3115" name="Image 3114">
            <a:extLst>
              <a:ext uri="{FF2B5EF4-FFF2-40B4-BE49-F238E27FC236}">
                <a16:creationId xmlns:a16="http://schemas.microsoft.com/office/drawing/2014/main" id="{21947B57-A690-FB96-6791-5C3E024C05D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0870" y="2630597"/>
            <a:ext cx="3259172" cy="2356098"/>
          </a:xfrm>
          <a:prstGeom prst="rect">
            <a:avLst/>
          </a:prstGeom>
        </p:spPr>
      </p:pic>
      <p:pic>
        <p:nvPicPr>
          <p:cNvPr id="3117" name="Image 3116">
            <a:extLst>
              <a:ext uri="{FF2B5EF4-FFF2-40B4-BE49-F238E27FC236}">
                <a16:creationId xmlns:a16="http://schemas.microsoft.com/office/drawing/2014/main" id="{D6AA6AA8-0CE2-BF71-7CF6-AB51C9FF0D3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9310" y="4034882"/>
            <a:ext cx="1437912" cy="1673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4381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9AA7E-4211-C522-4FB2-BF076C09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08DC1C-21C9-5C07-0379-F973BD946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Objectifs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3ABE73-4D64-CB51-5215-DB763F9622A8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C02349C-ED82-9920-9279-A0D5A85EC67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73C634F-ED71-A295-21E6-4BF09B11F769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3A0F690-BDE8-7255-66AB-0B856022BA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3089" name="ZoneTexte 3088">
            <a:extLst>
              <a:ext uri="{FF2B5EF4-FFF2-40B4-BE49-F238E27FC236}">
                <a16:creationId xmlns:a16="http://schemas.microsoft.com/office/drawing/2014/main" id="{3DD756F2-7668-1234-4660-ABFB2B92A0F4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Caractérisation / Mesure</a:t>
            </a:r>
            <a:endParaRPr lang="fr-FR" dirty="0">
              <a:latin typeface="+mj-lt"/>
            </a:endParaRPr>
          </a:p>
        </p:txBody>
      </p:sp>
      <p:sp>
        <p:nvSpPr>
          <p:cNvPr id="3111" name="ZoneTexte 3110">
            <a:extLst>
              <a:ext uri="{FF2B5EF4-FFF2-40B4-BE49-F238E27FC236}">
                <a16:creationId xmlns:a16="http://schemas.microsoft.com/office/drawing/2014/main" id="{EF254D8C-6343-2711-FBCE-64606F1A7D9B}"/>
              </a:ext>
            </a:extLst>
          </p:cNvPr>
          <p:cNvSpPr txBox="1"/>
          <p:nvPr/>
        </p:nvSpPr>
        <p:spPr>
          <a:xfrm>
            <a:off x="747393" y="5283205"/>
            <a:ext cx="1092782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400" b="1" dirty="0">
                <a:latin typeface="+mj-lt"/>
              </a:rPr>
              <a:t>Focale / Champ de vision </a:t>
            </a:r>
            <a:r>
              <a:rPr lang="fr-FR" sz="1400" dirty="0">
                <a:latin typeface="+mj-lt"/>
              </a:rPr>
              <a:t>	Banc optique de mesure (collimateur et rails de déplacement) - voir TP S5/S6.</a:t>
            </a:r>
          </a:p>
          <a:p>
            <a:pPr algn="l"/>
            <a:r>
              <a:rPr lang="fr-FR" sz="1400" b="1" dirty="0">
                <a:latin typeface="+mj-lt"/>
              </a:rPr>
              <a:t>Spectre</a:t>
            </a:r>
            <a:r>
              <a:rPr lang="fr-FR" sz="1400" dirty="0">
                <a:latin typeface="+mj-lt"/>
              </a:rPr>
              <a:t> 			Spectrocolorimètre</a:t>
            </a:r>
          </a:p>
          <a:p>
            <a:pPr algn="l"/>
            <a:r>
              <a:rPr lang="fr-FR" sz="1400" b="1" dirty="0">
                <a:latin typeface="+mj-lt"/>
              </a:rPr>
              <a:t>Résolution optique / Distorsions</a:t>
            </a:r>
            <a:r>
              <a:rPr lang="fr-FR" sz="1400" dirty="0">
                <a:latin typeface="+mj-lt"/>
              </a:rPr>
              <a:t>	Mires et système d’image.</a:t>
            </a:r>
          </a:p>
          <a:p>
            <a:pPr algn="l"/>
            <a:r>
              <a:rPr lang="fr-FR" sz="1400" b="1" dirty="0">
                <a:latin typeface="+mj-lt"/>
              </a:rPr>
              <a:t>Aberrations / Front d’onde</a:t>
            </a:r>
            <a:r>
              <a:rPr lang="fr-FR" sz="1400" dirty="0">
                <a:latin typeface="+mj-lt"/>
              </a:rPr>
              <a:t>	Interféromètre (Fizeau par exemple).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C53522D-F1A2-83A8-7898-0F31C1594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92" y="1442540"/>
            <a:ext cx="3586017" cy="1528655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08712A69-DB2C-75EC-3D6E-A0B03B7A4440}"/>
              </a:ext>
            </a:extLst>
          </p:cNvPr>
          <p:cNvSpPr txBox="1"/>
          <p:nvPr/>
        </p:nvSpPr>
        <p:spPr>
          <a:xfrm>
            <a:off x="335360" y="6530860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Cours optique instrumentale / Sébastien de Rossi</a:t>
            </a:r>
            <a:endParaRPr lang="fr-FR" sz="1200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D937732E-A8B0-D3BF-2CBD-8BE3545E9F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387" y="2023915"/>
            <a:ext cx="5513221" cy="1911899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E850779B-5591-5647-2126-CF992276F5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7976" y="3174181"/>
            <a:ext cx="2680586" cy="184654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A79D0314-5015-4739-9DA0-D5380E304D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9986" y="4156462"/>
            <a:ext cx="1395607" cy="995501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1BDEB717-923F-0A55-A6E1-017CEBED0A1D}"/>
              </a:ext>
            </a:extLst>
          </p:cNvPr>
          <p:cNvSpPr txBox="1"/>
          <p:nvPr/>
        </p:nvSpPr>
        <p:spPr>
          <a:xfrm>
            <a:off x="5951984" y="6628823"/>
            <a:ext cx="740394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bg1">
                    <a:lumMod val="65000"/>
                  </a:schemeClr>
                </a:solidFill>
                <a:latin typeface="Calibri-Italic"/>
              </a:rPr>
              <a:t>Distorsion : https://www.guide-photo-panoramique.com/visite-virtuelle-360/distorsions-optiques-visite-virtuelle.html</a:t>
            </a:r>
            <a:endParaRPr lang="fr-FR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9" name="Image 18" descr="Photo prise au fisheye circulaire">
            <a:extLst>
              <a:ext uri="{FF2B5EF4-FFF2-40B4-BE49-F238E27FC236}">
                <a16:creationId xmlns:a16="http://schemas.microsoft.com/office/drawing/2014/main" id="{98BA3BC5-54D9-1F5E-2A7C-ED0D0D7BE29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5869" y="4012171"/>
            <a:ext cx="874103" cy="1311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003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405EC-A826-EC6D-55C4-4E5E07916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E0F5709-2192-5660-DE19-0D133898DDEB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D9166C3-CA35-32A9-D474-6F1A6F6B06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Traitement d’image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18A8D8B-0215-8CF0-4D01-85AF8D9DE8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Pré-traitement / Segmentation / Classification</a:t>
            </a: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51EC4A98-337F-88F8-43D4-D7C44BD106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DCF7B6F-0795-01C8-9205-560B68EE3584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EB4C1-C32C-5C8F-51DE-4361F16DF7E5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E7E99A-9869-3A9B-334C-964ABAE2EBEA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D1A35A-167D-8BB2-8E51-39D0F792563C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744736B6-C889-86DA-7344-FCFEAC32CF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4268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176A3E8F-B002-56A0-2F1F-1A0B8E451B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61685C15-7EBD-34CD-26CF-CA73EA18C424}"/>
              </a:ext>
            </a:extLst>
          </p:cNvPr>
          <p:cNvSpPr txBox="1"/>
          <p:nvPr/>
        </p:nvSpPr>
        <p:spPr>
          <a:xfrm>
            <a:off x="323088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brute ‘RAW’ / Caméra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b="1" dirty="0"/>
              <a:t>Bruitée</a:t>
            </a:r>
          </a:p>
          <a:p>
            <a:pPr marL="285750" indent="-285750">
              <a:buFontTx/>
              <a:buChar char="-"/>
            </a:pPr>
            <a:r>
              <a:rPr lang="fr-FR" dirty="0"/>
              <a:t>Mauvais contraste</a:t>
            </a:r>
          </a:p>
          <a:p>
            <a:pPr marL="285750" indent="-285750">
              <a:buFontTx/>
              <a:buChar char="-"/>
            </a:pPr>
            <a:r>
              <a:rPr lang="fr-FR" dirty="0"/>
              <a:t>Eclairage non uniforme</a:t>
            </a:r>
          </a:p>
          <a:p>
            <a:pPr marL="285750" indent="-285750">
              <a:buFontTx/>
              <a:buChar char="-"/>
            </a:pPr>
            <a:r>
              <a:rPr lang="fr-FR" dirty="0"/>
              <a:t>…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68D151D-9DFC-5E4F-BEAC-FE9032BAA8F0}"/>
              </a:ext>
            </a:extLst>
          </p:cNvPr>
          <p:cNvSpPr txBox="1"/>
          <p:nvPr/>
        </p:nvSpPr>
        <p:spPr>
          <a:xfrm>
            <a:off x="8631936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souhaitée / Contours bien définis</a:t>
            </a:r>
            <a:endParaRPr lang="fr-FR" b="1" dirty="0"/>
          </a:p>
          <a:p>
            <a:endParaRPr lang="fr-FR" b="1" dirty="0"/>
          </a:p>
          <a:p>
            <a:pPr marL="285750" indent="-285750">
              <a:buFontTx/>
              <a:buChar char="-"/>
            </a:pPr>
            <a:r>
              <a:rPr lang="fr-FR" dirty="0"/>
              <a:t>Zones homogènes</a:t>
            </a:r>
          </a:p>
          <a:p>
            <a:pPr marL="285750" indent="-285750">
              <a:buFontTx/>
              <a:buChar char="-"/>
            </a:pPr>
            <a:r>
              <a:rPr lang="fr-FR" dirty="0"/>
              <a:t>Transitions nettes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1277343A-1448-38D7-2E14-0AF65D7FC6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7611" y="1704660"/>
            <a:ext cx="2076740" cy="206721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2BE5B496-B2F7-F63A-8D82-02FA88E2C8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0606" y="1637975"/>
            <a:ext cx="2114845" cy="213389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EF5B4F9-C67E-1BA4-0D01-FBBBE79B51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616" y="1704661"/>
            <a:ext cx="2076740" cy="2067213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Objectif</a:t>
            </a:r>
            <a:endParaRPr lang="fr-FR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264094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06682-2326-BAF9-ED5E-40C349EE5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31ACB4-07B5-74D4-EE69-031D4FDA2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A36A83-74BF-AFB8-BF1D-46C39D7D64A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4640E7C-08D8-95CB-4969-A1C95B35257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B0584D9-F03B-8AB7-86E0-C68C164D822C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87ED8E26-0FC9-8B46-A1A6-C01EBF549B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1799342F-1C27-2E46-07AB-E078221312B0}"/>
              </a:ext>
            </a:extLst>
          </p:cNvPr>
          <p:cNvSpPr txBox="1"/>
          <p:nvPr/>
        </p:nvSpPr>
        <p:spPr>
          <a:xfrm>
            <a:off x="323088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brute ‘RAW’ / Caméra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b="1" dirty="0"/>
              <a:t>Bruitée</a:t>
            </a:r>
          </a:p>
          <a:p>
            <a:pPr marL="285750" indent="-285750">
              <a:buFontTx/>
              <a:buChar char="-"/>
            </a:pPr>
            <a:r>
              <a:rPr lang="fr-FR" dirty="0"/>
              <a:t>Mauvais contraste</a:t>
            </a:r>
          </a:p>
          <a:p>
            <a:pPr marL="285750" indent="-285750">
              <a:buFontTx/>
              <a:buChar char="-"/>
            </a:pPr>
            <a:r>
              <a:rPr lang="fr-FR" dirty="0"/>
              <a:t>Eclairage non uniforme</a:t>
            </a:r>
          </a:p>
          <a:p>
            <a:pPr marL="285750" indent="-285750">
              <a:buFontTx/>
              <a:buChar char="-"/>
            </a:pPr>
            <a:r>
              <a:rPr lang="fr-FR" dirty="0"/>
              <a:t>…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FBD9F48-91B7-CB17-31D9-E7D0B15BCC2D}"/>
              </a:ext>
            </a:extLst>
          </p:cNvPr>
          <p:cNvSpPr txBox="1"/>
          <p:nvPr/>
        </p:nvSpPr>
        <p:spPr>
          <a:xfrm>
            <a:off x="8631936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souhaitée / Contours bien définis</a:t>
            </a:r>
            <a:endParaRPr lang="fr-FR" b="1" dirty="0"/>
          </a:p>
          <a:p>
            <a:endParaRPr lang="fr-FR" b="1" dirty="0"/>
          </a:p>
          <a:p>
            <a:pPr marL="285750" indent="-285750">
              <a:buFontTx/>
              <a:buChar char="-"/>
            </a:pPr>
            <a:r>
              <a:rPr lang="fr-FR" dirty="0"/>
              <a:t>Zones homogènes</a:t>
            </a:r>
          </a:p>
          <a:p>
            <a:pPr marL="285750" indent="-285750">
              <a:buFontTx/>
              <a:buChar char="-"/>
            </a:pPr>
            <a:r>
              <a:rPr lang="fr-FR" dirty="0"/>
              <a:t>Transitions nettes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  <p:pic>
        <p:nvPicPr>
          <p:cNvPr id="15" name="Image 14" descr="Une image contenant noir et blanc, monochrome, papier&#10;&#10;Le contenu généré par l’IA peut être incorrect.">
            <a:extLst>
              <a:ext uri="{FF2B5EF4-FFF2-40B4-BE49-F238E27FC236}">
                <a16:creationId xmlns:a16="http://schemas.microsoft.com/office/drawing/2014/main" id="{5106BB0B-A3A6-BB73-2E1A-86C017C623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384" y="1831753"/>
            <a:ext cx="2862487" cy="1916114"/>
          </a:xfrm>
          <a:prstGeom prst="rect">
            <a:avLst/>
          </a:prstGeom>
        </p:spPr>
      </p:pic>
      <p:pic>
        <p:nvPicPr>
          <p:cNvPr id="17" name="Image 16" descr="Une image contenant cercle, Graphique, conception&#10;&#10;Le contenu généré par l’IA peut être incorrect.">
            <a:extLst>
              <a:ext uri="{FF2B5EF4-FFF2-40B4-BE49-F238E27FC236}">
                <a16:creationId xmlns:a16="http://schemas.microsoft.com/office/drawing/2014/main" id="{3144A1E4-3DEA-F203-B578-2D2928054D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598" y="1831753"/>
            <a:ext cx="2850804" cy="1916114"/>
          </a:xfrm>
          <a:prstGeom prst="rect">
            <a:avLst/>
          </a:prstGeom>
        </p:spPr>
      </p:pic>
      <p:pic>
        <p:nvPicPr>
          <p:cNvPr id="19" name="Image 18" descr="Une image contenant croquis, cercle, noir et blanc, Graphique&#10;&#10;Le contenu généré par l’IA peut être incorrect.">
            <a:extLst>
              <a:ext uri="{FF2B5EF4-FFF2-40B4-BE49-F238E27FC236}">
                <a16:creationId xmlns:a16="http://schemas.microsoft.com/office/drawing/2014/main" id="{F394682F-3B77-5FC2-45CE-0769723D19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129" y="1835668"/>
            <a:ext cx="2850915" cy="1912199"/>
          </a:xfrm>
          <a:prstGeom prst="rect">
            <a:avLst/>
          </a:prstGeom>
        </p:spPr>
      </p:pic>
      <p:pic>
        <p:nvPicPr>
          <p:cNvPr id="21" name="Image 20" descr="Une image contenant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id="{9ADE955F-EAB7-683F-0313-8A43582F0F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1981" y="4231633"/>
            <a:ext cx="3698539" cy="2475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916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045FD-D309-1B44-A8FF-493E81606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B6068E-0D0D-8C5B-FF03-4F4D7BB4F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207134-1B65-4224-55BC-C5CD46EBF707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7375FD49-C6E9-89AD-02E6-0AEB56FEFE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DB8FD18-7784-FE2F-7B11-C195B1DCEAB3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0DB0A3E-E49B-C9D9-11D0-A1F6CCCBB5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7DF89AAE-917E-2570-AA6E-C8403187A793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Images numériques</a:t>
            </a:r>
            <a:endParaRPr lang="fr-FR" dirty="0">
              <a:latin typeface="+mj-lt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31E256E-6D69-4F4D-CDFB-572B1746559F}"/>
              </a:ext>
            </a:extLst>
          </p:cNvPr>
          <p:cNvSpPr txBox="1"/>
          <p:nvPr/>
        </p:nvSpPr>
        <p:spPr>
          <a:xfrm>
            <a:off x="432218" y="1866310"/>
            <a:ext cx="46022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/>
              <a:t>Image continue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5787C4C5-E526-E27F-F9D6-1F1393398E8D}"/>
              </a:ext>
            </a:extLst>
          </p:cNvPr>
          <p:cNvSpPr/>
          <p:nvPr/>
        </p:nvSpPr>
        <p:spPr>
          <a:xfrm>
            <a:off x="7570362" y="1792224"/>
            <a:ext cx="3545710" cy="393192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Image numérique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1FC9186-C15C-A296-4F3B-00D0555A316D}"/>
              </a:ext>
            </a:extLst>
          </p:cNvPr>
          <p:cNvSpPr txBox="1"/>
          <p:nvPr/>
        </p:nvSpPr>
        <p:spPr>
          <a:xfrm>
            <a:off x="7735177" y="2321996"/>
            <a:ext cx="321607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 err="1"/>
              <a:t>Représentation</a:t>
            </a:r>
            <a:r>
              <a:rPr lang="en-US" dirty="0"/>
              <a:t> </a:t>
            </a:r>
            <a:r>
              <a:rPr lang="en-US" dirty="0" err="1"/>
              <a:t>d’une</a:t>
            </a:r>
            <a:r>
              <a:rPr lang="en-US" dirty="0"/>
              <a:t> </a:t>
            </a:r>
            <a:r>
              <a:rPr lang="en-US" b="1" dirty="0"/>
              <a:t>image sous </a:t>
            </a:r>
            <a:r>
              <a:rPr lang="en-US" b="1" dirty="0" err="1"/>
              <a:t>forme</a:t>
            </a:r>
            <a:r>
              <a:rPr lang="en-US" b="1" dirty="0"/>
              <a:t> numérique</a:t>
            </a:r>
            <a:endParaRPr lang="en-US" dirty="0"/>
          </a:p>
          <a:p>
            <a:pPr marR="0" algn="just"/>
            <a:endParaRPr lang="en-US" dirty="0"/>
          </a:p>
          <a:p>
            <a:pPr marR="0" algn="just"/>
            <a:endParaRPr lang="en-US" dirty="0"/>
          </a:p>
          <a:p>
            <a:pPr marR="0" algn="just"/>
            <a:r>
              <a:rPr lang="en-US" i="1" dirty="0"/>
              <a:t>Pour </a:t>
            </a:r>
            <a:r>
              <a:rPr lang="en-US" i="1" dirty="0" err="1"/>
              <a:t>être</a:t>
            </a:r>
            <a:r>
              <a:rPr lang="en-US" i="1" dirty="0"/>
              <a:t> </a:t>
            </a:r>
            <a:r>
              <a:rPr lang="en-US" b="1" i="1" dirty="0" err="1"/>
              <a:t>sauvegardée</a:t>
            </a:r>
            <a:r>
              <a:rPr lang="en-US" i="1" dirty="0"/>
              <a:t>, </a:t>
            </a:r>
            <a:r>
              <a:rPr lang="en-US" b="1" i="1" dirty="0" err="1"/>
              <a:t>traitée</a:t>
            </a:r>
            <a:r>
              <a:rPr lang="en-US" i="1" dirty="0"/>
              <a:t> et </a:t>
            </a:r>
            <a:r>
              <a:rPr lang="en-US" b="1" i="1" dirty="0" err="1"/>
              <a:t>affichée</a:t>
            </a:r>
            <a:r>
              <a:rPr lang="en-US" i="1" dirty="0"/>
              <a:t> par des </a:t>
            </a:r>
            <a:r>
              <a:rPr lang="en-US" i="1" dirty="0" err="1"/>
              <a:t>ordinateurs</a:t>
            </a:r>
            <a:r>
              <a:rPr lang="en-US" i="1" dirty="0"/>
              <a:t> </a:t>
            </a:r>
            <a:r>
              <a:rPr lang="en-US" i="1" dirty="0" err="1"/>
              <a:t>ou</a:t>
            </a:r>
            <a:r>
              <a:rPr lang="en-US" i="1" dirty="0"/>
              <a:t> des systems </a:t>
            </a:r>
            <a:r>
              <a:rPr lang="en-US" i="1" dirty="0" err="1"/>
              <a:t>numériques</a:t>
            </a:r>
            <a:r>
              <a:rPr lang="en-US" i="1" dirty="0"/>
              <a:t>.</a:t>
            </a:r>
            <a:endParaRPr lang="fr-FR" sz="1600" b="1" i="1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6DE3917-97F2-DA3E-732B-3BDD6E083812}"/>
              </a:ext>
            </a:extLst>
          </p:cNvPr>
          <p:cNvSpPr txBox="1"/>
          <p:nvPr/>
        </p:nvSpPr>
        <p:spPr>
          <a:xfrm>
            <a:off x="432218" y="4077072"/>
            <a:ext cx="66517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/>
              <a:t>Image numérique : projection sur </a:t>
            </a:r>
            <a:r>
              <a:rPr lang="en-US" dirty="0" err="1"/>
              <a:t>une</a:t>
            </a:r>
            <a:r>
              <a:rPr lang="en-US" dirty="0"/>
              <a:t> </a:t>
            </a:r>
            <a:r>
              <a:rPr lang="en-US" dirty="0" err="1"/>
              <a:t>matrice</a:t>
            </a:r>
            <a:r>
              <a:rPr lang="en-US" dirty="0"/>
              <a:t> </a:t>
            </a:r>
            <a:r>
              <a:rPr lang="en-US" dirty="0" err="1"/>
              <a:t>d’une</a:t>
            </a:r>
            <a:r>
              <a:rPr lang="en-US" dirty="0"/>
              <a:t> image continue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16D15FAA-D6AA-6AB3-70E8-EF0577E93E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65" y="2369440"/>
            <a:ext cx="1656184" cy="1402885"/>
          </a:xfrm>
          <a:prstGeom prst="rect">
            <a:avLst/>
          </a:prstGeom>
        </p:spPr>
      </p:pic>
      <p:pic>
        <p:nvPicPr>
          <p:cNvPr id="18" name="Image 17" descr="Une image contenant vert, Rectangle, carré, capture d’écran&#10;&#10;Le contenu généré par l’IA peut être incorrect.">
            <a:extLst>
              <a:ext uri="{FF2B5EF4-FFF2-40B4-BE49-F238E27FC236}">
                <a16:creationId xmlns:a16="http://schemas.microsoft.com/office/drawing/2014/main" id="{E8C389EA-B26F-1188-AA3D-8669E1227B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440" y="4685832"/>
            <a:ext cx="1656184" cy="1402885"/>
          </a:xfrm>
          <a:prstGeom prst="rect">
            <a:avLst/>
          </a:prstGeom>
        </p:spPr>
      </p:pic>
      <p:pic>
        <p:nvPicPr>
          <p:cNvPr id="19" name="Image 18" descr="Une image contenant pixel, vert, carré, Rectangle&#10;&#10;Le contenu généré par l’IA peut être incorrect.">
            <a:extLst>
              <a:ext uri="{FF2B5EF4-FFF2-40B4-BE49-F238E27FC236}">
                <a16:creationId xmlns:a16="http://schemas.microsoft.com/office/drawing/2014/main" id="{18E2332C-F8AE-298D-E695-90C896A146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3297" y="4685832"/>
            <a:ext cx="1656184" cy="1402885"/>
          </a:xfrm>
          <a:prstGeom prst="rect">
            <a:avLst/>
          </a:prstGeom>
        </p:spPr>
      </p:pic>
      <p:pic>
        <p:nvPicPr>
          <p:cNvPr id="20" name="Image 19" descr="Une image contenant Rectangle, pixel&#10;&#10;Le contenu généré par l’IA peut être incorrect.">
            <a:extLst>
              <a:ext uri="{FF2B5EF4-FFF2-40B4-BE49-F238E27FC236}">
                <a16:creationId xmlns:a16="http://schemas.microsoft.com/office/drawing/2014/main" id="{71510476-BC28-54BB-99E4-4E5616C444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838" y="4685831"/>
            <a:ext cx="1656184" cy="1402885"/>
          </a:xfrm>
          <a:prstGeom prst="rect">
            <a:avLst/>
          </a:prstGeom>
        </p:spPr>
      </p:pic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C13CDA33-D7A6-CD41-7D4E-0ABCE351D0E5}"/>
              </a:ext>
            </a:extLst>
          </p:cNvPr>
          <p:cNvCxnSpPr>
            <a:cxnSpLocks/>
          </p:cNvCxnSpPr>
          <p:nvPr/>
        </p:nvCxnSpPr>
        <p:spPr bwMode="auto">
          <a:xfrm>
            <a:off x="983432" y="5038883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D01FE6F0-8E85-11EA-B297-E77625CB519C}"/>
              </a:ext>
            </a:extLst>
          </p:cNvPr>
          <p:cNvCxnSpPr>
            <a:cxnSpLocks/>
          </p:cNvCxnSpPr>
          <p:nvPr/>
        </p:nvCxnSpPr>
        <p:spPr bwMode="auto">
          <a:xfrm>
            <a:off x="982223" y="5218883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480AC3A8-8D0E-68A3-C1CE-88A0449A771F}"/>
              </a:ext>
            </a:extLst>
          </p:cNvPr>
          <p:cNvCxnSpPr>
            <a:cxnSpLocks/>
          </p:cNvCxnSpPr>
          <p:nvPr/>
        </p:nvCxnSpPr>
        <p:spPr bwMode="auto">
          <a:xfrm>
            <a:off x="982223" y="5387273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A6E42FFD-85C6-DA0A-9C0E-7EBD1C4BBBA9}"/>
              </a:ext>
            </a:extLst>
          </p:cNvPr>
          <p:cNvCxnSpPr>
            <a:cxnSpLocks/>
          </p:cNvCxnSpPr>
          <p:nvPr/>
        </p:nvCxnSpPr>
        <p:spPr bwMode="auto">
          <a:xfrm>
            <a:off x="983432" y="5560883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C80EA1BB-AE00-3C4F-0EE1-35E061F2895D}"/>
              </a:ext>
            </a:extLst>
          </p:cNvPr>
          <p:cNvCxnSpPr>
            <a:cxnSpLocks/>
          </p:cNvCxnSpPr>
          <p:nvPr/>
        </p:nvCxnSpPr>
        <p:spPr bwMode="auto">
          <a:xfrm>
            <a:off x="982223" y="5740883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702F266B-4E16-1153-8A30-618D3409A407}"/>
              </a:ext>
            </a:extLst>
          </p:cNvPr>
          <p:cNvCxnSpPr>
            <a:cxnSpLocks/>
          </p:cNvCxnSpPr>
          <p:nvPr/>
        </p:nvCxnSpPr>
        <p:spPr bwMode="auto">
          <a:xfrm>
            <a:off x="982223" y="5920883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B1D75C21-8136-E797-1372-C91ECFA3D69C}"/>
              </a:ext>
            </a:extLst>
          </p:cNvPr>
          <p:cNvCxnSpPr>
            <a:cxnSpLocks/>
          </p:cNvCxnSpPr>
          <p:nvPr/>
        </p:nvCxnSpPr>
        <p:spPr bwMode="auto">
          <a:xfrm>
            <a:off x="972000" y="4876883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4F8D7556-F200-D2C4-9C91-5C2E90B5D1AC}"/>
              </a:ext>
            </a:extLst>
          </p:cNvPr>
          <p:cNvCxnSpPr>
            <a:cxnSpLocks/>
          </p:cNvCxnSpPr>
          <p:nvPr/>
        </p:nvCxnSpPr>
        <p:spPr bwMode="auto">
          <a:xfrm flipV="1">
            <a:off x="1271464" y="4581129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084D707B-F533-F294-8FC5-F5F2DF38FEC0}"/>
              </a:ext>
            </a:extLst>
          </p:cNvPr>
          <p:cNvCxnSpPr>
            <a:cxnSpLocks/>
          </p:cNvCxnSpPr>
          <p:nvPr/>
        </p:nvCxnSpPr>
        <p:spPr bwMode="auto">
          <a:xfrm flipV="1">
            <a:off x="1487488" y="4581129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4FAAD987-F6A0-56AF-CC48-90230A9E7F96}"/>
              </a:ext>
            </a:extLst>
          </p:cNvPr>
          <p:cNvCxnSpPr>
            <a:cxnSpLocks/>
          </p:cNvCxnSpPr>
          <p:nvPr/>
        </p:nvCxnSpPr>
        <p:spPr bwMode="auto">
          <a:xfrm flipV="1">
            <a:off x="1692000" y="4581129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37018FFE-6621-27C6-35F1-D7AE84E91EB8}"/>
              </a:ext>
            </a:extLst>
          </p:cNvPr>
          <p:cNvCxnSpPr>
            <a:cxnSpLocks/>
          </p:cNvCxnSpPr>
          <p:nvPr/>
        </p:nvCxnSpPr>
        <p:spPr bwMode="auto">
          <a:xfrm flipV="1">
            <a:off x="1890000" y="4584514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99EA1397-E6E0-50BC-092F-8CF0C54D054B}"/>
              </a:ext>
            </a:extLst>
          </p:cNvPr>
          <p:cNvCxnSpPr>
            <a:cxnSpLocks/>
          </p:cNvCxnSpPr>
          <p:nvPr/>
        </p:nvCxnSpPr>
        <p:spPr bwMode="auto">
          <a:xfrm flipV="1">
            <a:off x="2106000" y="4581128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74A5E68D-CB27-5C40-003D-3D213D137278}"/>
              </a:ext>
            </a:extLst>
          </p:cNvPr>
          <p:cNvCxnSpPr>
            <a:cxnSpLocks/>
          </p:cNvCxnSpPr>
          <p:nvPr/>
        </p:nvCxnSpPr>
        <p:spPr bwMode="auto">
          <a:xfrm flipV="1">
            <a:off x="2304000" y="4581128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A23EC8C0-9E5D-DB7A-C623-9882D8C14E9D}"/>
              </a:ext>
            </a:extLst>
          </p:cNvPr>
          <p:cNvCxnSpPr>
            <a:cxnSpLocks/>
          </p:cNvCxnSpPr>
          <p:nvPr/>
        </p:nvCxnSpPr>
        <p:spPr bwMode="auto">
          <a:xfrm flipV="1">
            <a:off x="2520000" y="4598035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73678C21-53BA-0BA3-335F-B6A17D7F6093}"/>
              </a:ext>
            </a:extLst>
          </p:cNvPr>
          <p:cNvCxnSpPr>
            <a:cxnSpLocks/>
          </p:cNvCxnSpPr>
          <p:nvPr/>
        </p:nvCxnSpPr>
        <p:spPr bwMode="auto">
          <a:xfrm>
            <a:off x="974544" y="2720217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3EF4E387-43EF-4674-4377-542ABB72A3D9}"/>
              </a:ext>
            </a:extLst>
          </p:cNvPr>
          <p:cNvCxnSpPr>
            <a:cxnSpLocks/>
          </p:cNvCxnSpPr>
          <p:nvPr/>
        </p:nvCxnSpPr>
        <p:spPr bwMode="auto">
          <a:xfrm>
            <a:off x="973335" y="2900217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D737000-2C40-D986-3F64-30B642FE740D}"/>
              </a:ext>
            </a:extLst>
          </p:cNvPr>
          <p:cNvCxnSpPr>
            <a:cxnSpLocks/>
          </p:cNvCxnSpPr>
          <p:nvPr/>
        </p:nvCxnSpPr>
        <p:spPr bwMode="auto">
          <a:xfrm>
            <a:off x="973335" y="3068607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ACB75947-D5BD-20AE-FEA2-E7E7441C9F10}"/>
              </a:ext>
            </a:extLst>
          </p:cNvPr>
          <p:cNvCxnSpPr>
            <a:cxnSpLocks/>
          </p:cNvCxnSpPr>
          <p:nvPr/>
        </p:nvCxnSpPr>
        <p:spPr bwMode="auto">
          <a:xfrm>
            <a:off x="974544" y="3242217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024A1A49-DC22-68FC-BEDE-E0461F657C67}"/>
              </a:ext>
            </a:extLst>
          </p:cNvPr>
          <p:cNvCxnSpPr>
            <a:cxnSpLocks/>
          </p:cNvCxnSpPr>
          <p:nvPr/>
        </p:nvCxnSpPr>
        <p:spPr bwMode="auto">
          <a:xfrm>
            <a:off x="973335" y="3422217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CF964620-EBE2-8B2C-564A-13E450C9C14A}"/>
              </a:ext>
            </a:extLst>
          </p:cNvPr>
          <p:cNvCxnSpPr>
            <a:cxnSpLocks/>
          </p:cNvCxnSpPr>
          <p:nvPr/>
        </p:nvCxnSpPr>
        <p:spPr bwMode="auto">
          <a:xfrm>
            <a:off x="973335" y="3602217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FF1C8AD-520D-2992-3003-570E23C49CDF}"/>
              </a:ext>
            </a:extLst>
          </p:cNvPr>
          <p:cNvCxnSpPr>
            <a:cxnSpLocks/>
          </p:cNvCxnSpPr>
          <p:nvPr/>
        </p:nvCxnSpPr>
        <p:spPr bwMode="auto">
          <a:xfrm>
            <a:off x="973335" y="2556000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821498C7-ABA1-AF5E-6E52-043C9AB4138D}"/>
              </a:ext>
            </a:extLst>
          </p:cNvPr>
          <p:cNvCxnSpPr>
            <a:cxnSpLocks/>
          </p:cNvCxnSpPr>
          <p:nvPr/>
        </p:nvCxnSpPr>
        <p:spPr bwMode="auto">
          <a:xfrm flipV="1">
            <a:off x="1262576" y="2262463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AB6C04AB-D211-C0DA-2F09-47C02D3A9996}"/>
              </a:ext>
            </a:extLst>
          </p:cNvPr>
          <p:cNvCxnSpPr>
            <a:cxnSpLocks/>
          </p:cNvCxnSpPr>
          <p:nvPr/>
        </p:nvCxnSpPr>
        <p:spPr bwMode="auto">
          <a:xfrm flipV="1">
            <a:off x="1478600" y="2262463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53EB984D-5188-1950-ED21-67974EFEEF41}"/>
              </a:ext>
            </a:extLst>
          </p:cNvPr>
          <p:cNvCxnSpPr>
            <a:cxnSpLocks/>
          </p:cNvCxnSpPr>
          <p:nvPr/>
        </p:nvCxnSpPr>
        <p:spPr bwMode="auto">
          <a:xfrm flipV="1">
            <a:off x="1683112" y="2262463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7B56681F-FF5C-1304-8800-8820DC0A5040}"/>
              </a:ext>
            </a:extLst>
          </p:cNvPr>
          <p:cNvCxnSpPr>
            <a:cxnSpLocks/>
          </p:cNvCxnSpPr>
          <p:nvPr/>
        </p:nvCxnSpPr>
        <p:spPr bwMode="auto">
          <a:xfrm flipV="1">
            <a:off x="1881112" y="2265848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A79CF46C-AB77-7866-25CA-471F512B89C7}"/>
              </a:ext>
            </a:extLst>
          </p:cNvPr>
          <p:cNvCxnSpPr>
            <a:cxnSpLocks/>
          </p:cNvCxnSpPr>
          <p:nvPr/>
        </p:nvCxnSpPr>
        <p:spPr bwMode="auto">
          <a:xfrm flipV="1">
            <a:off x="2097112" y="2262462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3245D140-419C-23C1-D721-A9B7940F90D9}"/>
              </a:ext>
            </a:extLst>
          </p:cNvPr>
          <p:cNvCxnSpPr>
            <a:cxnSpLocks/>
          </p:cNvCxnSpPr>
          <p:nvPr/>
        </p:nvCxnSpPr>
        <p:spPr bwMode="auto">
          <a:xfrm flipV="1">
            <a:off x="2295112" y="2262462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E72A30A-0647-F871-AE43-7DA842333948}"/>
              </a:ext>
            </a:extLst>
          </p:cNvPr>
          <p:cNvCxnSpPr>
            <a:cxnSpLocks/>
          </p:cNvCxnSpPr>
          <p:nvPr/>
        </p:nvCxnSpPr>
        <p:spPr bwMode="auto">
          <a:xfrm flipV="1">
            <a:off x="2511112" y="2279369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54DC4B98-16CE-8BF4-8F22-8B18869BA1F8}"/>
              </a:ext>
            </a:extLst>
          </p:cNvPr>
          <p:cNvSpPr txBox="1"/>
          <p:nvPr/>
        </p:nvSpPr>
        <p:spPr>
          <a:xfrm>
            <a:off x="1390935" y="6365438"/>
            <a:ext cx="9649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ctr"/>
            <a:r>
              <a:rPr lang="en-US" sz="1200" dirty="0"/>
              <a:t>8 x 8 grid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34EFC22-054A-E21A-4D96-D85094B22A57}"/>
              </a:ext>
            </a:extLst>
          </p:cNvPr>
          <p:cNvSpPr txBox="1"/>
          <p:nvPr/>
        </p:nvSpPr>
        <p:spPr>
          <a:xfrm>
            <a:off x="3579321" y="6368176"/>
            <a:ext cx="12241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ctr"/>
            <a:r>
              <a:rPr lang="en-US" sz="1200" dirty="0"/>
              <a:t>16 x 16 grid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B0CB0EFD-AC7E-BC3F-AF9C-5651C4788DF5}"/>
              </a:ext>
            </a:extLst>
          </p:cNvPr>
          <p:cNvSpPr txBox="1"/>
          <p:nvPr/>
        </p:nvSpPr>
        <p:spPr>
          <a:xfrm>
            <a:off x="5859862" y="6365438"/>
            <a:ext cx="12241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ctr"/>
            <a:r>
              <a:rPr lang="en-US" sz="1200" dirty="0"/>
              <a:t>32 x 32 grid</a:t>
            </a:r>
          </a:p>
        </p:txBody>
      </p:sp>
    </p:spTree>
    <p:extLst>
      <p:ext uri="{BB962C8B-B14F-4D97-AF65-F5344CB8AC3E}">
        <p14:creationId xmlns:p14="http://schemas.microsoft.com/office/powerpoint/2010/main" val="6037746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02AFD-A25B-584A-BFC9-F8BC718B3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3F14A0-E4CE-90A8-2EF6-80F5D466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C9B7BE-AFA1-01B9-4B13-70D475E6F12D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AF7D1FCF-DD8A-9395-7C87-29B73C9845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8D7859-D310-FCFE-5FBF-57DF44FC18FF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32E8AAE5-293F-C30A-209C-9A89CFEB19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761D34DC-2BCB-AD0C-A8B1-1715170334A0}"/>
              </a:ext>
            </a:extLst>
          </p:cNvPr>
          <p:cNvSpPr txBox="1"/>
          <p:nvPr/>
        </p:nvSpPr>
        <p:spPr>
          <a:xfrm>
            <a:off x="8304077" y="1166533"/>
            <a:ext cx="36758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Images numériques / Gris ou RGB</a:t>
            </a:r>
            <a:endParaRPr lang="fr-FR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E790BD0-30A7-B53A-090C-0D0490EE0964}"/>
              </a:ext>
            </a:extLst>
          </p:cNvPr>
          <p:cNvSpPr txBox="1"/>
          <p:nvPr/>
        </p:nvSpPr>
        <p:spPr>
          <a:xfrm>
            <a:off x="5324954" y="3095011"/>
            <a:ext cx="5629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>
                <a:solidFill>
                  <a:schemeClr val="bg1"/>
                </a:solidFill>
              </a:rPr>
              <a:t>AOP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84EB89-6DDE-7124-8439-3CAEBBA4DF59}"/>
              </a:ext>
            </a:extLst>
          </p:cNvPr>
          <p:cNvSpPr/>
          <p:nvPr/>
        </p:nvSpPr>
        <p:spPr>
          <a:xfrm>
            <a:off x="1850109" y="3115084"/>
            <a:ext cx="636607" cy="61345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24ED6E-3522-2998-CF50-DF739B17BE33}"/>
              </a:ext>
            </a:extLst>
          </p:cNvPr>
          <p:cNvSpPr/>
          <p:nvPr/>
        </p:nvSpPr>
        <p:spPr>
          <a:xfrm>
            <a:off x="2486716" y="3115084"/>
            <a:ext cx="636607" cy="61345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25131A-6A82-1DD7-1E0C-A37D351522B0}"/>
              </a:ext>
            </a:extLst>
          </p:cNvPr>
          <p:cNvSpPr/>
          <p:nvPr/>
        </p:nvSpPr>
        <p:spPr>
          <a:xfrm>
            <a:off x="3123323" y="3115084"/>
            <a:ext cx="636607" cy="61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54A458-B7F1-0E85-E2CB-D7EB66116B0F}"/>
              </a:ext>
            </a:extLst>
          </p:cNvPr>
          <p:cNvSpPr/>
          <p:nvPr/>
        </p:nvSpPr>
        <p:spPr>
          <a:xfrm>
            <a:off x="1850109" y="3728542"/>
            <a:ext cx="636607" cy="61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AAB70B-3915-C645-FC9C-1AFE32A889C5}"/>
              </a:ext>
            </a:extLst>
          </p:cNvPr>
          <p:cNvSpPr/>
          <p:nvPr/>
        </p:nvSpPr>
        <p:spPr>
          <a:xfrm>
            <a:off x="2486716" y="3728542"/>
            <a:ext cx="636607" cy="61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008BB06-4F68-BD5A-15AA-F8C710D8C325}"/>
              </a:ext>
            </a:extLst>
          </p:cNvPr>
          <p:cNvSpPr/>
          <p:nvPr/>
        </p:nvSpPr>
        <p:spPr>
          <a:xfrm>
            <a:off x="2486715" y="4342000"/>
            <a:ext cx="636607" cy="61345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2CDF544-F0F0-95EF-31C8-92E664BAE2D2}"/>
              </a:ext>
            </a:extLst>
          </p:cNvPr>
          <p:cNvSpPr/>
          <p:nvPr/>
        </p:nvSpPr>
        <p:spPr>
          <a:xfrm>
            <a:off x="1850109" y="4342000"/>
            <a:ext cx="636607" cy="61345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D2FB056-394C-6A5B-B175-D91DEC95EBF3}"/>
              </a:ext>
            </a:extLst>
          </p:cNvPr>
          <p:cNvSpPr/>
          <p:nvPr/>
        </p:nvSpPr>
        <p:spPr>
          <a:xfrm>
            <a:off x="3123322" y="4342000"/>
            <a:ext cx="636607" cy="61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5D6127D-66A2-6750-4927-6EEAF611298E}"/>
              </a:ext>
            </a:extLst>
          </p:cNvPr>
          <p:cNvSpPr/>
          <p:nvPr/>
        </p:nvSpPr>
        <p:spPr>
          <a:xfrm>
            <a:off x="3759928" y="3115084"/>
            <a:ext cx="636607" cy="61345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1445B85-AB3E-88A2-F04C-507AFE80E50C}"/>
              </a:ext>
            </a:extLst>
          </p:cNvPr>
          <p:cNvSpPr/>
          <p:nvPr/>
        </p:nvSpPr>
        <p:spPr>
          <a:xfrm>
            <a:off x="3759927" y="3728542"/>
            <a:ext cx="636607" cy="61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3CC9CD3-EAEB-BD60-008F-BBAD695FEB78}"/>
              </a:ext>
            </a:extLst>
          </p:cNvPr>
          <p:cNvSpPr/>
          <p:nvPr/>
        </p:nvSpPr>
        <p:spPr>
          <a:xfrm>
            <a:off x="3759927" y="4342000"/>
            <a:ext cx="636607" cy="61345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25ACBEDD-7CC6-5573-0B3C-C26407F30DE8}"/>
              </a:ext>
            </a:extLst>
          </p:cNvPr>
          <p:cNvSpPr txBox="1"/>
          <p:nvPr/>
        </p:nvSpPr>
        <p:spPr>
          <a:xfrm>
            <a:off x="2014363" y="27457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72C6CEB8-2503-8512-D837-A630353756C0}"/>
              </a:ext>
            </a:extLst>
          </p:cNvPr>
          <p:cNvSpPr txBox="1"/>
          <p:nvPr/>
        </p:nvSpPr>
        <p:spPr>
          <a:xfrm>
            <a:off x="2650969" y="27457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</a:p>
        </p:txBody>
      </p:sp>
      <p:sp>
        <p:nvSpPr>
          <p:cNvPr id="61" name="ZoneTexte 60">
            <a:extLst>
              <a:ext uri="{FF2B5EF4-FFF2-40B4-BE49-F238E27FC236}">
                <a16:creationId xmlns:a16="http://schemas.microsoft.com/office/drawing/2014/main" id="{95D83B2E-991D-D642-E6AC-D0CC17A240C3}"/>
              </a:ext>
            </a:extLst>
          </p:cNvPr>
          <p:cNvSpPr txBox="1"/>
          <p:nvPr/>
        </p:nvSpPr>
        <p:spPr>
          <a:xfrm>
            <a:off x="3287574" y="27457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F433F651-5FF7-7C60-2E7A-5F33460E3A38}"/>
              </a:ext>
            </a:extLst>
          </p:cNvPr>
          <p:cNvSpPr txBox="1"/>
          <p:nvPr/>
        </p:nvSpPr>
        <p:spPr>
          <a:xfrm>
            <a:off x="3920597" y="27457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</a:t>
            </a: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34AB0132-FB4B-C3E8-F023-7089D8EDCA10}"/>
              </a:ext>
            </a:extLst>
          </p:cNvPr>
          <p:cNvSpPr txBox="1"/>
          <p:nvPr/>
        </p:nvSpPr>
        <p:spPr>
          <a:xfrm>
            <a:off x="1459883" y="323714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203FCB6-1A9F-1849-1591-1C0F78310CEF}"/>
              </a:ext>
            </a:extLst>
          </p:cNvPr>
          <p:cNvSpPr txBox="1"/>
          <p:nvPr/>
        </p:nvSpPr>
        <p:spPr>
          <a:xfrm>
            <a:off x="1461254" y="385060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41DB9FCF-1E22-4129-4FFC-A1502EF7CF23}"/>
              </a:ext>
            </a:extLst>
          </p:cNvPr>
          <p:cNvSpPr txBox="1"/>
          <p:nvPr/>
        </p:nvSpPr>
        <p:spPr>
          <a:xfrm>
            <a:off x="1441828" y="44640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F35FD2D-335C-8E31-3409-BEA2E71CEAD4}"/>
              </a:ext>
            </a:extLst>
          </p:cNvPr>
          <p:cNvSpPr/>
          <p:nvPr/>
        </p:nvSpPr>
        <p:spPr>
          <a:xfrm>
            <a:off x="3123322" y="3728542"/>
            <a:ext cx="636607" cy="613458"/>
          </a:xfrm>
          <a:prstGeom prst="rect">
            <a:avLst/>
          </a:prstGeom>
          <a:solidFill>
            <a:schemeClr val="bg1"/>
          </a:solidFill>
          <a:ln w="762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60647B4-F389-B079-863E-7570D559AE0D}"/>
              </a:ext>
            </a:extLst>
          </p:cNvPr>
          <p:cNvSpPr/>
          <p:nvPr/>
        </p:nvSpPr>
        <p:spPr>
          <a:xfrm>
            <a:off x="8712361" y="1857576"/>
            <a:ext cx="636607" cy="61345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6BC4F5D-FB7B-068B-ECFD-82D836818E39}"/>
              </a:ext>
            </a:extLst>
          </p:cNvPr>
          <p:cNvSpPr/>
          <p:nvPr/>
        </p:nvSpPr>
        <p:spPr>
          <a:xfrm>
            <a:off x="9348968" y="1857576"/>
            <a:ext cx="636607" cy="61345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320E6D8A-8E15-2C86-6AA2-6549D1C69279}"/>
              </a:ext>
            </a:extLst>
          </p:cNvPr>
          <p:cNvSpPr/>
          <p:nvPr/>
        </p:nvSpPr>
        <p:spPr>
          <a:xfrm>
            <a:off x="9985575" y="1857576"/>
            <a:ext cx="636607" cy="613458"/>
          </a:xfrm>
          <a:prstGeom prst="rect">
            <a:avLst/>
          </a:prstGeom>
          <a:solidFill>
            <a:srgbClr val="97E4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B698167-41E3-11C9-CEC3-A121E7795C79}"/>
              </a:ext>
            </a:extLst>
          </p:cNvPr>
          <p:cNvSpPr/>
          <p:nvPr/>
        </p:nvSpPr>
        <p:spPr>
          <a:xfrm>
            <a:off x="8712361" y="2471034"/>
            <a:ext cx="636607" cy="613458"/>
          </a:xfrm>
          <a:prstGeom prst="rect">
            <a:avLst/>
          </a:prstGeom>
          <a:solidFill>
            <a:srgbClr val="97E4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6706E4C-B30E-A750-44FC-9D94C68F9155}"/>
              </a:ext>
            </a:extLst>
          </p:cNvPr>
          <p:cNvSpPr/>
          <p:nvPr/>
        </p:nvSpPr>
        <p:spPr>
          <a:xfrm>
            <a:off x="9348968" y="2471034"/>
            <a:ext cx="636607" cy="613458"/>
          </a:xfrm>
          <a:prstGeom prst="rect">
            <a:avLst/>
          </a:prstGeom>
          <a:solidFill>
            <a:srgbClr val="97E4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EBD6396-184B-9911-D6B0-C3AC7D3D873B}"/>
              </a:ext>
            </a:extLst>
          </p:cNvPr>
          <p:cNvSpPr/>
          <p:nvPr/>
        </p:nvSpPr>
        <p:spPr>
          <a:xfrm>
            <a:off x="9348967" y="3084492"/>
            <a:ext cx="636607" cy="613458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04C77219-421D-C0AD-F6C2-5D4E03F1A506}"/>
              </a:ext>
            </a:extLst>
          </p:cNvPr>
          <p:cNvSpPr/>
          <p:nvPr/>
        </p:nvSpPr>
        <p:spPr>
          <a:xfrm>
            <a:off x="8712361" y="3084492"/>
            <a:ext cx="636607" cy="613458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620E670-6416-9205-B1FD-1BAA9B9E5D6E}"/>
              </a:ext>
            </a:extLst>
          </p:cNvPr>
          <p:cNvSpPr/>
          <p:nvPr/>
        </p:nvSpPr>
        <p:spPr>
          <a:xfrm>
            <a:off x="9985574" y="3084492"/>
            <a:ext cx="636607" cy="613458"/>
          </a:xfrm>
          <a:prstGeom prst="rect">
            <a:avLst/>
          </a:prstGeom>
          <a:solidFill>
            <a:srgbClr val="97E4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A2F756C-F7B9-D6A2-37F7-E33FDF7F1C13}"/>
              </a:ext>
            </a:extLst>
          </p:cNvPr>
          <p:cNvSpPr/>
          <p:nvPr/>
        </p:nvSpPr>
        <p:spPr>
          <a:xfrm>
            <a:off x="10622180" y="1857576"/>
            <a:ext cx="636607" cy="61345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E80744E-A24F-E035-5633-EC911D906480}"/>
              </a:ext>
            </a:extLst>
          </p:cNvPr>
          <p:cNvSpPr/>
          <p:nvPr/>
        </p:nvSpPr>
        <p:spPr>
          <a:xfrm>
            <a:off x="10622179" y="2471034"/>
            <a:ext cx="636607" cy="613458"/>
          </a:xfrm>
          <a:prstGeom prst="rect">
            <a:avLst/>
          </a:prstGeom>
          <a:solidFill>
            <a:srgbClr val="97E4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E5C2E82-DBC9-6FD8-2153-8750696EF2EC}"/>
              </a:ext>
            </a:extLst>
          </p:cNvPr>
          <p:cNvSpPr/>
          <p:nvPr/>
        </p:nvSpPr>
        <p:spPr>
          <a:xfrm>
            <a:off x="10622179" y="3084492"/>
            <a:ext cx="636607" cy="61345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28492F0-E263-F47E-D972-7E18E4723D90}"/>
              </a:ext>
            </a:extLst>
          </p:cNvPr>
          <p:cNvSpPr/>
          <p:nvPr/>
        </p:nvSpPr>
        <p:spPr>
          <a:xfrm>
            <a:off x="9985574" y="2471034"/>
            <a:ext cx="636607" cy="61345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762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6880F21-9D8B-3290-A344-ADDD96FDA405}"/>
              </a:ext>
            </a:extLst>
          </p:cNvPr>
          <p:cNvSpPr/>
          <p:nvPr/>
        </p:nvSpPr>
        <p:spPr>
          <a:xfrm>
            <a:off x="7871612" y="2650442"/>
            <a:ext cx="636607" cy="61345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759E87B-A2E6-693A-8181-B40F8BC689AC}"/>
              </a:ext>
            </a:extLst>
          </p:cNvPr>
          <p:cNvSpPr/>
          <p:nvPr/>
        </p:nvSpPr>
        <p:spPr>
          <a:xfrm>
            <a:off x="8508219" y="2650442"/>
            <a:ext cx="636607" cy="61345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71BE3B0-CA30-BE1B-DF3A-256122325042}"/>
              </a:ext>
            </a:extLst>
          </p:cNvPr>
          <p:cNvSpPr/>
          <p:nvPr/>
        </p:nvSpPr>
        <p:spPr>
          <a:xfrm>
            <a:off x="9144826" y="2650442"/>
            <a:ext cx="636607" cy="61345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A1181F3-3E92-FFED-254E-BE69F6A2C916}"/>
              </a:ext>
            </a:extLst>
          </p:cNvPr>
          <p:cNvSpPr/>
          <p:nvPr/>
        </p:nvSpPr>
        <p:spPr>
          <a:xfrm>
            <a:off x="7871612" y="3263900"/>
            <a:ext cx="636607" cy="61345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C8F77D4-D74F-D541-28AF-A340C9463A3B}"/>
              </a:ext>
            </a:extLst>
          </p:cNvPr>
          <p:cNvSpPr/>
          <p:nvPr/>
        </p:nvSpPr>
        <p:spPr>
          <a:xfrm>
            <a:off x="8508219" y="3263900"/>
            <a:ext cx="636607" cy="61345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6C51653-0BCB-1BDE-2111-B7B0388989B2}"/>
              </a:ext>
            </a:extLst>
          </p:cNvPr>
          <p:cNvSpPr/>
          <p:nvPr/>
        </p:nvSpPr>
        <p:spPr>
          <a:xfrm>
            <a:off x="8508218" y="3877358"/>
            <a:ext cx="636607" cy="61345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80D9275-19D0-0784-CCBF-0728D84AA53F}"/>
              </a:ext>
            </a:extLst>
          </p:cNvPr>
          <p:cNvSpPr/>
          <p:nvPr/>
        </p:nvSpPr>
        <p:spPr>
          <a:xfrm>
            <a:off x="7871612" y="3877358"/>
            <a:ext cx="636607" cy="61345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0CA799E-C1DA-8166-6477-4EB537256F88}"/>
              </a:ext>
            </a:extLst>
          </p:cNvPr>
          <p:cNvSpPr/>
          <p:nvPr/>
        </p:nvSpPr>
        <p:spPr>
          <a:xfrm>
            <a:off x="9144825" y="3877358"/>
            <a:ext cx="636607" cy="61345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4C5698C8-CD6D-CE3B-02FE-B817AFF673B4}"/>
              </a:ext>
            </a:extLst>
          </p:cNvPr>
          <p:cNvSpPr/>
          <p:nvPr/>
        </p:nvSpPr>
        <p:spPr>
          <a:xfrm>
            <a:off x="9781431" y="2650442"/>
            <a:ext cx="636607" cy="61345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0640598-3142-838E-39A7-2843D6A66DFE}"/>
              </a:ext>
            </a:extLst>
          </p:cNvPr>
          <p:cNvSpPr/>
          <p:nvPr/>
        </p:nvSpPr>
        <p:spPr>
          <a:xfrm>
            <a:off x="9781430" y="3263900"/>
            <a:ext cx="636607" cy="61345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C286B54-E382-03D8-06C2-C31940E42413}"/>
              </a:ext>
            </a:extLst>
          </p:cNvPr>
          <p:cNvSpPr/>
          <p:nvPr/>
        </p:nvSpPr>
        <p:spPr>
          <a:xfrm>
            <a:off x="9781430" y="3877358"/>
            <a:ext cx="636607" cy="61345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2259AAD-2731-C74B-A5B6-BDE6D3B7C2AA}"/>
              </a:ext>
            </a:extLst>
          </p:cNvPr>
          <p:cNvSpPr/>
          <p:nvPr/>
        </p:nvSpPr>
        <p:spPr>
          <a:xfrm>
            <a:off x="9144825" y="3263900"/>
            <a:ext cx="636607" cy="6134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762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2707B37-898A-2B13-E7FD-ABC8CD0FEB93}"/>
              </a:ext>
            </a:extLst>
          </p:cNvPr>
          <p:cNvSpPr/>
          <p:nvPr/>
        </p:nvSpPr>
        <p:spPr>
          <a:xfrm>
            <a:off x="7030864" y="3443308"/>
            <a:ext cx="636607" cy="61345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2E0DDC1-7F70-44D3-27BF-CD6380BEA17F}"/>
              </a:ext>
            </a:extLst>
          </p:cNvPr>
          <p:cNvSpPr/>
          <p:nvPr/>
        </p:nvSpPr>
        <p:spPr>
          <a:xfrm>
            <a:off x="7667471" y="3443308"/>
            <a:ext cx="636607" cy="61345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ACCA2AB6-7E06-4B6D-B5E8-0D793D4A0CF0}"/>
              </a:ext>
            </a:extLst>
          </p:cNvPr>
          <p:cNvSpPr/>
          <p:nvPr/>
        </p:nvSpPr>
        <p:spPr>
          <a:xfrm>
            <a:off x="8304078" y="3443308"/>
            <a:ext cx="636607" cy="613458"/>
          </a:xfrm>
          <a:prstGeom prst="rect">
            <a:avLst/>
          </a:prstGeom>
          <a:solidFill>
            <a:srgbClr val="FF818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DA66872-AC0D-374C-A1DC-D7E319FEDDAA}"/>
              </a:ext>
            </a:extLst>
          </p:cNvPr>
          <p:cNvSpPr/>
          <p:nvPr/>
        </p:nvSpPr>
        <p:spPr>
          <a:xfrm>
            <a:off x="7030864" y="4056766"/>
            <a:ext cx="636607" cy="613458"/>
          </a:xfrm>
          <a:prstGeom prst="rect">
            <a:avLst/>
          </a:prstGeom>
          <a:solidFill>
            <a:srgbClr val="FF818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1DEA47C-8673-A8BE-DC05-CA0AD4845E86}"/>
              </a:ext>
            </a:extLst>
          </p:cNvPr>
          <p:cNvSpPr/>
          <p:nvPr/>
        </p:nvSpPr>
        <p:spPr>
          <a:xfrm>
            <a:off x="7667471" y="4056766"/>
            <a:ext cx="636607" cy="613458"/>
          </a:xfrm>
          <a:prstGeom prst="rect">
            <a:avLst/>
          </a:prstGeom>
          <a:solidFill>
            <a:srgbClr val="FF818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0A05406-A389-DC2E-B144-E53F2F5CCD16}"/>
              </a:ext>
            </a:extLst>
          </p:cNvPr>
          <p:cNvSpPr/>
          <p:nvPr/>
        </p:nvSpPr>
        <p:spPr>
          <a:xfrm>
            <a:off x="7667470" y="4670224"/>
            <a:ext cx="636607" cy="61345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88F9A76-4552-EAEB-08E2-B2BF32ACF946}"/>
              </a:ext>
            </a:extLst>
          </p:cNvPr>
          <p:cNvSpPr/>
          <p:nvPr/>
        </p:nvSpPr>
        <p:spPr>
          <a:xfrm>
            <a:off x="7030864" y="4670224"/>
            <a:ext cx="636607" cy="61345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A96AFFB-66DE-6327-5EF9-32417C7F2035}"/>
              </a:ext>
            </a:extLst>
          </p:cNvPr>
          <p:cNvSpPr/>
          <p:nvPr/>
        </p:nvSpPr>
        <p:spPr>
          <a:xfrm>
            <a:off x="8304077" y="4670224"/>
            <a:ext cx="636607" cy="613458"/>
          </a:xfrm>
          <a:prstGeom prst="rect">
            <a:avLst/>
          </a:prstGeom>
          <a:solidFill>
            <a:srgbClr val="FF818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F4E5DF3C-8213-47AB-FAE7-1D8AC5B05240}"/>
              </a:ext>
            </a:extLst>
          </p:cNvPr>
          <p:cNvSpPr/>
          <p:nvPr/>
        </p:nvSpPr>
        <p:spPr>
          <a:xfrm>
            <a:off x="8940683" y="3443308"/>
            <a:ext cx="636607" cy="61345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1E94AAF-0974-53E1-D657-66135124FF46}"/>
              </a:ext>
            </a:extLst>
          </p:cNvPr>
          <p:cNvSpPr/>
          <p:nvPr/>
        </p:nvSpPr>
        <p:spPr>
          <a:xfrm>
            <a:off x="8940682" y="4056766"/>
            <a:ext cx="636607" cy="613458"/>
          </a:xfrm>
          <a:prstGeom prst="rect">
            <a:avLst/>
          </a:prstGeom>
          <a:solidFill>
            <a:srgbClr val="FF818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612156D-EFD5-CABB-69EC-72F42FCCFC6E}"/>
              </a:ext>
            </a:extLst>
          </p:cNvPr>
          <p:cNvSpPr/>
          <p:nvPr/>
        </p:nvSpPr>
        <p:spPr>
          <a:xfrm>
            <a:off x="8940682" y="4670224"/>
            <a:ext cx="636607" cy="61345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4EE08288-2680-D53C-C361-5721E98CB149}"/>
              </a:ext>
            </a:extLst>
          </p:cNvPr>
          <p:cNvSpPr txBox="1"/>
          <p:nvPr/>
        </p:nvSpPr>
        <p:spPr>
          <a:xfrm>
            <a:off x="6640638" y="356537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D5F1C5E1-9A2C-EF1B-E15D-6571BD05397E}"/>
              </a:ext>
            </a:extLst>
          </p:cNvPr>
          <p:cNvSpPr txBox="1"/>
          <p:nvPr/>
        </p:nvSpPr>
        <p:spPr>
          <a:xfrm>
            <a:off x="6642009" y="4178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804698F8-359F-D3B0-7251-0203BB8C0059}"/>
              </a:ext>
            </a:extLst>
          </p:cNvPr>
          <p:cNvSpPr txBox="1"/>
          <p:nvPr/>
        </p:nvSpPr>
        <p:spPr>
          <a:xfrm>
            <a:off x="6622583" y="479228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D30B272-E802-C19C-B15C-F8241C2B5BD7}"/>
              </a:ext>
            </a:extLst>
          </p:cNvPr>
          <p:cNvSpPr/>
          <p:nvPr/>
        </p:nvSpPr>
        <p:spPr>
          <a:xfrm>
            <a:off x="8304077" y="4056766"/>
            <a:ext cx="636607" cy="6134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8F68D757-040F-C243-3CD2-79AFD25BA0C8}"/>
              </a:ext>
            </a:extLst>
          </p:cNvPr>
          <p:cNvSpPr txBox="1"/>
          <p:nvPr/>
        </p:nvSpPr>
        <p:spPr>
          <a:xfrm>
            <a:off x="6351470" y="3070719"/>
            <a:ext cx="324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R</a:t>
            </a:r>
          </a:p>
        </p:txBody>
      </p:sp>
      <p:sp>
        <p:nvSpPr>
          <p:cNvPr id="107" name="ZoneTexte 106">
            <a:extLst>
              <a:ext uri="{FF2B5EF4-FFF2-40B4-BE49-F238E27FC236}">
                <a16:creationId xmlns:a16="http://schemas.microsoft.com/office/drawing/2014/main" id="{AE91F0AA-D5FC-59F3-2362-87DF070886FB}"/>
              </a:ext>
            </a:extLst>
          </p:cNvPr>
          <p:cNvSpPr txBox="1"/>
          <p:nvPr/>
        </p:nvSpPr>
        <p:spPr>
          <a:xfrm>
            <a:off x="7282059" y="2300524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G</a:t>
            </a:r>
          </a:p>
        </p:txBody>
      </p:sp>
      <p:sp>
        <p:nvSpPr>
          <p:cNvPr id="108" name="ZoneTexte 107">
            <a:extLst>
              <a:ext uri="{FF2B5EF4-FFF2-40B4-BE49-F238E27FC236}">
                <a16:creationId xmlns:a16="http://schemas.microsoft.com/office/drawing/2014/main" id="{011F1B74-F9B7-6182-0F37-BC47712666F9}"/>
              </a:ext>
            </a:extLst>
          </p:cNvPr>
          <p:cNvSpPr txBox="1"/>
          <p:nvPr/>
        </p:nvSpPr>
        <p:spPr>
          <a:xfrm>
            <a:off x="1121940" y="2043400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Gris</a:t>
            </a:r>
          </a:p>
        </p:txBody>
      </p:sp>
      <p:sp>
        <p:nvSpPr>
          <p:cNvPr id="109" name="ZoneTexte 108">
            <a:extLst>
              <a:ext uri="{FF2B5EF4-FFF2-40B4-BE49-F238E27FC236}">
                <a16:creationId xmlns:a16="http://schemas.microsoft.com/office/drawing/2014/main" id="{B18148FE-C3DE-DBD2-6CA2-527941BA6E9E}"/>
              </a:ext>
            </a:extLst>
          </p:cNvPr>
          <p:cNvSpPr txBox="1"/>
          <p:nvPr/>
        </p:nvSpPr>
        <p:spPr>
          <a:xfrm>
            <a:off x="2806367" y="2392857"/>
            <a:ext cx="8306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Colonnes</a:t>
            </a:r>
          </a:p>
        </p:txBody>
      </p:sp>
      <p:sp>
        <p:nvSpPr>
          <p:cNvPr id="110" name="ZoneTexte 109">
            <a:extLst>
              <a:ext uri="{FF2B5EF4-FFF2-40B4-BE49-F238E27FC236}">
                <a16:creationId xmlns:a16="http://schemas.microsoft.com/office/drawing/2014/main" id="{FEC6B69D-58E3-7A58-5541-5AFBF884B017}"/>
              </a:ext>
            </a:extLst>
          </p:cNvPr>
          <p:cNvSpPr txBox="1"/>
          <p:nvPr/>
        </p:nvSpPr>
        <p:spPr>
          <a:xfrm>
            <a:off x="800918" y="3869025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Lignes</a:t>
            </a:r>
          </a:p>
        </p:txBody>
      </p:sp>
      <p:sp>
        <p:nvSpPr>
          <p:cNvPr id="111" name="ZoneTexte 110">
            <a:extLst>
              <a:ext uri="{FF2B5EF4-FFF2-40B4-BE49-F238E27FC236}">
                <a16:creationId xmlns:a16="http://schemas.microsoft.com/office/drawing/2014/main" id="{0103A6DE-643E-CC00-73C6-618D2DB0DC17}"/>
              </a:ext>
            </a:extLst>
          </p:cNvPr>
          <p:cNvSpPr txBox="1"/>
          <p:nvPr/>
        </p:nvSpPr>
        <p:spPr>
          <a:xfrm>
            <a:off x="4124931" y="1919354"/>
            <a:ext cx="28334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b="1" dirty="0"/>
              <a:t>Nb de pixels </a:t>
            </a:r>
            <a:r>
              <a:rPr lang="en-US" dirty="0"/>
              <a:t>= </a:t>
            </a:r>
            <a:r>
              <a:rPr lang="en-US" b="1" dirty="0"/>
              <a:t>h</a:t>
            </a:r>
            <a:r>
              <a:rPr lang="en-US" dirty="0"/>
              <a:t> x </a:t>
            </a:r>
            <a:r>
              <a:rPr lang="en-US" b="1" dirty="0"/>
              <a:t>v</a:t>
            </a:r>
            <a:endParaRPr lang="fr-FR" sz="2000" b="1" i="0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DB711E1D-585A-07BC-CADB-EBA315B40E2C}"/>
              </a:ext>
            </a:extLst>
          </p:cNvPr>
          <p:cNvSpPr txBox="1"/>
          <p:nvPr/>
        </p:nvSpPr>
        <p:spPr>
          <a:xfrm>
            <a:off x="722747" y="5643357"/>
            <a:ext cx="46022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 err="1"/>
              <a:t>Chaque</a:t>
            </a:r>
            <a:r>
              <a:rPr lang="en-US" dirty="0"/>
              <a:t> pixel est </a:t>
            </a:r>
            <a:r>
              <a:rPr lang="en-US" dirty="0" err="1"/>
              <a:t>converti</a:t>
            </a:r>
            <a:r>
              <a:rPr lang="en-US" dirty="0"/>
              <a:t> sur </a:t>
            </a:r>
            <a:r>
              <a:rPr lang="en-US" b="1" dirty="0"/>
              <a:t>n bits</a:t>
            </a:r>
            <a:r>
              <a:rPr lang="en-US" dirty="0"/>
              <a:t>.</a:t>
            </a:r>
            <a:endParaRPr lang="fr-FR" sz="2000" b="1" i="0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114" name="ZoneTexte 113">
            <a:extLst>
              <a:ext uri="{FF2B5EF4-FFF2-40B4-BE49-F238E27FC236}">
                <a16:creationId xmlns:a16="http://schemas.microsoft.com/office/drawing/2014/main" id="{F428709E-2326-AD3F-4F3B-F8FB1D4C61F9}"/>
              </a:ext>
            </a:extLst>
          </p:cNvPr>
          <p:cNvSpPr txBox="1"/>
          <p:nvPr/>
        </p:nvSpPr>
        <p:spPr>
          <a:xfrm>
            <a:off x="6992855" y="5399040"/>
            <a:ext cx="32590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/>
              <a:t>RGB : 3 </a:t>
            </a:r>
            <a:r>
              <a:rPr lang="en-US" dirty="0" err="1"/>
              <a:t>canaux</a:t>
            </a:r>
            <a:r>
              <a:rPr lang="en-US" dirty="0"/>
              <a:t> de 8 bits</a:t>
            </a:r>
            <a:endParaRPr lang="fr-FR" sz="2000" b="1" i="0" u="none" strike="noStrike" dirty="0">
              <a:solidFill>
                <a:prstClr val="black"/>
              </a:solidFill>
              <a:latin typeface="FreeSa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ZoneTexte 114">
                <a:extLst>
                  <a:ext uri="{FF2B5EF4-FFF2-40B4-BE49-F238E27FC236}">
                    <a16:creationId xmlns:a16="http://schemas.microsoft.com/office/drawing/2014/main" id="{F661E7A9-9C98-D2E0-7D5A-6D2EEE184D31}"/>
                  </a:ext>
                </a:extLst>
              </p:cNvPr>
              <p:cNvSpPr txBox="1"/>
              <p:nvPr/>
            </p:nvSpPr>
            <p:spPr>
              <a:xfrm>
                <a:off x="9985574" y="4641468"/>
                <a:ext cx="23752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R="0" algn="just"/>
                <a14:m>
                  <m:oMathPara xmlns:m="http://schemas.openxmlformats.org/officeDocument/2006/math">
                    <m:oMath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𝑹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𝟐𝟓𝟓</m:t>
                      </m:r>
                    </m:oMath>
                  </m:oMathPara>
                </a14:m>
                <a:endParaRPr lang="fr-FR" b="1" i="0" u="none" strike="noStrike" dirty="0">
                  <a:solidFill>
                    <a:prstClr val="black"/>
                  </a:solidFill>
                  <a:latin typeface="FreeSans"/>
                </a:endParaRPr>
              </a:p>
            </p:txBody>
          </p:sp>
        </mc:Choice>
        <mc:Fallback xmlns="">
          <p:sp>
            <p:nvSpPr>
              <p:cNvPr id="115" name="ZoneTexte 114">
                <a:extLst>
                  <a:ext uri="{FF2B5EF4-FFF2-40B4-BE49-F238E27FC236}">
                    <a16:creationId xmlns:a16="http://schemas.microsoft.com/office/drawing/2014/main" id="{F661E7A9-9C98-D2E0-7D5A-6D2EEE184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5574" y="4641468"/>
                <a:ext cx="237523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ZoneTexte 115">
                <a:extLst>
                  <a:ext uri="{FF2B5EF4-FFF2-40B4-BE49-F238E27FC236}">
                    <a16:creationId xmlns:a16="http://schemas.microsoft.com/office/drawing/2014/main" id="{CE8DB69C-1CC5-CA9C-825A-FEC66FF30C9E}"/>
                  </a:ext>
                </a:extLst>
              </p:cNvPr>
              <p:cNvSpPr txBox="1"/>
              <p:nvPr/>
            </p:nvSpPr>
            <p:spPr>
              <a:xfrm>
                <a:off x="9996485" y="4970033"/>
                <a:ext cx="23752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R="0" algn="just"/>
                <a14:m>
                  <m:oMathPara xmlns:m="http://schemas.openxmlformats.org/officeDocument/2006/math">
                    <m:oMath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𝑮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𝟐𝟓𝟓</m:t>
                      </m:r>
                    </m:oMath>
                  </m:oMathPara>
                </a14:m>
                <a:endParaRPr lang="fr-FR" b="1" i="0" u="none" strike="noStrike" dirty="0">
                  <a:solidFill>
                    <a:prstClr val="black"/>
                  </a:solidFill>
                  <a:latin typeface="FreeSans"/>
                </a:endParaRPr>
              </a:p>
            </p:txBody>
          </p:sp>
        </mc:Choice>
        <mc:Fallback xmlns="">
          <p:sp>
            <p:nvSpPr>
              <p:cNvPr id="116" name="ZoneTexte 115">
                <a:extLst>
                  <a:ext uri="{FF2B5EF4-FFF2-40B4-BE49-F238E27FC236}">
                    <a16:creationId xmlns:a16="http://schemas.microsoft.com/office/drawing/2014/main" id="{CE8DB69C-1CC5-CA9C-825A-FEC66FF30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6485" y="4970033"/>
                <a:ext cx="237523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ZoneTexte 116">
                <a:extLst>
                  <a:ext uri="{FF2B5EF4-FFF2-40B4-BE49-F238E27FC236}">
                    <a16:creationId xmlns:a16="http://schemas.microsoft.com/office/drawing/2014/main" id="{AC8F3615-2621-993B-EBEA-D7154C075FC2}"/>
                  </a:ext>
                </a:extLst>
              </p:cNvPr>
              <p:cNvSpPr txBox="1"/>
              <p:nvPr/>
            </p:nvSpPr>
            <p:spPr>
              <a:xfrm>
                <a:off x="9996485" y="5263122"/>
                <a:ext cx="23752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R="0" algn="just"/>
                <a14:m>
                  <m:oMathPara xmlns:m="http://schemas.openxmlformats.org/officeDocument/2006/math">
                    <m:oMath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𝟐𝟓𝟓</m:t>
                      </m:r>
                    </m:oMath>
                  </m:oMathPara>
                </a14:m>
                <a:endParaRPr lang="fr-FR" b="1" i="0" u="none" strike="noStrike" dirty="0">
                  <a:solidFill>
                    <a:prstClr val="black"/>
                  </a:solidFill>
                  <a:latin typeface="FreeSans"/>
                </a:endParaRPr>
              </a:p>
            </p:txBody>
          </p:sp>
        </mc:Choice>
        <mc:Fallback xmlns="">
          <p:sp>
            <p:nvSpPr>
              <p:cNvPr id="117" name="ZoneTexte 116">
                <a:extLst>
                  <a:ext uri="{FF2B5EF4-FFF2-40B4-BE49-F238E27FC236}">
                    <a16:creationId xmlns:a16="http://schemas.microsoft.com/office/drawing/2014/main" id="{AC8F3615-2621-993B-EBEA-D7154C075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6485" y="5263122"/>
                <a:ext cx="237523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8" name="Rectangle 117">
            <a:extLst>
              <a:ext uri="{FF2B5EF4-FFF2-40B4-BE49-F238E27FC236}">
                <a16:creationId xmlns:a16="http://schemas.microsoft.com/office/drawing/2014/main" id="{EBB9FEC2-63F0-8FAB-6692-832ED475D0A6}"/>
              </a:ext>
            </a:extLst>
          </p:cNvPr>
          <p:cNvSpPr/>
          <p:nvPr/>
        </p:nvSpPr>
        <p:spPr>
          <a:xfrm>
            <a:off x="6930681" y="6134100"/>
            <a:ext cx="940931" cy="426267"/>
          </a:xfrm>
          <a:prstGeom prst="rect">
            <a:avLst/>
          </a:prstGeom>
          <a:solidFill>
            <a:srgbClr val="C864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9" name="ZoneTexte 118">
            <a:extLst>
              <a:ext uri="{FF2B5EF4-FFF2-40B4-BE49-F238E27FC236}">
                <a16:creationId xmlns:a16="http://schemas.microsoft.com/office/drawing/2014/main" id="{AADFCBDC-5FAB-0AAE-BAF3-C12DE4694A01}"/>
              </a:ext>
            </a:extLst>
          </p:cNvPr>
          <p:cNvSpPr txBox="1"/>
          <p:nvPr/>
        </p:nvSpPr>
        <p:spPr>
          <a:xfrm>
            <a:off x="8011194" y="6191906"/>
            <a:ext cx="3259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/>
              <a:t>R=200, G=100, G=50</a:t>
            </a:r>
            <a:endParaRPr lang="fr-FR" sz="2000" b="1" i="0" u="none" strike="noStrike" dirty="0">
              <a:solidFill>
                <a:prstClr val="black"/>
              </a:solidFill>
              <a:latin typeface="FreeSans"/>
            </a:endParaRPr>
          </a:p>
        </p:txBody>
      </p:sp>
    </p:spTree>
    <p:extLst>
      <p:ext uri="{BB962C8B-B14F-4D97-AF65-F5344CB8AC3E}">
        <p14:creationId xmlns:p14="http://schemas.microsoft.com/office/powerpoint/2010/main" val="3689782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9E69E-91A0-0706-F31F-5F49AF290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FA83C2-B773-FB91-9D41-2A1E23B36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634DDA-A80A-5A0C-2957-8B25732D96E7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15F85E22-2D35-E455-90EC-4BB62048958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771AC5B-0B17-52FC-E03C-E40EC77D656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50F92EBF-6CF0-81A7-71C7-834E61E8AC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C906F167-43CF-ABF2-9E86-925286076119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Filtrage / Convolution</a:t>
            </a:r>
            <a:endParaRPr lang="fr-FR" dirty="0">
              <a:latin typeface="+mj-lt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24B383-630D-16C1-8B66-315B92D53FB2}"/>
              </a:ext>
            </a:extLst>
          </p:cNvPr>
          <p:cNvSpPr/>
          <p:nvPr/>
        </p:nvSpPr>
        <p:spPr>
          <a:xfrm>
            <a:off x="2459960" y="4257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0CD25FA-A986-FA0E-0CE9-974556D2C032}"/>
              </a:ext>
            </a:extLst>
          </p:cNvPr>
          <p:cNvSpPr/>
          <p:nvPr/>
        </p:nvSpPr>
        <p:spPr>
          <a:xfrm>
            <a:off x="2927960" y="4257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12493D-BD0D-2DB2-49FC-4A102801CC4C}"/>
              </a:ext>
            </a:extLst>
          </p:cNvPr>
          <p:cNvSpPr/>
          <p:nvPr/>
        </p:nvSpPr>
        <p:spPr>
          <a:xfrm>
            <a:off x="2459960" y="4725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B06FDFB-9EC7-6F79-9953-D9B9F2F1DC18}"/>
              </a:ext>
            </a:extLst>
          </p:cNvPr>
          <p:cNvSpPr/>
          <p:nvPr/>
        </p:nvSpPr>
        <p:spPr>
          <a:xfrm>
            <a:off x="2927960" y="4725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73EA7B0-EBEA-46EE-9697-1297EF67BAFD}"/>
              </a:ext>
            </a:extLst>
          </p:cNvPr>
          <p:cNvSpPr/>
          <p:nvPr/>
        </p:nvSpPr>
        <p:spPr>
          <a:xfrm>
            <a:off x="3395960" y="4257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D736A38-5C01-6B85-8DEC-084FC61EAA93}"/>
              </a:ext>
            </a:extLst>
          </p:cNvPr>
          <p:cNvSpPr/>
          <p:nvPr/>
        </p:nvSpPr>
        <p:spPr>
          <a:xfrm>
            <a:off x="3863960" y="4257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728C413-513F-E51F-3C3D-E994DDCD9D18}"/>
              </a:ext>
            </a:extLst>
          </p:cNvPr>
          <p:cNvSpPr/>
          <p:nvPr/>
        </p:nvSpPr>
        <p:spPr>
          <a:xfrm>
            <a:off x="3395960" y="4725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9A6DAEE-6373-5198-E16D-2B97013F8D8A}"/>
              </a:ext>
            </a:extLst>
          </p:cNvPr>
          <p:cNvSpPr/>
          <p:nvPr/>
        </p:nvSpPr>
        <p:spPr>
          <a:xfrm>
            <a:off x="3863960" y="4725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E07B708-A11C-8387-4D4C-0EC62E99B62B}"/>
              </a:ext>
            </a:extLst>
          </p:cNvPr>
          <p:cNvSpPr/>
          <p:nvPr/>
        </p:nvSpPr>
        <p:spPr>
          <a:xfrm>
            <a:off x="4331960" y="4257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CED34B-20B3-BDD2-EE66-9963BC03192B}"/>
              </a:ext>
            </a:extLst>
          </p:cNvPr>
          <p:cNvSpPr/>
          <p:nvPr/>
        </p:nvSpPr>
        <p:spPr>
          <a:xfrm>
            <a:off x="4799960" y="4257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573F165-27F4-AE14-85B5-151B182152E2}"/>
              </a:ext>
            </a:extLst>
          </p:cNvPr>
          <p:cNvSpPr/>
          <p:nvPr/>
        </p:nvSpPr>
        <p:spPr>
          <a:xfrm>
            <a:off x="4331960" y="4725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1B4E59C-F899-AE35-8829-3DB70BBB80A2}"/>
              </a:ext>
            </a:extLst>
          </p:cNvPr>
          <p:cNvSpPr/>
          <p:nvPr/>
        </p:nvSpPr>
        <p:spPr>
          <a:xfrm>
            <a:off x="4799960" y="4725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782299-9EFA-2B98-4671-8DF471C3520D}"/>
              </a:ext>
            </a:extLst>
          </p:cNvPr>
          <p:cNvSpPr/>
          <p:nvPr/>
        </p:nvSpPr>
        <p:spPr>
          <a:xfrm>
            <a:off x="2459960" y="5193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94464BF-FAF3-2625-FDC8-5B36201ADC33}"/>
              </a:ext>
            </a:extLst>
          </p:cNvPr>
          <p:cNvSpPr/>
          <p:nvPr/>
        </p:nvSpPr>
        <p:spPr>
          <a:xfrm>
            <a:off x="2927960" y="5193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4576DD3-4AA2-F134-DD94-87CF5BF822DB}"/>
              </a:ext>
            </a:extLst>
          </p:cNvPr>
          <p:cNvSpPr/>
          <p:nvPr/>
        </p:nvSpPr>
        <p:spPr>
          <a:xfrm>
            <a:off x="2459960" y="5661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985A3A0-FC6D-3993-4A57-3072B3D1A843}"/>
              </a:ext>
            </a:extLst>
          </p:cNvPr>
          <p:cNvSpPr/>
          <p:nvPr/>
        </p:nvSpPr>
        <p:spPr>
          <a:xfrm>
            <a:off x="2927960" y="5661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105F4A9-C067-7A37-D8BA-B14E1EDCC1F3}"/>
              </a:ext>
            </a:extLst>
          </p:cNvPr>
          <p:cNvSpPr/>
          <p:nvPr/>
        </p:nvSpPr>
        <p:spPr>
          <a:xfrm>
            <a:off x="3395960" y="5193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1C069E0-2095-76F2-2DDF-3ACCA4D38116}"/>
              </a:ext>
            </a:extLst>
          </p:cNvPr>
          <p:cNvSpPr/>
          <p:nvPr/>
        </p:nvSpPr>
        <p:spPr>
          <a:xfrm>
            <a:off x="3863960" y="5193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1B5F497-9CAC-7AD2-A49D-1E1EA9573041}"/>
              </a:ext>
            </a:extLst>
          </p:cNvPr>
          <p:cNvSpPr/>
          <p:nvPr/>
        </p:nvSpPr>
        <p:spPr>
          <a:xfrm>
            <a:off x="3395960" y="5661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5F56503-68AD-09F8-80EF-299E55F39582}"/>
              </a:ext>
            </a:extLst>
          </p:cNvPr>
          <p:cNvSpPr/>
          <p:nvPr/>
        </p:nvSpPr>
        <p:spPr>
          <a:xfrm>
            <a:off x="3863960" y="5661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D38D00E-3AFF-3BF4-0F62-F50DD6CF0B72}"/>
              </a:ext>
            </a:extLst>
          </p:cNvPr>
          <p:cNvSpPr/>
          <p:nvPr/>
        </p:nvSpPr>
        <p:spPr>
          <a:xfrm>
            <a:off x="4331960" y="5193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DBBFE39-A9CE-E23B-22E9-6000F4002FBD}"/>
              </a:ext>
            </a:extLst>
          </p:cNvPr>
          <p:cNvSpPr/>
          <p:nvPr/>
        </p:nvSpPr>
        <p:spPr>
          <a:xfrm>
            <a:off x="4799960" y="5193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6D581DB-33BC-BAD3-2A18-E01DD819430A}"/>
              </a:ext>
            </a:extLst>
          </p:cNvPr>
          <p:cNvSpPr/>
          <p:nvPr/>
        </p:nvSpPr>
        <p:spPr>
          <a:xfrm>
            <a:off x="4331960" y="5661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DAF0675-6CB9-E38C-8B7B-61275A665AB5}"/>
              </a:ext>
            </a:extLst>
          </p:cNvPr>
          <p:cNvSpPr/>
          <p:nvPr/>
        </p:nvSpPr>
        <p:spPr>
          <a:xfrm>
            <a:off x="4799960" y="5661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965325-9A6D-97AA-9A32-C69F6380F08C}"/>
              </a:ext>
            </a:extLst>
          </p:cNvPr>
          <p:cNvSpPr/>
          <p:nvPr/>
        </p:nvSpPr>
        <p:spPr>
          <a:xfrm>
            <a:off x="2459960" y="6129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020F4D0-59B2-EE8F-16D5-0EAF5D5EB4F8}"/>
              </a:ext>
            </a:extLst>
          </p:cNvPr>
          <p:cNvSpPr/>
          <p:nvPr/>
        </p:nvSpPr>
        <p:spPr>
          <a:xfrm>
            <a:off x="2927960" y="6129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2DE527F-47C2-0C13-2B91-5A6B5D7B6FFD}"/>
              </a:ext>
            </a:extLst>
          </p:cNvPr>
          <p:cNvSpPr/>
          <p:nvPr/>
        </p:nvSpPr>
        <p:spPr>
          <a:xfrm>
            <a:off x="3395960" y="6129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85ED9C9-5C3F-A117-86D7-23BFE564B268}"/>
              </a:ext>
            </a:extLst>
          </p:cNvPr>
          <p:cNvSpPr/>
          <p:nvPr/>
        </p:nvSpPr>
        <p:spPr>
          <a:xfrm>
            <a:off x="3863960" y="6129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259D38-88C2-ECB0-1C3D-BEF7060C5B6F}"/>
              </a:ext>
            </a:extLst>
          </p:cNvPr>
          <p:cNvSpPr/>
          <p:nvPr/>
        </p:nvSpPr>
        <p:spPr>
          <a:xfrm>
            <a:off x="4331960" y="6129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8DF1611-C322-B1C0-326B-8AFFDA7AC45C}"/>
              </a:ext>
            </a:extLst>
          </p:cNvPr>
          <p:cNvSpPr/>
          <p:nvPr/>
        </p:nvSpPr>
        <p:spPr>
          <a:xfrm>
            <a:off x="4799960" y="6129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04E3157-09C2-9868-16A5-373CC96BE13F}"/>
              </a:ext>
            </a:extLst>
          </p:cNvPr>
          <p:cNvSpPr/>
          <p:nvPr/>
        </p:nvSpPr>
        <p:spPr>
          <a:xfrm>
            <a:off x="5267960" y="4257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C5AFE88-A640-D0B4-D2DD-ED1535C6740D}"/>
              </a:ext>
            </a:extLst>
          </p:cNvPr>
          <p:cNvSpPr/>
          <p:nvPr/>
        </p:nvSpPr>
        <p:spPr>
          <a:xfrm>
            <a:off x="5267960" y="4725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EF0D7D8-2E6C-A64C-0372-2DC46A893CB7}"/>
              </a:ext>
            </a:extLst>
          </p:cNvPr>
          <p:cNvSpPr/>
          <p:nvPr/>
        </p:nvSpPr>
        <p:spPr>
          <a:xfrm>
            <a:off x="5267960" y="5193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05CF7F8-2951-C335-DD50-00B13AC5A9EA}"/>
              </a:ext>
            </a:extLst>
          </p:cNvPr>
          <p:cNvSpPr/>
          <p:nvPr/>
        </p:nvSpPr>
        <p:spPr>
          <a:xfrm>
            <a:off x="5267960" y="5661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0915EE2-A4BB-E00A-233B-B1CF9076FD21}"/>
              </a:ext>
            </a:extLst>
          </p:cNvPr>
          <p:cNvSpPr/>
          <p:nvPr/>
        </p:nvSpPr>
        <p:spPr>
          <a:xfrm>
            <a:off x="5267960" y="6129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B4D4976-4137-83D6-1E04-B1F2724011B6}"/>
              </a:ext>
            </a:extLst>
          </p:cNvPr>
          <p:cNvSpPr/>
          <p:nvPr/>
        </p:nvSpPr>
        <p:spPr>
          <a:xfrm>
            <a:off x="866254" y="3761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-1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EF32A35-348A-4DB0-EC8F-457DB0FC0F9E}"/>
              </a:ext>
            </a:extLst>
          </p:cNvPr>
          <p:cNvSpPr/>
          <p:nvPr/>
        </p:nvSpPr>
        <p:spPr>
          <a:xfrm>
            <a:off x="1334254" y="3761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0FEB3F5-CD93-E78E-A514-F77D847DAF6F}"/>
              </a:ext>
            </a:extLst>
          </p:cNvPr>
          <p:cNvSpPr/>
          <p:nvPr/>
        </p:nvSpPr>
        <p:spPr>
          <a:xfrm>
            <a:off x="866254" y="4229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3602EC-11E4-E150-E9DA-F87733B588F4}"/>
              </a:ext>
            </a:extLst>
          </p:cNvPr>
          <p:cNvSpPr/>
          <p:nvPr/>
        </p:nvSpPr>
        <p:spPr>
          <a:xfrm>
            <a:off x="1802254" y="3761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-2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14A47E8-0B91-5753-8603-E1994517281D}"/>
              </a:ext>
            </a:extLst>
          </p:cNvPr>
          <p:cNvSpPr/>
          <p:nvPr/>
        </p:nvSpPr>
        <p:spPr>
          <a:xfrm>
            <a:off x="1802254" y="4229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C37A32E-A9BE-B2CC-18FE-972213B2BDFE}"/>
              </a:ext>
            </a:extLst>
          </p:cNvPr>
          <p:cNvSpPr/>
          <p:nvPr/>
        </p:nvSpPr>
        <p:spPr>
          <a:xfrm>
            <a:off x="866254" y="4697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-2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89AD4CF-1DF1-2A05-315D-6FD7DAD72930}"/>
              </a:ext>
            </a:extLst>
          </p:cNvPr>
          <p:cNvSpPr/>
          <p:nvPr/>
        </p:nvSpPr>
        <p:spPr>
          <a:xfrm>
            <a:off x="1334254" y="4697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5D8605A-13B7-8749-0092-9B0323F2C794}"/>
              </a:ext>
            </a:extLst>
          </p:cNvPr>
          <p:cNvSpPr/>
          <p:nvPr/>
        </p:nvSpPr>
        <p:spPr>
          <a:xfrm>
            <a:off x="1802254" y="4697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-1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BACAED41-34B4-8601-D148-7D5E7B2D75F6}"/>
              </a:ext>
            </a:extLst>
          </p:cNvPr>
          <p:cNvSpPr txBox="1"/>
          <p:nvPr/>
        </p:nvSpPr>
        <p:spPr>
          <a:xfrm>
            <a:off x="750722" y="3347040"/>
            <a:ext cx="11670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kernel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31B60F0E-F77F-D4DB-7897-4EF0225A2E58}"/>
              </a:ext>
            </a:extLst>
          </p:cNvPr>
          <p:cNvSpPr txBox="1"/>
          <p:nvPr/>
        </p:nvSpPr>
        <p:spPr>
          <a:xfrm>
            <a:off x="2409824" y="3865613"/>
            <a:ext cx="1710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original image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ED16C0B-4B17-9BB2-50A9-55F2DA065FA5}"/>
              </a:ext>
            </a:extLst>
          </p:cNvPr>
          <p:cNvSpPr/>
          <p:nvPr/>
        </p:nvSpPr>
        <p:spPr>
          <a:xfrm>
            <a:off x="7716330" y="4286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88708EF-7EDC-C8D3-3971-CB4290FAC521}"/>
              </a:ext>
            </a:extLst>
          </p:cNvPr>
          <p:cNvSpPr/>
          <p:nvPr/>
        </p:nvSpPr>
        <p:spPr>
          <a:xfrm>
            <a:off x="8184330" y="4286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2D360B7-359E-C9A3-9C25-D4CED4120A32}"/>
              </a:ext>
            </a:extLst>
          </p:cNvPr>
          <p:cNvSpPr/>
          <p:nvPr/>
        </p:nvSpPr>
        <p:spPr>
          <a:xfrm>
            <a:off x="7716330" y="4754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0634618-79C5-8EC7-2173-E8C667790CAB}"/>
              </a:ext>
            </a:extLst>
          </p:cNvPr>
          <p:cNvSpPr/>
          <p:nvPr/>
        </p:nvSpPr>
        <p:spPr>
          <a:xfrm>
            <a:off x="8184330" y="4754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65E33A6-506C-7C2C-CF69-E5472A9EE4DE}"/>
              </a:ext>
            </a:extLst>
          </p:cNvPr>
          <p:cNvSpPr/>
          <p:nvPr/>
        </p:nvSpPr>
        <p:spPr>
          <a:xfrm>
            <a:off x="8652330" y="4286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67FDF22-058A-49FA-B7BD-BB7C079736F9}"/>
              </a:ext>
            </a:extLst>
          </p:cNvPr>
          <p:cNvSpPr/>
          <p:nvPr/>
        </p:nvSpPr>
        <p:spPr>
          <a:xfrm>
            <a:off x="9120330" y="4286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55F9BB4-3046-76DF-CE4E-57157A57561A}"/>
              </a:ext>
            </a:extLst>
          </p:cNvPr>
          <p:cNvSpPr/>
          <p:nvPr/>
        </p:nvSpPr>
        <p:spPr>
          <a:xfrm>
            <a:off x="8652330" y="4754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4AB9FD8-B1BC-A061-BA92-115445179F26}"/>
              </a:ext>
            </a:extLst>
          </p:cNvPr>
          <p:cNvSpPr/>
          <p:nvPr/>
        </p:nvSpPr>
        <p:spPr>
          <a:xfrm>
            <a:off x="9120330" y="4754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B14407F7-70CA-B280-0098-2B8F56ED1277}"/>
              </a:ext>
            </a:extLst>
          </p:cNvPr>
          <p:cNvSpPr/>
          <p:nvPr/>
        </p:nvSpPr>
        <p:spPr>
          <a:xfrm>
            <a:off x="9588330" y="4286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371CFDC-8E10-18AF-95B8-50BB4E6C681B}"/>
              </a:ext>
            </a:extLst>
          </p:cNvPr>
          <p:cNvSpPr/>
          <p:nvPr/>
        </p:nvSpPr>
        <p:spPr>
          <a:xfrm>
            <a:off x="10056330" y="4286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D5204B9-C91C-D0FF-FF22-77173226273E}"/>
              </a:ext>
            </a:extLst>
          </p:cNvPr>
          <p:cNvSpPr/>
          <p:nvPr/>
        </p:nvSpPr>
        <p:spPr>
          <a:xfrm>
            <a:off x="9588330" y="4754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32332EF-43AC-25A2-87AF-FC24746E249D}"/>
              </a:ext>
            </a:extLst>
          </p:cNvPr>
          <p:cNvSpPr/>
          <p:nvPr/>
        </p:nvSpPr>
        <p:spPr>
          <a:xfrm>
            <a:off x="10056330" y="4754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39D1EB6F-EC35-EEDA-6532-B217605DEFB4}"/>
              </a:ext>
            </a:extLst>
          </p:cNvPr>
          <p:cNvSpPr/>
          <p:nvPr/>
        </p:nvSpPr>
        <p:spPr>
          <a:xfrm>
            <a:off x="7716330" y="5222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2B3ABE0-E4E0-B0D5-7816-7AEDB29287A5}"/>
              </a:ext>
            </a:extLst>
          </p:cNvPr>
          <p:cNvSpPr/>
          <p:nvPr/>
        </p:nvSpPr>
        <p:spPr>
          <a:xfrm>
            <a:off x="8184330" y="5222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DC88B4A-ABB7-D287-519D-0193B7553941}"/>
              </a:ext>
            </a:extLst>
          </p:cNvPr>
          <p:cNvSpPr/>
          <p:nvPr/>
        </p:nvSpPr>
        <p:spPr>
          <a:xfrm>
            <a:off x="7716330" y="5690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C291550-6243-0CFE-E99A-34F985027AB3}"/>
              </a:ext>
            </a:extLst>
          </p:cNvPr>
          <p:cNvSpPr/>
          <p:nvPr/>
        </p:nvSpPr>
        <p:spPr>
          <a:xfrm>
            <a:off x="8184330" y="5690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7DB04204-5573-8FAD-0D8E-9635522C9007}"/>
              </a:ext>
            </a:extLst>
          </p:cNvPr>
          <p:cNvSpPr/>
          <p:nvPr/>
        </p:nvSpPr>
        <p:spPr>
          <a:xfrm>
            <a:off x="8652330" y="5222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878B47B-42F6-3390-AE54-F0794A439095}"/>
              </a:ext>
            </a:extLst>
          </p:cNvPr>
          <p:cNvSpPr/>
          <p:nvPr/>
        </p:nvSpPr>
        <p:spPr>
          <a:xfrm>
            <a:off x="9120330" y="5222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F3294D0-97DB-7D78-DD59-58543307E660}"/>
              </a:ext>
            </a:extLst>
          </p:cNvPr>
          <p:cNvSpPr/>
          <p:nvPr/>
        </p:nvSpPr>
        <p:spPr>
          <a:xfrm>
            <a:off x="8652330" y="5690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43C16A0F-31BA-B5F9-B405-6DB7F9144DB2}"/>
              </a:ext>
            </a:extLst>
          </p:cNvPr>
          <p:cNvSpPr/>
          <p:nvPr/>
        </p:nvSpPr>
        <p:spPr>
          <a:xfrm>
            <a:off x="9120330" y="5690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3BE56F1-F374-EFE9-FE7A-05BAE743BF76}"/>
              </a:ext>
            </a:extLst>
          </p:cNvPr>
          <p:cNvSpPr/>
          <p:nvPr/>
        </p:nvSpPr>
        <p:spPr>
          <a:xfrm>
            <a:off x="9588330" y="5222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D8C709D-3CE4-BAEA-5154-F9B1DFB8A5BD}"/>
              </a:ext>
            </a:extLst>
          </p:cNvPr>
          <p:cNvSpPr/>
          <p:nvPr/>
        </p:nvSpPr>
        <p:spPr>
          <a:xfrm>
            <a:off x="10056330" y="5222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A8EBC031-9578-FE4A-15A0-6DA0A84B069B}"/>
              </a:ext>
            </a:extLst>
          </p:cNvPr>
          <p:cNvSpPr/>
          <p:nvPr/>
        </p:nvSpPr>
        <p:spPr>
          <a:xfrm>
            <a:off x="9588330" y="5690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CBF535E7-89C2-AD5B-24B7-F3EB353D78BB}"/>
              </a:ext>
            </a:extLst>
          </p:cNvPr>
          <p:cNvSpPr/>
          <p:nvPr/>
        </p:nvSpPr>
        <p:spPr>
          <a:xfrm>
            <a:off x="10056330" y="5690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D961DF6-39A6-A47C-4B05-F57A9F180A4B}"/>
              </a:ext>
            </a:extLst>
          </p:cNvPr>
          <p:cNvSpPr/>
          <p:nvPr/>
        </p:nvSpPr>
        <p:spPr>
          <a:xfrm>
            <a:off x="7716330" y="6158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8BE4B99F-09BB-A7FF-5CB8-6CE06292D999}"/>
              </a:ext>
            </a:extLst>
          </p:cNvPr>
          <p:cNvSpPr/>
          <p:nvPr/>
        </p:nvSpPr>
        <p:spPr>
          <a:xfrm>
            <a:off x="8184330" y="6158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E1BDAD8-FEA7-6FDF-73AE-48E23BD227BF}"/>
              </a:ext>
            </a:extLst>
          </p:cNvPr>
          <p:cNvSpPr/>
          <p:nvPr/>
        </p:nvSpPr>
        <p:spPr>
          <a:xfrm>
            <a:off x="8652330" y="6158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1FF630B-6400-1E34-031E-E759DB2B2AA5}"/>
              </a:ext>
            </a:extLst>
          </p:cNvPr>
          <p:cNvSpPr/>
          <p:nvPr/>
        </p:nvSpPr>
        <p:spPr>
          <a:xfrm>
            <a:off x="9120330" y="6158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6F6E9A7-EC86-88E9-500D-7A9A8B2E2BEB}"/>
              </a:ext>
            </a:extLst>
          </p:cNvPr>
          <p:cNvSpPr/>
          <p:nvPr/>
        </p:nvSpPr>
        <p:spPr>
          <a:xfrm>
            <a:off x="9588330" y="6158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BB436B5-488D-F585-03A5-C3E3EA51CF24}"/>
              </a:ext>
            </a:extLst>
          </p:cNvPr>
          <p:cNvSpPr/>
          <p:nvPr/>
        </p:nvSpPr>
        <p:spPr>
          <a:xfrm>
            <a:off x="10056330" y="6158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AA68F5A2-2E0C-C83D-3A13-6189AC2FDBEE}"/>
              </a:ext>
            </a:extLst>
          </p:cNvPr>
          <p:cNvSpPr/>
          <p:nvPr/>
        </p:nvSpPr>
        <p:spPr>
          <a:xfrm>
            <a:off x="10524330" y="4286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881044-5B15-3DEE-CF6E-6DF95EBB36FE}"/>
              </a:ext>
            </a:extLst>
          </p:cNvPr>
          <p:cNvSpPr/>
          <p:nvPr/>
        </p:nvSpPr>
        <p:spPr>
          <a:xfrm>
            <a:off x="10524330" y="4754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C922D959-1875-749F-247A-8807015019A6}"/>
              </a:ext>
            </a:extLst>
          </p:cNvPr>
          <p:cNvSpPr/>
          <p:nvPr/>
        </p:nvSpPr>
        <p:spPr>
          <a:xfrm>
            <a:off x="10524330" y="5222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849065-5714-571F-5900-22338AE3548E}"/>
              </a:ext>
            </a:extLst>
          </p:cNvPr>
          <p:cNvSpPr/>
          <p:nvPr/>
        </p:nvSpPr>
        <p:spPr>
          <a:xfrm>
            <a:off x="10524330" y="5690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EC9806B-76F8-A1E0-BF1D-B7E1DD24E1D9}"/>
              </a:ext>
            </a:extLst>
          </p:cNvPr>
          <p:cNvSpPr/>
          <p:nvPr/>
        </p:nvSpPr>
        <p:spPr>
          <a:xfrm>
            <a:off x="10524330" y="6158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8" name="ZoneTexte 107">
            <a:extLst>
              <a:ext uri="{FF2B5EF4-FFF2-40B4-BE49-F238E27FC236}">
                <a16:creationId xmlns:a16="http://schemas.microsoft.com/office/drawing/2014/main" id="{AF4AF4CF-EEE5-69AD-F40F-86D31A250142}"/>
              </a:ext>
            </a:extLst>
          </p:cNvPr>
          <p:cNvSpPr txBox="1"/>
          <p:nvPr/>
        </p:nvSpPr>
        <p:spPr>
          <a:xfrm>
            <a:off x="6559484" y="3896655"/>
            <a:ext cx="1710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filtered</a:t>
            </a:r>
            <a:r>
              <a:rPr lang="fr-FR" dirty="0"/>
              <a:t> image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4FA3C02A-88CF-8320-1C74-2DB04859F6D5}"/>
              </a:ext>
            </a:extLst>
          </p:cNvPr>
          <p:cNvSpPr/>
          <p:nvPr/>
        </p:nvSpPr>
        <p:spPr>
          <a:xfrm>
            <a:off x="860821" y="3757037"/>
            <a:ext cx="1404000" cy="1404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A80C9031-1BEF-57DA-BB1F-286E457232C2}"/>
              </a:ext>
            </a:extLst>
          </p:cNvPr>
          <p:cNvSpPr/>
          <p:nvPr/>
        </p:nvSpPr>
        <p:spPr>
          <a:xfrm>
            <a:off x="9588330" y="5221347"/>
            <a:ext cx="468000" cy="468000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13395D7A-F6F8-DDB3-DA56-0FFC6FECB1F2}"/>
              </a:ext>
            </a:extLst>
          </p:cNvPr>
          <p:cNvSpPr/>
          <p:nvPr/>
        </p:nvSpPr>
        <p:spPr>
          <a:xfrm>
            <a:off x="7718124" y="1485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B518A35-215A-453B-A358-7C66A51C2AAD}"/>
              </a:ext>
            </a:extLst>
          </p:cNvPr>
          <p:cNvSpPr/>
          <p:nvPr/>
        </p:nvSpPr>
        <p:spPr>
          <a:xfrm>
            <a:off x="8186124" y="1485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8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DFA6D507-D078-3053-109F-892D0F2AFCE4}"/>
              </a:ext>
            </a:extLst>
          </p:cNvPr>
          <p:cNvSpPr/>
          <p:nvPr/>
        </p:nvSpPr>
        <p:spPr>
          <a:xfrm>
            <a:off x="7718124" y="1953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9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1577056-6129-1112-A668-C44D506A31DB}"/>
              </a:ext>
            </a:extLst>
          </p:cNvPr>
          <p:cNvSpPr/>
          <p:nvPr/>
        </p:nvSpPr>
        <p:spPr>
          <a:xfrm>
            <a:off x="8186124" y="1953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25CDDA88-01A6-0121-48DA-EFB28E29CB00}"/>
              </a:ext>
            </a:extLst>
          </p:cNvPr>
          <p:cNvSpPr/>
          <p:nvPr/>
        </p:nvSpPr>
        <p:spPr>
          <a:xfrm>
            <a:off x="8654124" y="1485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8BFC52-30D0-B1E8-23E2-4B6AB6A518BB}"/>
              </a:ext>
            </a:extLst>
          </p:cNvPr>
          <p:cNvSpPr/>
          <p:nvPr/>
        </p:nvSpPr>
        <p:spPr>
          <a:xfrm>
            <a:off x="9122124" y="1485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4060B954-10A2-DFB8-41FE-F8E67F024E33}"/>
              </a:ext>
            </a:extLst>
          </p:cNvPr>
          <p:cNvSpPr/>
          <p:nvPr/>
        </p:nvSpPr>
        <p:spPr>
          <a:xfrm>
            <a:off x="8654124" y="1953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CD9DD1AB-BFA0-393E-F39A-C8AEDE2A0C0A}"/>
              </a:ext>
            </a:extLst>
          </p:cNvPr>
          <p:cNvSpPr/>
          <p:nvPr/>
        </p:nvSpPr>
        <p:spPr>
          <a:xfrm>
            <a:off x="9122124" y="1953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BA1456CE-ADDF-68C7-0831-C1AA9D656D8C}"/>
              </a:ext>
            </a:extLst>
          </p:cNvPr>
          <p:cNvSpPr/>
          <p:nvPr/>
        </p:nvSpPr>
        <p:spPr>
          <a:xfrm>
            <a:off x="9590124" y="1485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09FA743-394D-D8F4-DC9B-DFC1F8C44B78}"/>
              </a:ext>
            </a:extLst>
          </p:cNvPr>
          <p:cNvSpPr/>
          <p:nvPr/>
        </p:nvSpPr>
        <p:spPr>
          <a:xfrm>
            <a:off x="10058124" y="1485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A0AFF76-A9B8-A88D-6F1A-631A8C15C804}"/>
              </a:ext>
            </a:extLst>
          </p:cNvPr>
          <p:cNvSpPr/>
          <p:nvPr/>
        </p:nvSpPr>
        <p:spPr>
          <a:xfrm>
            <a:off x="9590124" y="1953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D6CA9693-29F5-C4CB-42C7-31AD2527BAB8}"/>
              </a:ext>
            </a:extLst>
          </p:cNvPr>
          <p:cNvSpPr/>
          <p:nvPr/>
        </p:nvSpPr>
        <p:spPr>
          <a:xfrm>
            <a:off x="10058124" y="1953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9A146E9F-E95D-CC9A-8D82-69D1A4A2133E}"/>
              </a:ext>
            </a:extLst>
          </p:cNvPr>
          <p:cNvSpPr/>
          <p:nvPr/>
        </p:nvSpPr>
        <p:spPr>
          <a:xfrm>
            <a:off x="7718124" y="2421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878C293-38CD-7B80-CEC5-0ECB4DF8CED1}"/>
              </a:ext>
            </a:extLst>
          </p:cNvPr>
          <p:cNvSpPr/>
          <p:nvPr/>
        </p:nvSpPr>
        <p:spPr>
          <a:xfrm>
            <a:off x="8186124" y="2421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763119AF-85F8-8705-7D40-7EA4718C77EC}"/>
              </a:ext>
            </a:extLst>
          </p:cNvPr>
          <p:cNvSpPr/>
          <p:nvPr/>
        </p:nvSpPr>
        <p:spPr>
          <a:xfrm>
            <a:off x="7718124" y="2889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498DF12B-9297-B9E3-BC0C-7FFB9F644292}"/>
              </a:ext>
            </a:extLst>
          </p:cNvPr>
          <p:cNvSpPr/>
          <p:nvPr/>
        </p:nvSpPr>
        <p:spPr>
          <a:xfrm>
            <a:off x="8186124" y="2889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8</a:t>
            </a: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75E219F-6722-4D4F-E59A-7FDEBB172571}"/>
              </a:ext>
            </a:extLst>
          </p:cNvPr>
          <p:cNvSpPr/>
          <p:nvPr/>
        </p:nvSpPr>
        <p:spPr>
          <a:xfrm>
            <a:off x="8654124" y="2421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9980E13-58C9-C803-E3E6-366E6668A199}"/>
              </a:ext>
            </a:extLst>
          </p:cNvPr>
          <p:cNvSpPr/>
          <p:nvPr/>
        </p:nvSpPr>
        <p:spPr>
          <a:xfrm>
            <a:off x="9122124" y="2421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8549293-745A-6C0E-6B63-2F86C091CCD2}"/>
              </a:ext>
            </a:extLst>
          </p:cNvPr>
          <p:cNvSpPr/>
          <p:nvPr/>
        </p:nvSpPr>
        <p:spPr>
          <a:xfrm>
            <a:off x="8654124" y="2889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1D823876-2863-23E1-F5AD-D3DD70BA2B61}"/>
              </a:ext>
            </a:extLst>
          </p:cNvPr>
          <p:cNvSpPr/>
          <p:nvPr/>
        </p:nvSpPr>
        <p:spPr>
          <a:xfrm>
            <a:off x="9122124" y="2889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56C1FB14-C8D2-AB4C-9CD1-A825C60392F4}"/>
              </a:ext>
            </a:extLst>
          </p:cNvPr>
          <p:cNvSpPr/>
          <p:nvPr/>
        </p:nvSpPr>
        <p:spPr>
          <a:xfrm>
            <a:off x="10058124" y="2421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D48CC448-251B-CF7C-8F54-D4819B0A4460}"/>
              </a:ext>
            </a:extLst>
          </p:cNvPr>
          <p:cNvSpPr/>
          <p:nvPr/>
        </p:nvSpPr>
        <p:spPr>
          <a:xfrm>
            <a:off x="9590124" y="2889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C762921-0912-1CEF-1448-9E80207A7801}"/>
              </a:ext>
            </a:extLst>
          </p:cNvPr>
          <p:cNvSpPr/>
          <p:nvPr/>
        </p:nvSpPr>
        <p:spPr>
          <a:xfrm>
            <a:off x="10058124" y="2889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4922EFE4-0570-A690-E22F-C7DA1CABAD94}"/>
              </a:ext>
            </a:extLst>
          </p:cNvPr>
          <p:cNvSpPr/>
          <p:nvPr/>
        </p:nvSpPr>
        <p:spPr>
          <a:xfrm>
            <a:off x="7718124" y="3357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356876D-6758-A29F-84FE-B59E3E049F9F}"/>
              </a:ext>
            </a:extLst>
          </p:cNvPr>
          <p:cNvSpPr/>
          <p:nvPr/>
        </p:nvSpPr>
        <p:spPr>
          <a:xfrm>
            <a:off x="8186124" y="3357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61C3DA9-A654-FED4-3238-D91482138CD0}"/>
              </a:ext>
            </a:extLst>
          </p:cNvPr>
          <p:cNvSpPr/>
          <p:nvPr/>
        </p:nvSpPr>
        <p:spPr>
          <a:xfrm>
            <a:off x="8654124" y="3357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FF00121E-8FA8-0BD8-9239-58F01768F766}"/>
              </a:ext>
            </a:extLst>
          </p:cNvPr>
          <p:cNvSpPr/>
          <p:nvPr/>
        </p:nvSpPr>
        <p:spPr>
          <a:xfrm>
            <a:off x="9122124" y="3357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936034C-1501-2C08-794A-A17F02E4B5DE}"/>
              </a:ext>
            </a:extLst>
          </p:cNvPr>
          <p:cNvSpPr/>
          <p:nvPr/>
        </p:nvSpPr>
        <p:spPr>
          <a:xfrm>
            <a:off x="9590124" y="3357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EA1C1F59-DF5D-4529-8443-80294F71320C}"/>
              </a:ext>
            </a:extLst>
          </p:cNvPr>
          <p:cNvSpPr/>
          <p:nvPr/>
        </p:nvSpPr>
        <p:spPr>
          <a:xfrm>
            <a:off x="10058124" y="3357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DAFE579-ECEC-B18F-2AE5-FF8B2F699A09}"/>
              </a:ext>
            </a:extLst>
          </p:cNvPr>
          <p:cNvSpPr/>
          <p:nvPr/>
        </p:nvSpPr>
        <p:spPr>
          <a:xfrm>
            <a:off x="10526124" y="1485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1C3CAD28-F3C9-3786-2BDE-1CF9522B2B1B}"/>
              </a:ext>
            </a:extLst>
          </p:cNvPr>
          <p:cNvSpPr/>
          <p:nvPr/>
        </p:nvSpPr>
        <p:spPr>
          <a:xfrm>
            <a:off x="10526124" y="1953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14586B80-9563-CE98-1F54-2B6D6C42B0CA}"/>
              </a:ext>
            </a:extLst>
          </p:cNvPr>
          <p:cNvSpPr/>
          <p:nvPr/>
        </p:nvSpPr>
        <p:spPr>
          <a:xfrm>
            <a:off x="10526124" y="2421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A0A5B50A-2475-AC91-0C20-2E9434C5CAB1}"/>
              </a:ext>
            </a:extLst>
          </p:cNvPr>
          <p:cNvSpPr/>
          <p:nvPr/>
        </p:nvSpPr>
        <p:spPr>
          <a:xfrm>
            <a:off x="10526124" y="2889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6482E273-FC9C-CB0A-3121-58ABE9B63433}"/>
              </a:ext>
            </a:extLst>
          </p:cNvPr>
          <p:cNvSpPr/>
          <p:nvPr/>
        </p:nvSpPr>
        <p:spPr>
          <a:xfrm>
            <a:off x="10526124" y="3357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D20829A9-7073-CFF3-C914-4DF93C800686}"/>
              </a:ext>
            </a:extLst>
          </p:cNvPr>
          <p:cNvSpPr/>
          <p:nvPr/>
        </p:nvSpPr>
        <p:spPr>
          <a:xfrm>
            <a:off x="9122124" y="1951064"/>
            <a:ext cx="1404000" cy="140400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D37F6EAC-514F-5473-A995-EC535CEF4172}"/>
              </a:ext>
            </a:extLst>
          </p:cNvPr>
          <p:cNvSpPr txBox="1"/>
          <p:nvPr/>
        </p:nvSpPr>
        <p:spPr>
          <a:xfrm>
            <a:off x="9122124" y="1949018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8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7F9E9DF6-10D8-0ADD-6CE4-4F5673FBCE5F}"/>
              </a:ext>
            </a:extLst>
          </p:cNvPr>
          <p:cNvSpPr txBox="1"/>
          <p:nvPr/>
        </p:nvSpPr>
        <p:spPr>
          <a:xfrm>
            <a:off x="9230206" y="2137832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-1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42ADEF28-33BE-E716-D2F6-696D3303D821}"/>
              </a:ext>
            </a:extLst>
          </p:cNvPr>
          <p:cNvSpPr txBox="1"/>
          <p:nvPr/>
        </p:nvSpPr>
        <p:spPr>
          <a:xfrm>
            <a:off x="9136638" y="2150224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8E58C669-3C33-55D6-85C0-CD38BFAE1E81}"/>
              </a:ext>
            </a:extLst>
          </p:cNvPr>
          <p:cNvSpPr/>
          <p:nvPr/>
        </p:nvSpPr>
        <p:spPr>
          <a:xfrm>
            <a:off x="9590124" y="2421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  <a:ln w="571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279CE1FD-D220-3CA1-A0D8-F78E127D947A}"/>
              </a:ext>
            </a:extLst>
          </p:cNvPr>
          <p:cNvSpPr/>
          <p:nvPr/>
        </p:nvSpPr>
        <p:spPr>
          <a:xfrm>
            <a:off x="1334254" y="4229186"/>
            <a:ext cx="468000" cy="468000"/>
          </a:xfrm>
          <a:prstGeom prst="rect">
            <a:avLst/>
          </a:prstGeom>
          <a:solidFill>
            <a:schemeClr val="bg1">
              <a:lumMod val="8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51" name="ZoneTexte 150">
            <a:extLst>
              <a:ext uri="{FF2B5EF4-FFF2-40B4-BE49-F238E27FC236}">
                <a16:creationId xmlns:a16="http://schemas.microsoft.com/office/drawing/2014/main" id="{7AAEFD7A-747D-09C9-CC5C-691C327DE54E}"/>
              </a:ext>
            </a:extLst>
          </p:cNvPr>
          <p:cNvSpPr txBox="1"/>
          <p:nvPr/>
        </p:nvSpPr>
        <p:spPr>
          <a:xfrm>
            <a:off x="9572288" y="1946522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7</a:t>
            </a:r>
          </a:p>
        </p:txBody>
      </p:sp>
      <p:sp>
        <p:nvSpPr>
          <p:cNvPr id="152" name="ZoneTexte 151">
            <a:extLst>
              <a:ext uri="{FF2B5EF4-FFF2-40B4-BE49-F238E27FC236}">
                <a16:creationId xmlns:a16="http://schemas.microsoft.com/office/drawing/2014/main" id="{3E946B05-D154-3070-CD72-4209F7D5E8BD}"/>
              </a:ext>
            </a:extLst>
          </p:cNvPr>
          <p:cNvSpPr txBox="1"/>
          <p:nvPr/>
        </p:nvSpPr>
        <p:spPr>
          <a:xfrm>
            <a:off x="9680370" y="2135336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E558CFD1-0B98-8F06-B1B3-D70F67E68004}"/>
              </a:ext>
            </a:extLst>
          </p:cNvPr>
          <p:cNvSpPr txBox="1"/>
          <p:nvPr/>
        </p:nvSpPr>
        <p:spPr>
          <a:xfrm>
            <a:off x="9586802" y="2147728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2771D146-2C2B-2F7A-4FE4-117A143DCF13}"/>
              </a:ext>
            </a:extLst>
          </p:cNvPr>
          <p:cNvSpPr txBox="1"/>
          <p:nvPr/>
        </p:nvSpPr>
        <p:spPr>
          <a:xfrm>
            <a:off x="10036966" y="1939142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6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469BD8E6-A0BE-1123-B617-0984D365F810}"/>
              </a:ext>
            </a:extLst>
          </p:cNvPr>
          <p:cNvSpPr txBox="1"/>
          <p:nvPr/>
        </p:nvSpPr>
        <p:spPr>
          <a:xfrm>
            <a:off x="10145048" y="2127956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-2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8AA6D0CC-314E-C1E6-543F-2A79BA552D45}"/>
              </a:ext>
            </a:extLst>
          </p:cNvPr>
          <p:cNvSpPr txBox="1"/>
          <p:nvPr/>
        </p:nvSpPr>
        <p:spPr>
          <a:xfrm>
            <a:off x="10051480" y="2140348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57" name="ZoneTexte 156">
            <a:extLst>
              <a:ext uri="{FF2B5EF4-FFF2-40B4-BE49-F238E27FC236}">
                <a16:creationId xmlns:a16="http://schemas.microsoft.com/office/drawing/2014/main" id="{73E60D83-6219-2D1D-0DA6-4CE359D90ED3}"/>
              </a:ext>
            </a:extLst>
          </p:cNvPr>
          <p:cNvSpPr txBox="1"/>
          <p:nvPr/>
        </p:nvSpPr>
        <p:spPr>
          <a:xfrm>
            <a:off x="9111489" y="2418274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5</a:t>
            </a:r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99CFA460-9DD9-9F45-3493-F49241524E4B}"/>
              </a:ext>
            </a:extLst>
          </p:cNvPr>
          <p:cNvSpPr txBox="1"/>
          <p:nvPr/>
        </p:nvSpPr>
        <p:spPr>
          <a:xfrm>
            <a:off x="9219571" y="2607088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59" name="ZoneTexte 158">
            <a:extLst>
              <a:ext uri="{FF2B5EF4-FFF2-40B4-BE49-F238E27FC236}">
                <a16:creationId xmlns:a16="http://schemas.microsoft.com/office/drawing/2014/main" id="{03F536AB-FA0C-67FC-F794-B86BECDBB7CB}"/>
              </a:ext>
            </a:extLst>
          </p:cNvPr>
          <p:cNvSpPr txBox="1"/>
          <p:nvPr/>
        </p:nvSpPr>
        <p:spPr>
          <a:xfrm>
            <a:off x="9126003" y="2619480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D29B7DF4-46E6-9907-7315-D36E4D3482A3}"/>
              </a:ext>
            </a:extLst>
          </p:cNvPr>
          <p:cNvSpPr txBox="1"/>
          <p:nvPr/>
        </p:nvSpPr>
        <p:spPr>
          <a:xfrm>
            <a:off x="9602024" y="2407173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6</a:t>
            </a:r>
          </a:p>
        </p:txBody>
      </p:sp>
      <p:sp>
        <p:nvSpPr>
          <p:cNvPr id="161" name="ZoneTexte 160">
            <a:extLst>
              <a:ext uri="{FF2B5EF4-FFF2-40B4-BE49-F238E27FC236}">
                <a16:creationId xmlns:a16="http://schemas.microsoft.com/office/drawing/2014/main" id="{8521DCDC-1671-D9B7-D152-AB72AF582430}"/>
              </a:ext>
            </a:extLst>
          </p:cNvPr>
          <p:cNvSpPr txBox="1"/>
          <p:nvPr/>
        </p:nvSpPr>
        <p:spPr>
          <a:xfrm>
            <a:off x="9710106" y="2595987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62" name="ZoneTexte 161">
            <a:extLst>
              <a:ext uri="{FF2B5EF4-FFF2-40B4-BE49-F238E27FC236}">
                <a16:creationId xmlns:a16="http://schemas.microsoft.com/office/drawing/2014/main" id="{744692D1-0907-49D8-F049-22ED2E93E1C5}"/>
              </a:ext>
            </a:extLst>
          </p:cNvPr>
          <p:cNvSpPr txBox="1"/>
          <p:nvPr/>
        </p:nvSpPr>
        <p:spPr>
          <a:xfrm>
            <a:off x="9616538" y="2608379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ED31E0EC-6675-3620-ACA0-86E7045211DC}"/>
              </a:ext>
            </a:extLst>
          </p:cNvPr>
          <p:cNvSpPr txBox="1"/>
          <p:nvPr/>
        </p:nvSpPr>
        <p:spPr>
          <a:xfrm>
            <a:off x="10046224" y="2406267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8</a:t>
            </a:r>
          </a:p>
        </p:txBody>
      </p:sp>
      <p:sp>
        <p:nvSpPr>
          <p:cNvPr id="164" name="ZoneTexte 163">
            <a:extLst>
              <a:ext uri="{FF2B5EF4-FFF2-40B4-BE49-F238E27FC236}">
                <a16:creationId xmlns:a16="http://schemas.microsoft.com/office/drawing/2014/main" id="{5A997624-F2E2-763A-533E-6B607ECD75D4}"/>
              </a:ext>
            </a:extLst>
          </p:cNvPr>
          <p:cNvSpPr txBox="1"/>
          <p:nvPr/>
        </p:nvSpPr>
        <p:spPr>
          <a:xfrm>
            <a:off x="10154306" y="2595081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65" name="ZoneTexte 164">
            <a:extLst>
              <a:ext uri="{FF2B5EF4-FFF2-40B4-BE49-F238E27FC236}">
                <a16:creationId xmlns:a16="http://schemas.microsoft.com/office/drawing/2014/main" id="{BA5DE14F-669B-A24A-2D56-365953436852}"/>
              </a:ext>
            </a:extLst>
          </p:cNvPr>
          <p:cNvSpPr txBox="1"/>
          <p:nvPr/>
        </p:nvSpPr>
        <p:spPr>
          <a:xfrm>
            <a:off x="10060738" y="2607473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1C9CC429-31BA-9407-8EE3-898389BCE293}"/>
              </a:ext>
            </a:extLst>
          </p:cNvPr>
          <p:cNvSpPr txBox="1"/>
          <p:nvPr/>
        </p:nvSpPr>
        <p:spPr>
          <a:xfrm>
            <a:off x="9131043" y="2877907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8</a:t>
            </a:r>
          </a:p>
        </p:txBody>
      </p:sp>
      <p:sp>
        <p:nvSpPr>
          <p:cNvPr id="167" name="ZoneTexte 166">
            <a:extLst>
              <a:ext uri="{FF2B5EF4-FFF2-40B4-BE49-F238E27FC236}">
                <a16:creationId xmlns:a16="http://schemas.microsoft.com/office/drawing/2014/main" id="{058E59C3-5CA2-2E14-F6B6-6410A74D4E64}"/>
              </a:ext>
            </a:extLst>
          </p:cNvPr>
          <p:cNvSpPr txBox="1"/>
          <p:nvPr/>
        </p:nvSpPr>
        <p:spPr>
          <a:xfrm>
            <a:off x="9239125" y="3066721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-2</a:t>
            </a:r>
          </a:p>
        </p:txBody>
      </p:sp>
      <p:sp>
        <p:nvSpPr>
          <p:cNvPr id="168" name="ZoneTexte 167">
            <a:extLst>
              <a:ext uri="{FF2B5EF4-FFF2-40B4-BE49-F238E27FC236}">
                <a16:creationId xmlns:a16="http://schemas.microsoft.com/office/drawing/2014/main" id="{6ECF084E-514C-5AB9-51E8-4FCF7B04C4C7}"/>
              </a:ext>
            </a:extLst>
          </p:cNvPr>
          <p:cNvSpPr txBox="1"/>
          <p:nvPr/>
        </p:nvSpPr>
        <p:spPr>
          <a:xfrm>
            <a:off x="9145557" y="3079113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69" name="ZoneTexte 168">
            <a:extLst>
              <a:ext uri="{FF2B5EF4-FFF2-40B4-BE49-F238E27FC236}">
                <a16:creationId xmlns:a16="http://schemas.microsoft.com/office/drawing/2014/main" id="{14F5F72D-C604-4B9E-81D9-EA5E16415054}"/>
              </a:ext>
            </a:extLst>
          </p:cNvPr>
          <p:cNvSpPr txBox="1"/>
          <p:nvPr/>
        </p:nvSpPr>
        <p:spPr>
          <a:xfrm>
            <a:off x="9601044" y="2867051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4</a:t>
            </a:r>
          </a:p>
        </p:txBody>
      </p:sp>
      <p:sp>
        <p:nvSpPr>
          <p:cNvPr id="170" name="ZoneTexte 169">
            <a:extLst>
              <a:ext uri="{FF2B5EF4-FFF2-40B4-BE49-F238E27FC236}">
                <a16:creationId xmlns:a16="http://schemas.microsoft.com/office/drawing/2014/main" id="{49A435B2-570B-21C2-FC86-FCC0B438B8BD}"/>
              </a:ext>
            </a:extLst>
          </p:cNvPr>
          <p:cNvSpPr txBox="1"/>
          <p:nvPr/>
        </p:nvSpPr>
        <p:spPr>
          <a:xfrm>
            <a:off x="9709126" y="3055865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71" name="ZoneTexte 170">
            <a:extLst>
              <a:ext uri="{FF2B5EF4-FFF2-40B4-BE49-F238E27FC236}">
                <a16:creationId xmlns:a16="http://schemas.microsoft.com/office/drawing/2014/main" id="{3804CD04-1768-BECB-F644-88217528228E}"/>
              </a:ext>
            </a:extLst>
          </p:cNvPr>
          <p:cNvSpPr txBox="1"/>
          <p:nvPr/>
        </p:nvSpPr>
        <p:spPr>
          <a:xfrm>
            <a:off x="9615558" y="3068257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72" name="ZoneTexte 171">
            <a:extLst>
              <a:ext uri="{FF2B5EF4-FFF2-40B4-BE49-F238E27FC236}">
                <a16:creationId xmlns:a16="http://schemas.microsoft.com/office/drawing/2014/main" id="{01CDF451-9889-BA32-D734-2DA290267C2E}"/>
              </a:ext>
            </a:extLst>
          </p:cNvPr>
          <p:cNvSpPr txBox="1"/>
          <p:nvPr/>
        </p:nvSpPr>
        <p:spPr>
          <a:xfrm>
            <a:off x="10041816" y="2866012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3</a:t>
            </a:r>
          </a:p>
        </p:txBody>
      </p:sp>
      <p:sp>
        <p:nvSpPr>
          <p:cNvPr id="173" name="ZoneTexte 172">
            <a:extLst>
              <a:ext uri="{FF2B5EF4-FFF2-40B4-BE49-F238E27FC236}">
                <a16:creationId xmlns:a16="http://schemas.microsoft.com/office/drawing/2014/main" id="{53185EA5-B381-3CDB-59FB-BDAC6B35B9A1}"/>
              </a:ext>
            </a:extLst>
          </p:cNvPr>
          <p:cNvSpPr txBox="1"/>
          <p:nvPr/>
        </p:nvSpPr>
        <p:spPr>
          <a:xfrm>
            <a:off x="10149898" y="3054826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-1</a:t>
            </a:r>
          </a:p>
        </p:txBody>
      </p:sp>
      <p:sp>
        <p:nvSpPr>
          <p:cNvPr id="174" name="ZoneTexte 173">
            <a:extLst>
              <a:ext uri="{FF2B5EF4-FFF2-40B4-BE49-F238E27FC236}">
                <a16:creationId xmlns:a16="http://schemas.microsoft.com/office/drawing/2014/main" id="{327DA414-09A2-54A4-8381-67BD0C95C380}"/>
              </a:ext>
            </a:extLst>
          </p:cNvPr>
          <p:cNvSpPr txBox="1"/>
          <p:nvPr/>
        </p:nvSpPr>
        <p:spPr>
          <a:xfrm>
            <a:off x="10056330" y="3067218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75" name="ZoneTexte 174">
            <a:extLst>
              <a:ext uri="{FF2B5EF4-FFF2-40B4-BE49-F238E27FC236}">
                <a16:creationId xmlns:a16="http://schemas.microsoft.com/office/drawing/2014/main" id="{2CABAB27-ABD6-318E-61B0-1E142C50BC34}"/>
              </a:ext>
            </a:extLst>
          </p:cNvPr>
          <p:cNvSpPr txBox="1"/>
          <p:nvPr/>
        </p:nvSpPr>
        <p:spPr>
          <a:xfrm>
            <a:off x="8782474" y="3811828"/>
            <a:ext cx="2573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R = -8 + 0 – 12 + 5 + 30 + 8 – 16 + 0 – 3</a:t>
            </a:r>
          </a:p>
          <a:p>
            <a:r>
              <a:rPr lang="fr-FR" sz="1200" dirty="0"/>
              <a:t>R = 4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27FBD3D7-E75F-D748-59A0-AA0FA63B08A2}"/>
              </a:ext>
            </a:extLst>
          </p:cNvPr>
          <p:cNvSpPr/>
          <p:nvPr/>
        </p:nvSpPr>
        <p:spPr>
          <a:xfrm>
            <a:off x="3871209" y="4725352"/>
            <a:ext cx="1404000" cy="1404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754B7CED-F655-3804-411A-EC1117B573CC}"/>
              </a:ext>
            </a:extLst>
          </p:cNvPr>
          <p:cNvSpPr/>
          <p:nvPr/>
        </p:nvSpPr>
        <p:spPr>
          <a:xfrm>
            <a:off x="4339209" y="5197927"/>
            <a:ext cx="468000" cy="468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68124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63D61-E8C3-174D-03F4-A7E2DE6A8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357AE-74C6-6AFD-5384-9DA100C51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447B7F-D0C6-B8CB-F7D9-366E620BBDA0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316111CE-D815-664B-5A57-BCD1E00E9C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CEC062A-D748-7173-4B5A-D49C31DA046D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5423D9CD-01C9-42C5-F1AB-8934B75A36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FAF71E49-1F72-A499-95AC-83FE7A19861C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Filtrage / Convolution</a:t>
            </a:r>
            <a:endParaRPr lang="fr-FR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EC48C1-8090-40E9-7B45-B02A4EF00993}"/>
              </a:ext>
            </a:extLst>
          </p:cNvPr>
          <p:cNvSpPr/>
          <p:nvPr/>
        </p:nvSpPr>
        <p:spPr>
          <a:xfrm>
            <a:off x="11495875" y="5921253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32CF33-D8E9-E0EA-6742-0DD5E62A3AC8}"/>
              </a:ext>
            </a:extLst>
          </p:cNvPr>
          <p:cNvSpPr/>
          <p:nvPr/>
        </p:nvSpPr>
        <p:spPr>
          <a:xfrm>
            <a:off x="7522210" y="520460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ABCA19F-24F4-4D8C-0270-CC36946AF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159" y="3002403"/>
            <a:ext cx="9191625" cy="201035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8200928-21FF-06B3-BE72-A64074B13DFC}"/>
              </a:ext>
            </a:extLst>
          </p:cNvPr>
          <p:cNvSpPr/>
          <p:nvPr/>
        </p:nvSpPr>
        <p:spPr>
          <a:xfrm>
            <a:off x="6555352" y="552751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16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55D4D5-76FD-F99E-94ED-21348142AC1B}"/>
              </a:ext>
            </a:extLst>
          </p:cNvPr>
          <p:cNvSpPr/>
          <p:nvPr/>
        </p:nvSpPr>
        <p:spPr>
          <a:xfrm>
            <a:off x="6879352" y="552727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26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1BCAA13-2C01-C72F-059D-993F6DFA04D8}"/>
              </a:ext>
            </a:extLst>
          </p:cNvPr>
          <p:cNvSpPr/>
          <p:nvPr/>
        </p:nvSpPr>
        <p:spPr>
          <a:xfrm>
            <a:off x="6555352" y="585127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26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D0AAE2-594A-B42A-18BF-EE29ABBD6404}"/>
              </a:ext>
            </a:extLst>
          </p:cNvPr>
          <p:cNvSpPr/>
          <p:nvPr/>
        </p:nvSpPr>
        <p:spPr>
          <a:xfrm>
            <a:off x="7203819" y="552727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2B62804-F2C9-2E45-4D85-4880C6E23E38}"/>
              </a:ext>
            </a:extLst>
          </p:cNvPr>
          <p:cNvSpPr/>
          <p:nvPr/>
        </p:nvSpPr>
        <p:spPr>
          <a:xfrm>
            <a:off x="7203819" y="585127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26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08F5296-107E-EEA2-99E9-212E4256B1E3}"/>
              </a:ext>
            </a:extLst>
          </p:cNvPr>
          <p:cNvSpPr/>
          <p:nvPr/>
        </p:nvSpPr>
        <p:spPr>
          <a:xfrm>
            <a:off x="6558978" y="617503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472B3F3-DE5E-8F48-EFA8-413A0AB6B728}"/>
              </a:ext>
            </a:extLst>
          </p:cNvPr>
          <p:cNvSpPr/>
          <p:nvPr/>
        </p:nvSpPr>
        <p:spPr>
          <a:xfrm>
            <a:off x="6881399" y="617503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26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D3BA11-76AA-81E7-6A75-139780F0F059}"/>
              </a:ext>
            </a:extLst>
          </p:cNvPr>
          <p:cNvSpPr/>
          <p:nvPr/>
        </p:nvSpPr>
        <p:spPr>
          <a:xfrm>
            <a:off x="7204138" y="617503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16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BFE0B83-3C19-4C69-CAA6-91674389E8CC}"/>
              </a:ext>
            </a:extLst>
          </p:cNvPr>
          <p:cNvSpPr/>
          <p:nvPr/>
        </p:nvSpPr>
        <p:spPr>
          <a:xfrm>
            <a:off x="6881086" y="5854775"/>
            <a:ext cx="324000" cy="324000"/>
          </a:xfrm>
          <a:prstGeom prst="rect">
            <a:avLst/>
          </a:prstGeom>
          <a:solidFill>
            <a:schemeClr val="bg1">
              <a:lumMod val="85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5F42A66-FBFA-C2C4-11D8-B2330E3D125D}"/>
              </a:ext>
            </a:extLst>
          </p:cNvPr>
          <p:cNvSpPr/>
          <p:nvPr/>
        </p:nvSpPr>
        <p:spPr>
          <a:xfrm>
            <a:off x="6555352" y="520351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B6688DF-036A-93B9-DCE1-79FB4A8B7C4B}"/>
              </a:ext>
            </a:extLst>
          </p:cNvPr>
          <p:cNvSpPr/>
          <p:nvPr/>
        </p:nvSpPr>
        <p:spPr>
          <a:xfrm>
            <a:off x="6873919" y="520327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DEA7A5F-A6BB-8469-D040-A6CFDE8422FD}"/>
              </a:ext>
            </a:extLst>
          </p:cNvPr>
          <p:cNvSpPr/>
          <p:nvPr/>
        </p:nvSpPr>
        <p:spPr>
          <a:xfrm>
            <a:off x="7198386" y="520303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A3128D2-B1BF-8087-6452-89F2585E8FB3}"/>
              </a:ext>
            </a:extLst>
          </p:cNvPr>
          <p:cNvSpPr/>
          <p:nvPr/>
        </p:nvSpPr>
        <p:spPr>
          <a:xfrm>
            <a:off x="6561695" y="6495297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AAD49AD-F3AA-AA94-9636-8338565B5367}"/>
              </a:ext>
            </a:extLst>
          </p:cNvPr>
          <p:cNvSpPr/>
          <p:nvPr/>
        </p:nvSpPr>
        <p:spPr>
          <a:xfrm>
            <a:off x="6882321" y="6495297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3F8E906-CC36-37CC-D18F-DC246529D0D1}"/>
              </a:ext>
            </a:extLst>
          </p:cNvPr>
          <p:cNvSpPr/>
          <p:nvPr/>
        </p:nvSpPr>
        <p:spPr>
          <a:xfrm>
            <a:off x="7202506" y="6495297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20EA855B-7FE6-DADB-93F5-461168EA9507}"/>
              </a:ext>
            </a:extLst>
          </p:cNvPr>
          <p:cNvSpPr/>
          <p:nvPr/>
        </p:nvSpPr>
        <p:spPr>
          <a:xfrm>
            <a:off x="7522210" y="552570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CD4F134-35D1-900E-8209-FC15EB53EC37}"/>
              </a:ext>
            </a:extLst>
          </p:cNvPr>
          <p:cNvSpPr/>
          <p:nvPr/>
        </p:nvSpPr>
        <p:spPr>
          <a:xfrm>
            <a:off x="7522210" y="585079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E1B78BF3-AA02-C607-258A-F66A9CEB3D4C}"/>
              </a:ext>
            </a:extLst>
          </p:cNvPr>
          <p:cNvSpPr/>
          <p:nvPr/>
        </p:nvSpPr>
        <p:spPr>
          <a:xfrm>
            <a:off x="7522210" y="617491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9D0A8A2B-0DFB-CB8E-DB95-20255883A906}"/>
              </a:ext>
            </a:extLst>
          </p:cNvPr>
          <p:cNvSpPr/>
          <p:nvPr/>
        </p:nvSpPr>
        <p:spPr>
          <a:xfrm>
            <a:off x="7522210" y="6495297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0A82CBEE-1148-C798-E8C3-DE6DC968A084}"/>
              </a:ext>
            </a:extLst>
          </p:cNvPr>
          <p:cNvSpPr/>
          <p:nvPr/>
        </p:nvSpPr>
        <p:spPr>
          <a:xfrm>
            <a:off x="6237375" y="552751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F4338DD-F5B7-BB43-3140-5965FC4A5C64}"/>
              </a:ext>
            </a:extLst>
          </p:cNvPr>
          <p:cNvSpPr/>
          <p:nvPr/>
        </p:nvSpPr>
        <p:spPr>
          <a:xfrm>
            <a:off x="6237375" y="585127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E4AA4A4-322C-AA8B-1672-BFBD4A58A94D}"/>
              </a:ext>
            </a:extLst>
          </p:cNvPr>
          <p:cNvSpPr/>
          <p:nvPr/>
        </p:nvSpPr>
        <p:spPr>
          <a:xfrm>
            <a:off x="6237375" y="617503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248C400F-7987-FBD6-B76A-94233447F6A4}"/>
              </a:ext>
            </a:extLst>
          </p:cNvPr>
          <p:cNvSpPr/>
          <p:nvPr/>
        </p:nvSpPr>
        <p:spPr>
          <a:xfrm>
            <a:off x="6237375" y="520351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C961D997-5ABA-7BE4-1919-E9C2A4892599}"/>
              </a:ext>
            </a:extLst>
          </p:cNvPr>
          <p:cNvSpPr/>
          <p:nvPr/>
        </p:nvSpPr>
        <p:spPr>
          <a:xfrm>
            <a:off x="6237375" y="6495537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86CF7235-64FC-8A71-12A8-9EDBA9108C17}"/>
              </a:ext>
            </a:extLst>
          </p:cNvPr>
          <p:cNvSpPr/>
          <p:nvPr/>
        </p:nvSpPr>
        <p:spPr>
          <a:xfrm>
            <a:off x="6237375" y="5203516"/>
            <a:ext cx="1608835" cy="16157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50" dirty="0">
              <a:solidFill>
                <a:schemeClr val="tx1"/>
              </a:solidFill>
            </a:endParaRPr>
          </a:p>
        </p:txBody>
      </p:sp>
      <p:sp>
        <p:nvSpPr>
          <p:cNvPr id="188" name="ZoneTexte 187">
            <a:extLst>
              <a:ext uri="{FF2B5EF4-FFF2-40B4-BE49-F238E27FC236}">
                <a16:creationId xmlns:a16="http://schemas.microsoft.com/office/drawing/2014/main" id="{BC4EB97F-F67E-A400-64BE-175AB80FA279}"/>
              </a:ext>
            </a:extLst>
          </p:cNvPr>
          <p:cNvSpPr txBox="1"/>
          <p:nvPr/>
        </p:nvSpPr>
        <p:spPr>
          <a:xfrm>
            <a:off x="7949752" y="5230061"/>
            <a:ext cx="1608835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1" dirty="0" err="1"/>
              <a:t>Gaussian</a:t>
            </a:r>
            <a:r>
              <a:rPr lang="fr-FR" sz="1200" b="1" i="1" dirty="0"/>
              <a:t> Kernel  </a:t>
            </a:r>
          </a:p>
          <a:p>
            <a:r>
              <a:rPr lang="fr-FR" sz="1050" dirty="0"/>
              <a:t>(x 1/273)</a:t>
            </a:r>
            <a:endParaRPr lang="fr-FR" sz="1200" dirty="0"/>
          </a:p>
        </p:txBody>
      </p:sp>
      <p:sp>
        <p:nvSpPr>
          <p:cNvPr id="189" name="ZoneTexte 188">
            <a:extLst>
              <a:ext uri="{FF2B5EF4-FFF2-40B4-BE49-F238E27FC236}">
                <a16:creationId xmlns:a16="http://schemas.microsoft.com/office/drawing/2014/main" id="{1B101734-21A5-CEF9-198B-05BB4047882C}"/>
              </a:ext>
            </a:extLst>
          </p:cNvPr>
          <p:cNvSpPr txBox="1"/>
          <p:nvPr/>
        </p:nvSpPr>
        <p:spPr>
          <a:xfrm>
            <a:off x="10179050" y="5071649"/>
            <a:ext cx="20129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1" dirty="0" err="1"/>
              <a:t>Mean</a:t>
            </a:r>
            <a:r>
              <a:rPr lang="fr-FR" sz="1200" b="1" i="1" dirty="0"/>
              <a:t> Kernel </a:t>
            </a:r>
            <a:r>
              <a:rPr lang="fr-FR" sz="1100" dirty="0"/>
              <a:t>( x 1/(N*M) )</a:t>
            </a:r>
            <a:endParaRPr lang="fr-FR" sz="12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41AB8267-0AEB-4857-342B-B5354FAF151D}"/>
              </a:ext>
            </a:extLst>
          </p:cNvPr>
          <p:cNvSpPr/>
          <p:nvPr/>
        </p:nvSpPr>
        <p:spPr>
          <a:xfrm>
            <a:off x="10703875" y="5525706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7FAD42E0-0A60-9C7F-343D-D2DE4A1B1F89}"/>
              </a:ext>
            </a:extLst>
          </p:cNvPr>
          <p:cNvSpPr/>
          <p:nvPr/>
        </p:nvSpPr>
        <p:spPr>
          <a:xfrm>
            <a:off x="11099875" y="5526472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016D72-71F7-A777-96F2-2643C290575C}"/>
              </a:ext>
            </a:extLst>
          </p:cNvPr>
          <p:cNvSpPr/>
          <p:nvPr/>
        </p:nvSpPr>
        <p:spPr>
          <a:xfrm>
            <a:off x="10703875" y="5920487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DE0C0D4-2557-63B6-9745-64A81EA9490C}"/>
              </a:ext>
            </a:extLst>
          </p:cNvPr>
          <p:cNvSpPr/>
          <p:nvPr/>
        </p:nvSpPr>
        <p:spPr>
          <a:xfrm>
            <a:off x="11495875" y="5524487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 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010AF64-43FD-F75F-3563-84D319EE7FD0}"/>
              </a:ext>
            </a:extLst>
          </p:cNvPr>
          <p:cNvSpPr/>
          <p:nvPr/>
        </p:nvSpPr>
        <p:spPr>
          <a:xfrm>
            <a:off x="11495875" y="6321265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B7CFD50E-A165-B3C6-3EC2-641215BA4F11}"/>
              </a:ext>
            </a:extLst>
          </p:cNvPr>
          <p:cNvSpPr/>
          <p:nvPr/>
        </p:nvSpPr>
        <p:spPr>
          <a:xfrm>
            <a:off x="10703875" y="6316487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0215265B-040A-D726-3046-54BEDC995002}"/>
              </a:ext>
            </a:extLst>
          </p:cNvPr>
          <p:cNvSpPr/>
          <p:nvPr/>
        </p:nvSpPr>
        <p:spPr>
          <a:xfrm>
            <a:off x="11099875" y="6316487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EDA47649-4477-A91D-35F0-05B9C61DE8A4}"/>
              </a:ext>
            </a:extLst>
          </p:cNvPr>
          <p:cNvSpPr/>
          <p:nvPr/>
        </p:nvSpPr>
        <p:spPr>
          <a:xfrm>
            <a:off x="10692339" y="5524077"/>
            <a:ext cx="1199536" cy="11884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100" dirty="0">
              <a:solidFill>
                <a:schemeClr val="tx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98323960-E662-7F82-DA35-654A1B603840}"/>
              </a:ext>
            </a:extLst>
          </p:cNvPr>
          <p:cNvSpPr/>
          <p:nvPr/>
        </p:nvSpPr>
        <p:spPr>
          <a:xfrm>
            <a:off x="11099875" y="5920487"/>
            <a:ext cx="396000" cy="396000"/>
          </a:xfrm>
          <a:prstGeom prst="rect">
            <a:avLst/>
          </a:prstGeom>
          <a:solidFill>
            <a:schemeClr val="bg1">
              <a:lumMod val="8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199" name="ZoneTexte 198">
            <a:extLst>
              <a:ext uri="{FF2B5EF4-FFF2-40B4-BE49-F238E27FC236}">
                <a16:creationId xmlns:a16="http://schemas.microsoft.com/office/drawing/2014/main" id="{3968014F-D217-2A85-8646-567B10358A6E}"/>
              </a:ext>
            </a:extLst>
          </p:cNvPr>
          <p:cNvSpPr txBox="1"/>
          <p:nvPr/>
        </p:nvSpPr>
        <p:spPr>
          <a:xfrm>
            <a:off x="5979776" y="1494071"/>
            <a:ext cx="37328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Suppression de détails insignifiants</a:t>
            </a:r>
          </a:p>
        </p:txBody>
      </p:sp>
    </p:spTree>
    <p:extLst>
      <p:ext uri="{BB962C8B-B14F-4D97-AF65-F5344CB8AC3E}">
        <p14:creationId xmlns:p14="http://schemas.microsoft.com/office/powerpoint/2010/main" val="2612086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20718-9EF5-C5F7-274F-BFABE7E11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E1E0D36-026A-009C-3E6A-206A0477DB7F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34193B3-C2C4-DC9E-15A8-244D3DB20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6BC6190-293A-41CD-A687-8578DEB0B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Exercices</a:t>
            </a: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A1877DE-52A7-5B46-5BAF-1D9207AB01C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18D5760-1554-B6C3-7490-60F978FEDF8D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528827-0514-DCE3-871E-BD7314C85DF0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E22D50-E896-722A-E12B-F88E0016B79C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36920F-CB73-1592-7533-A1211D387C75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4BE0D933-BF5E-40DD-82BB-986E45C83B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2686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CF472-159E-E4B7-57D6-E9CBB9CE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85DE7C-0B37-4136-B732-BE700D465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71BC58-1A8B-F7E2-312E-ADA3C6EB558C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CB86A780-9440-44B6-D9A3-CDCCFE9191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FB3E2C4-25E4-A959-0015-167968AF188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6EDA0C09-2042-8B4B-EE83-1A628C5164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17CE2B6F-4553-7883-9341-DB4A8164CEB2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Exercices</a:t>
            </a:r>
            <a:endParaRPr lang="fr-FR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82A39320-62A3-E6D7-489A-70261C22C1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7608" y="1755134"/>
            <a:ext cx="7992888" cy="1255153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8947E108-A5F9-28CC-A09A-D609A44225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9596" y="4487011"/>
            <a:ext cx="7163800" cy="129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8799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C62B4-3CBE-8C8D-D113-1D2E34E7F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6C4D6F-BA67-9CF6-6E8C-4AF899E4C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3D5B7B-DFE6-F94D-C200-9238491D87D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20D59973-0223-20AB-A65F-F5C9EBF95F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6DA44E-B313-830B-5B7A-F2B19AB088ED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14E2A3B1-F516-97DB-EA02-42A1BEE163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79F986D-54A6-FD97-AA63-E1515F651192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Principe</a:t>
            </a:r>
            <a:endParaRPr lang="fr-FR" dirty="0">
              <a:latin typeface="+mj-lt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901D34C-E77F-8DF1-4DC8-11BC41538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981" y="2348880"/>
            <a:ext cx="3570851" cy="383866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7C57CB4-3B6F-C974-CE29-F1CC2D8642EC}"/>
              </a:ext>
            </a:extLst>
          </p:cNvPr>
          <p:cNvSpPr/>
          <p:nvPr/>
        </p:nvSpPr>
        <p:spPr bwMode="auto">
          <a:xfrm>
            <a:off x="991235" y="5839159"/>
            <a:ext cx="3816424" cy="69677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A48D4F7-4BB9-6507-379F-5133586B9AFD}"/>
              </a:ext>
            </a:extLst>
          </p:cNvPr>
          <p:cNvCxnSpPr>
            <a:cxnSpLocks/>
          </p:cNvCxnSpPr>
          <p:nvPr/>
        </p:nvCxnSpPr>
        <p:spPr bwMode="auto">
          <a:xfrm>
            <a:off x="1991544" y="4797152"/>
            <a:ext cx="0" cy="28803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077409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C6576-F73D-8B90-BE59-02581CFA7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FF6DB7-F131-7D50-CF14-E3A720A33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F78CBA-8DB0-E9B6-94F8-FC6EACA7602E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F7B68D9F-9254-82BC-D543-E17B1D446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A3EFB61-3A95-6192-9D22-D3929C86B976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925F612B-D8C9-956D-91E9-7A1B3541B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3197B9B8-3B9C-2A78-C9D1-30AC3FDC326A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Principe</a:t>
            </a:r>
            <a:endParaRPr lang="fr-FR" dirty="0">
              <a:latin typeface="+mj-lt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2F5A8ED-8921-90F3-11C6-6EE8EB7A0B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981" y="2348880"/>
            <a:ext cx="3570851" cy="3838665"/>
          </a:xfrm>
          <a:prstGeom prst="rect">
            <a:avLst/>
          </a:prstGeom>
        </p:spPr>
      </p:pic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2382C7E6-AC18-8D7B-BF41-54C73081072F}"/>
              </a:ext>
            </a:extLst>
          </p:cNvPr>
          <p:cNvCxnSpPr>
            <a:cxnSpLocks/>
          </p:cNvCxnSpPr>
          <p:nvPr/>
        </p:nvCxnSpPr>
        <p:spPr bwMode="auto">
          <a:xfrm>
            <a:off x="1991544" y="4797152"/>
            <a:ext cx="0" cy="28803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0575192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6423E-1C86-CE39-6CED-9932BE9B4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F9CF9D-8B39-A6C0-D51C-B8DB1738D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87F302-3A61-B3D4-9011-F3FED83EBA54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B7729BCD-0A44-CD8F-1972-0F531838A8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CA7F882-8178-BDFB-B0B7-6E189AB9F1C3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56EEBBFF-979B-48C7-50DE-0530400A78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C8D22C0-F82B-A57B-B733-AB0D45068570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Principe</a:t>
            </a:r>
            <a:endParaRPr lang="fr-FR" dirty="0">
              <a:latin typeface="+mj-lt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A75C829-2E4D-0918-5EB8-2E459BAE6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981" y="2348880"/>
            <a:ext cx="3570851" cy="3838665"/>
          </a:xfrm>
          <a:prstGeom prst="rect">
            <a:avLst/>
          </a:prstGeom>
        </p:spPr>
      </p:pic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1193AE51-E35B-D8AD-7FF4-0D56D8D15067}"/>
              </a:ext>
            </a:extLst>
          </p:cNvPr>
          <p:cNvCxnSpPr>
            <a:cxnSpLocks/>
          </p:cNvCxnSpPr>
          <p:nvPr/>
        </p:nvCxnSpPr>
        <p:spPr bwMode="auto">
          <a:xfrm>
            <a:off x="1991544" y="4797152"/>
            <a:ext cx="0" cy="28803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16" name="Image 15">
            <a:extLst>
              <a:ext uri="{FF2B5EF4-FFF2-40B4-BE49-F238E27FC236}">
                <a16:creationId xmlns:a16="http://schemas.microsoft.com/office/drawing/2014/main" id="{24E74DBF-51A6-ADB7-22CE-ABD0E2F51A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9685" y="2348880"/>
            <a:ext cx="3672408" cy="404554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199EB4D-44A0-CBC1-5807-C25FD42E43A4}"/>
              </a:ext>
            </a:extLst>
          </p:cNvPr>
          <p:cNvSpPr/>
          <p:nvPr/>
        </p:nvSpPr>
        <p:spPr bwMode="auto">
          <a:xfrm>
            <a:off x="7384343" y="5805264"/>
            <a:ext cx="3816424" cy="69677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6317C1B0-E5B1-4782-5FCF-CD5404AECD3F}"/>
              </a:ext>
            </a:extLst>
          </p:cNvPr>
          <p:cNvCxnSpPr>
            <a:cxnSpLocks/>
          </p:cNvCxnSpPr>
          <p:nvPr/>
        </p:nvCxnSpPr>
        <p:spPr bwMode="auto">
          <a:xfrm>
            <a:off x="8688288" y="4797152"/>
            <a:ext cx="0" cy="28803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1599157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9AD0A-A248-2C18-60C0-258B408C5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4608F0-1F72-C21A-EBDC-C41ABDABA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1488E5-7937-C451-7F0D-1BD2B787F7DF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9EC8EFDD-94B1-8ECE-6906-4FEB192F3B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8E04E73-2D80-EF24-CA87-35A347DF26A8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53B6C510-5929-316E-B23B-8FEEEEB5DD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6AF52809-0A4E-3692-5963-458046533DE2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Principe</a:t>
            </a:r>
            <a:endParaRPr lang="fr-FR" dirty="0">
              <a:latin typeface="+mj-lt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6D102DF-C2B0-99C9-DE04-674F58A5A9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981" y="2348880"/>
            <a:ext cx="3570851" cy="3838665"/>
          </a:xfrm>
          <a:prstGeom prst="rect">
            <a:avLst/>
          </a:prstGeom>
        </p:spPr>
      </p:pic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D0BC1D5B-E939-2415-7B0C-01939D81DDA3}"/>
              </a:ext>
            </a:extLst>
          </p:cNvPr>
          <p:cNvCxnSpPr>
            <a:cxnSpLocks/>
          </p:cNvCxnSpPr>
          <p:nvPr/>
        </p:nvCxnSpPr>
        <p:spPr bwMode="auto">
          <a:xfrm>
            <a:off x="1991544" y="4797152"/>
            <a:ext cx="0" cy="28803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16" name="Image 15">
            <a:extLst>
              <a:ext uri="{FF2B5EF4-FFF2-40B4-BE49-F238E27FC236}">
                <a16:creationId xmlns:a16="http://schemas.microsoft.com/office/drawing/2014/main" id="{CA04A366-1B80-3005-4648-887E9D0200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9685" y="2348880"/>
            <a:ext cx="3672408" cy="404554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4E31A917-7C00-6B05-79EC-C1492C2D6538}"/>
              </a:ext>
            </a:extLst>
          </p:cNvPr>
          <p:cNvCxnSpPr>
            <a:cxnSpLocks/>
          </p:cNvCxnSpPr>
          <p:nvPr/>
        </p:nvCxnSpPr>
        <p:spPr bwMode="auto">
          <a:xfrm>
            <a:off x="8688288" y="4797152"/>
            <a:ext cx="0" cy="28803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5163875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E2D29-93DE-65CF-218E-7D85DFBA2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44CB7C-DC7D-0865-16AB-ABD02AEA7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154BAF-5C89-D4E7-C944-93FF04425F63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C09D2D5A-086D-7B9C-AF20-AE88055DC8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288E949-CFEF-4481-C64E-6A93F39D450F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E87CF78-6C67-A339-19BA-96DD7883D9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A7E8ACC4-DC7D-78FF-0293-516EADFD9930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Exercices</a:t>
            </a:r>
            <a:endParaRPr lang="fr-FR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8DAC1CC2-E725-8C51-A343-B53DA170F9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7608" y="1755134"/>
            <a:ext cx="7992888" cy="1255153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C861F600-B5C9-287F-5052-7F91508B5B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9596" y="4487011"/>
            <a:ext cx="7163800" cy="129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4236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4F49D-57CC-E4E7-20D2-47A1CA20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E598E8-A9E4-C3D7-0454-6B63209F8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DD7F02-4458-8614-5DE9-D904ED6B0A9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C940A74A-34EC-8524-FEC2-643E27A34AC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33D40E4-45A7-0173-3809-0C85F232B32A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AFD9C6B3-936E-FE64-A67B-7DBC8E8993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70BC7C62-7DD5-40BA-5B5E-34D9D3EB2E4C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Exercices</a:t>
            </a:r>
            <a:endParaRPr lang="fr-FR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D88CE988-A9E9-4382-8AC3-1544E40816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7608" y="1755134"/>
            <a:ext cx="7992888" cy="1255153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23C29067-4F4A-BC4D-4777-9DAC64C5B8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9596" y="4487011"/>
            <a:ext cx="7163800" cy="129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5896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17C24-6494-FAA0-CCC2-B08EB5025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B1C1D0-8F44-72A2-95A8-72AFE16DA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5CBF96-7645-79B2-AB53-F95F081B7058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3DDBDBD1-0D69-5B4B-F124-16A5BF4765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D778B43-3CE2-0994-5432-D91357ADD19F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EB8674C7-F020-1910-91EA-7DA2D53AD5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AC756EE2-FA54-2180-C9F0-6A087015B2B5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Résultats</a:t>
            </a:r>
            <a:endParaRPr lang="fr-FR" dirty="0">
              <a:latin typeface="+mj-lt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28AEF35-ED84-B478-C0D3-29353F037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4518" y="2348880"/>
            <a:ext cx="3812201" cy="161166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FAEF3469-4079-7CBC-A00F-EC12E0A20C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424" y="2272233"/>
            <a:ext cx="1322901" cy="27792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A5461F61-909C-327A-54DB-C7CF387A38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255" y="1491971"/>
            <a:ext cx="4176464" cy="358336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4B41BB19-7EFF-7456-5C3F-5553A683DC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11" y="4423010"/>
            <a:ext cx="3894308" cy="163225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E7B32EE3-BD70-4189-42A2-6589EBC90E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255" y="4459115"/>
            <a:ext cx="1998568" cy="249821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59BB680D-289D-8A23-2B27-69DCD83712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8088" y="2348880"/>
            <a:ext cx="4123376" cy="1706604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00E9F555-CDC9-98D8-C4E9-CA08A3AAF9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02631" y="2404760"/>
            <a:ext cx="1365946" cy="277919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4C25B3CD-9BB7-7437-AB3F-598AAF8693E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45283" y="4459115"/>
            <a:ext cx="4027113" cy="1736863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04475A3E-C19A-CEB7-7A8C-7135F306BCC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95723" y="4496962"/>
            <a:ext cx="1365946" cy="2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8599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7F6F0-A4EC-5BE7-A89B-101656018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29">
            <a:extLst>
              <a:ext uri="{FF2B5EF4-FFF2-40B4-BE49-F238E27FC236}">
                <a16:creationId xmlns:a16="http://schemas.microsoft.com/office/drawing/2014/main" id="{5B0BC961-2916-6604-9BC1-C8B825F8FC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5722" y="2374743"/>
            <a:ext cx="4262455" cy="17957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1B1B2FDD-CEAC-27BA-4D21-7F7F69BC2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9436" y="4496962"/>
            <a:ext cx="4123376" cy="1745992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0C2126E-4D17-CA1A-E472-CE57E2032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5994" y="2325941"/>
            <a:ext cx="4123376" cy="165584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58453DB5-9640-5550-5C13-DC6B9FA33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9E22C0-7BC1-C61C-766A-B776E06B663B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57F577F4-1E14-7AC9-085A-77D4A76E3CC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FC5D44-DE1C-35E9-5039-E3DA047DDF43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D7E35CA1-22A8-35C6-7609-5413A74F63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5F017D5-1028-0530-BA48-124A328AB4B2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Résultats</a:t>
            </a:r>
            <a:endParaRPr lang="fr-FR" dirty="0">
              <a:latin typeface="+mj-lt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2D61B8F-E47B-080B-192A-5217EC32E2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424" y="2272233"/>
            <a:ext cx="1322901" cy="277920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08C131DF-C8D4-1C59-6BE5-B30F083DE1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2631" y="2404760"/>
            <a:ext cx="1365946" cy="277919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72F628DD-3C15-1B84-1827-534A21960C0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95723" y="4496962"/>
            <a:ext cx="1365946" cy="26725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E6AD489-DED9-7BA2-F9C5-C9DF044F0B8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6180" y="1444209"/>
            <a:ext cx="4651748" cy="391269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449284C9-D2C9-7D74-6FB3-F4858368A35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03086" y="5126649"/>
            <a:ext cx="3812201" cy="1611662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9140AEDF-0BCB-6224-776A-FCA85838F0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976" y="5049626"/>
            <a:ext cx="1322901" cy="27792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5F4A9E12-F3DF-2D89-1692-722AC7694AD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28858" y="4590134"/>
            <a:ext cx="4176464" cy="35833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F0A6741-A8F2-60DF-7CDB-6FFB859C8A58}"/>
              </a:ext>
            </a:extLst>
          </p:cNvPr>
          <p:cNvSpPr/>
          <p:nvPr/>
        </p:nvSpPr>
        <p:spPr bwMode="auto">
          <a:xfrm>
            <a:off x="796180" y="4365104"/>
            <a:ext cx="4939780" cy="2478734"/>
          </a:xfrm>
          <a:prstGeom prst="rect">
            <a:avLst/>
          </a:prstGeom>
          <a:solidFill>
            <a:srgbClr val="BBE0E3">
              <a:alpha val="20000"/>
            </a:srgbClr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873585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6ACB5-A964-2676-D913-71AF1EF4A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2B3351-5CDF-A936-AEE3-0384545FD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8D786D-4935-2AEB-E96A-66D5F38CE4FC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BA6FF2F-F23E-9CFE-CCBD-D75BA3C2FCE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DC52D0A-6FA3-0463-54C3-11E36B9BD1A2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039B9A02-C9D4-E45A-A889-83C469B15B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485405D8-88AB-6204-0DF8-56E8DAE1384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Résultats</a:t>
            </a:r>
            <a:endParaRPr lang="fr-FR" dirty="0">
              <a:latin typeface="+mj-lt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47D7021-2034-B62F-DC63-4835EFB613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24" y="2272233"/>
            <a:ext cx="1322901" cy="277920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4CD99979-CC61-3909-AFC1-AC9D95CF62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5723" y="4496962"/>
            <a:ext cx="1365946" cy="26725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593750D-2450-98C0-B372-D84CB249A6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16" y="1513174"/>
            <a:ext cx="4536503" cy="378627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1A3AF8AA-7D41-63CB-5058-602AD6AF60C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189" y="4489591"/>
            <a:ext cx="3314387" cy="220959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13B81BD1-4091-6532-5788-2DC1589EE4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4146" y="2649754"/>
            <a:ext cx="4224414" cy="1288804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D4D5901D-08A0-6236-EE71-3F7865DF27E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02631" y="2606862"/>
            <a:ext cx="4329912" cy="1349321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273575B9-26E7-9F13-0CCA-629B38B995D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02631" y="2404760"/>
            <a:ext cx="1365946" cy="27791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4EE5156B-FC7A-8189-F212-F0625CD4406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4852" y="4764212"/>
            <a:ext cx="4329912" cy="163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0547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84817-B248-48CC-9844-C9E1AE83C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02AB29-46B9-9DFB-F32C-C77BBE270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19B236-C395-C2FF-8E28-E7231F76C172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7EB42F3D-5402-367B-65BF-F23CFF8620D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202B6B3-3F1B-B364-25A9-A173901BCD37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882A610B-DD18-2E72-4F71-62DF65F76C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AE035E7D-540E-A187-BDE1-29F1B1BF08B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Résultats</a:t>
            </a:r>
            <a:endParaRPr lang="fr-FR" dirty="0">
              <a:latin typeface="+mj-lt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31B3CB2-D71B-675E-D561-9EF52ABF5C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24" y="2272233"/>
            <a:ext cx="1322901" cy="277920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DECCF9E9-B1D6-4B17-0AB2-2571C35F1B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2631" y="2404760"/>
            <a:ext cx="1365946" cy="277919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D58F51A6-4EF1-8CBC-08D6-049AD87A25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5723" y="4496962"/>
            <a:ext cx="1365946" cy="26725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301F40C-6B9B-3502-5883-D75BA38AE3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944" y="1536146"/>
            <a:ext cx="4421614" cy="381174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2FC6EE3-76DD-9E20-5A7F-A1FBB1C4F6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0536" y="2661446"/>
            <a:ext cx="3964639" cy="767554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BBEFDE7B-5FFF-F51B-7588-54A3BC06E16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79323" y="2900650"/>
            <a:ext cx="4386004" cy="1013714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CF57F2A7-0312-94B5-954C-BE0263D969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7412" y="4857020"/>
            <a:ext cx="4327915" cy="1419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172076"/>
      </p:ext>
    </p:extLst>
  </p:cSld>
  <p:clrMapOvr>
    <a:masterClrMapping/>
  </p:clrMapOvr>
</p:sld>
</file>

<file path=ppt/theme/theme1.xml><?xml version="1.0" encoding="utf-8"?>
<a:theme xmlns:a="http://schemas.openxmlformats.org/drawingml/2006/main" name="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DRAFT PRES CA_IO_13-06-12</Template>
  <TotalTime>64</TotalTime>
  <Words>1142</Words>
  <Application>Microsoft Office PowerPoint</Application>
  <PresentationFormat>Grand écran</PresentationFormat>
  <Paragraphs>398</Paragraphs>
  <Slides>39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39</vt:i4>
      </vt:variant>
    </vt:vector>
  </HeadingPairs>
  <TitlesOfParts>
    <vt:vector size="50" baseType="lpstr">
      <vt:lpstr>Aptos Narrow</vt:lpstr>
      <vt:lpstr>Arial</vt:lpstr>
      <vt:lpstr>ArialUnicodeMS</vt:lpstr>
      <vt:lpstr>Bahnschrift SemiBold</vt:lpstr>
      <vt:lpstr>Calibri-Italic</vt:lpstr>
      <vt:lpstr>Cambria Math</vt:lpstr>
      <vt:lpstr>Century Gothic</vt:lpstr>
      <vt:lpstr>FreeSans</vt:lpstr>
      <vt:lpstr>Times New Roman</vt:lpstr>
      <vt:lpstr>DRAFT PRES CA_IO_13-06-12</vt:lpstr>
      <vt:lpstr>1_DRAFT PRES CA_IO_13-06-12</vt:lpstr>
      <vt:lpstr>Vision Industrielle</vt:lpstr>
      <vt:lpstr>Vision Industrielle</vt:lpstr>
      <vt:lpstr>Vision Industrielle</vt:lpstr>
      <vt:lpstr>Vision Industrielle</vt:lpstr>
      <vt:lpstr>Vision Industrielle</vt:lpstr>
      <vt:lpstr>Objets / Sources</vt:lpstr>
      <vt:lpstr>Sources</vt:lpstr>
      <vt:lpstr>Sources</vt:lpstr>
      <vt:lpstr>Eclairage</vt:lpstr>
      <vt:lpstr>Eclairage</vt:lpstr>
      <vt:lpstr>Colorimétrie</vt:lpstr>
      <vt:lpstr>Objectif optique</vt:lpstr>
      <vt:lpstr>Objectif optique</vt:lpstr>
      <vt:lpstr>Objectif optique</vt:lpstr>
      <vt:lpstr>Caméra numérique</vt:lpstr>
      <vt:lpstr>Caméra numérique</vt:lpstr>
      <vt:lpstr>Caméra numérique</vt:lpstr>
      <vt:lpstr>Méthodes</vt:lpstr>
      <vt:lpstr>Sources / Objets</vt:lpstr>
      <vt:lpstr>Objectifs</vt:lpstr>
      <vt:lpstr>Traitement d’image</vt:lpstr>
      <vt:lpstr>Traitement d’images</vt:lpstr>
      <vt:lpstr>Traitement d’images</vt:lpstr>
      <vt:lpstr>Traitement d’images</vt:lpstr>
      <vt:lpstr>Traitement d’images</vt:lpstr>
      <vt:lpstr>Traitement d’images</vt:lpstr>
      <vt:lpstr>Traitement d’images</vt:lpstr>
      <vt:lpstr>Convolution 1D</vt:lpstr>
      <vt:lpstr>Convolution 1D</vt:lpstr>
      <vt:lpstr>Convolution 1D</vt:lpstr>
      <vt:lpstr>Convolution 1D</vt:lpstr>
      <vt:lpstr>Convolution 1D</vt:lpstr>
      <vt:lpstr>Convolution 1D</vt:lpstr>
      <vt:lpstr>Convolution 1D</vt:lpstr>
      <vt:lpstr>Convolution 1D</vt:lpstr>
      <vt:lpstr>Convolution 1D</vt:lpstr>
      <vt:lpstr>Convolution 1D</vt:lpstr>
      <vt:lpstr>Convolution 1D</vt:lpstr>
      <vt:lpstr>Convolution 1D</vt:lpstr>
    </vt:vector>
  </TitlesOfParts>
  <Company>Institut d'Optique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Industrielle - Intro 1A</dc:title>
  <dc:creator>Institut d'Optique</dc:creator>
  <cp:lastModifiedBy>Julien VILLEMEJANE</cp:lastModifiedBy>
  <cp:revision>1700</cp:revision>
  <cp:lastPrinted>2021-12-20T13:30:17Z</cp:lastPrinted>
  <dcterms:created xsi:type="dcterms:W3CDTF">2012-05-10T13:56:34Z</dcterms:created>
  <dcterms:modified xsi:type="dcterms:W3CDTF">2026-09-23T18:53:35Z</dcterms:modified>
</cp:coreProperties>
</file>